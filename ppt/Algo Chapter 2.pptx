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820000"/>
    <a:srgbClr val="700000"/>
    <a:srgbClr val="9E0000"/>
    <a:srgbClr val="323232"/>
    <a:srgbClr val="333399"/>
    <a:srgbClr val="CC00C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2026/7/27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37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562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2026/09/16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ALGORITHMS</a:t>
            </a:r>
            <a:br>
              <a:rPr lang="en-US" altLang="zh-TW" dirty="0"/>
            </a:br>
            <a:r>
              <a:rPr lang="zh-TW" altLang="en-US" dirty="0"/>
              <a:t>演算法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Chapter 2</a:t>
            </a:r>
          </a:p>
          <a:p>
            <a:pPr algn="r"/>
            <a:r>
              <a:rPr lang="en-US" altLang="zh-TW" dirty="0"/>
              <a:t>Divide-and-Conquer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Divide-and-Conquer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1805</a:t>
            </a:r>
            <a:r>
              <a:rPr lang="zh-TW" altLang="en-US" dirty="0"/>
              <a:t>年拿破崙</a:t>
            </a:r>
            <a:r>
              <a:rPr lang="en-US" altLang="zh-TW" dirty="0"/>
              <a:t>(Napoleon)</a:t>
            </a:r>
            <a:r>
              <a:rPr lang="zh-TW" altLang="en-US" dirty="0"/>
              <a:t>於奧斯特里茲</a:t>
            </a:r>
            <a:r>
              <a:rPr lang="en-US" altLang="zh-TW" dirty="0"/>
              <a:t>(Austerlitz)</a:t>
            </a:r>
            <a:r>
              <a:rPr lang="zh-TW" altLang="en-US" dirty="0"/>
              <a:t>會戰中使用的戰術</a:t>
            </a:r>
            <a:endParaRPr lang="en-US" altLang="zh-TW" dirty="0"/>
          </a:p>
          <a:p>
            <a:pPr lvl="1"/>
            <a:r>
              <a:rPr lang="zh-TW" altLang="en-US" dirty="0"/>
              <a:t>俄羅斯</a:t>
            </a:r>
            <a:r>
              <a:rPr lang="en-US" altLang="zh-TW" dirty="0"/>
              <a:t>-</a:t>
            </a:r>
            <a:r>
              <a:rPr lang="zh-TW" altLang="en-US" dirty="0"/>
              <a:t>奧地利聯軍部隊兵力 </a:t>
            </a:r>
            <a:r>
              <a:rPr lang="en-US" altLang="zh-TW" dirty="0"/>
              <a:t>&gt;</a:t>
            </a:r>
            <a:r>
              <a:rPr lang="zh-TW" altLang="en-US" dirty="0"/>
              <a:t> 拿破崙部隊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150,000</a:t>
            </a:r>
            <a:r>
              <a:rPr lang="zh-TW" altLang="en-US" dirty="0"/>
              <a:t>人</a:t>
            </a:r>
            <a:endParaRPr lang="en-US" altLang="zh-TW" dirty="0"/>
          </a:p>
          <a:p>
            <a:pPr lvl="1"/>
            <a:r>
              <a:rPr lang="zh-TW" altLang="en-US" dirty="0"/>
              <a:t>拿破崙驅逐俄奧聯軍的中央，將力量分成兩半</a:t>
            </a:r>
            <a:endParaRPr lang="en-US" altLang="zh-TW" dirty="0"/>
          </a:p>
          <a:p>
            <a:pPr lvl="1"/>
            <a:r>
              <a:rPr lang="zh-TW" altLang="en-US" dirty="0"/>
              <a:t>將敵人的大部隊</a:t>
            </a:r>
            <a:r>
              <a:rPr lang="zh-TW" altLang="en-US" dirty="0">
                <a:solidFill>
                  <a:srgbClr val="C00000"/>
                </a:solidFill>
              </a:rPr>
              <a:t>分割</a:t>
            </a:r>
            <a:r>
              <a:rPr lang="zh-TW" altLang="en-US" dirty="0"/>
              <a:t>成兩個較小的部隊</a:t>
            </a:r>
            <a:r>
              <a:rPr lang="en-US" altLang="zh-TW" dirty="0"/>
              <a:t>(divide)</a:t>
            </a:r>
            <a:r>
              <a:rPr lang="zh-TW" altLang="en-US" dirty="0"/>
              <a:t>，並將他們</a:t>
            </a:r>
            <a:r>
              <a:rPr lang="zh-TW" altLang="en-US" dirty="0">
                <a:solidFill>
                  <a:srgbClr val="C00000"/>
                </a:solidFill>
              </a:rPr>
              <a:t>各個擊破</a:t>
            </a:r>
            <a:r>
              <a:rPr lang="en-US" altLang="zh-TW" dirty="0"/>
              <a:t>(conquer)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將一疊機密文件銷毀 </a:t>
            </a:r>
            <a:r>
              <a:rPr lang="en-US" altLang="zh-TW" dirty="0"/>
              <a:t>(</a:t>
            </a:r>
            <a:r>
              <a:rPr lang="zh-TW" altLang="en-US" dirty="0"/>
              <a:t>折筷子的故事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Divide-and-Conquer</a:t>
            </a:r>
          </a:p>
          <a:p>
            <a:pPr lvl="1"/>
            <a:r>
              <a:rPr lang="zh-TW" altLang="en-US" dirty="0"/>
              <a:t>將問題</a:t>
            </a:r>
            <a:r>
              <a:rPr lang="zh-TW" altLang="en-US" dirty="0">
                <a:solidFill>
                  <a:srgbClr val="C00000"/>
                </a:solidFill>
              </a:rPr>
              <a:t>切</a:t>
            </a:r>
            <a:r>
              <a:rPr lang="zh-TW" altLang="en-US" dirty="0"/>
              <a:t>成兩個或以上的小問題</a:t>
            </a:r>
            <a:endParaRPr lang="en-US" altLang="zh-TW" dirty="0"/>
          </a:p>
          <a:p>
            <a:pPr lvl="1"/>
            <a:r>
              <a:rPr lang="zh-TW" altLang="en-US" dirty="0"/>
              <a:t>小問題通常是原問題的實例</a:t>
            </a:r>
            <a:r>
              <a:rPr lang="en-US" altLang="zh-TW" dirty="0"/>
              <a:t>(instance)</a:t>
            </a:r>
          </a:p>
          <a:p>
            <a:pPr lvl="1"/>
            <a:r>
              <a:rPr lang="zh-TW" altLang="en-US" dirty="0"/>
              <a:t>原問題的解藉由合併小問題的答案獲得</a:t>
            </a:r>
            <a:endParaRPr lang="en-US" altLang="zh-TW" dirty="0"/>
          </a:p>
          <a:p>
            <a:pPr lvl="1"/>
            <a:r>
              <a:rPr lang="zh-TW" altLang="en-US" dirty="0"/>
              <a:t>不斷切割問題，</a:t>
            </a:r>
            <a:r>
              <a:rPr lang="zh-TW" altLang="en-US" dirty="0">
                <a:solidFill>
                  <a:srgbClr val="C00000"/>
                </a:solidFill>
              </a:rPr>
              <a:t>直到問題夠小</a:t>
            </a:r>
            <a:r>
              <a:rPr lang="zh-TW" altLang="en-US" dirty="0"/>
              <a:t>而能夠求解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由上而下的方法</a:t>
            </a:r>
            <a:r>
              <a:rPr lang="en-US" altLang="zh-TW" dirty="0">
                <a:solidFill>
                  <a:srgbClr val="C00000"/>
                </a:solidFill>
              </a:rPr>
              <a:t>(top-down)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26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二元搜尋法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在整個搜尋範圍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l</a:t>
            </a:r>
            <a:r>
              <a:rPr lang="en-US" altLang="zh-TW" dirty="0"/>
              <a:t>] ~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r</a:t>
            </a:r>
            <a:r>
              <a:rPr lang="en-US" altLang="zh-TW" dirty="0"/>
              <a:t>])</a:t>
            </a:r>
            <a:r>
              <a:rPr lang="zh-TW" altLang="en-US" dirty="0"/>
              <a:t>內，選取</a:t>
            </a:r>
            <a:r>
              <a:rPr lang="zh-TW" altLang="en-US" dirty="0">
                <a:solidFill>
                  <a:srgbClr val="C00000"/>
                </a:solidFill>
              </a:rPr>
              <a:t>中間位置</a:t>
            </a:r>
            <a:r>
              <a:rPr lang="zh-TW" altLang="en-US" dirty="0"/>
              <a:t>的元素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與</a:t>
            </a:r>
            <a:r>
              <a:rPr lang="zh-TW" altLang="en-US" dirty="0">
                <a:solidFill>
                  <a:srgbClr val="C00000"/>
                </a:solidFill>
              </a:rPr>
              <a:t>鍵值</a:t>
            </a:r>
            <a:r>
              <a:rPr lang="en-US" altLang="zh-TW" dirty="0"/>
              <a:t>(</a:t>
            </a:r>
            <a:r>
              <a:rPr lang="en-US" altLang="zh-TW" i="1" dirty="0"/>
              <a:t>key</a:t>
            </a:r>
            <a:r>
              <a:rPr lang="en-US" altLang="zh-TW" dirty="0"/>
              <a:t>)</a:t>
            </a:r>
            <a:r>
              <a:rPr lang="zh-TW" altLang="en-US" dirty="0">
                <a:solidFill>
                  <a:srgbClr val="C00000"/>
                </a:solidFill>
              </a:rPr>
              <a:t>比較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：搜尋</a:t>
            </a:r>
            <a:r>
              <a:rPr lang="zh-TW" altLang="en-US" dirty="0">
                <a:solidFill>
                  <a:srgbClr val="C00000"/>
                </a:solidFill>
              </a:rPr>
              <a:t>成功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</a:t>
            </a:r>
            <a:r>
              <a:rPr lang="en-US" altLang="zh-TW" dirty="0"/>
              <a:t>key</a:t>
            </a:r>
            <a:r>
              <a:rPr lang="zh-TW" altLang="en-US" dirty="0"/>
              <a:t>只可能出現在</a:t>
            </a:r>
            <a:r>
              <a:rPr lang="zh-TW" altLang="en-US" dirty="0">
                <a:solidFill>
                  <a:srgbClr val="C00000"/>
                </a:solidFill>
              </a:rPr>
              <a:t>右半部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 + 1] ~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r</a:t>
            </a:r>
            <a:r>
              <a:rPr lang="en-US" altLang="zh-TW" dirty="0"/>
              <a:t>]</a:t>
            </a: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&lt;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</a:t>
            </a:r>
            <a:r>
              <a:rPr lang="en-US" altLang="zh-TW" dirty="0"/>
              <a:t>key</a:t>
            </a:r>
            <a:r>
              <a:rPr lang="zh-TW" altLang="en-US" dirty="0"/>
              <a:t>只可能出現在</a:t>
            </a:r>
            <a:r>
              <a:rPr lang="zh-TW" altLang="en-US" dirty="0">
                <a:solidFill>
                  <a:srgbClr val="C00000"/>
                </a:solidFill>
              </a:rPr>
              <a:t>左半部</a:t>
            </a:r>
            <a:r>
              <a:rPr lang="zh-TW" altLang="en-US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l</a:t>
            </a:r>
            <a:r>
              <a:rPr lang="en-US" altLang="zh-TW" dirty="0"/>
              <a:t>] ~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 – 1]</a:t>
            </a: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78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1489498" y="3734630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文字方塊 44"/>
          <p:cNvSpPr txBox="1"/>
          <p:nvPr/>
        </p:nvSpPr>
        <p:spPr>
          <a:xfrm>
            <a:off x="1552756" y="332968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161847" y="332968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2770939" y="333010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3380030" y="333010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3998002" y="333052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4607093" y="333052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216185" y="333094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5825276" y="333094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431569" y="332968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7040660" y="332968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5" name="表格 54"/>
              <p:cNvGraphicFramePr>
                <a:graphicFrameLocks noGrp="1"/>
              </p:cNvGraphicFramePr>
              <p:nvPr/>
            </p:nvGraphicFramePr>
            <p:xfrm>
              <a:off x="819522" y="4316457"/>
              <a:ext cx="7404735" cy="17236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5" name="表格 5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1561759"/>
                  </p:ext>
                </p:extLst>
              </p:nvPr>
            </p:nvGraphicFramePr>
            <p:xfrm>
              <a:off x="819522" y="4316457"/>
              <a:ext cx="7404735" cy="17236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5"/>
                        </a:ext>
                      </a:extLst>
                    </a:gridCol>
                  </a:tblGrid>
                  <a:tr h="5349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33133" t="-1136" r="-402410" b="-2238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3230606" y="4812955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𝟒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4812955"/>
                <a:ext cx="875560" cy="460062"/>
              </a:xfrm>
              <a:prstGeom prst="rect">
                <a:avLst/>
              </a:prstGeom>
              <a:blipFill rotWithShape="0"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56"/>
          <p:cNvSpPr txBox="1"/>
          <p:nvPr/>
        </p:nvSpPr>
        <p:spPr>
          <a:xfrm>
            <a:off x="5376917" y="4842931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7525022" y="484293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59" name="文字方塊 58"/>
          <p:cNvSpPr txBox="1"/>
          <p:nvPr/>
        </p:nvSpPr>
        <p:spPr>
          <a:xfrm>
            <a:off x="2485759" y="48429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535599" y="48429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326944" y="48429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3230606" y="5221462"/>
                <a:ext cx="875561" cy="464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𝟕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5221462"/>
                <a:ext cx="875561" cy="464614"/>
              </a:xfrm>
              <a:prstGeom prst="rect">
                <a:avLst/>
              </a:prstGeom>
              <a:blipFill rotWithShape="0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/>
          <p:cNvSpPr txBox="1"/>
          <p:nvPr/>
        </p:nvSpPr>
        <p:spPr>
          <a:xfrm>
            <a:off x="5376917" y="5251438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= 77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525022" y="525143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65" name="文字方塊 64"/>
          <p:cNvSpPr txBox="1"/>
          <p:nvPr/>
        </p:nvSpPr>
        <p:spPr>
          <a:xfrm>
            <a:off x="2485759" y="52514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535599" y="52514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1326944" y="52514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3228758" y="5624216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𝟖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𝟖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758" y="5624216"/>
                <a:ext cx="875560" cy="460062"/>
              </a:xfrm>
              <a:prstGeom prst="rect">
                <a:avLst/>
              </a:prstGeom>
              <a:blipFill rotWithShape="0">
                <a:blip r:embed="rId6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68"/>
          <p:cNvSpPr txBox="1"/>
          <p:nvPr/>
        </p:nvSpPr>
        <p:spPr>
          <a:xfrm>
            <a:off x="5375069" y="5654192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= 78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7411036" y="565419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成功</a:t>
            </a:r>
          </a:p>
        </p:txBody>
      </p:sp>
      <p:sp>
        <p:nvSpPr>
          <p:cNvPr id="71" name="文字方塊 70"/>
          <p:cNvSpPr txBox="1"/>
          <p:nvPr/>
        </p:nvSpPr>
        <p:spPr>
          <a:xfrm>
            <a:off x="2483911" y="56541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4533751" y="56541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1325096" y="56541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11036" y="2802107"/>
            <a:ext cx="1304415" cy="444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演算法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1.5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010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二元搜尋法 </a:t>
            </a:r>
            <a:r>
              <a:rPr lang="en-US" altLang="zh-TW" dirty="0"/>
              <a:t>(2/4) </a:t>
            </a:r>
            <a:r>
              <a:rPr lang="zh-TW" altLang="en-US" dirty="0"/>
              <a:t>加入遞迴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如果</a:t>
            </a:r>
            <a:r>
              <a:rPr lang="en-US" altLang="zh-TW" dirty="0"/>
              <a:t> </a:t>
            </a:r>
            <a:r>
              <a:rPr lang="en-US" altLang="zh-TW" i="1" dirty="0"/>
              <a:t>x </a:t>
            </a:r>
            <a:r>
              <a:rPr lang="zh-TW" altLang="zh-TW" dirty="0"/>
              <a:t>與中間項相同，離開。</a:t>
            </a:r>
            <a:endParaRPr lang="en-US" altLang="zh-TW" dirty="0"/>
          </a:p>
          <a:p>
            <a:r>
              <a:rPr lang="zh-TW" altLang="zh-TW" dirty="0"/>
              <a:t>否則：</a:t>
            </a:r>
            <a:endParaRPr lang="en-US" altLang="zh-TW" dirty="0"/>
          </a:p>
          <a:p>
            <a:pPr lvl="1"/>
            <a:r>
              <a:rPr lang="zh-TW" altLang="zh-TW" dirty="0"/>
              <a:t>將該陣列</a:t>
            </a:r>
            <a:r>
              <a:rPr lang="zh-TW" altLang="zh-TW" dirty="0">
                <a:solidFill>
                  <a:srgbClr val="C00000"/>
                </a:solidFill>
              </a:rPr>
              <a:t>分割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Divide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/>
              <a:t>成約一半大小的兩個子陣列。</a:t>
            </a:r>
            <a:endParaRPr lang="en-US" altLang="zh-TW" dirty="0"/>
          </a:p>
          <a:p>
            <a:pPr lvl="2"/>
            <a:r>
              <a:rPr lang="zh-TW" altLang="zh-TW" dirty="0"/>
              <a:t>如果</a:t>
            </a:r>
            <a:r>
              <a:rPr lang="en-US" altLang="zh-TW" dirty="0"/>
              <a:t> </a:t>
            </a:r>
            <a:r>
              <a:rPr lang="en-US" altLang="zh-TW" i="1" dirty="0"/>
              <a:t>x </a:t>
            </a:r>
            <a:r>
              <a:rPr lang="zh-TW" altLang="zh-TW" dirty="0"/>
              <a:t>小於中間項，選擇左邊的子陣列。</a:t>
            </a:r>
            <a:endParaRPr lang="en-US" altLang="zh-TW" dirty="0"/>
          </a:p>
          <a:p>
            <a:pPr lvl="2"/>
            <a:r>
              <a:rPr lang="zh-TW" altLang="zh-TW" dirty="0"/>
              <a:t>如果</a:t>
            </a:r>
            <a:r>
              <a:rPr lang="en-US" altLang="zh-TW" dirty="0"/>
              <a:t> </a:t>
            </a:r>
            <a:r>
              <a:rPr lang="en-US" altLang="zh-TW" i="1" dirty="0"/>
              <a:t>x </a:t>
            </a:r>
            <a:r>
              <a:rPr lang="zh-TW" altLang="zh-TW" dirty="0"/>
              <a:t>大於中間項，則選擇右邊的子陣列。</a:t>
            </a:r>
            <a:endParaRPr lang="en-US" altLang="zh-TW" dirty="0"/>
          </a:p>
          <a:p>
            <a:pPr lvl="1"/>
            <a:r>
              <a:rPr lang="zh-TW" altLang="zh-TW" dirty="0"/>
              <a:t>判斷</a:t>
            </a:r>
            <a:r>
              <a:rPr lang="en-US" altLang="zh-TW" dirty="0"/>
              <a:t> </a:t>
            </a:r>
            <a:r>
              <a:rPr lang="en-US" altLang="zh-TW" i="1" dirty="0"/>
              <a:t>x </a:t>
            </a:r>
            <a:r>
              <a:rPr lang="zh-TW" altLang="zh-TW" dirty="0"/>
              <a:t>是否在該子陣列中來</a:t>
            </a:r>
            <a:r>
              <a:rPr lang="zh-TW" altLang="zh-TW" dirty="0">
                <a:solidFill>
                  <a:srgbClr val="C00000"/>
                </a:solidFill>
              </a:rPr>
              <a:t>克服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Conquer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/>
              <a:t>該子陣列。</a:t>
            </a:r>
            <a:endParaRPr lang="en-US" altLang="zh-TW" dirty="0"/>
          </a:p>
          <a:p>
            <a:pPr lvl="2"/>
            <a:r>
              <a:rPr lang="zh-TW" altLang="zh-TW" dirty="0"/>
              <a:t>除非該子陣列夠小，否則使用</a:t>
            </a:r>
            <a:r>
              <a:rPr lang="zh-TW" altLang="zh-TW" u="sng" dirty="0">
                <a:solidFill>
                  <a:srgbClr val="C00000"/>
                </a:solidFill>
              </a:rPr>
              <a:t>遞迴</a:t>
            </a:r>
            <a:r>
              <a:rPr lang="zh-TW" altLang="zh-TW" dirty="0"/>
              <a:t>來做這件事。</a:t>
            </a:r>
            <a:endParaRPr lang="en-US" altLang="zh-TW" dirty="0"/>
          </a:p>
          <a:p>
            <a:pPr lvl="1"/>
            <a:r>
              <a:rPr lang="zh-TW" altLang="zh-TW" dirty="0"/>
              <a:t>由子陣列的解答</a:t>
            </a:r>
            <a:r>
              <a:rPr lang="zh-TW" altLang="zh-TW" dirty="0">
                <a:solidFill>
                  <a:srgbClr val="C00000"/>
                </a:solidFill>
              </a:rPr>
              <a:t>獲得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Obtain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/>
              <a:t>該陣列的解答。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l="9474" t="51449" r="5650" b="12138"/>
          <a:stretch/>
        </p:blipFill>
        <p:spPr bwMode="auto">
          <a:xfrm>
            <a:off x="2601563" y="4361538"/>
            <a:ext cx="3935628" cy="167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圓角矩形圖說文字 7"/>
          <p:cNvSpPr/>
          <p:nvPr/>
        </p:nvSpPr>
        <p:spPr>
          <a:xfrm>
            <a:off x="1324699" y="4300886"/>
            <a:ext cx="1276864" cy="636938"/>
          </a:xfrm>
          <a:prstGeom prst="wedgeRoundRectCallout">
            <a:avLst>
              <a:gd name="adj1" fmla="val 67397"/>
              <a:gd name="adj2" fmla="val 11169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遞迴呼叫搜尋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左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半</a:t>
            </a:r>
          </a:p>
        </p:txBody>
      </p:sp>
      <p:sp>
        <p:nvSpPr>
          <p:cNvPr id="9" name="圓角矩形圖說文字 8"/>
          <p:cNvSpPr/>
          <p:nvPr/>
        </p:nvSpPr>
        <p:spPr>
          <a:xfrm>
            <a:off x="6779750" y="4698373"/>
            <a:ext cx="1276864" cy="636938"/>
          </a:xfrm>
          <a:prstGeom prst="wedgeRoundRectCallout">
            <a:avLst>
              <a:gd name="adj1" fmla="val -70506"/>
              <a:gd name="adj2" fmla="val 13497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遞迴呼叫搜尋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右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半</a:t>
            </a:r>
          </a:p>
        </p:txBody>
      </p:sp>
      <p:sp>
        <p:nvSpPr>
          <p:cNvPr id="10" name="矩形 9"/>
          <p:cNvSpPr/>
          <p:nvPr/>
        </p:nvSpPr>
        <p:spPr>
          <a:xfrm>
            <a:off x="7463092" y="1340768"/>
            <a:ext cx="1304415" cy="444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演算法</a:t>
            </a:r>
            <a:r>
              <a:rPr lang="en-US" altLang="zh-TW" sz="2000" b="1" dirty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2.1</a:t>
            </a:r>
            <a:endParaRPr lang="zh-TW" altLang="en-US" sz="2000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533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二元搜尋法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Recursion vs. Iterative</a:t>
            </a:r>
          </a:p>
          <a:p>
            <a:r>
              <a:rPr lang="zh-TW" altLang="zh-TW" dirty="0"/>
              <a:t>二元搜尋法的遞迴版本採用</a:t>
            </a:r>
            <a:r>
              <a:rPr lang="en-US" altLang="zh-TW" dirty="0">
                <a:solidFill>
                  <a:srgbClr val="C00000"/>
                </a:solidFill>
              </a:rPr>
              <a:t>tail-recursion(</a:t>
            </a:r>
            <a:r>
              <a:rPr lang="zh-TW" altLang="en-US" dirty="0">
                <a:solidFill>
                  <a:srgbClr val="C00000"/>
                </a:solidFill>
              </a:rPr>
              <a:t>運算在遞迴呼叫前完成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zh-TW" altLang="en-US" dirty="0"/>
              <a:t>函式</a:t>
            </a:r>
            <a:r>
              <a:rPr lang="en-US" altLang="zh-TW" dirty="0"/>
              <a:t>A</a:t>
            </a:r>
            <a:r>
              <a:rPr lang="zh-TW" altLang="en-US" dirty="0"/>
              <a:t>呼叫函式</a:t>
            </a:r>
            <a:r>
              <a:rPr lang="en-US" altLang="zh-TW" dirty="0"/>
              <a:t>B</a:t>
            </a:r>
            <a:r>
              <a:rPr lang="zh-TW" altLang="en-US" dirty="0"/>
              <a:t>時，需要將函式</a:t>
            </a:r>
            <a:r>
              <a:rPr lang="en-US" altLang="zh-TW" dirty="0"/>
              <a:t>A</a:t>
            </a:r>
            <a:r>
              <a:rPr lang="zh-TW" altLang="en-US" dirty="0"/>
              <a:t>擱置中的結果放進</a:t>
            </a:r>
            <a:r>
              <a:rPr lang="en-US" altLang="zh-TW" dirty="0"/>
              <a:t>(push)</a:t>
            </a:r>
            <a:r>
              <a:rPr lang="zh-TW" altLang="en-US" dirty="0"/>
              <a:t>堆疊</a:t>
            </a:r>
            <a:r>
              <a:rPr lang="en-US" altLang="zh-TW" dirty="0"/>
              <a:t>(stack)</a:t>
            </a:r>
          </a:p>
          <a:p>
            <a:pPr lvl="1"/>
            <a:r>
              <a:rPr lang="zh-TW" altLang="en-US" dirty="0"/>
              <a:t>函式</a:t>
            </a:r>
            <a:r>
              <a:rPr lang="en-US" altLang="zh-TW" dirty="0"/>
              <a:t>A</a:t>
            </a:r>
            <a:r>
              <a:rPr lang="zh-TW" altLang="en-US" dirty="0"/>
              <a:t>拿回控制權後，將暫存結果從堆疊</a:t>
            </a:r>
            <a:r>
              <a:rPr lang="en-US" altLang="zh-TW" dirty="0"/>
              <a:t>pop</a:t>
            </a:r>
            <a:r>
              <a:rPr lang="zh-TW" altLang="en-US" dirty="0"/>
              <a:t>出來</a:t>
            </a:r>
            <a:endParaRPr lang="en-US" altLang="zh-TW" dirty="0"/>
          </a:p>
          <a:p>
            <a:pPr lvl="1"/>
            <a:r>
              <a:rPr lang="zh-TW" altLang="en-US" dirty="0"/>
              <a:t>最差情況下，</a:t>
            </a:r>
            <a:r>
              <a:rPr lang="zh-TW" altLang="en-US" dirty="0">
                <a:solidFill>
                  <a:srgbClr val="C00000"/>
                </a:solidFill>
              </a:rPr>
              <a:t>堆疊的深度約為</a:t>
            </a:r>
            <a:r>
              <a:rPr lang="en-US" altLang="zh-TW" dirty="0" err="1">
                <a:solidFill>
                  <a:srgbClr val="C00000"/>
                </a:solidFill>
              </a:rPr>
              <a:t>lg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+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iterative</a:t>
            </a:r>
            <a:r>
              <a:rPr lang="zh-TW" altLang="zh-TW" dirty="0"/>
              <a:t>演算法執行速度較遞迴版本快速</a:t>
            </a:r>
            <a:endParaRPr lang="en-US" altLang="zh-TW" dirty="0"/>
          </a:p>
          <a:p>
            <a:pPr lvl="1"/>
            <a:r>
              <a:rPr lang="zh-TW" altLang="zh-TW" dirty="0">
                <a:solidFill>
                  <a:srgbClr val="C00000"/>
                </a:solidFill>
              </a:rPr>
              <a:t>不需要去維護堆疊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20462" y="3384830"/>
            <a:ext cx="753393" cy="369332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3798477" y="3384830"/>
            <a:ext cx="753393" cy="369332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219624" y="3384830"/>
            <a:ext cx="753393" cy="369332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</a:p>
        </p:txBody>
      </p:sp>
      <p:cxnSp>
        <p:nvCxnSpPr>
          <p:cNvPr id="10" name="直線接點 9"/>
          <p:cNvCxnSpPr/>
          <p:nvPr/>
        </p:nvCxnSpPr>
        <p:spPr>
          <a:xfrm>
            <a:off x="3057135" y="3176031"/>
            <a:ext cx="0" cy="24480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5461035" y="3148760"/>
            <a:ext cx="0" cy="24480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1417585" y="4076031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1420461" y="4445363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3798477" y="4076031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3792727" y="4445363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6" name="直線單箭頭接點 15"/>
          <p:cNvCxnSpPr>
            <a:stCxn id="7" idx="2"/>
            <a:endCxn id="12" idx="0"/>
          </p:cNvCxnSpPr>
          <p:nvPr/>
        </p:nvCxnSpPr>
        <p:spPr>
          <a:xfrm flipH="1">
            <a:off x="1794282" y="3754162"/>
            <a:ext cx="2877" cy="32186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2" idx="3"/>
            <a:endCxn id="8" idx="2"/>
          </p:cNvCxnSpPr>
          <p:nvPr/>
        </p:nvCxnSpPr>
        <p:spPr>
          <a:xfrm flipV="1">
            <a:off x="2170978" y="3754162"/>
            <a:ext cx="2004196" cy="50653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8" idx="2"/>
            <a:endCxn id="14" idx="0"/>
          </p:cNvCxnSpPr>
          <p:nvPr/>
        </p:nvCxnSpPr>
        <p:spPr>
          <a:xfrm>
            <a:off x="4175174" y="3754162"/>
            <a:ext cx="0" cy="32186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4" idx="3"/>
            <a:endCxn id="9" idx="2"/>
          </p:cNvCxnSpPr>
          <p:nvPr/>
        </p:nvCxnSpPr>
        <p:spPr>
          <a:xfrm flipV="1">
            <a:off x="4551870" y="3754162"/>
            <a:ext cx="2044451" cy="50653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9" idx="2"/>
          </p:cNvCxnSpPr>
          <p:nvPr/>
        </p:nvCxnSpPr>
        <p:spPr>
          <a:xfrm>
            <a:off x="6596321" y="3754162"/>
            <a:ext cx="0" cy="1836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endCxn id="15" idx="3"/>
          </p:cNvCxnSpPr>
          <p:nvPr/>
        </p:nvCxnSpPr>
        <p:spPr>
          <a:xfrm flipH="1" flipV="1">
            <a:off x="4546120" y="4630029"/>
            <a:ext cx="2050201" cy="960133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5" idx="2"/>
          </p:cNvCxnSpPr>
          <p:nvPr/>
        </p:nvCxnSpPr>
        <p:spPr>
          <a:xfrm flipH="1">
            <a:off x="4166548" y="4814695"/>
            <a:ext cx="2876" cy="684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endCxn id="13" idx="3"/>
          </p:cNvCxnSpPr>
          <p:nvPr/>
        </p:nvCxnSpPr>
        <p:spPr>
          <a:xfrm flipH="1" flipV="1">
            <a:off x="2173854" y="4630029"/>
            <a:ext cx="1992694" cy="86866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3" idx="2"/>
          </p:cNvCxnSpPr>
          <p:nvPr/>
        </p:nvCxnSpPr>
        <p:spPr>
          <a:xfrm flipH="1">
            <a:off x="1794282" y="4814695"/>
            <a:ext cx="2876" cy="6840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7646982" y="3611879"/>
          <a:ext cx="712014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12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7628606" y="4725459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7628605" y="4364752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7628604" y="3993159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</a:p>
        </p:txBody>
      </p:sp>
      <p:sp>
        <p:nvSpPr>
          <p:cNvPr id="29" name="文字方塊 28"/>
          <p:cNvSpPr txBox="1"/>
          <p:nvPr/>
        </p:nvSpPr>
        <p:spPr>
          <a:xfrm rot="5400000">
            <a:off x="7714866" y="5099885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508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27" grpId="0"/>
      <p:bldP spid="27" grpId="1"/>
      <p:bldP spid="28" grpId="0"/>
      <p:bldP spid="2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二元搜尋法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 分析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二元搜尋法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基本運算</a:t>
                </a:r>
                <a:r>
                  <a:rPr lang="zh-TW" altLang="en-US" dirty="0"/>
                  <a:t>：</a:t>
                </a:r>
                <a:r>
                  <a:rPr lang="en-US" altLang="zh-TW" i="1" dirty="0"/>
                  <a:t>x</a:t>
                </a:r>
                <a:r>
                  <a:rPr lang="zh-TW" altLang="en-US" dirty="0"/>
                  <a:t>與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[</a:t>
                </a:r>
                <a:r>
                  <a:rPr lang="en-US" altLang="zh-TW" i="1" dirty="0"/>
                  <a:t>mid</a:t>
                </a:r>
                <a:r>
                  <a:rPr lang="en-US" altLang="zh-TW" dirty="0"/>
                  <a:t>]</a:t>
                </a:r>
                <a:r>
                  <a:rPr lang="zh-TW" altLang="en-US" dirty="0"/>
                  <a:t>的比較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輸入大小</a:t>
                </a:r>
                <a:r>
                  <a:rPr lang="zh-TW" altLang="en-US" dirty="0"/>
                  <a:t>：陣列中的項目數量</a:t>
                </a:r>
                <a:r>
                  <a:rPr lang="en-US" altLang="zh-TW" i="1" dirty="0"/>
                  <a:t>n</a:t>
                </a:r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最差情況</a:t>
                </a:r>
                <a:r>
                  <a:rPr lang="zh-TW" altLang="en-US" dirty="0"/>
                  <a:t>：</a:t>
                </a:r>
                <a:r>
                  <a:rPr lang="en-US" altLang="zh-TW" i="1" dirty="0"/>
                  <a:t>x</a:t>
                </a:r>
                <a:r>
                  <a:rPr lang="zh-TW" altLang="en-US" dirty="0"/>
                  <a:t>比所有陣列中的項目都大</a:t>
                </a:r>
                <a:endParaRPr lang="en-US" altLang="zh-TW" dirty="0"/>
              </a:p>
              <a:p>
                <a:pPr lvl="1"/>
                <a:r>
                  <a:rPr lang="en-US" altLang="zh-TW" i="1" dirty="0"/>
                  <a:t>n</a:t>
                </a:r>
                <a:r>
                  <a:rPr lang="en-US" altLang="zh-TW" dirty="0"/>
                  <a:t> = 16</a:t>
                </a:r>
                <a:r>
                  <a:rPr lang="zh-TW" altLang="en-US" dirty="0"/>
                  <a:t>，</a:t>
                </a:r>
                <a:r>
                  <a:rPr lang="en-US" altLang="zh-TW" i="1" dirty="0"/>
                  <a:t>mid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(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𝟏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𝟏𝟔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𝟐</m:t>
                                </m:r>
                              </m:den>
                            </m:f>
                          </m:e>
                        </m:box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𝟖</m:t>
                    </m:r>
                  </m:oMath>
                </a14:m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marL="393192" lvl="1" indent="0" algn="ctr">
                  <a:buNone/>
                </a:pP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(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+ 1</a:t>
                </a:r>
              </a:p>
              <a:p>
                <a:pPr lvl="1"/>
                <a:r>
                  <a:rPr lang="zh-TW" altLang="en-US" dirty="0"/>
                  <a:t>若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=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1</a:t>
                </a:r>
                <a:r>
                  <a:rPr lang="zh-TW" altLang="en-US" dirty="0"/>
                  <a:t>，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(1) = 1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ox>
                                    <m:boxPr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f>
                                        <m:fPr>
                                          <m:ctrlP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𝐨𝐫</m:t>
                              </m:r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(</a:t>
                </a:r>
                <a:r>
                  <a:rPr lang="zh-TW" altLang="en-US" dirty="0"/>
                  <a:t>附錄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，範例</a:t>
                </a:r>
                <a:r>
                  <a:rPr lang="en-US" altLang="zh-TW" dirty="0"/>
                  <a:t>B.1)</a:t>
                </a:r>
              </a:p>
              <a:p>
                <a:pPr lvl="1"/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𝐥𝐠</m:t>
                        </m:r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altLang="zh-TW" dirty="0"/>
                  <a:t> + 1 </a:t>
                </a:r>
                <a:r>
                  <a:rPr lang="en-US" altLang="zh-TW" dirty="0">
                    <a:sym typeface="Symbol" panose="05050102010706020507" pitchFamily="18" charset="2"/>
                  </a:rPr>
                  <a:t> (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lg</a:t>
                </a:r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en-US" altLang="zh-TW" dirty="0"/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95402" y="3310628"/>
          <a:ext cx="703305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956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圓角矩形 7"/>
          <p:cNvSpPr/>
          <p:nvPr/>
        </p:nvSpPr>
        <p:spPr>
          <a:xfrm>
            <a:off x="4738816" y="3235803"/>
            <a:ext cx="3657600" cy="54369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8"/>
          <p:cNvSpPr/>
          <p:nvPr/>
        </p:nvSpPr>
        <p:spPr>
          <a:xfrm>
            <a:off x="6759146" y="2174201"/>
            <a:ext cx="1637270" cy="753763"/>
          </a:xfrm>
          <a:prstGeom prst="wedgeRoundRectCallout">
            <a:avLst>
              <a:gd name="adj1" fmla="val -36839"/>
              <a:gd name="adj2" fmla="val 8545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遞迴下一回合的輸入</a:t>
            </a:r>
          </a:p>
        </p:txBody>
      </p:sp>
      <p:sp>
        <p:nvSpPr>
          <p:cNvPr id="10" name="圓角矩形圖說文字 9"/>
          <p:cNvSpPr/>
          <p:nvPr/>
        </p:nvSpPr>
        <p:spPr>
          <a:xfrm>
            <a:off x="6759146" y="4407338"/>
            <a:ext cx="1892643" cy="470801"/>
          </a:xfrm>
          <a:prstGeom prst="wedgeRoundRectCallout">
            <a:avLst>
              <a:gd name="adj1" fmla="val -108537"/>
              <a:gd name="adj2" fmla="val -7684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最上層的比較</a:t>
            </a:r>
          </a:p>
        </p:txBody>
      </p:sp>
      <p:sp>
        <p:nvSpPr>
          <p:cNvPr id="11" name="圓角矩形圖說文字 10"/>
          <p:cNvSpPr/>
          <p:nvPr/>
        </p:nvSpPr>
        <p:spPr>
          <a:xfrm>
            <a:off x="3311610" y="4409693"/>
            <a:ext cx="1336579" cy="603483"/>
          </a:xfrm>
          <a:prstGeom prst="wedgeRoundRectCallout">
            <a:avLst>
              <a:gd name="adj1" fmla="val 57591"/>
              <a:gd name="adj2" fmla="val -7289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遞迴呼叫中的比較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4738816" y="2811326"/>
            <a:ext cx="1326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圓角矩形圖說文字 12"/>
          <p:cNvSpPr/>
          <p:nvPr/>
        </p:nvSpPr>
        <p:spPr>
          <a:xfrm>
            <a:off x="152410" y="3779500"/>
            <a:ext cx="1276864" cy="451708"/>
          </a:xfrm>
          <a:prstGeom prst="wedgeRoundRectCallout">
            <a:avLst>
              <a:gd name="adj1" fmla="val 44171"/>
              <a:gd name="adj2" fmla="val 9229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終止條件</a:t>
            </a:r>
          </a:p>
        </p:txBody>
      </p:sp>
    </p:spTree>
    <p:extLst>
      <p:ext uri="{BB962C8B-B14F-4D97-AF65-F5344CB8AC3E}">
        <p14:creationId xmlns:p14="http://schemas.microsoft.com/office/powerpoint/2010/main" val="222531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問題</a:t>
            </a:r>
            <a:r>
              <a:rPr lang="zh-TW" altLang="en-US" dirty="0"/>
              <a:t>：將</a:t>
            </a:r>
            <a:r>
              <a:rPr lang="en-US" altLang="zh-TW" i="1" dirty="0"/>
              <a:t>n</a:t>
            </a:r>
            <a:r>
              <a:rPr lang="zh-TW" altLang="en-US" dirty="0"/>
              <a:t>個</a:t>
            </a:r>
            <a:r>
              <a:rPr lang="en-US" altLang="zh-TW" dirty="0"/>
              <a:t>key</a:t>
            </a:r>
            <a:r>
              <a:rPr lang="zh-TW" altLang="en-US" dirty="0"/>
              <a:t>排序成非遞減序列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</a:t>
            </a:r>
            <a:r>
              <a:rPr lang="zh-TW" altLang="en-US" dirty="0"/>
              <a:t>：正整數</a:t>
            </a:r>
            <a:r>
              <a:rPr lang="en-US" altLang="zh-TW" i="1" dirty="0"/>
              <a:t>n</a:t>
            </a:r>
            <a:r>
              <a:rPr lang="zh-TW" altLang="en-US" dirty="0"/>
              <a:t>，鍵值陣列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zh-TW" altLang="en-US" dirty="0"/>
              <a:t>索引值由</a:t>
            </a:r>
            <a:r>
              <a:rPr lang="en-US" altLang="zh-TW" dirty="0"/>
              <a:t>1</a:t>
            </a:r>
            <a:r>
              <a:rPr lang="zh-TW" altLang="en-US" dirty="0"/>
              <a:t>到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輸出</a:t>
            </a:r>
            <a:r>
              <a:rPr lang="zh-TW" altLang="en-US" dirty="0"/>
              <a:t>：陣列</a:t>
            </a:r>
            <a:r>
              <a:rPr lang="en-US" altLang="zh-TW" i="1" dirty="0"/>
              <a:t>S</a:t>
            </a:r>
            <a:r>
              <a:rPr lang="zh-TW" altLang="en-US" dirty="0"/>
              <a:t>，且已非遞減的順序排序過</a:t>
            </a:r>
            <a:endParaRPr lang="en-US" altLang="zh-TW" dirty="0"/>
          </a:p>
          <a:p>
            <a:pPr lvl="1"/>
            <a:r>
              <a:rPr lang="zh-TW" altLang="zh-TW" dirty="0"/>
              <a:t>將該陣列</a:t>
            </a:r>
            <a:r>
              <a:rPr lang="zh-TW" altLang="zh-TW" dirty="0">
                <a:solidFill>
                  <a:srgbClr val="C00000"/>
                </a:solidFill>
              </a:rPr>
              <a:t>分割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Divide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/>
              <a:t>成為兩個具有</a:t>
            </a:r>
            <a:r>
              <a:rPr lang="en-US" altLang="zh-TW" i="1" dirty="0"/>
              <a:t>n</a:t>
            </a:r>
            <a:r>
              <a:rPr lang="en-US" altLang="zh-TW" dirty="0"/>
              <a:t>/2</a:t>
            </a:r>
            <a:r>
              <a:rPr lang="zh-TW" altLang="zh-TW" dirty="0"/>
              <a:t>個項目的子陣列</a:t>
            </a:r>
            <a:endParaRPr lang="en-US" altLang="zh-TW" dirty="0"/>
          </a:p>
          <a:p>
            <a:pPr lvl="1"/>
            <a:r>
              <a:rPr lang="zh-TW" altLang="zh-TW" dirty="0"/>
              <a:t>藉由排序以</a:t>
            </a:r>
            <a:r>
              <a:rPr lang="zh-TW" altLang="zh-TW" dirty="0">
                <a:solidFill>
                  <a:srgbClr val="C00000"/>
                </a:solidFill>
              </a:rPr>
              <a:t>解答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Conquer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/>
              <a:t>每個子陣列</a:t>
            </a:r>
            <a:endParaRPr lang="en-US" altLang="zh-TW" dirty="0"/>
          </a:p>
          <a:p>
            <a:pPr lvl="2"/>
            <a:r>
              <a:rPr lang="zh-TW" altLang="zh-TW" dirty="0"/>
              <a:t>除非該陣列夠小，否則使用</a:t>
            </a:r>
            <a:r>
              <a:rPr lang="zh-TW" altLang="zh-TW" u="sng" dirty="0">
                <a:solidFill>
                  <a:srgbClr val="C00000"/>
                </a:solidFill>
              </a:rPr>
              <a:t>遞迴</a:t>
            </a:r>
            <a:r>
              <a:rPr lang="zh-TW" altLang="zh-TW" dirty="0"/>
              <a:t>來完成這個動作。</a:t>
            </a:r>
            <a:endParaRPr lang="en-US" altLang="zh-TW" dirty="0"/>
          </a:p>
          <a:p>
            <a:pPr lvl="1"/>
            <a:r>
              <a:rPr lang="zh-TW" altLang="zh-TW" dirty="0"/>
              <a:t>將子陣列合併成一個已排序的陣列以</a:t>
            </a:r>
            <a:r>
              <a:rPr lang="zh-TW" altLang="zh-TW" dirty="0">
                <a:solidFill>
                  <a:srgbClr val="C00000"/>
                </a:solidFill>
              </a:rPr>
              <a:t>合併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Combine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/>
              <a:t>子陣列的解答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l="13437" t="59097" r="32858" b="14916"/>
          <a:stretch/>
        </p:blipFill>
        <p:spPr bwMode="auto">
          <a:xfrm>
            <a:off x="2788518" y="4609069"/>
            <a:ext cx="3058297" cy="1044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圓角矩形圖說文字 8"/>
          <p:cNvSpPr/>
          <p:nvPr/>
        </p:nvSpPr>
        <p:spPr>
          <a:xfrm>
            <a:off x="1591972" y="3941805"/>
            <a:ext cx="1276864" cy="636938"/>
          </a:xfrm>
          <a:prstGeom prst="wedgeRoundRectCallout">
            <a:avLst>
              <a:gd name="adj1" fmla="val 44171"/>
              <a:gd name="adj2" fmla="val 9229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遞迴呼叫解決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左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半</a:t>
            </a:r>
          </a:p>
        </p:txBody>
      </p:sp>
      <p:sp>
        <p:nvSpPr>
          <p:cNvPr id="10" name="圓角矩形圖說文字 9"/>
          <p:cNvSpPr/>
          <p:nvPr/>
        </p:nvSpPr>
        <p:spPr>
          <a:xfrm>
            <a:off x="5408150" y="3913719"/>
            <a:ext cx="1276864" cy="636938"/>
          </a:xfrm>
          <a:prstGeom prst="wedgeRoundRectCallout">
            <a:avLst>
              <a:gd name="adj1" fmla="val -70506"/>
              <a:gd name="adj2" fmla="val 13497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遞迴呼叫解決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右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半</a:t>
            </a:r>
          </a:p>
        </p:txBody>
      </p:sp>
      <p:sp>
        <p:nvSpPr>
          <p:cNvPr id="11" name="圓角矩形圖說文字 10"/>
          <p:cNvSpPr/>
          <p:nvPr/>
        </p:nvSpPr>
        <p:spPr>
          <a:xfrm>
            <a:off x="6629409" y="5653216"/>
            <a:ext cx="1276864" cy="636938"/>
          </a:xfrm>
          <a:prstGeom prst="wedgeRoundRectCallout">
            <a:avLst>
              <a:gd name="adj1" fmla="val -116958"/>
              <a:gd name="adj2" fmla="val -6873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合併左右獲取解答</a:t>
            </a:r>
          </a:p>
        </p:txBody>
      </p:sp>
    </p:spTree>
    <p:extLst>
      <p:ext uri="{BB962C8B-B14F-4D97-AF65-F5344CB8AC3E}">
        <p14:creationId xmlns:p14="http://schemas.microsoft.com/office/powerpoint/2010/main" val="418120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合併</a:t>
            </a:r>
            <a:r>
              <a:rPr lang="en-US" altLang="zh-TW" dirty="0"/>
              <a:t>(merge)</a:t>
            </a:r>
          </a:p>
          <a:p>
            <a:pPr lvl="1"/>
            <a:r>
              <a:rPr lang="zh-TW" altLang="en-US" dirty="0"/>
              <a:t>將兩個陣列合併成一個大陣列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59649" y="2829512"/>
          <a:ext cx="3386665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51023" y="3398855"/>
          <a:ext cx="4741331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60789" y="4479322"/>
          <a:ext cx="81519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9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767749" y="44857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29107" y="44857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67464" y="4485714"/>
            <a:ext cx="426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731696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413183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086043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758904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423138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130504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803364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467598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166336" y="44857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7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不斷地切，直到夠小可以解決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87962" y="188509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293720" y="238253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290852" y="2879977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96610" y="3360165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293720" y="3840331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299478" y="4311893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296610" y="4792081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302368" y="5272269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99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FF993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直線接點 14"/>
          <p:cNvCxnSpPr/>
          <p:nvPr/>
        </p:nvCxnSpPr>
        <p:spPr>
          <a:xfrm>
            <a:off x="3990882" y="188557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642286" y="237440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5359607" y="237440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988007" y="238303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2648037" y="287186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5365358" y="287186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993758" y="2880491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1963674" y="2876177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3326649" y="2880491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4680996" y="2876177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035342" y="2880491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2653787" y="335206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5371108" y="335206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3999508" y="336069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1969424" y="3356381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3332399" y="335206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4686746" y="3356381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041092" y="336069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711077" y="336069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650911" y="3832273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5368232" y="3832273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3996632" y="384089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>
            <a:off x="1966548" y="383658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3329523" y="3832273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4683870" y="3836585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038216" y="3840899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2665288" y="4312477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5382609" y="4312477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4011009" y="4321103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4011009" y="4801307"/>
            <a:ext cx="0" cy="4054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7717086" y="186832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切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7717086" y="233415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切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717086" y="285233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切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7717086" y="331426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切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7717086" y="38408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</a:t>
            </a:r>
          </a:p>
        </p:txBody>
      </p:sp>
      <p:sp>
        <p:nvSpPr>
          <p:cNvPr id="50" name="文字方塊 49"/>
          <p:cNvSpPr txBox="1"/>
          <p:nvPr/>
        </p:nvSpPr>
        <p:spPr>
          <a:xfrm>
            <a:off x="7717086" y="43124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</a:t>
            </a:r>
          </a:p>
        </p:txBody>
      </p:sp>
      <p:sp>
        <p:nvSpPr>
          <p:cNvPr id="51" name="文字方塊 50"/>
          <p:cNvSpPr txBox="1"/>
          <p:nvPr/>
        </p:nvSpPr>
        <p:spPr>
          <a:xfrm>
            <a:off x="7717086" y="47898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</a:t>
            </a:r>
          </a:p>
        </p:txBody>
      </p:sp>
      <p:sp>
        <p:nvSpPr>
          <p:cNvPr id="52" name="文字方塊 51"/>
          <p:cNvSpPr txBox="1"/>
          <p:nvPr/>
        </p:nvSpPr>
        <p:spPr>
          <a:xfrm>
            <a:off x="7717086" y="52613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</a:t>
            </a:r>
          </a:p>
        </p:txBody>
      </p:sp>
    </p:spTree>
    <p:extLst>
      <p:ext uri="{BB962C8B-B14F-4D97-AF65-F5344CB8AC3E}">
        <p14:creationId xmlns:p14="http://schemas.microsoft.com/office/powerpoint/2010/main" val="373044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5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W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</a:t>
            </a:r>
            <a:r>
              <a:rPr lang="zh-TW" altLang="en-US" dirty="0"/>
              <a:t>分析 </a:t>
            </a:r>
            <a:r>
              <a:rPr lang="en-US" altLang="zh-TW" dirty="0"/>
              <a:t>(</a:t>
            </a:r>
            <a:r>
              <a:rPr lang="zh-TW" altLang="en-US" dirty="0"/>
              <a:t>合併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en-US" altLang="zh-TW" i="1" dirty="0"/>
              <a:t>U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/>
              <a:t>]</a:t>
            </a:r>
            <a:r>
              <a:rPr lang="zh-TW" altLang="en-US" dirty="0"/>
              <a:t>與</a:t>
            </a:r>
            <a:r>
              <a:rPr lang="en-US" altLang="zh-TW" i="1" dirty="0"/>
              <a:t>V</a:t>
            </a:r>
            <a:r>
              <a:rPr lang="en-US" altLang="zh-TW" dirty="0"/>
              <a:t>[</a:t>
            </a:r>
            <a:r>
              <a:rPr lang="en-US" altLang="zh-TW" i="1" dirty="0"/>
              <a:t>j</a:t>
            </a:r>
            <a:r>
              <a:rPr lang="en-US" altLang="zh-TW" dirty="0"/>
              <a:t>]</a:t>
            </a:r>
            <a:r>
              <a:rPr lang="zh-TW" altLang="en-US" dirty="0"/>
              <a:t>比較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：兩輸入陣列的項目個數</a:t>
            </a:r>
            <a:r>
              <a:rPr lang="en-US" altLang="zh-TW" i="1" dirty="0"/>
              <a:t>h</a:t>
            </a:r>
            <a:r>
              <a:rPr lang="zh-TW" altLang="en-US" dirty="0"/>
              <a:t>與</a:t>
            </a:r>
            <a:r>
              <a:rPr lang="en-US" altLang="zh-TW" i="1" dirty="0"/>
              <a:t>m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最差情況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i="1" dirty="0"/>
              <a:t>W</a:t>
            </a:r>
            <a:r>
              <a:rPr lang="en-US" altLang="zh-TW" dirty="0"/>
              <a:t>(</a:t>
            </a:r>
            <a:r>
              <a:rPr lang="en-US" altLang="zh-TW" i="1" dirty="0"/>
              <a:t>h</a:t>
            </a:r>
            <a:r>
              <a:rPr lang="en-US" altLang="zh-TW" dirty="0"/>
              <a:t>, </a:t>
            </a:r>
            <a:r>
              <a:rPr lang="en-US" altLang="zh-TW" i="1" dirty="0"/>
              <a:t>m</a:t>
            </a:r>
            <a:r>
              <a:rPr lang="en-US" altLang="zh-TW" dirty="0"/>
              <a:t>) = </a:t>
            </a:r>
            <a:r>
              <a:rPr lang="en-US" altLang="zh-TW" i="1" dirty="0"/>
              <a:t>h</a:t>
            </a:r>
            <a:r>
              <a:rPr lang="en-US" altLang="zh-TW" dirty="0"/>
              <a:t> + </a:t>
            </a:r>
            <a:r>
              <a:rPr lang="en-US" altLang="zh-TW" i="1" dirty="0"/>
              <a:t>m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</a:t>
            </a:r>
            <a:r>
              <a:rPr lang="en-US" altLang="zh-TW" dirty="0"/>
              <a:t> 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6144291" y="1372633"/>
            <a:ext cx="2842054" cy="3064479"/>
            <a:chOff x="2384854" y="1661984"/>
            <a:chExt cx="2842054" cy="3064479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9806" t="7713" r="32657" b="42632"/>
            <a:stretch/>
          </p:blipFill>
          <p:spPr bwMode="auto">
            <a:xfrm>
              <a:off x="2391032" y="3045945"/>
              <a:ext cx="2835876" cy="1680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10085" t="45673" r="4256" b="4053"/>
            <a:stretch/>
          </p:blipFill>
          <p:spPr bwMode="auto">
            <a:xfrm>
              <a:off x="2384854" y="1661984"/>
              <a:ext cx="2829697" cy="13839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64681" y="3941621"/>
          <a:ext cx="3386665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56055" y="5184408"/>
          <a:ext cx="406399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1" name="群組 40"/>
          <p:cNvGrpSpPr/>
          <p:nvPr/>
        </p:nvGrpSpPr>
        <p:grpSpPr>
          <a:xfrm>
            <a:off x="3724396" y="4344394"/>
            <a:ext cx="684736" cy="814825"/>
            <a:chOff x="3724396" y="4344394"/>
            <a:chExt cx="684736" cy="814825"/>
          </a:xfrm>
        </p:grpSpPr>
        <p:cxnSp>
          <p:nvCxnSpPr>
            <p:cNvPr id="25" name="直線單箭頭接點 24"/>
            <p:cNvCxnSpPr/>
            <p:nvPr/>
          </p:nvCxnSpPr>
          <p:spPr>
            <a:xfrm>
              <a:off x="3724396" y="4344394"/>
              <a:ext cx="684736" cy="814825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3971426" y="4629816"/>
              <a:ext cx="23083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3668622" y="4337859"/>
            <a:ext cx="115416" cy="828000"/>
            <a:chOff x="3668622" y="4337859"/>
            <a:chExt cx="115416" cy="828000"/>
          </a:xfrm>
        </p:grpSpPr>
        <p:cxnSp>
          <p:nvCxnSpPr>
            <p:cNvPr id="16" name="直線單箭頭接點 15"/>
            <p:cNvCxnSpPr/>
            <p:nvPr/>
          </p:nvCxnSpPr>
          <p:spPr>
            <a:xfrm>
              <a:off x="3721306" y="4337859"/>
              <a:ext cx="6179" cy="828000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3668622" y="4636085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3042749" y="4340074"/>
            <a:ext cx="684736" cy="814825"/>
            <a:chOff x="3042749" y="4340074"/>
            <a:chExt cx="684736" cy="814825"/>
          </a:xfrm>
        </p:grpSpPr>
        <p:cxnSp>
          <p:nvCxnSpPr>
            <p:cNvPr id="24" name="直線單箭頭接點 23"/>
            <p:cNvCxnSpPr/>
            <p:nvPr/>
          </p:nvCxnSpPr>
          <p:spPr>
            <a:xfrm>
              <a:off x="3042749" y="4340074"/>
              <a:ext cx="684736" cy="814825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3324835" y="4636084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986082" y="4337859"/>
            <a:ext cx="115416" cy="828000"/>
            <a:chOff x="2986082" y="4337859"/>
            <a:chExt cx="115416" cy="828000"/>
          </a:xfrm>
        </p:grpSpPr>
        <p:cxnSp>
          <p:nvCxnSpPr>
            <p:cNvPr id="18" name="直線單箭頭接點 17"/>
            <p:cNvCxnSpPr/>
            <p:nvPr/>
          </p:nvCxnSpPr>
          <p:spPr>
            <a:xfrm>
              <a:off x="3036570" y="4337859"/>
              <a:ext cx="6179" cy="828000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986082" y="4643527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361102" y="4342681"/>
            <a:ext cx="684736" cy="814825"/>
            <a:chOff x="2361102" y="4342681"/>
            <a:chExt cx="684736" cy="814825"/>
          </a:xfrm>
        </p:grpSpPr>
        <p:cxnSp>
          <p:nvCxnSpPr>
            <p:cNvPr id="23" name="直線單箭頭接點 22"/>
            <p:cNvCxnSpPr/>
            <p:nvPr/>
          </p:nvCxnSpPr>
          <p:spPr>
            <a:xfrm>
              <a:off x="2361102" y="4342681"/>
              <a:ext cx="684736" cy="814825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642295" y="4643526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2308235" y="4344447"/>
            <a:ext cx="115416" cy="828000"/>
            <a:chOff x="2308235" y="4344447"/>
            <a:chExt cx="115416" cy="828000"/>
          </a:xfrm>
        </p:grpSpPr>
        <p:cxnSp>
          <p:nvCxnSpPr>
            <p:cNvPr id="15" name="直線單箭頭接點 14"/>
            <p:cNvCxnSpPr/>
            <p:nvPr/>
          </p:nvCxnSpPr>
          <p:spPr>
            <a:xfrm>
              <a:off x="2351834" y="4344447"/>
              <a:ext cx="6179" cy="828000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2308235" y="4642944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1664009" y="4341840"/>
            <a:ext cx="684736" cy="814825"/>
            <a:chOff x="1664009" y="4341840"/>
            <a:chExt cx="684736" cy="814825"/>
          </a:xfrm>
        </p:grpSpPr>
        <p:cxnSp>
          <p:nvCxnSpPr>
            <p:cNvPr id="22" name="直線單箭頭接點 21"/>
            <p:cNvCxnSpPr/>
            <p:nvPr/>
          </p:nvCxnSpPr>
          <p:spPr>
            <a:xfrm>
              <a:off x="1664009" y="4341840"/>
              <a:ext cx="684736" cy="814825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1964448" y="4642943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1616096" y="4331272"/>
            <a:ext cx="115416" cy="828000"/>
            <a:chOff x="1616096" y="4331272"/>
            <a:chExt cx="115416" cy="828000"/>
          </a:xfrm>
        </p:grpSpPr>
        <p:cxnSp>
          <p:nvCxnSpPr>
            <p:cNvPr id="17" name="直線單箭頭接點 16"/>
            <p:cNvCxnSpPr/>
            <p:nvPr/>
          </p:nvCxnSpPr>
          <p:spPr>
            <a:xfrm>
              <a:off x="1667098" y="4331272"/>
              <a:ext cx="6179" cy="828000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1616096" y="4642944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982362" y="4344447"/>
            <a:ext cx="684736" cy="814825"/>
            <a:chOff x="982362" y="4344447"/>
            <a:chExt cx="684736" cy="814825"/>
          </a:xfrm>
        </p:grpSpPr>
        <p:cxnSp>
          <p:nvCxnSpPr>
            <p:cNvPr id="19" name="直線單箭頭接點 18"/>
            <p:cNvCxnSpPr/>
            <p:nvPr/>
          </p:nvCxnSpPr>
          <p:spPr>
            <a:xfrm>
              <a:off x="982362" y="4344447"/>
              <a:ext cx="684736" cy="814825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1272309" y="4642943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923957" y="4337860"/>
            <a:ext cx="115416" cy="828000"/>
            <a:chOff x="923957" y="4337860"/>
            <a:chExt cx="115416" cy="828000"/>
          </a:xfrm>
        </p:grpSpPr>
        <p:cxnSp>
          <p:nvCxnSpPr>
            <p:cNvPr id="13" name="直線單箭頭接點 12"/>
            <p:cNvCxnSpPr/>
            <p:nvPr/>
          </p:nvCxnSpPr>
          <p:spPr>
            <a:xfrm>
              <a:off x="982362" y="4337860"/>
              <a:ext cx="6179" cy="828000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923957" y="4653268"/>
              <a:ext cx="11541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TW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文字方塊 41"/>
          <p:cNvSpPr txBox="1"/>
          <p:nvPr/>
        </p:nvSpPr>
        <p:spPr>
          <a:xfrm>
            <a:off x="5008186" y="3941621"/>
            <a:ext cx="49052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TW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982538" y="5184408"/>
            <a:ext cx="54181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zh-TW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07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(5/6)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 分析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合併排序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基本運算</a:t>
                </a:r>
                <a:r>
                  <a:rPr lang="zh-TW" altLang="en-US" dirty="0"/>
                  <a:t>：發生在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合併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(merge)</a:t>
                </a:r>
                <a:r>
                  <a:rPr lang="zh-TW" altLang="en-US" dirty="0"/>
                  <a:t>中的比較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輸入大小</a:t>
                </a:r>
                <a:r>
                  <a:rPr lang="zh-TW" altLang="en-US" dirty="0"/>
                  <a:t>：陣列</a:t>
                </a:r>
                <a:r>
                  <a:rPr lang="en-US" altLang="zh-TW" i="1" dirty="0"/>
                  <a:t>S</a:t>
                </a:r>
                <a:r>
                  <a:rPr lang="zh-TW" altLang="en-US" dirty="0"/>
                  <a:t>中的項目個數</a:t>
                </a:r>
                <a:r>
                  <a:rPr lang="en-US" altLang="zh-TW" i="1" dirty="0"/>
                  <a:t>n</a:t>
                </a:r>
              </a:p>
              <a:p>
                <a:pPr marL="393192" lvl="1" indent="0" algn="ctr">
                  <a:buNone/>
                </a:pP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h</a:t>
                </a:r>
                <a:r>
                  <a:rPr lang="en-US" altLang="zh-TW" dirty="0"/>
                  <a:t>) + 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m</a:t>
                </a:r>
                <a:r>
                  <a:rPr lang="en-US" altLang="zh-TW" dirty="0"/>
                  <a:t>) + (</a:t>
                </a:r>
                <a:r>
                  <a:rPr lang="en-US" altLang="zh-TW" i="1" dirty="0"/>
                  <a:t>h</a:t>
                </a:r>
                <a:r>
                  <a:rPr lang="en-US" altLang="zh-TW" dirty="0"/>
                  <a:t> + </a:t>
                </a:r>
                <a:r>
                  <a:rPr lang="en-US" altLang="zh-TW" i="1" dirty="0"/>
                  <a:t>m</a:t>
                </a:r>
                <a:r>
                  <a:rPr lang="en-US" altLang="zh-TW" dirty="0"/>
                  <a:t> – 1)</a:t>
                </a:r>
              </a:p>
              <a:p>
                <a:pPr lvl="2"/>
                <a:r>
                  <a:rPr lang="en-US" altLang="zh-TW" i="1" dirty="0"/>
                  <a:t>h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box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dirty="0"/>
                  <a:t> </a:t>
                </a:r>
              </a:p>
              <a:p>
                <a:pPr lvl="2"/>
                <a:r>
                  <a:rPr lang="en-US" altLang="zh-TW" i="1" dirty="0"/>
                  <a:t>m</a:t>
                </a:r>
                <a:r>
                  <a:rPr lang="en-US" altLang="zh-TW" dirty="0"/>
                  <a:t> =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</a:t>
                </a:r>
                <a:r>
                  <a:rPr lang="en-US" altLang="zh-TW" i="1" dirty="0"/>
                  <a:t>h</a:t>
                </a:r>
                <a:r>
                  <a:rPr lang="en-US" altLang="zh-TW" dirty="0"/>
                  <a:t> =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 lvl="2"/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TW" dirty="0"/>
                  <a:t>) + 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TW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TW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TW" dirty="0"/>
                  <a:t> – 1) = 2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TW" dirty="0"/>
                  <a:t>) +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1 </a:t>
                </a:r>
              </a:p>
              <a:p>
                <a:pPr lvl="1"/>
                <a:r>
                  <a:rPr lang="zh-TW" altLang="en-US" dirty="0"/>
                  <a:t>若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=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1</a:t>
                </a:r>
                <a:r>
                  <a:rPr lang="zh-TW" altLang="en-US" dirty="0"/>
                  <a:t>，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(1) = 0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ox>
                                    <m:box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f>
                                        <m:f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𝐨𝐫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 (</a:t>
                </a:r>
                <a:r>
                  <a:rPr lang="zh-TW" altLang="en-US" dirty="0"/>
                  <a:t>附錄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，範例</a:t>
                </a:r>
                <a:r>
                  <a:rPr lang="en-US" altLang="zh-TW" dirty="0"/>
                  <a:t>B.19)</a:t>
                </a:r>
              </a:p>
              <a:p>
                <a:pPr lvl="1"/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𝐥𝐠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−(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 (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lg</a:t>
                </a:r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3762" t="59250" r="32858" b="15224"/>
          <a:stretch/>
        </p:blipFill>
        <p:spPr bwMode="auto">
          <a:xfrm>
            <a:off x="5946582" y="1237807"/>
            <a:ext cx="3039763" cy="102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圓角矩形圖說文字 7"/>
          <p:cNvSpPr/>
          <p:nvPr/>
        </p:nvSpPr>
        <p:spPr>
          <a:xfrm>
            <a:off x="4162162" y="2955396"/>
            <a:ext cx="972056" cy="401596"/>
          </a:xfrm>
          <a:prstGeom prst="wedgeRoundRectCallout">
            <a:avLst>
              <a:gd name="adj1" fmla="val -62670"/>
              <a:gd name="adj2" fmla="val -10465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排序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5352534" y="2955396"/>
            <a:ext cx="972056" cy="401596"/>
          </a:xfrm>
          <a:prstGeom prst="wedgeRoundRectCallout">
            <a:avLst>
              <a:gd name="adj1" fmla="val -83645"/>
              <a:gd name="adj2" fmla="val -103115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排序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6542906" y="2955396"/>
            <a:ext cx="972056" cy="401596"/>
          </a:xfrm>
          <a:prstGeom prst="wedgeRoundRectCallout">
            <a:avLst>
              <a:gd name="adj1" fmla="val -91908"/>
              <a:gd name="adj2" fmla="val -11388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合併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55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合併排序法 </a:t>
            </a:r>
            <a:r>
              <a:rPr lang="en-US" altLang="zh-TW" dirty="0"/>
              <a:t>Merge sort (6/6)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solidFill>
                      <a:srgbClr val="0000FF"/>
                    </a:solidFill>
                  </a:rPr>
                  <a:t>原地置換排序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(in-place sort)</a:t>
                </a:r>
              </a:p>
              <a:p>
                <a:pPr lvl="1"/>
                <a:r>
                  <a:rPr lang="zh-TW" altLang="en-US" dirty="0">
                    <a:solidFill>
                      <a:srgbClr val="C00000"/>
                    </a:solidFill>
                  </a:rPr>
                  <a:t>不需要</a:t>
                </a:r>
                <a:r>
                  <a:rPr lang="zh-TW" altLang="en-US" dirty="0"/>
                  <a:t>用到存放輸入資料之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額外空間</a:t>
                </a:r>
                <a:endParaRPr lang="en-US" altLang="zh-TW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TW" altLang="en-US" dirty="0"/>
                  <a:t>演算法</a:t>
                </a:r>
                <a:r>
                  <a:rPr lang="en-US" altLang="zh-TW" dirty="0"/>
                  <a:t>2.2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不是</a:t>
                </a:r>
                <a:r>
                  <a:rPr lang="zh-TW" altLang="en-US" dirty="0"/>
                  <a:t>原地置換排序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用到兩個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額外陣列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U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與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V</a:t>
                </a:r>
              </a:p>
              <a:p>
                <a:pPr lvl="2"/>
                <a:r>
                  <a:rPr lang="zh-TW" altLang="en-US" dirty="0"/>
                  <a:t>建立額外陣列項目的總和</a:t>
                </a:r>
                <a:endParaRPr lang="en-US" altLang="zh-TW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box>
                      <m:box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box>
                      <m:box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box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box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)+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</m:e>
                        </m:box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box>
                          <m:box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</m:e>
                        </m:box>
                      </m:e>
                    </m:d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box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演算法</a:t>
                </a:r>
                <a:r>
                  <a:rPr lang="en-US" altLang="zh-TW" dirty="0"/>
                  <a:t>2.4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72437" y="3639573"/>
            <a:ext cx="4351506" cy="302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4" cstate="print"/>
          <a:srcRect l="13762" t="42489" r="5192" b="41057"/>
          <a:stretch/>
        </p:blipFill>
        <p:spPr bwMode="auto">
          <a:xfrm>
            <a:off x="5050717" y="2060848"/>
            <a:ext cx="3935628" cy="563738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610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Divide-and-Conquer</a:t>
            </a:r>
            <a:r>
              <a:rPr lang="zh-TW" altLang="en-US" dirty="0"/>
              <a:t> 技巧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C00000"/>
                </a:solidFill>
              </a:rPr>
              <a:t>分割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Divide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/>
              <a:t>一個較大問題實例成為一個或多個較小的實例</a:t>
            </a:r>
            <a:endParaRPr lang="en-US" altLang="zh-TW" dirty="0"/>
          </a:p>
          <a:p>
            <a:r>
              <a:rPr lang="zh-TW" altLang="zh-TW" dirty="0">
                <a:solidFill>
                  <a:srgbClr val="C00000"/>
                </a:solidFill>
              </a:rPr>
              <a:t>解出</a:t>
            </a:r>
            <a:r>
              <a:rPr lang="zh-TW" altLang="zh-TW" dirty="0"/>
              <a:t>每個較小實例的答案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Conquer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zh-TW" altLang="zh-TW" dirty="0"/>
              <a:t>除非實例已經分割到足夠小的地步，否則使用</a:t>
            </a:r>
            <a:r>
              <a:rPr lang="zh-TW" altLang="zh-TW" u="sng" dirty="0">
                <a:solidFill>
                  <a:srgbClr val="C00000"/>
                </a:solidFill>
              </a:rPr>
              <a:t>遞迴</a:t>
            </a:r>
            <a:r>
              <a:rPr lang="zh-TW" altLang="zh-TW" dirty="0"/>
              <a:t>來解</a:t>
            </a:r>
            <a:endParaRPr lang="en-US" altLang="zh-TW" dirty="0"/>
          </a:p>
          <a:p>
            <a:r>
              <a:rPr lang="zh-TW" altLang="zh-TW" dirty="0"/>
              <a:t>必要的話，將兩個較小實體的解</a:t>
            </a:r>
            <a:r>
              <a:rPr lang="zh-TW" altLang="zh-TW" dirty="0">
                <a:solidFill>
                  <a:srgbClr val="C00000"/>
                </a:solidFill>
              </a:rPr>
              <a:t>合併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Combine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/>
              <a:t>以獲得原始問題實例的解答</a:t>
            </a:r>
            <a:endParaRPr lang="en-US" altLang="zh-TW" dirty="0"/>
          </a:p>
          <a:p>
            <a:pPr lvl="1"/>
            <a:r>
              <a:rPr lang="zh-TW" altLang="en-US" dirty="0"/>
              <a:t>二元搜尋法</a:t>
            </a:r>
            <a:r>
              <a:rPr lang="en-US" altLang="zh-TW" dirty="0"/>
              <a:t>(</a:t>
            </a:r>
            <a:r>
              <a:rPr lang="zh-TW" altLang="en-US" dirty="0"/>
              <a:t>演算法</a:t>
            </a:r>
            <a:r>
              <a:rPr lang="en-US" altLang="zh-TW" dirty="0"/>
              <a:t>2.1)</a:t>
            </a:r>
            <a:r>
              <a:rPr lang="zh-TW" altLang="en-US" dirty="0"/>
              <a:t>：不需要合併</a:t>
            </a:r>
            <a:endParaRPr lang="en-US" altLang="zh-TW" dirty="0"/>
          </a:p>
          <a:p>
            <a:pPr lvl="1"/>
            <a:r>
              <a:rPr lang="zh-TW" altLang="en-US" dirty="0"/>
              <a:t>合併排序法</a:t>
            </a:r>
            <a:r>
              <a:rPr lang="en-US" altLang="zh-TW" dirty="0"/>
              <a:t>(</a:t>
            </a:r>
            <a:r>
              <a:rPr lang="zh-TW" altLang="en-US" dirty="0"/>
              <a:t>演算法</a:t>
            </a:r>
            <a:r>
              <a:rPr lang="en-US" altLang="zh-TW" dirty="0"/>
              <a:t>2.4</a:t>
            </a:r>
            <a:r>
              <a:rPr lang="zh-TW" altLang="en-US" dirty="0"/>
              <a:t>、</a:t>
            </a:r>
            <a:r>
              <a:rPr lang="en-US" altLang="zh-TW" dirty="0"/>
              <a:t>2.5)</a:t>
            </a:r>
            <a:r>
              <a:rPr lang="zh-TW" altLang="en-US" dirty="0"/>
              <a:t>：需要合併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(1/7)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陣列會將小於</a:t>
            </a:r>
            <a:r>
              <a:rPr lang="zh-TW" altLang="zh-TW" dirty="0">
                <a:solidFill>
                  <a:srgbClr val="0000FF"/>
                </a:solidFill>
              </a:rPr>
              <a:t>樞紐</a:t>
            </a:r>
            <a:r>
              <a:rPr lang="en-US" altLang="zh-TW" dirty="0">
                <a:solidFill>
                  <a:srgbClr val="0000FF"/>
                </a:solidFill>
              </a:rPr>
              <a:t>(pivot)</a:t>
            </a:r>
            <a:r>
              <a:rPr lang="zh-TW" altLang="zh-TW" dirty="0"/>
              <a:t>的項目都放在前面，把大於樞紐的項目都放在後面</a:t>
            </a:r>
            <a:endParaRPr lang="en-US" altLang="zh-TW" dirty="0"/>
          </a:p>
          <a:p>
            <a:pPr lvl="1"/>
            <a:r>
              <a:rPr lang="zh-TW" altLang="zh-TW" dirty="0"/>
              <a:t>樞紐可以為任意的項目</a:t>
            </a:r>
            <a:r>
              <a:rPr lang="zh-TW" altLang="en-US" dirty="0"/>
              <a:t>，</a:t>
            </a:r>
            <a:r>
              <a:rPr lang="zh-TW" altLang="zh-TW" dirty="0"/>
              <a:t>通常可挑選</a:t>
            </a:r>
            <a:r>
              <a:rPr lang="zh-TW" altLang="zh-TW" dirty="0">
                <a:solidFill>
                  <a:srgbClr val="0000FF"/>
                </a:solidFill>
              </a:rPr>
              <a:t>第一個項目</a:t>
            </a:r>
            <a:r>
              <a:rPr lang="zh-TW" altLang="zh-TW" dirty="0"/>
              <a:t>做為樞紐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將大範圍的資料切割</a:t>
            </a:r>
            <a:r>
              <a:rPr lang="en-US" altLang="zh-TW" dirty="0"/>
              <a:t>(partition)</a:t>
            </a:r>
            <a:r>
              <a:rPr lang="zh-TW" altLang="en-US" dirty="0"/>
              <a:t>成兩個小範圍的資料</a:t>
            </a:r>
            <a:endParaRPr lang="en-US" altLang="zh-TW" dirty="0"/>
          </a:p>
          <a:p>
            <a:pPr lvl="1"/>
            <a:r>
              <a:rPr lang="zh-TW" altLang="en-US" dirty="0"/>
              <a:t>樞紐</a:t>
            </a:r>
            <a:r>
              <a:rPr lang="en-US" altLang="zh-TW" dirty="0"/>
              <a:t>(pivot)</a:t>
            </a:r>
            <a:r>
              <a:rPr lang="zh-TW" altLang="en-US" dirty="0">
                <a:solidFill>
                  <a:srgbClr val="C00000"/>
                </a:solidFill>
              </a:rPr>
              <a:t>左</a:t>
            </a:r>
            <a:r>
              <a:rPr lang="zh-TW" altLang="en-US" dirty="0"/>
              <a:t>邊元素 </a:t>
            </a:r>
            <a:r>
              <a:rPr lang="zh-TW" altLang="en-US" dirty="0">
                <a:solidFill>
                  <a:srgbClr val="C00000"/>
                </a:solidFill>
                <a:sym typeface="Symbol"/>
              </a:rPr>
              <a:t> </a:t>
            </a:r>
            <a:r>
              <a:rPr lang="zh-TW" altLang="en-US" dirty="0"/>
              <a:t>樞紐</a:t>
            </a:r>
            <a:r>
              <a:rPr lang="en-US" altLang="zh-TW" dirty="0"/>
              <a:t>(pivot)</a:t>
            </a:r>
            <a:endParaRPr lang="en-US" altLang="zh-TW" dirty="0">
              <a:sym typeface="Symbol"/>
            </a:endParaRPr>
          </a:p>
          <a:p>
            <a:pPr lvl="1"/>
            <a:r>
              <a:rPr lang="zh-TW" altLang="en-US" dirty="0"/>
              <a:t>樞紐</a:t>
            </a:r>
            <a:r>
              <a:rPr lang="en-US" altLang="zh-TW" dirty="0"/>
              <a:t>(pivot)</a:t>
            </a:r>
            <a:r>
              <a:rPr lang="zh-TW" altLang="en-US" dirty="0">
                <a:solidFill>
                  <a:srgbClr val="C00000"/>
                </a:solidFill>
                <a:sym typeface="Symbol"/>
              </a:rPr>
              <a:t>右</a:t>
            </a:r>
            <a:r>
              <a:rPr lang="zh-TW" altLang="en-US" dirty="0">
                <a:sym typeface="Symbol"/>
              </a:rPr>
              <a:t>邊元素 </a:t>
            </a:r>
            <a:r>
              <a:rPr lang="zh-TW" altLang="en-US" dirty="0">
                <a:solidFill>
                  <a:srgbClr val="C00000"/>
                </a:solidFill>
                <a:sym typeface="Symbol"/>
              </a:rPr>
              <a:t> </a:t>
            </a:r>
            <a:r>
              <a:rPr lang="zh-TW" altLang="en-US" dirty="0"/>
              <a:t>樞紐</a:t>
            </a:r>
            <a:r>
              <a:rPr lang="en-US" altLang="zh-TW" dirty="0"/>
              <a:t>(pivot)</a:t>
            </a:r>
            <a:endParaRPr lang="en-US" altLang="zh-TW" dirty="0">
              <a:sym typeface="Symbol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分頭收拾左右各半的資料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203878" y="3801580"/>
          <a:ext cx="4762716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7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/>
                        </a:rPr>
                        <a:t> 樞紐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/>
                        </a:rPr>
                        <a:t>(pivot)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樞紐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(pivot)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/>
                        </a:rPr>
                        <a:t> 樞紐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/>
                        </a:rPr>
                        <a:t>(pivot)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圓角矩形圖說文字 7"/>
          <p:cNvSpPr/>
          <p:nvPr/>
        </p:nvSpPr>
        <p:spPr>
          <a:xfrm>
            <a:off x="6966594" y="3080744"/>
            <a:ext cx="972056" cy="401596"/>
          </a:xfrm>
          <a:prstGeom prst="wedgeRoundRectCallout">
            <a:avLst>
              <a:gd name="adj1" fmla="val -121144"/>
              <a:gd name="adj2" fmla="val -17542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divide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4191883" y="5259652"/>
            <a:ext cx="1183306" cy="401596"/>
          </a:xfrm>
          <a:prstGeom prst="wedgeRoundRectCallout">
            <a:avLst>
              <a:gd name="adj1" fmla="val -121144"/>
              <a:gd name="adj2" fmla="val -17542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conquer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91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(2/7)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87776" y="213941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7005571" y="1630853"/>
            <a:ext cx="311304" cy="493616"/>
            <a:chOff x="7005571" y="1630853"/>
            <a:chExt cx="311304" cy="493616"/>
          </a:xfrm>
        </p:grpSpPr>
        <p:sp>
          <p:nvSpPr>
            <p:cNvPr id="9" name="向下箭號 8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2143148" y="1630853"/>
            <a:ext cx="311304" cy="493616"/>
            <a:chOff x="2143148" y="1630853"/>
            <a:chExt cx="311304" cy="493616"/>
          </a:xfrm>
        </p:grpSpPr>
        <p:sp>
          <p:nvSpPr>
            <p:cNvPr id="12" name="向下箭號 11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6415719" y="1632613"/>
            <a:ext cx="311304" cy="493616"/>
            <a:chOff x="7005571" y="1630853"/>
            <a:chExt cx="311304" cy="493616"/>
          </a:xfrm>
        </p:grpSpPr>
        <p:sp>
          <p:nvSpPr>
            <p:cNvPr id="15" name="向下箭號 14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803623" y="1630853"/>
            <a:ext cx="311304" cy="493616"/>
            <a:chOff x="7005571" y="1630853"/>
            <a:chExt cx="311304" cy="493616"/>
          </a:xfrm>
        </p:grpSpPr>
        <p:sp>
          <p:nvSpPr>
            <p:cNvPr id="18" name="向下箭號 17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1384899" y="3137197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群組 20"/>
          <p:cNvGrpSpPr/>
          <p:nvPr/>
        </p:nvGrpSpPr>
        <p:grpSpPr>
          <a:xfrm>
            <a:off x="2139896" y="2620013"/>
            <a:ext cx="311304" cy="493616"/>
            <a:chOff x="2143148" y="1630853"/>
            <a:chExt cx="311304" cy="493616"/>
          </a:xfrm>
        </p:grpSpPr>
        <p:sp>
          <p:nvSpPr>
            <p:cNvPr id="22" name="向下箭號 21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5800371" y="2620013"/>
            <a:ext cx="311304" cy="493616"/>
            <a:chOff x="7005571" y="1630853"/>
            <a:chExt cx="311304" cy="493616"/>
          </a:xfrm>
        </p:grpSpPr>
        <p:sp>
          <p:nvSpPr>
            <p:cNvPr id="25" name="向下箭號 24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2766751" y="2622251"/>
            <a:ext cx="311304" cy="493616"/>
            <a:chOff x="2143148" y="1630853"/>
            <a:chExt cx="311304" cy="493616"/>
          </a:xfrm>
        </p:grpSpPr>
        <p:sp>
          <p:nvSpPr>
            <p:cNvPr id="28" name="向下箭號 27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3367725" y="2622251"/>
            <a:ext cx="311304" cy="493616"/>
            <a:chOff x="2143148" y="1630853"/>
            <a:chExt cx="311304" cy="493616"/>
          </a:xfrm>
        </p:grpSpPr>
        <p:sp>
          <p:nvSpPr>
            <p:cNvPr id="31" name="向下箭號 30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5193646" y="2617117"/>
            <a:ext cx="311304" cy="493616"/>
            <a:chOff x="7005571" y="1630853"/>
            <a:chExt cx="311304" cy="493616"/>
          </a:xfrm>
        </p:grpSpPr>
        <p:sp>
          <p:nvSpPr>
            <p:cNvPr id="34" name="向下箭號 33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4581171" y="2617117"/>
            <a:ext cx="311304" cy="493616"/>
            <a:chOff x="7005571" y="1630853"/>
            <a:chExt cx="311304" cy="493616"/>
          </a:xfrm>
        </p:grpSpPr>
        <p:sp>
          <p:nvSpPr>
            <p:cNvPr id="37" name="向下箭號 36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1379148" y="4157993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0" name="群組 39"/>
          <p:cNvGrpSpPr/>
          <p:nvPr/>
        </p:nvGrpSpPr>
        <p:grpSpPr>
          <a:xfrm>
            <a:off x="3355847" y="3645919"/>
            <a:ext cx="311304" cy="493616"/>
            <a:chOff x="2143148" y="1630853"/>
            <a:chExt cx="311304" cy="493616"/>
          </a:xfrm>
        </p:grpSpPr>
        <p:sp>
          <p:nvSpPr>
            <p:cNvPr id="41" name="向下箭號 40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4569293" y="3640785"/>
            <a:ext cx="311304" cy="493616"/>
            <a:chOff x="7005571" y="1630853"/>
            <a:chExt cx="311304" cy="493616"/>
          </a:xfrm>
        </p:grpSpPr>
        <p:sp>
          <p:nvSpPr>
            <p:cNvPr id="44" name="向下箭號 43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3974073" y="3645919"/>
            <a:ext cx="311304" cy="493616"/>
            <a:chOff x="2143148" y="1630853"/>
            <a:chExt cx="311304" cy="493616"/>
          </a:xfrm>
        </p:grpSpPr>
        <p:sp>
          <p:nvSpPr>
            <p:cNvPr id="47" name="向下箭號 46"/>
            <p:cNvSpPr/>
            <p:nvPr/>
          </p:nvSpPr>
          <p:spPr>
            <a:xfrm>
              <a:off x="2212536" y="1948429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2143148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3969245" y="3646511"/>
            <a:ext cx="311304" cy="493616"/>
            <a:chOff x="7005571" y="1630853"/>
            <a:chExt cx="311304" cy="493616"/>
          </a:xfrm>
        </p:grpSpPr>
        <p:sp>
          <p:nvSpPr>
            <p:cNvPr id="50" name="向下箭號 49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3345268" y="3646511"/>
            <a:ext cx="311304" cy="493616"/>
            <a:chOff x="7005571" y="1630853"/>
            <a:chExt cx="311304" cy="493616"/>
          </a:xfrm>
        </p:grpSpPr>
        <p:sp>
          <p:nvSpPr>
            <p:cNvPr id="53" name="向下箭號 52"/>
            <p:cNvSpPr/>
            <p:nvPr/>
          </p:nvSpPr>
          <p:spPr>
            <a:xfrm>
              <a:off x="7083585" y="1948429"/>
              <a:ext cx="172528" cy="176040"/>
            </a:xfrm>
            <a:prstGeom prst="downArrow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7005571" y="1630853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1370569" y="5210403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" name="直線接點 55"/>
          <p:cNvCxnSpPr/>
          <p:nvPr/>
        </p:nvCxnSpPr>
        <p:spPr>
          <a:xfrm>
            <a:off x="3500919" y="4994516"/>
            <a:ext cx="0" cy="82800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群組 56"/>
          <p:cNvGrpSpPr/>
          <p:nvPr/>
        </p:nvGrpSpPr>
        <p:grpSpPr>
          <a:xfrm>
            <a:off x="2131270" y="4908197"/>
            <a:ext cx="311304" cy="1800000"/>
            <a:chOff x="2131270" y="4908197"/>
            <a:chExt cx="311304" cy="1800000"/>
          </a:xfrm>
        </p:grpSpPr>
        <p:sp>
          <p:nvSpPr>
            <p:cNvPr id="58" name="矩形 57"/>
            <p:cNvSpPr/>
            <p:nvPr/>
          </p:nvSpPr>
          <p:spPr>
            <a:xfrm>
              <a:off x="2131270" y="5888156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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左大括弧 58"/>
            <p:cNvSpPr/>
            <p:nvPr/>
          </p:nvSpPr>
          <p:spPr>
            <a:xfrm>
              <a:off x="2147697" y="4908197"/>
              <a:ext cx="288000" cy="1800000"/>
            </a:xfrm>
            <a:prstGeom prst="leftBrace">
              <a:avLst>
                <a:gd name="adj1" fmla="val 52519"/>
                <a:gd name="adj2" fmla="val 50000"/>
              </a:avLst>
            </a:prstGeom>
            <a:ln w="28575">
              <a:solidFill>
                <a:srgbClr val="FF9933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5469659" y="3984958"/>
            <a:ext cx="311304" cy="3636000"/>
            <a:chOff x="5469659" y="3984958"/>
            <a:chExt cx="311304" cy="3636000"/>
          </a:xfrm>
        </p:grpSpPr>
        <p:sp>
          <p:nvSpPr>
            <p:cNvPr id="61" name="矩形 60"/>
            <p:cNvSpPr/>
            <p:nvPr/>
          </p:nvSpPr>
          <p:spPr>
            <a:xfrm>
              <a:off x="5469659" y="5888156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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左大括弧 61"/>
            <p:cNvSpPr/>
            <p:nvPr/>
          </p:nvSpPr>
          <p:spPr>
            <a:xfrm>
              <a:off x="5485614" y="3984958"/>
              <a:ext cx="288000" cy="3636000"/>
            </a:xfrm>
            <a:prstGeom prst="leftBrace">
              <a:avLst>
                <a:gd name="adj1" fmla="val 52519"/>
                <a:gd name="adj2" fmla="val 50000"/>
              </a:avLst>
            </a:prstGeom>
            <a:ln w="28575">
              <a:solidFill>
                <a:srgbClr val="FF9933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073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(3/7)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25297" y="2139411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916717" y="2656984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913841" y="3188947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910965" y="3738163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899463" y="4278751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896588" y="4827966"/>
          <a:ext cx="54864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u="none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65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(4/7)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r>
              <a:rPr lang="en-US" altLang="zh-TW" dirty="0"/>
              <a:t>(</a:t>
            </a:r>
            <a:r>
              <a:rPr lang="zh-TW" altLang="en-US" dirty="0"/>
              <a:t>分割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C00000"/>
                </a:solidFill>
              </a:rPr>
              <a:t>發生在</a:t>
            </a:r>
            <a:r>
              <a:rPr lang="en-US" altLang="zh-TW" dirty="0">
                <a:solidFill>
                  <a:srgbClr val="C00000"/>
                </a:solidFill>
              </a:rPr>
              <a:t>merge</a:t>
            </a:r>
            <a:r>
              <a:rPr lang="zh-TW" altLang="en-US" dirty="0">
                <a:solidFill>
                  <a:srgbClr val="C00000"/>
                </a:solidFill>
              </a:rPr>
              <a:t>中的比較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：在子陣列中的項目數，</a:t>
            </a:r>
            <a:r>
              <a:rPr lang="en-US" altLang="zh-TW" i="1" dirty="0"/>
              <a:t>n</a:t>
            </a:r>
            <a:r>
              <a:rPr lang="en-US" altLang="zh-TW" dirty="0"/>
              <a:t> = </a:t>
            </a:r>
            <a:r>
              <a:rPr lang="en-US" altLang="zh-TW" i="1" dirty="0"/>
              <a:t>high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 </a:t>
            </a:r>
            <a:r>
              <a:rPr lang="en-US" altLang="zh-TW" i="1" dirty="0">
                <a:sym typeface="Symbol" panose="05050102010706020507" pitchFamily="18" charset="2"/>
              </a:rPr>
              <a:t>low</a:t>
            </a:r>
            <a:r>
              <a:rPr lang="en-US" altLang="zh-TW" dirty="0">
                <a:sym typeface="Symbol" panose="05050102010706020507" pitchFamily="18" charset="2"/>
              </a:rPr>
              <a:t> + 1</a:t>
            </a:r>
          </a:p>
          <a:p>
            <a:pPr lvl="1"/>
            <a:r>
              <a:rPr lang="zh-TW" altLang="en-US" dirty="0">
                <a:sym typeface="Symbol" panose="05050102010706020507" pitchFamily="18" charset="2"/>
              </a:rPr>
              <a:t>除了第一個項目外，每一個都會被比較</a:t>
            </a:r>
            <a:endParaRPr lang="en-US" altLang="zh-TW" dirty="0">
              <a:sym typeface="Symbol" panose="05050102010706020507" pitchFamily="18" charset="2"/>
            </a:endParaRPr>
          </a:p>
          <a:p>
            <a:pPr lvl="2"/>
            <a:r>
              <a:rPr lang="en-US" altLang="zh-TW" i="1" dirty="0">
                <a:sym typeface="Symbol" panose="05050102010706020507" pitchFamily="18" charset="2"/>
              </a:rPr>
              <a:t>T</a:t>
            </a:r>
            <a:r>
              <a:rPr lang="en-US" altLang="zh-TW" dirty="0">
                <a:sym typeface="Symbol" panose="05050102010706020507" pitchFamily="18" charset="2"/>
              </a:rPr>
              <a:t>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) =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– 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40027" y="3723383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440027" y="538596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向下箭號 9"/>
          <p:cNvSpPr/>
          <p:nvPr/>
        </p:nvSpPr>
        <p:spPr>
          <a:xfrm>
            <a:off x="4249783" y="4578622"/>
            <a:ext cx="470262" cy="3483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1507524" y="3723383"/>
            <a:ext cx="481914" cy="3962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肘形接點 12"/>
          <p:cNvCxnSpPr>
            <a:endCxn id="11" idx="0"/>
          </p:cNvCxnSpPr>
          <p:nvPr/>
        </p:nvCxnSpPr>
        <p:spPr>
          <a:xfrm rot="16200000" flipV="1">
            <a:off x="2053281" y="3418583"/>
            <a:ext cx="12700" cy="609600"/>
          </a:xfrm>
          <a:prstGeom prst="bentConnector3">
            <a:avLst>
              <a:gd name="adj1" fmla="val 1800000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接點 19"/>
          <p:cNvCxnSpPr>
            <a:endCxn id="11" idx="4"/>
          </p:cNvCxnSpPr>
          <p:nvPr/>
        </p:nvCxnSpPr>
        <p:spPr>
          <a:xfrm rot="5400000" flipH="1">
            <a:off x="2355078" y="3513026"/>
            <a:ext cx="6006" cy="1219200"/>
          </a:xfrm>
          <a:prstGeom prst="bentConnector3">
            <a:avLst>
              <a:gd name="adj1" fmla="val -3806194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接點 22"/>
          <p:cNvCxnSpPr>
            <a:endCxn id="11" idx="0"/>
          </p:cNvCxnSpPr>
          <p:nvPr/>
        </p:nvCxnSpPr>
        <p:spPr>
          <a:xfrm rot="16200000" flipV="1">
            <a:off x="2658362" y="2813502"/>
            <a:ext cx="12700" cy="1819762"/>
          </a:xfrm>
          <a:prstGeom prst="bentConnector3">
            <a:avLst>
              <a:gd name="adj1" fmla="val 1800000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接點 24"/>
          <p:cNvCxnSpPr>
            <a:endCxn id="11" idx="4"/>
          </p:cNvCxnSpPr>
          <p:nvPr/>
        </p:nvCxnSpPr>
        <p:spPr>
          <a:xfrm rot="5400000" flipH="1">
            <a:off x="2960159" y="2907945"/>
            <a:ext cx="6006" cy="2429362"/>
          </a:xfrm>
          <a:prstGeom prst="bentConnector3">
            <a:avLst>
              <a:gd name="adj1" fmla="val -3806194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endCxn id="11" idx="0"/>
          </p:cNvCxnSpPr>
          <p:nvPr/>
        </p:nvCxnSpPr>
        <p:spPr>
          <a:xfrm rot="16200000" flipH="1" flipV="1">
            <a:off x="3268910" y="2202472"/>
            <a:ext cx="481" cy="3041339"/>
          </a:xfrm>
          <a:prstGeom prst="bentConnector3">
            <a:avLst>
              <a:gd name="adj1" fmla="val -47525988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/>
          <p:cNvCxnSpPr>
            <a:endCxn id="11" idx="4"/>
          </p:cNvCxnSpPr>
          <p:nvPr/>
        </p:nvCxnSpPr>
        <p:spPr>
          <a:xfrm rot="5400000" flipH="1">
            <a:off x="3571188" y="2296917"/>
            <a:ext cx="5525" cy="3650939"/>
          </a:xfrm>
          <a:prstGeom prst="bentConnector3">
            <a:avLst>
              <a:gd name="adj1" fmla="val -4137557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endCxn id="11" idx="0"/>
          </p:cNvCxnSpPr>
          <p:nvPr/>
        </p:nvCxnSpPr>
        <p:spPr>
          <a:xfrm rot="16200000" flipH="1" flipV="1">
            <a:off x="3873991" y="1597391"/>
            <a:ext cx="481" cy="4251501"/>
          </a:xfrm>
          <a:prstGeom prst="bentConnector3">
            <a:avLst>
              <a:gd name="adj1" fmla="val -47525988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接點 37"/>
          <p:cNvCxnSpPr>
            <a:endCxn id="11" idx="4"/>
          </p:cNvCxnSpPr>
          <p:nvPr/>
        </p:nvCxnSpPr>
        <p:spPr>
          <a:xfrm rot="5400000" flipH="1">
            <a:off x="4176269" y="1691836"/>
            <a:ext cx="5525" cy="4861101"/>
          </a:xfrm>
          <a:prstGeom prst="bentConnector3">
            <a:avLst>
              <a:gd name="adj1" fmla="val -4137557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endCxn id="11" idx="0"/>
          </p:cNvCxnSpPr>
          <p:nvPr/>
        </p:nvCxnSpPr>
        <p:spPr>
          <a:xfrm rot="16200000" flipH="1" flipV="1">
            <a:off x="4484738" y="983802"/>
            <a:ext cx="3323" cy="5475837"/>
          </a:xfrm>
          <a:prstGeom prst="bentConnector3">
            <a:avLst>
              <a:gd name="adj1" fmla="val -6879326"/>
            </a:avLst>
          </a:prstGeom>
          <a:ln w="19050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36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(5/7)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 分析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快速排序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基本運算</a:t>
                </a:r>
                <a:r>
                  <a:rPr lang="zh-TW" altLang="en-US" dirty="0"/>
                  <a:t>：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[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]</a:t>
                </a:r>
                <a:r>
                  <a:rPr lang="zh-TW" altLang="en-US" dirty="0"/>
                  <a:t>與樞紐的比較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輸入大小</a:t>
                </a:r>
                <a:r>
                  <a:rPr lang="zh-TW" altLang="en-US" dirty="0"/>
                  <a:t>：陣列</a:t>
                </a:r>
                <a:r>
                  <a:rPr lang="en-US" altLang="zh-TW" i="1" dirty="0"/>
                  <a:t>S</a:t>
                </a:r>
                <a:r>
                  <a:rPr lang="zh-TW" altLang="en-US" dirty="0"/>
                  <a:t>中的項目數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最差情況</a:t>
                </a:r>
                <a:r>
                  <a:rPr lang="zh-TW" altLang="en-US" dirty="0"/>
                  <a:t>：該陣列已經排成非遞減的順序</a:t>
                </a:r>
                <a:endParaRPr lang="en-US" altLang="zh-TW" dirty="0"/>
              </a:p>
              <a:p>
                <a:pPr lvl="1"/>
                <a:endParaRPr lang="en-US" altLang="zh-TW" i="1" dirty="0"/>
              </a:p>
              <a:p>
                <a:pPr lvl="1"/>
                <a:endParaRPr lang="en-US" altLang="zh-TW" i="1" dirty="0"/>
              </a:p>
              <a:p>
                <a:pPr lvl="1"/>
                <a:endParaRPr lang="en-US" altLang="zh-TW" i="1" dirty="0"/>
              </a:p>
              <a:p>
                <a:pPr lvl="1"/>
                <a:endParaRPr lang="en-US" altLang="zh-TW" i="1" dirty="0"/>
              </a:p>
              <a:p>
                <a:pPr lvl="1"/>
                <a:endParaRPr lang="en-US" altLang="zh-TW" i="1" dirty="0"/>
              </a:p>
              <a:p>
                <a:pPr lvl="1"/>
                <a:r>
                  <a:rPr lang="en-US" altLang="zh-TW" i="1" dirty="0"/>
                  <a:t>T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(0) +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1) + 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1)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ox>
                                    <m:box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box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𝐨𝐫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 (</a:t>
                </a:r>
                <a:r>
                  <a:rPr lang="zh-TW" altLang="en-US" dirty="0"/>
                  <a:t>附錄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，範例</a:t>
                </a:r>
                <a:r>
                  <a:rPr lang="en-US" altLang="zh-TW" dirty="0"/>
                  <a:t>B.18)</a:t>
                </a:r>
              </a:p>
              <a:p>
                <a:pPr lvl="1"/>
                <a:r>
                  <a:rPr lang="en-US" altLang="zh-TW" i="1" dirty="0"/>
                  <a:t>T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1)/2</a:t>
                </a:r>
              </a:p>
              <a:p>
                <a:pPr lvl="1"/>
                <a:r>
                  <a:rPr lang="zh-TW" altLang="en-US" dirty="0"/>
                  <a:t>數學歸納法證明 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1)/2 </a:t>
                </a:r>
                <a:r>
                  <a:rPr lang="en-US" altLang="zh-TW" dirty="0">
                    <a:sym typeface="Symbol" panose="05050102010706020507" pitchFamily="18" charset="2"/>
                  </a:rPr>
                  <a:t> 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72" b="-3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537236" y="318948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直線接點 8"/>
          <p:cNvCxnSpPr/>
          <p:nvPr/>
        </p:nvCxnSpPr>
        <p:spPr>
          <a:xfrm>
            <a:off x="1824309" y="2966099"/>
            <a:ext cx="0" cy="82800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905428" y="2793295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591414" y="2793295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1595708" y="3189484"/>
            <a:ext cx="481914" cy="3962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圖說文字 12"/>
          <p:cNvSpPr/>
          <p:nvPr/>
        </p:nvSpPr>
        <p:spPr>
          <a:xfrm>
            <a:off x="2286010" y="3891500"/>
            <a:ext cx="1277433" cy="401596"/>
          </a:xfrm>
          <a:prstGeom prst="wedgeRoundRectCallout">
            <a:avLst>
              <a:gd name="adj1" fmla="val -79137"/>
              <a:gd name="adj2" fmla="val 13380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處理左半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圓角矩形圖說文字 13"/>
          <p:cNvSpPr/>
          <p:nvPr/>
        </p:nvSpPr>
        <p:spPr>
          <a:xfrm>
            <a:off x="3977724" y="3891500"/>
            <a:ext cx="1273898" cy="401596"/>
          </a:xfrm>
          <a:prstGeom prst="wedgeRoundRectCallout">
            <a:avLst>
              <a:gd name="adj1" fmla="val -118533"/>
              <a:gd name="adj2" fmla="val 13380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處理右半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5630481" y="3891500"/>
            <a:ext cx="1273898" cy="401596"/>
          </a:xfrm>
          <a:prstGeom prst="wedgeRoundRectCallout">
            <a:avLst>
              <a:gd name="adj1" fmla="val -160243"/>
              <a:gd name="adj2" fmla="val 164575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分割時間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70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2" grpId="1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(6/7)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數學歸納法證明：對於所有的</a:t>
                </a:r>
                <a:r>
                  <a:rPr lang="en-US" altLang="zh-TW" i="1" dirty="0"/>
                  <a:t>n</a:t>
                </a:r>
                <a:r>
                  <a:rPr lang="zh-TW" altLang="en-US" dirty="0"/>
                  <a:t>，</a:t>
                </a:r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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>
                    <a:solidFill>
                      <a:srgbClr val="0000FF"/>
                    </a:solidFill>
                  </a:rPr>
                  <a:t>歸納基底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2"/>
                <a:r>
                  <a:rPr lang="en-US" altLang="zh-TW" i="1" dirty="0"/>
                  <a:t>n</a:t>
                </a:r>
                <a:r>
                  <a:rPr lang="en-US" altLang="zh-TW" dirty="0"/>
                  <a:t> = 0</a:t>
                </a:r>
              </a:p>
              <a:p>
                <a:pPr lvl="2"/>
                <a:r>
                  <a:rPr lang="en-US" altLang="zh-TW" i="1" dirty="0"/>
                  <a:t>W</a:t>
                </a:r>
                <a:r>
                  <a:rPr lang="en-US" altLang="zh-TW" dirty="0"/>
                  <a:t>(0) </a:t>
                </a:r>
                <a:r>
                  <a:rPr lang="en-US" altLang="zh-TW" dirty="0">
                    <a:sym typeface="Symbol" panose="05050102010706020507" pitchFamily="18" charset="2"/>
                  </a:rPr>
                  <a:t>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𝟏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>
                    <a:solidFill>
                      <a:srgbClr val="0000FF"/>
                    </a:solidFill>
                  </a:rPr>
                  <a:t>歸納假設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0 </a:t>
                </a:r>
                <a:r>
                  <a:rPr lang="en-US" altLang="zh-TW" dirty="0">
                    <a:sym typeface="Symbol" panose="05050102010706020507" pitchFamily="18" charset="2"/>
                  </a:rPr>
                  <a:t>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k</a:t>
                </a:r>
                <a:r>
                  <a:rPr lang="en-US" altLang="zh-TW" dirty="0">
                    <a:sym typeface="Symbol" panose="05050102010706020507" pitchFamily="18" charset="2"/>
                  </a:rPr>
                  <a:t> &lt;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</a:p>
              <a:p>
                <a:pPr lvl="2"/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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𝒌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𝒌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𝟏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endParaRPr lang="en-US" altLang="zh-TW" dirty="0">
                  <a:sym typeface="Symbol" panose="05050102010706020507" pitchFamily="18" charset="2"/>
                </a:endParaRPr>
              </a:p>
              <a:p>
                <a:pPr lvl="1"/>
                <a:r>
                  <a:rPr lang="zh-TW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歸納步驟</a:t>
                </a:r>
                <a:r>
                  <a:rPr lang="zh-TW" altLang="en-US" dirty="0">
                    <a:sym typeface="Symbol" panose="05050102010706020507" pitchFamily="18" charset="2"/>
                  </a:rPr>
                  <a:t>：</a:t>
                </a:r>
                <a:endParaRPr lang="en-US" altLang="zh-TW" dirty="0">
                  <a:sym typeface="Symbol" panose="05050102010706020507" pitchFamily="18" charset="2"/>
                </a:endParaRPr>
              </a:p>
              <a:p>
                <a:pPr lvl="2"/>
                <a:r>
                  <a:rPr lang="zh-TW" altLang="en-US" dirty="0">
                    <a:sym typeface="Symbol" panose="05050102010706020507" pitchFamily="18" charset="2"/>
                  </a:rPr>
                  <a:t>假設</a:t>
                </a:r>
                <a:r>
                  <a:rPr lang="en-US" altLang="zh-TW" i="1" dirty="0">
                    <a:sym typeface="Symbol" panose="05050102010706020507" pitchFamily="18" charset="2"/>
                  </a:rPr>
                  <a:t>p</a:t>
                </a:r>
                <a:r>
                  <a:rPr lang="zh-TW" altLang="en-US" dirty="0">
                    <a:sym typeface="Symbol" panose="05050102010706020507" pitchFamily="18" charset="2"/>
                  </a:rPr>
                  <a:t>為樞紐值位置</a:t>
                </a:r>
                <a:endParaRPr lang="en-US" altLang="zh-TW" dirty="0">
                  <a:sym typeface="Symbol" panose="05050102010706020507" pitchFamily="18" charset="2"/>
                </a:endParaRPr>
              </a:p>
              <a:p>
                <a:pPr marL="667512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𝑾</m:t>
                      </m:r>
                      <m:d>
                        <m:d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𝒏</m:t>
                          </m:r>
                        </m:e>
                      </m:d>
                      <m:r>
                        <a:rPr lang="en-US" altLang="zh-TW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≤</m:t>
                      </m:r>
                      <m:r>
                        <a:rPr lang="en-US" altLang="zh-TW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𝑾</m:t>
                      </m:r>
                      <m:d>
                        <m:d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𝒑</m:t>
                          </m:r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𝟏</m:t>
                          </m:r>
                        </m:e>
                      </m:d>
                      <m:r>
                        <a:rPr lang="en-US" altLang="zh-TW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TW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𝑾</m:t>
                      </m:r>
                      <m:d>
                        <m:d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𝒏</m:t>
                          </m:r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𝒑</m:t>
                          </m:r>
                        </m:e>
                      </m:d>
                      <m:r>
                        <a:rPr lang="en-US" altLang="zh-TW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d>
                        <m:d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𝒏</m:t>
                          </m:r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−</m:t>
                          </m:r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altLang="zh-TW" b="1" dirty="0"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667512" lvl="2" indent="0">
                  <a:buNone/>
                </a:pPr>
                <a:r>
                  <a:rPr lang="zh-TW" altLang="en-US" dirty="0"/>
                  <a:t>                           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≤</m:t>
                    </m:r>
                    <m:box>
                      <m:box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box>
                          <m:box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box>
                      </m:e>
                    </m:box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(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代數運算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?</a:t>
                </a:r>
                <a:r>
                  <a:rPr lang="en-US" altLang="zh-TW" dirty="0"/>
                  <a:t>)</a:t>
                </a:r>
              </a:p>
              <a:p>
                <a:pPr marL="667512" lvl="2" indent="0">
                  <a:buNone/>
                </a:pPr>
                <a:r>
                  <a:rPr lang="en-US" altLang="zh-TW" b="1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≤</m:t>
                    </m:r>
                    <m:box>
                      <m:box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4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82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快速排序法 </a:t>
            </a:r>
            <a:r>
              <a:rPr lang="en-US" altLang="zh-TW" dirty="0"/>
              <a:t>Quick sort (7/7)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i="1" dirty="0"/>
                  <a:t>A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zh-TW" altLang="en-US" dirty="0"/>
                  <a:t>分析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快速排序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基本運算</a:t>
                </a:r>
                <a:r>
                  <a:rPr lang="zh-TW" altLang="en-US" dirty="0"/>
                  <a:t>：在</a:t>
                </a:r>
                <a:r>
                  <a:rPr lang="en-US" altLang="zh-TW" dirty="0"/>
                  <a:t>partition</a:t>
                </a:r>
                <a:r>
                  <a:rPr lang="zh-TW" altLang="en-US" dirty="0"/>
                  <a:t>副程式中，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[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]</a:t>
                </a:r>
                <a:r>
                  <a:rPr lang="zh-TW" altLang="en-US" dirty="0"/>
                  <a:t>與</a:t>
                </a:r>
                <a:r>
                  <a:rPr lang="en-US" altLang="zh-TW" i="1" dirty="0" err="1"/>
                  <a:t>pivotitem</a:t>
                </a:r>
                <a:r>
                  <a:rPr lang="zh-TW" altLang="en-US" dirty="0"/>
                  <a:t>的比較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輸入大小</a:t>
                </a:r>
                <a:r>
                  <a:rPr lang="zh-TW" altLang="en-US" dirty="0"/>
                  <a:t>：陣列</a:t>
                </a:r>
                <a:r>
                  <a:rPr lang="en-US" altLang="zh-TW" i="1" dirty="0"/>
                  <a:t>S</a:t>
                </a:r>
                <a:r>
                  <a:rPr lang="zh-TW" altLang="en-US" dirty="0"/>
                  <a:t>中的項目數</a:t>
                </a:r>
                <a:r>
                  <a:rPr lang="en-US" altLang="zh-TW" i="1" dirty="0"/>
                  <a:t>n</a:t>
                </a:r>
              </a:p>
              <a:p>
                <a:pPr lvl="1"/>
                <a:r>
                  <a:rPr lang="en-US" altLang="zh-TW" i="1" dirty="0">
                    <a:solidFill>
                      <a:srgbClr val="C00000"/>
                    </a:solidFill>
                  </a:rPr>
                  <a:t>pivotpoint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為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p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的機率：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TW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box>
                  </m:oMath>
                </a14:m>
                <a:endParaRPr lang="en-US" altLang="zh-TW" dirty="0"/>
              </a:p>
              <a:p>
                <a:pPr lvl="1"/>
                <a:r>
                  <a:rPr lang="en-US" altLang="zh-TW" i="1" dirty="0"/>
                  <a:t>A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box>
                          <m:box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den>
                            </m:f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</m:box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nary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box>
                    <m:nary>
                      <m:naryPr>
                        <m:chr m:val="∑"/>
                        <m:limLoc m:val="subSup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i="1" dirty="0" err="1"/>
                  <a:t>nA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box>
                    <m:nary>
                      <m:naryPr>
                        <m:chr m:val="∑"/>
                        <m:limLoc m:val="subSup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1)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– 1)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box>
                    <m:nary>
                      <m:naryPr>
                        <m:chr m:val="∑"/>
                        <m:limLoc m:val="subSup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i="1" dirty="0" err="1"/>
                  <a:t>nA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– 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– 1)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– 1) =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box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box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𝐨𝐫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 (</a:t>
                </a:r>
                <a:r>
                  <a:rPr lang="zh-TW" altLang="en-US" dirty="0"/>
                  <a:t>附錄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，範例</a:t>
                </a:r>
                <a:r>
                  <a:rPr lang="en-US" altLang="zh-TW" dirty="0"/>
                  <a:t>B.22) </a:t>
                </a:r>
                <a:r>
                  <a:rPr lang="en-US" altLang="zh-TW" dirty="0">
                    <a:sym typeface="Symbol" panose="05050102010706020507" pitchFamily="18" charset="2"/>
                  </a:rPr>
                  <a:t> </a:t>
                </a:r>
                <a:r>
                  <a:rPr lang="en-US" altLang="zh-TW" i="1" dirty="0"/>
                  <a:t>a</a:t>
                </a:r>
                <a:r>
                  <a:rPr lang="en-US" altLang="zh-TW" i="1" baseline="-25000" dirty="0"/>
                  <a:t>n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 2ln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endParaRPr lang="zh-TW" altLang="en-US" i="1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897003" y="5934331"/>
                <a:ext cx="5089342" cy="615553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𝐥𝐧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</m:t>
                          </m:r>
                          <m:func>
                            <m:func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𝐥𝐠</m:t>
                              </m:r>
                            </m:fNam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sz="2000" b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zh-TW" altLang="en-US" sz="2000" b="1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𝟑𝟖</m:t>
                    </m:r>
                    <m:d>
                      <m:d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sz="2000" b="1" i="0" smtClean="0">
                            <a:latin typeface="Cambria Math" panose="02040503050406030204" pitchFamily="18" charset="0"/>
                          </a:rPr>
                          <m:t>𝐥𝐠</m:t>
                        </m:r>
                      </m:fName>
                      <m:e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l-GR" altLang="zh-TW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𝚯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𝐥𝐠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zh-TW" altLang="en-US" sz="2000" b="1" dirty="0"/>
                  <a:t> </a:t>
                </a: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003" y="5934331"/>
                <a:ext cx="5089342" cy="615553"/>
              </a:xfrm>
              <a:prstGeom prst="rect">
                <a:avLst/>
              </a:prstGeom>
              <a:blipFill rotWithShape="0">
                <a:blip r:embed="rId3"/>
                <a:stretch>
                  <a:fillRect r="-358" b="-14423"/>
                </a:stretch>
              </a:blipFill>
              <a:ln w="1905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58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Strassen</a:t>
            </a:r>
            <a:r>
              <a:rPr lang="zh-TW" altLang="zh-TW" dirty="0"/>
              <a:t>的矩陣相乘演算法</a:t>
            </a:r>
            <a:r>
              <a:rPr lang="en-US" altLang="zh-TW" dirty="0"/>
              <a:t> 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矩陣乘法</a:t>
            </a:r>
            <a:r>
              <a:rPr lang="en-US" altLang="zh-TW" dirty="0"/>
              <a:t>(</a:t>
            </a:r>
            <a:r>
              <a:rPr lang="zh-TW" altLang="en-US" dirty="0"/>
              <a:t>演算法</a:t>
            </a:r>
            <a:r>
              <a:rPr lang="en-US" altLang="zh-TW" dirty="0"/>
              <a:t>1.4)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問題</a:t>
            </a:r>
            <a:r>
              <a:rPr lang="zh-TW" altLang="en-US" dirty="0"/>
              <a:t>：求得兩個</a:t>
            </a:r>
            <a:r>
              <a:rPr lang="en-US" altLang="zh-TW" i="1" dirty="0"/>
              <a:t>n</a:t>
            </a:r>
            <a:r>
              <a:rPr lang="zh-TW" altLang="en-US" dirty="0"/>
              <a:t> </a:t>
            </a:r>
            <a:r>
              <a:rPr lang="zh-TW" altLang="en-US" dirty="0">
                <a:sym typeface="Symbol" panose="05050102010706020507" pitchFamily="18" charset="2"/>
              </a:rPr>
              <a:t>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zh-TW" altLang="en-US" dirty="0">
                <a:sym typeface="Symbol" panose="05050102010706020507" pitchFamily="18" charset="2"/>
              </a:rPr>
              <a:t>矩陣的乘積</a:t>
            </a:r>
            <a:endParaRPr lang="en-US" altLang="zh-TW" dirty="0">
              <a:sym typeface="Symbol" panose="05050102010706020507" pitchFamily="18" charset="2"/>
            </a:endParaRPr>
          </a:p>
          <a:p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輸入</a:t>
            </a:r>
            <a:r>
              <a:rPr lang="zh-TW" altLang="en-US" dirty="0">
                <a:sym typeface="Symbol" panose="05050102010706020507" pitchFamily="18" charset="2"/>
              </a:rPr>
              <a:t>：正整數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zh-TW" altLang="en-US" dirty="0">
                <a:sym typeface="Symbol" panose="05050102010706020507" pitchFamily="18" charset="2"/>
              </a:rPr>
              <a:t>，二維數字陣列</a:t>
            </a:r>
            <a:r>
              <a:rPr lang="en-US" altLang="zh-TW" i="1" dirty="0">
                <a:sym typeface="Symbol" panose="05050102010706020507" pitchFamily="18" charset="2"/>
              </a:rPr>
              <a:t>A</a:t>
            </a:r>
            <a:r>
              <a:rPr lang="zh-TW" altLang="en-US" dirty="0">
                <a:sym typeface="Symbol" panose="05050102010706020507" pitchFamily="18" charset="2"/>
              </a:rPr>
              <a:t>與</a:t>
            </a:r>
            <a:r>
              <a:rPr lang="en-US" altLang="zh-TW" i="1" dirty="0">
                <a:sym typeface="Symbol" panose="05050102010706020507" pitchFamily="18" charset="2"/>
              </a:rPr>
              <a:t>B</a:t>
            </a:r>
          </a:p>
          <a:p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輸出</a:t>
            </a:r>
            <a:r>
              <a:rPr lang="zh-TW" altLang="en-US" dirty="0">
                <a:sym typeface="Symbol" panose="05050102010706020507" pitchFamily="18" charset="2"/>
              </a:rPr>
              <a:t>：二維數字陣列</a:t>
            </a:r>
            <a:r>
              <a:rPr lang="en-US" altLang="zh-TW" i="1" dirty="0">
                <a:sym typeface="Symbol" panose="05050102010706020507" pitchFamily="18" charset="2"/>
              </a:rPr>
              <a:t>C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283" y="2746465"/>
            <a:ext cx="6341906" cy="3663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1761202" y="555436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基本運算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5418438" y="6009994"/>
            <a:ext cx="2396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lang="zh-TW" altLang="en-US" sz="2000" b="1" baseline="30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673546" y="6025157"/>
            <a:ext cx="1019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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65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Strassen</a:t>
            </a:r>
            <a:r>
              <a:rPr lang="zh-TW" altLang="zh-TW" dirty="0"/>
              <a:t>的矩陣相乘演算法</a:t>
            </a:r>
            <a:r>
              <a:rPr lang="en-US" altLang="zh-TW" dirty="0"/>
              <a:t> (2/6)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</a:rPr>
                  <a:t>Strassen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演算法</a:t>
                </a:r>
                <a:endParaRPr lang="en-US" altLang="zh-TW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endParaRPr lang="en-US" altLang="zh-TW" i="1" dirty="0"/>
              </a:p>
              <a:p>
                <a:r>
                  <a:rPr lang="en-US" altLang="zh-TW" i="1" dirty="0"/>
                  <a:t>m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= (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11</a:t>
                </a:r>
                <a:r>
                  <a:rPr lang="en-US" altLang="zh-TW" dirty="0"/>
                  <a:t> +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22</a:t>
                </a:r>
                <a:r>
                  <a:rPr lang="en-US" altLang="zh-TW" dirty="0"/>
                  <a:t>)(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11</a:t>
                </a:r>
                <a:r>
                  <a:rPr lang="en-US" altLang="zh-TW" dirty="0"/>
                  <a:t> + 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22</a:t>
                </a:r>
                <a:r>
                  <a:rPr lang="en-US" altLang="zh-TW" dirty="0"/>
                  <a:t>)</a:t>
                </a:r>
              </a:p>
              <a:p>
                <a:r>
                  <a:rPr lang="en-US" altLang="zh-TW" i="1" dirty="0"/>
                  <a:t>m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 = (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21</a:t>
                </a:r>
                <a:r>
                  <a:rPr lang="en-US" altLang="zh-TW" dirty="0"/>
                  <a:t> +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22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11</a:t>
                </a:r>
              </a:p>
              <a:p>
                <a:r>
                  <a:rPr lang="en-US" altLang="zh-TW" i="1" dirty="0"/>
                  <a:t>m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 =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11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12</a:t>
                </a:r>
                <a:r>
                  <a:rPr lang="en-US" altLang="zh-TW" dirty="0"/>
                  <a:t> – 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22</a:t>
                </a:r>
                <a:r>
                  <a:rPr lang="en-US" altLang="zh-TW" dirty="0"/>
                  <a:t>)</a:t>
                </a:r>
              </a:p>
              <a:p>
                <a:r>
                  <a:rPr lang="en-US" altLang="zh-TW" i="1" dirty="0"/>
                  <a:t>m</a:t>
                </a:r>
                <a:r>
                  <a:rPr lang="en-US" altLang="zh-TW" baseline="-25000" dirty="0"/>
                  <a:t>4</a:t>
                </a:r>
                <a:r>
                  <a:rPr lang="en-US" altLang="zh-TW" dirty="0"/>
                  <a:t> =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22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21</a:t>
                </a:r>
                <a:r>
                  <a:rPr lang="en-US" altLang="zh-TW" dirty="0"/>
                  <a:t> – 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11</a:t>
                </a:r>
                <a:r>
                  <a:rPr lang="en-US" altLang="zh-TW" dirty="0"/>
                  <a:t>)</a:t>
                </a:r>
              </a:p>
              <a:p>
                <a:r>
                  <a:rPr lang="en-US" altLang="zh-TW" i="1" dirty="0"/>
                  <a:t>m</a:t>
                </a:r>
                <a:r>
                  <a:rPr lang="en-US" altLang="zh-TW" baseline="-25000" dirty="0"/>
                  <a:t>5</a:t>
                </a:r>
                <a:r>
                  <a:rPr lang="en-US" altLang="zh-TW" dirty="0"/>
                  <a:t> = (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11</a:t>
                </a:r>
                <a:r>
                  <a:rPr lang="en-US" altLang="zh-TW" dirty="0"/>
                  <a:t> +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12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22</a:t>
                </a:r>
              </a:p>
              <a:p>
                <a:r>
                  <a:rPr lang="en-US" altLang="zh-TW" i="1" dirty="0"/>
                  <a:t>m</a:t>
                </a:r>
                <a:r>
                  <a:rPr lang="en-US" altLang="zh-TW" baseline="-25000" dirty="0"/>
                  <a:t>6</a:t>
                </a:r>
                <a:r>
                  <a:rPr lang="en-US" altLang="zh-TW" dirty="0"/>
                  <a:t> = (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21</a:t>
                </a:r>
                <a:r>
                  <a:rPr lang="en-US" altLang="zh-TW" dirty="0"/>
                  <a:t> –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11</a:t>
                </a:r>
                <a:r>
                  <a:rPr lang="en-US" altLang="zh-TW" dirty="0"/>
                  <a:t>)(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11</a:t>
                </a:r>
                <a:r>
                  <a:rPr lang="en-US" altLang="zh-TW" dirty="0"/>
                  <a:t> + 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12</a:t>
                </a:r>
                <a:r>
                  <a:rPr lang="en-US" altLang="zh-TW" dirty="0"/>
                  <a:t>)</a:t>
                </a:r>
              </a:p>
              <a:p>
                <a:r>
                  <a:rPr lang="en-US" altLang="zh-TW" i="1" dirty="0"/>
                  <a:t>m</a:t>
                </a:r>
                <a:r>
                  <a:rPr lang="en-US" altLang="zh-TW" baseline="-25000" dirty="0"/>
                  <a:t>7</a:t>
                </a:r>
                <a:r>
                  <a:rPr lang="en-US" altLang="zh-TW" dirty="0"/>
                  <a:t> = (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12</a:t>
                </a:r>
                <a:r>
                  <a:rPr lang="en-US" altLang="zh-TW" dirty="0"/>
                  <a:t> –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22</a:t>
                </a:r>
                <a:r>
                  <a:rPr lang="en-US" altLang="zh-TW" dirty="0"/>
                  <a:t>)(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21</a:t>
                </a:r>
                <a:r>
                  <a:rPr lang="en-US" altLang="zh-TW" dirty="0"/>
                  <a:t> + 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22</a:t>
                </a:r>
                <a:r>
                  <a:rPr lang="en-US" altLang="zh-TW" dirty="0"/>
                  <a:t>)</a:t>
                </a:r>
              </a:p>
              <a:p>
                <a:pPr marL="0" indent="0">
                  <a:buNone/>
                </a:pPr>
                <a:endParaRPr lang="en-US" altLang="zh-TW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r>
                  <a:rPr lang="zh-TW" altLang="en-US" dirty="0"/>
                  <a:t>共需要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7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次乘法</a:t>
                </a:r>
                <a:r>
                  <a:rPr lang="zh-TW" altLang="en-US" dirty="0"/>
                  <a:t>與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18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次的加法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/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減法</a:t>
                </a:r>
                <a:endParaRPr lang="en-US" altLang="zh-TW" dirty="0">
                  <a:solidFill>
                    <a:srgbClr val="C00000"/>
                  </a:solidFill>
                </a:endParaRP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圓角矩形圖說文字 6"/>
          <p:cNvSpPr/>
          <p:nvPr/>
        </p:nvSpPr>
        <p:spPr>
          <a:xfrm>
            <a:off x="7580865" y="1566798"/>
            <a:ext cx="1297450" cy="872906"/>
          </a:xfrm>
          <a:prstGeom prst="wedgeRoundRectCallout">
            <a:avLst>
              <a:gd name="adj1" fmla="val -116280"/>
              <a:gd name="adj2" fmla="val 11752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次乘法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次加法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3906255" y="2609617"/>
            <a:ext cx="2747868" cy="1323439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79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Strassen</a:t>
            </a:r>
            <a:r>
              <a:rPr lang="zh-TW" altLang="zh-TW" dirty="0"/>
              <a:t>的矩陣相乘演算法</a:t>
            </a:r>
            <a:r>
              <a:rPr lang="en-US" altLang="zh-TW" dirty="0"/>
              <a:t> 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1664" r="4556" b="19099"/>
          <a:stretch/>
        </p:blipFill>
        <p:spPr bwMode="auto">
          <a:xfrm>
            <a:off x="911777" y="1359304"/>
            <a:ext cx="7315200" cy="221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橢圓 7"/>
          <p:cNvSpPr/>
          <p:nvPr/>
        </p:nvSpPr>
        <p:spPr>
          <a:xfrm>
            <a:off x="1470455" y="1905950"/>
            <a:ext cx="722870" cy="58694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850819" y="3745942"/>
                <a:ext cx="33224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𝑪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𝟏𝟏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𝟒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𝟓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19" y="3745942"/>
                <a:ext cx="3322448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045595" y="3724785"/>
                <a:ext cx="3629070" cy="2246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=(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𝟐𝟐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)(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𝟐𝟐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𝟐𝟐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𝟐𝟐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𝟐𝟐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𝟏𝟏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𝟐𝟐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)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𝟐𝟐</m:t>
                          </m:r>
                        </m:sub>
                      </m:sSub>
                    </m:oMath>
                  </m:oMathPara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zh-TW" altLang="en-US" sz="20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)</m:t>
                      </m:r>
                      <m:r>
                        <a:rPr lang="en-US" altLang="zh-TW" sz="2000" b="1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TW" altLang="en-US" sz="2000" b="1" i="1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TW" altLang="en-US" sz="2000" b="1" i="1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=(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𝟐𝟐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)(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TW" altLang="en-US" sz="20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zh-TW" altLang="en-US" sz="2000" b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1" i="1">
                                  <a:latin typeface="Cambria Math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zh-TW" altLang="en-US" sz="2000" b="1" i="1">
                                  <a:latin typeface="Cambria Math"/>
                                </a:rPr>
                                <m:t>𝟐𝟐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595" y="3724785"/>
                <a:ext cx="3629070" cy="2246769"/>
              </a:xfrm>
              <a:prstGeom prst="rect">
                <a:avLst/>
              </a:prstGeom>
              <a:blipFill rotWithShape="0">
                <a:blip r:embed="rId4"/>
                <a:stretch>
                  <a:fillRect t="-22222" r="-15966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850819" y="4294956"/>
                <a:ext cx="1999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𝑪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19" y="4294956"/>
                <a:ext cx="1999137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850819" y="4843970"/>
                <a:ext cx="1999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𝑪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zh-TW" altLang="en-US" sz="20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19" y="4843970"/>
                <a:ext cx="1999137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850819" y="5388990"/>
                <a:ext cx="332244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𝑪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TW" altLang="en-US" sz="20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TW" altLang="en-US" sz="20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19" y="5388990"/>
                <a:ext cx="3322448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0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Strassen</a:t>
            </a:r>
            <a:r>
              <a:rPr lang="zh-TW" altLang="zh-TW" dirty="0"/>
              <a:t>的矩陣相乘演算法</a:t>
            </a:r>
            <a:r>
              <a:rPr lang="en-US" altLang="zh-TW" dirty="0"/>
              <a:t> 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2.5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l="6354" t="49735" r="7136" b="16999"/>
          <a:stretch/>
        </p:blipFill>
        <p:spPr bwMode="auto">
          <a:xfrm>
            <a:off x="1828800" y="1257300"/>
            <a:ext cx="5505508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l="10890" t="4150" r="11418" b="54685"/>
          <a:stretch/>
        </p:blipFill>
        <p:spPr bwMode="auto">
          <a:xfrm>
            <a:off x="1980056" y="3154534"/>
            <a:ext cx="4733095" cy="1842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l="17567" t="52493" r="14432" b="25781"/>
          <a:stretch/>
        </p:blipFill>
        <p:spPr bwMode="auto">
          <a:xfrm>
            <a:off x="2349490" y="4997449"/>
            <a:ext cx="5149860" cy="7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圓角矩形圖說文字 9"/>
          <p:cNvSpPr/>
          <p:nvPr/>
        </p:nvSpPr>
        <p:spPr>
          <a:xfrm>
            <a:off x="6713151" y="2805284"/>
            <a:ext cx="2374899" cy="462134"/>
          </a:xfrm>
          <a:prstGeom prst="wedgeRoundRectCallout">
            <a:avLst>
              <a:gd name="adj1" fmla="val -52504"/>
              <a:gd name="adj2" fmla="val 12156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採用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Strassen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11" name="圓角矩形圖說文字 10"/>
          <p:cNvSpPr/>
          <p:nvPr/>
        </p:nvSpPr>
        <p:spPr>
          <a:xfrm>
            <a:off x="304809" y="3905250"/>
            <a:ext cx="1778095" cy="611173"/>
          </a:xfrm>
          <a:prstGeom prst="wedgeRoundRectCallout">
            <a:avLst>
              <a:gd name="adj1" fmla="val 63836"/>
              <a:gd name="adj2" fmla="val 185242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矩陣夠小時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採用標準方法</a:t>
            </a:r>
          </a:p>
        </p:txBody>
      </p:sp>
    </p:spTree>
    <p:extLst>
      <p:ext uri="{BB962C8B-B14F-4D97-AF65-F5344CB8AC3E}">
        <p14:creationId xmlns:p14="http://schemas.microsoft.com/office/powerpoint/2010/main" val="212552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Strassen</a:t>
            </a:r>
            <a:r>
              <a:rPr lang="zh-TW" altLang="zh-TW" dirty="0"/>
              <a:t>的矩陣相乘演算法</a:t>
            </a:r>
            <a:r>
              <a:rPr lang="en-US" altLang="zh-TW" dirty="0"/>
              <a:t> (5/6)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solidFill>
                      <a:srgbClr val="C00000"/>
                    </a:solidFill>
                  </a:rPr>
                  <a:t>乘法</a:t>
                </a:r>
                <a:r>
                  <a:rPr lang="zh-TW" altLang="en-US" dirty="0"/>
                  <a:t>次數的所有情況時間複雜度分析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基本運算</a:t>
                </a:r>
                <a:r>
                  <a:rPr lang="zh-TW" altLang="en-US" dirty="0"/>
                  <a:t>：乘法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輸入大小</a:t>
                </a:r>
                <a:r>
                  <a:rPr lang="zh-TW" altLang="en-US" dirty="0"/>
                  <a:t>：矩陣的列數與行數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演算法會被呼叫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7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次</a:t>
                </a:r>
                <a:r>
                  <a:rPr lang="zh-TW" altLang="en-US" dirty="0"/>
                  <a:t>，每次矩陣大小變成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TW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 lvl="1"/>
                <a:r>
                  <a:rPr lang="zh-TW" altLang="en-US" dirty="0"/>
                  <a:t>當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= 1</a:t>
                </a:r>
                <a:r>
                  <a:rPr lang="zh-TW" altLang="en-US" dirty="0"/>
                  <a:t>時，只需要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次的乘法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num>
                                    <m:den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𝐨𝐫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             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 (</a:t>
                </a:r>
                <a:r>
                  <a:rPr lang="zh-TW" altLang="en-US" dirty="0"/>
                  <a:t>附錄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，範例</a:t>
                </a:r>
                <a:r>
                  <a:rPr lang="en-US" altLang="zh-TW" dirty="0"/>
                  <a:t>B.2)</a:t>
                </a:r>
              </a:p>
              <a:p>
                <a:pPr lvl="1"/>
                <a:r>
                  <a:rPr lang="en-US" altLang="zh-TW" i="1" dirty="0"/>
                  <a:t>T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lg7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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2.81</a:t>
                </a:r>
                <a:r>
                  <a:rPr lang="en-US" altLang="zh-TW" dirty="0">
                    <a:sym typeface="Symbol" panose="05050102010706020507" pitchFamily="18" charset="2"/>
                  </a:rPr>
                  <a:t>  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2.81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0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Strassen</a:t>
            </a:r>
            <a:r>
              <a:rPr lang="zh-TW" altLang="zh-TW" dirty="0"/>
              <a:t>的矩陣相乘演算法</a:t>
            </a:r>
            <a:r>
              <a:rPr lang="en-US" altLang="zh-TW" dirty="0"/>
              <a:t> (6/6)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solidFill>
                      <a:srgbClr val="C00000"/>
                    </a:solidFill>
                  </a:rPr>
                  <a:t>加法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/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減法</a:t>
                </a:r>
                <a:r>
                  <a:rPr lang="zh-TW" altLang="en-US" dirty="0"/>
                  <a:t>次數的所有情況時間複雜度分析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基本運算</a:t>
                </a:r>
                <a:r>
                  <a:rPr lang="zh-TW" altLang="en-US" dirty="0"/>
                  <a:t>：加法</a:t>
                </a:r>
                <a:r>
                  <a:rPr lang="en-US" altLang="zh-TW" dirty="0"/>
                  <a:t>/</a:t>
                </a:r>
                <a:r>
                  <a:rPr lang="zh-TW" altLang="en-US" dirty="0"/>
                  <a:t>減法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輸入大小</a:t>
                </a:r>
                <a:r>
                  <a:rPr lang="zh-TW" altLang="en-US" dirty="0"/>
                  <a:t>：矩陣的列數與行數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演算法會被呼叫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7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次</a:t>
                </a:r>
                <a:r>
                  <a:rPr lang="zh-TW" altLang="en-US" dirty="0"/>
                  <a:t>，每次矩陣大小變成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TW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TW" altLang="en-US" dirty="0"/>
                  <a:t>，且有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18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次</a:t>
                </a:r>
                <a:r>
                  <a:rPr lang="zh-TW" altLang="en-US" dirty="0"/>
                  <a:t>的加法</a:t>
                </a:r>
                <a:r>
                  <a:rPr lang="en-US" altLang="zh-TW" dirty="0"/>
                  <a:t>/</a:t>
                </a:r>
                <a:r>
                  <a:rPr lang="zh-TW" altLang="en-US" dirty="0"/>
                  <a:t>減法</a:t>
                </a:r>
                <a:endParaRPr lang="en-US" altLang="zh-TW" dirty="0"/>
              </a:p>
              <a:p>
                <a:pPr lvl="1"/>
                <a:r>
                  <a:rPr lang="zh-TW" altLang="en-US" dirty="0">
                    <a:solidFill>
                      <a:schemeClr val="tx1"/>
                    </a:solidFill>
                  </a:rPr>
                  <a:t>兩個矩陣相加或相減之後，總共執行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次的加法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/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減法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當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= 1</a:t>
                </a:r>
                <a:r>
                  <a:rPr lang="zh-TW" altLang="en-US" dirty="0"/>
                  <a:t>時，不需要加法或減法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num>
                                    <m:den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𝟏𝟖</m:t>
                              </m:r>
                              <m:sSup>
                                <m:sSup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num>
                                    <m:den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𝐨𝐫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            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 (</a:t>
                </a:r>
                <a:r>
                  <a:rPr lang="zh-TW" altLang="en-US" dirty="0"/>
                  <a:t>附錄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，範例</a:t>
                </a:r>
                <a:r>
                  <a:rPr lang="en-US" altLang="zh-TW" dirty="0"/>
                  <a:t>B.20)</a:t>
                </a:r>
              </a:p>
              <a:p>
                <a:pPr lvl="1"/>
                <a:r>
                  <a:rPr lang="en-US" altLang="zh-TW" i="1" dirty="0"/>
                  <a:t>T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= 6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lg7</a:t>
                </a:r>
                <a:r>
                  <a:rPr lang="en-US" altLang="zh-TW" dirty="0"/>
                  <a:t> – 6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 6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2.81</a:t>
                </a:r>
                <a:r>
                  <a:rPr lang="en-US" altLang="zh-TW" dirty="0">
                    <a:sym typeface="Symbol" panose="05050102010706020507" pitchFamily="18" charset="2"/>
                  </a:rPr>
                  <a:t> – 6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  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2.81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4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大整數的計算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大整數表達法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保留高位給正負號：</a:t>
            </a:r>
            <a:r>
              <a:rPr lang="en-US" altLang="zh-TW" dirty="0">
                <a:solidFill>
                  <a:srgbClr val="C00000"/>
                </a:solidFill>
              </a:rPr>
              <a:t>0</a:t>
            </a:r>
            <a:r>
              <a:rPr lang="zh-TW" altLang="en-US" dirty="0">
                <a:solidFill>
                  <a:srgbClr val="C00000"/>
                </a:solidFill>
              </a:rPr>
              <a:t>為正</a:t>
            </a:r>
            <a:r>
              <a:rPr lang="zh-TW" altLang="en-US" dirty="0"/>
              <a:t>、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>
                <a:solidFill>
                  <a:srgbClr val="C00000"/>
                </a:solidFill>
              </a:rPr>
              <a:t>為負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大整數加法</a:t>
            </a:r>
            <a:r>
              <a:rPr lang="en-US" altLang="zh-TW" dirty="0"/>
              <a:t>/</a:t>
            </a:r>
            <a:r>
              <a:rPr lang="zh-TW" altLang="en-US" dirty="0"/>
              <a:t>減法</a:t>
            </a:r>
            <a:endParaRPr lang="en-US" altLang="zh-TW" dirty="0"/>
          </a:p>
          <a:p>
            <a:pPr lvl="1"/>
            <a:r>
              <a:rPr lang="zh-TW" altLang="en-US" dirty="0"/>
              <a:t>線性時間演算法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620141" y="2381565"/>
          <a:ext cx="36576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683399" y="197662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292490" y="197662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901582" y="197704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510673" y="197704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128645" y="1977463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737736" y="1977463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194731" y="5103542"/>
          <a:ext cx="36576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3194731" y="5706855"/>
          <a:ext cx="36576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3194731" y="4205659"/>
          <a:ext cx="36576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十字形 20"/>
          <p:cNvSpPr/>
          <p:nvPr/>
        </p:nvSpPr>
        <p:spPr>
          <a:xfrm>
            <a:off x="4909940" y="4749216"/>
            <a:ext cx="216000" cy="216000"/>
          </a:xfrm>
          <a:prstGeom prst="plus">
            <a:avLst>
              <a:gd name="adj" fmla="val 43141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>
            <a:off x="3031535" y="5611814"/>
            <a:ext cx="3960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圓角矩形圖說文字 23"/>
          <p:cNvSpPr/>
          <p:nvPr/>
        </p:nvSpPr>
        <p:spPr>
          <a:xfrm>
            <a:off x="6991535" y="3514875"/>
            <a:ext cx="1670908" cy="462134"/>
          </a:xfrm>
          <a:prstGeom prst="wedgeRoundRectCallout">
            <a:avLst>
              <a:gd name="adj1" fmla="val -52504"/>
              <a:gd name="adj2" fmla="val 12156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迴圈</a:t>
            </a:r>
          </a:p>
        </p:txBody>
      </p:sp>
      <p:sp>
        <p:nvSpPr>
          <p:cNvPr id="25" name="圓角矩形圖說文字 24"/>
          <p:cNvSpPr/>
          <p:nvPr/>
        </p:nvSpPr>
        <p:spPr>
          <a:xfrm>
            <a:off x="64135" y="4362206"/>
            <a:ext cx="2929963" cy="611173"/>
          </a:xfrm>
          <a:prstGeom prst="wedgeRoundRectCallout">
            <a:avLst>
              <a:gd name="adj1" fmla="val 54769"/>
              <a:gd name="adj2" fmla="val 19434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如何處理進位問題？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減法如何處理？</a:t>
            </a:r>
          </a:p>
        </p:txBody>
      </p:sp>
    </p:spTree>
    <p:extLst>
      <p:ext uri="{BB962C8B-B14F-4D97-AF65-F5344CB8AC3E}">
        <p14:creationId xmlns:p14="http://schemas.microsoft.com/office/powerpoint/2010/main" val="407190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大整數的計算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solidFill>
                      <a:srgbClr val="0000FF"/>
                    </a:solidFill>
                  </a:rPr>
                  <a:t>大整數的分割</a:t>
                </a:r>
                <a:endParaRPr lang="en-US" altLang="zh-TW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zh-TW" altLang="en-US" dirty="0"/>
                  <a:t>利用</a:t>
                </a:r>
                <a:r>
                  <a:rPr lang="en-US" altLang="zh-TW" dirty="0"/>
                  <a:t>divide-and-conquer</a:t>
                </a:r>
                <a:r>
                  <a:rPr lang="zh-TW" altLang="en-US" dirty="0"/>
                  <a:t>將</a:t>
                </a:r>
                <a:r>
                  <a:rPr lang="en-US" altLang="zh-TW" i="1" dirty="0"/>
                  <a:t>n</a:t>
                </a:r>
                <a:r>
                  <a:rPr lang="zh-TW" altLang="en-US" dirty="0"/>
                  <a:t>位數分割成兩個約為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/2</a:t>
                </a:r>
                <a:r>
                  <a:rPr lang="zh-TW" altLang="en-US" dirty="0"/>
                  <a:t>位數的整數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567,832 = 567 </a:t>
                </a:r>
                <a:r>
                  <a:rPr lang="en-US" altLang="zh-TW" dirty="0">
                    <a:sym typeface="Symbol" panose="05050102010706020507" pitchFamily="18" charset="2"/>
                  </a:rPr>
                  <a:t> 10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3</a:t>
                </a:r>
                <a:r>
                  <a:rPr lang="en-US" altLang="zh-TW" dirty="0">
                    <a:sym typeface="Symbol" panose="05050102010706020507" pitchFamily="18" charset="2"/>
                  </a:rPr>
                  <a:t> + 832</a:t>
                </a:r>
              </a:p>
              <a:p>
                <a:pPr lvl="2"/>
                <a:endParaRPr lang="en-US" altLang="zh-TW" dirty="0">
                  <a:sym typeface="Symbol" panose="05050102010706020507" pitchFamily="18" charset="2"/>
                </a:endParaRPr>
              </a:p>
              <a:p>
                <a:pPr lvl="2"/>
                <a:r>
                  <a:rPr lang="en-US" altLang="zh-TW" dirty="0"/>
                  <a:t>9,423,723 = 9423 </a:t>
                </a:r>
                <a:r>
                  <a:rPr lang="en-US" altLang="zh-TW" dirty="0">
                    <a:sym typeface="Symbol" panose="05050102010706020507" pitchFamily="18" charset="2"/>
                  </a:rPr>
                  <a:t> 10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3</a:t>
                </a:r>
                <a:r>
                  <a:rPr lang="en-US" altLang="zh-TW" dirty="0">
                    <a:sym typeface="Symbol" panose="05050102010706020507" pitchFamily="18" charset="2"/>
                  </a:rPr>
                  <a:t> + 723</a:t>
                </a:r>
              </a:p>
              <a:p>
                <a:pPr lvl="2"/>
                <a:endParaRPr lang="en-US" altLang="zh-TW" dirty="0">
                  <a:sym typeface="Symbol" panose="05050102010706020507" pitchFamily="18" charset="2"/>
                </a:endParaRPr>
              </a:p>
              <a:p>
                <a:pPr lvl="2"/>
                <a:r>
                  <a:rPr lang="en-US" altLang="zh-TW" i="1" dirty="0">
                    <a:sym typeface="Symbol" panose="05050102010706020507" pitchFamily="18" charset="2"/>
                  </a:rPr>
                  <a:t>u</a:t>
                </a:r>
                <a:r>
                  <a:rPr lang="zh-TW" altLang="en-US" dirty="0">
                    <a:sym typeface="Symbol" panose="05050102010706020507" pitchFamily="18" charset="2"/>
                  </a:rPr>
                  <a:t>為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zh-TW" altLang="en-US" dirty="0">
                    <a:sym typeface="Symbol" panose="05050102010706020507" pitchFamily="18" charset="2"/>
                  </a:rPr>
                  <a:t>位數的大整數</a:t>
                </a:r>
                <a:endParaRPr lang="en-US" altLang="zh-TW" dirty="0">
                  <a:sym typeface="Symbol" panose="05050102010706020507" pitchFamily="18" charset="2"/>
                </a:endParaRPr>
              </a:p>
              <a:p>
                <a:pPr marL="0" indent="0" algn="ctr">
                  <a:buNone/>
                </a:pPr>
                <a:r>
                  <a:rPr lang="en-US" altLang="zh-TW" i="1" dirty="0">
                    <a:sym typeface="Symbol" panose="05050102010706020507" pitchFamily="18" charset="2"/>
                  </a:rPr>
                  <a:t>u    </a:t>
                </a:r>
                <a:r>
                  <a:rPr lang="en-US" altLang="zh-TW" dirty="0">
                    <a:sym typeface="Symbol" panose="05050102010706020507" pitchFamily="18" charset="2"/>
                  </a:rPr>
                  <a:t> =     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x</a:t>
                </a:r>
                <a:r>
                  <a:rPr lang="en-US" altLang="zh-TW" dirty="0">
                    <a:sym typeface="Symbol" panose="05050102010706020507" pitchFamily="18" charset="2"/>
                  </a:rPr>
                  <a:t>  10</a:t>
                </a:r>
                <a:r>
                  <a:rPr lang="en-US" altLang="zh-TW" i="1" baseline="30000" dirty="0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     +      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y</a:t>
                </a:r>
              </a:p>
              <a:p>
                <a:pPr lvl="3"/>
                <a:endParaRPr lang="en-US" altLang="zh-TW" i="1" dirty="0">
                  <a:sym typeface="Symbol" panose="05050102010706020507" pitchFamily="18" charset="2"/>
                </a:endParaRPr>
              </a:p>
              <a:p>
                <a:pPr lvl="3"/>
                <a:r>
                  <a:rPr lang="en-US" altLang="zh-TW" i="1" dirty="0"/>
                  <a:t>m</a:t>
                </a:r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346001" y="2236688"/>
            <a:ext cx="837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位數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486044" y="2963677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位數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2215142" y="2236688"/>
            <a:ext cx="837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位數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3510542" y="2236688"/>
            <a:ext cx="837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位數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2519882" y="2963677"/>
            <a:ext cx="837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位數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3815282" y="2963677"/>
            <a:ext cx="837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位數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3069732" y="4174277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3923261" y="4102408"/>
                <a:ext cx="1006814" cy="5507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TW" sz="20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sz="20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zh-TW" altLang="en-US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位數</a:t>
                </a: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261" y="4102408"/>
                <a:ext cx="1006814" cy="550728"/>
              </a:xfrm>
              <a:prstGeom prst="rect">
                <a:avLst/>
              </a:prstGeom>
              <a:blipFill rotWithShape="0">
                <a:blip r:embed="rId3"/>
                <a:stretch>
                  <a:fillRect r="-4848" b="-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581410" y="4098968"/>
                <a:ext cx="1006814" cy="5507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sz="20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TW" sz="20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zh-TW" altLang="en-US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位數</a:t>
                </a: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410" y="4098968"/>
                <a:ext cx="1006814" cy="550728"/>
              </a:xfrm>
              <a:prstGeom prst="rect">
                <a:avLst/>
              </a:prstGeom>
              <a:blipFill rotWithShape="0">
                <a:blip r:embed="rId4"/>
                <a:stretch>
                  <a:fillRect r="-4848" b="-43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72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大整數的計算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>
                    <a:solidFill>
                      <a:srgbClr val="0000FF"/>
                    </a:solidFill>
                  </a:rPr>
                  <a:t>大整數的乘法</a:t>
                </a:r>
                <a:endParaRPr lang="en-US" altLang="zh-TW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altLang="zh-TW" i="1" dirty="0">
                    <a:sym typeface="Symbol" panose="05050102010706020507" pitchFamily="18" charset="2"/>
                  </a:rPr>
                  <a:t>u</a:t>
                </a:r>
                <a:r>
                  <a:rPr lang="en-US" altLang="zh-TW" dirty="0">
                    <a:sym typeface="Symbol" panose="05050102010706020507" pitchFamily="18" charset="2"/>
                  </a:rPr>
                  <a:t> =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x</a:t>
                </a:r>
                <a:r>
                  <a:rPr lang="en-US" altLang="zh-TW" dirty="0">
                    <a:sym typeface="Symbol" panose="05050102010706020507" pitchFamily="18" charset="2"/>
                  </a:rPr>
                  <a:t>  10</a:t>
                </a:r>
                <a:r>
                  <a:rPr lang="en-US" altLang="zh-TW" i="1" baseline="30000" dirty="0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 +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y</a:t>
                </a:r>
              </a:p>
              <a:p>
                <a:pPr lvl="1"/>
                <a:r>
                  <a:rPr lang="en-US" altLang="zh-TW" i="1" dirty="0">
                    <a:sym typeface="Symbol" panose="05050102010706020507" pitchFamily="18" charset="2"/>
                  </a:rPr>
                  <a:t>v</a:t>
                </a:r>
                <a:r>
                  <a:rPr lang="en-US" altLang="zh-TW" dirty="0">
                    <a:sym typeface="Symbol" panose="05050102010706020507" pitchFamily="18" charset="2"/>
                  </a:rPr>
                  <a:t> =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w</a:t>
                </a:r>
                <a:r>
                  <a:rPr lang="en-US" altLang="zh-TW" dirty="0">
                    <a:sym typeface="Symbol" panose="05050102010706020507" pitchFamily="18" charset="2"/>
                  </a:rPr>
                  <a:t>  10</a:t>
                </a:r>
                <a:r>
                  <a:rPr lang="en-US" altLang="zh-TW" i="1" baseline="30000" dirty="0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 +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z</a:t>
                </a:r>
              </a:p>
              <a:p>
                <a:pPr lvl="1"/>
                <a:r>
                  <a:rPr lang="en-US" altLang="zh-TW" i="1" dirty="0" err="1">
                    <a:sym typeface="Symbol" panose="05050102010706020507" pitchFamily="18" charset="2"/>
                  </a:rPr>
                  <a:t>uv</a:t>
                </a:r>
                <a:r>
                  <a:rPr lang="en-US" altLang="zh-TW" dirty="0">
                    <a:sym typeface="Symbol" panose="05050102010706020507" pitchFamily="18" charset="2"/>
                  </a:rPr>
                  <a:t> = 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x</a:t>
                </a:r>
                <a:r>
                  <a:rPr lang="en-US" altLang="zh-TW" dirty="0">
                    <a:sym typeface="Symbol" panose="05050102010706020507" pitchFamily="18" charset="2"/>
                  </a:rPr>
                  <a:t>  10</a:t>
                </a:r>
                <a:r>
                  <a:rPr lang="en-US" altLang="zh-TW" i="1" baseline="30000" dirty="0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 +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y</a:t>
                </a:r>
                <a:r>
                  <a:rPr lang="en-US" altLang="zh-TW" dirty="0">
                    <a:sym typeface="Symbol" panose="05050102010706020507" pitchFamily="18" charset="2"/>
                  </a:rPr>
                  <a:t>) </a:t>
                </a:r>
                <a:r>
                  <a:rPr lang="en-US" altLang="zh-TW" i="1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w</a:t>
                </a:r>
                <a:r>
                  <a:rPr lang="en-US" altLang="zh-TW" dirty="0">
                    <a:sym typeface="Symbol" panose="05050102010706020507" pitchFamily="18" charset="2"/>
                  </a:rPr>
                  <a:t>  10</a:t>
                </a:r>
                <a:r>
                  <a:rPr lang="en-US" altLang="zh-TW" i="1" baseline="30000" dirty="0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 +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z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pPr marL="393192" lvl="1" indent="0">
                  <a:buNone/>
                </a:pPr>
                <a:r>
                  <a:rPr lang="en-US" altLang="zh-TW" dirty="0">
                    <a:sym typeface="Symbol" panose="05050102010706020507" pitchFamily="18" charset="2"/>
                  </a:rPr>
                  <a:t>         = 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xw</a:t>
                </a:r>
                <a:r>
                  <a:rPr lang="en-US" altLang="zh-TW" dirty="0">
                    <a:sym typeface="Symbol" panose="05050102010706020507" pitchFamily="18" charset="2"/>
                  </a:rPr>
                  <a:t>  10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i="1" baseline="30000" dirty="0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 + (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xz</a:t>
                </a:r>
                <a:r>
                  <a:rPr lang="en-US" altLang="zh-TW" dirty="0">
                    <a:sym typeface="Symbol" panose="05050102010706020507" pitchFamily="18" charset="2"/>
                  </a:rPr>
                  <a:t> + 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wy</a:t>
                </a:r>
                <a:r>
                  <a:rPr lang="en-US" altLang="zh-TW" dirty="0">
                    <a:sym typeface="Symbol" panose="05050102010706020507" pitchFamily="18" charset="2"/>
                  </a:rPr>
                  <a:t>)  10</a:t>
                </a:r>
                <a:r>
                  <a:rPr lang="en-US" altLang="zh-TW" i="1" baseline="30000" dirty="0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 + 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yz</a:t>
                </a:r>
                <a:endParaRPr lang="en-US" altLang="zh-TW" dirty="0">
                  <a:sym typeface="Symbol" panose="05050102010706020507" pitchFamily="18" charset="2"/>
                </a:endParaRPr>
              </a:p>
              <a:p>
                <a:pPr lvl="1"/>
                <a:endParaRPr lang="en-US" altLang="zh-TW" dirty="0">
                  <a:sym typeface="Symbol" panose="05050102010706020507" pitchFamily="18" charset="2"/>
                </a:endParaRPr>
              </a:p>
              <a:p>
                <a:pPr lvl="1"/>
                <a:r>
                  <a:rPr lang="zh-TW" altLang="en-US" dirty="0">
                    <a:sym typeface="Symbol" panose="05050102010706020507" pitchFamily="18" charset="2"/>
                  </a:rPr>
                  <a:t>範例</a:t>
                </a:r>
                <a:r>
                  <a:rPr lang="en-US" altLang="zh-TW" dirty="0">
                    <a:sym typeface="Symbol" panose="05050102010706020507" pitchFamily="18" charset="2"/>
                  </a:rPr>
                  <a:t>2.6</a:t>
                </a:r>
              </a:p>
              <a:p>
                <a:pPr marL="667512" lvl="2" indent="0">
                  <a:buNone/>
                </a:pPr>
                <a14:m>
                  <m:oMath xmlns:m="http://schemas.openxmlformats.org/officeDocument/2006/math"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zh-TW" altLang="en-US" b="1" i="1">
                        <a:latin typeface="Cambria Math"/>
                      </a:rPr>
                      <m:t>𝟓𝟔𝟕</m:t>
                    </m:r>
                    <m:r>
                      <a:rPr lang="zh-TW" altLang="en-US" b="1">
                        <a:latin typeface="Cambria Math"/>
                      </a:rPr>
                      <m:t>,</m:t>
                    </m:r>
                    <m:r>
                      <a:rPr lang="zh-TW" altLang="en-US" b="1" i="1">
                        <a:latin typeface="Cambria Math"/>
                      </a:rPr>
                      <m:t>𝟖𝟑𝟐</m:t>
                    </m:r>
                    <m:r>
                      <a:rPr lang="zh-TW" altLang="en-US" b="1">
                        <a:latin typeface="Cambria Math"/>
                      </a:rPr>
                      <m:t>×</m:t>
                    </m:r>
                    <m:r>
                      <a:rPr lang="zh-TW" altLang="en-US" b="1" i="1">
                        <a:latin typeface="Cambria Math"/>
                      </a:rPr>
                      <m:t>𝟗</m:t>
                    </m:r>
                    <m:r>
                      <a:rPr lang="zh-TW" altLang="en-US" b="1">
                        <a:latin typeface="Cambria Math"/>
                      </a:rPr>
                      <m:t>,</m:t>
                    </m:r>
                    <m:r>
                      <a:rPr lang="zh-TW" altLang="en-US" b="1" i="1">
                        <a:latin typeface="Cambria Math"/>
                      </a:rPr>
                      <m:t>𝟒𝟐𝟑</m:t>
                    </m:r>
                    <m:r>
                      <a:rPr lang="zh-TW" altLang="en-US" b="1">
                        <a:latin typeface="Cambria Math"/>
                      </a:rPr>
                      <m:t>,</m:t>
                    </m:r>
                    <m:r>
                      <a:rPr lang="zh-TW" altLang="en-US" b="1" i="1">
                        <a:latin typeface="Cambria Math"/>
                      </a:rPr>
                      <m:t>𝟕𝟐𝟑</m:t>
                    </m:r>
                  </m:oMath>
                </a14:m>
                <a:r>
                  <a:rPr lang="en-US" altLang="zh-TW" dirty="0">
                    <a:latin typeface="Cambria Math"/>
                  </a:rPr>
                  <a:t> </a:t>
                </a:r>
              </a:p>
              <a:p>
                <a:pPr marL="667512" lvl="2" indent="0">
                  <a:buNone/>
                </a:pPr>
                <a14:m>
                  <m:oMath xmlns:m="http://schemas.openxmlformats.org/officeDocument/2006/math">
                    <m:r>
                      <a:rPr lang="zh-TW" altLang="en-US" b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1" i="1">
                            <a:latin typeface="Cambria Math"/>
                          </a:rPr>
                          <m:t>𝟓𝟔𝟕</m:t>
                        </m:r>
                        <m:r>
                          <a:rPr lang="zh-TW" altLang="en-US" b="1">
                            <a:latin typeface="Cambria Math"/>
                          </a:rPr>
                          <m:t>×</m:t>
                        </m:r>
                        <m:sSup>
                          <m:sSup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b="1" i="1">
                                <a:latin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zh-TW" altLang="en-US" b="1" i="1">
                                <a:latin typeface="Cambria Math"/>
                              </a:rPr>
                              <m:t>𝟑</m:t>
                            </m:r>
                          </m:sup>
                        </m:sSup>
                        <m:r>
                          <a:rPr lang="zh-TW" altLang="en-US" b="1">
                            <a:latin typeface="Cambria Math"/>
                          </a:rPr>
                          <m:t>+</m:t>
                        </m:r>
                        <m:r>
                          <a:rPr lang="zh-TW" altLang="en-US" b="1" i="1">
                            <a:latin typeface="Cambria Math"/>
                          </a:rPr>
                          <m:t>𝟖𝟑𝟐</m:t>
                        </m:r>
                      </m:e>
                    </m:d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1" i="1">
                            <a:latin typeface="Cambria Math"/>
                          </a:rPr>
                          <m:t>𝟗𝟒𝟐𝟑</m:t>
                        </m:r>
                        <m:r>
                          <a:rPr lang="zh-TW" altLang="en-US" b="1">
                            <a:latin typeface="Cambria Math"/>
                          </a:rPr>
                          <m:t>×</m:t>
                        </m:r>
                        <m:sSup>
                          <m:sSup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b="1" i="1">
                                <a:latin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zh-TW" altLang="en-US" b="1" i="1">
                                <a:latin typeface="Cambria Math"/>
                              </a:rPr>
                              <m:t>𝟑</m:t>
                            </m:r>
                          </m:sup>
                        </m:sSup>
                        <m:r>
                          <a:rPr lang="zh-TW" altLang="en-US" b="1">
                            <a:latin typeface="Cambria Math"/>
                          </a:rPr>
                          <m:t>+</m:t>
                        </m:r>
                        <m:r>
                          <a:rPr lang="zh-TW" altLang="en-US" b="1" i="1">
                            <a:latin typeface="Cambria Math"/>
                          </a:rPr>
                          <m:t>𝟕𝟐𝟑</m:t>
                        </m:r>
                      </m:e>
                    </m:d>
                  </m:oMath>
                </a14:m>
                <a:r>
                  <a:rPr lang="en-US" altLang="zh-TW" dirty="0">
                    <a:latin typeface="Cambria Math" panose="02040503050406030204" pitchFamily="18" charset="0"/>
                  </a:rPr>
                  <a:t> </a:t>
                </a:r>
              </a:p>
              <a:p>
                <a:pPr marL="667512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1">
                          <a:latin typeface="Cambria Math"/>
                        </a:rPr>
                        <m:t>=</m:t>
                      </m:r>
                      <m:r>
                        <a:rPr lang="zh-TW" altLang="en-US" b="1" i="1">
                          <a:latin typeface="Cambria Math"/>
                        </a:rPr>
                        <m:t>𝟓𝟔𝟕</m:t>
                      </m:r>
                      <m:r>
                        <a:rPr lang="zh-TW" altLang="en-US" b="1">
                          <a:latin typeface="Cambria Math"/>
                        </a:rPr>
                        <m:t>×</m:t>
                      </m:r>
                      <m:r>
                        <a:rPr lang="zh-TW" altLang="en-US" b="1" i="1">
                          <a:latin typeface="Cambria Math"/>
                        </a:rPr>
                        <m:t>𝟗𝟒𝟐𝟑</m:t>
                      </m:r>
                      <m:r>
                        <a:rPr lang="zh-TW" altLang="en-US" b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b="1" i="1">
                              <a:latin typeface="Cambria Math"/>
                            </a:rPr>
                            <m:t>𝟏𝟎</m:t>
                          </m:r>
                        </m:e>
                        <m:sup>
                          <m:r>
                            <a:rPr lang="zh-TW" altLang="en-US" b="1" i="1">
                              <a:latin typeface="Cambria Math"/>
                            </a:rPr>
                            <m:t>𝟔</m:t>
                          </m:r>
                        </m:sup>
                      </m:sSup>
                      <m:r>
                        <a:rPr lang="zh-TW" altLang="en-US" b="1">
                          <a:latin typeface="Cambria Math"/>
                        </a:rPr>
                        <m:t>+(</m:t>
                      </m:r>
                      <m:r>
                        <a:rPr lang="zh-TW" altLang="en-US" b="1" i="1">
                          <a:latin typeface="Cambria Math"/>
                        </a:rPr>
                        <m:t>𝟓𝟔𝟕</m:t>
                      </m:r>
                      <m:r>
                        <a:rPr lang="zh-TW" altLang="en-US" b="1">
                          <a:latin typeface="Cambria Math"/>
                        </a:rPr>
                        <m:t>×</m:t>
                      </m:r>
                      <m:r>
                        <a:rPr lang="zh-TW" altLang="en-US" b="1" i="1">
                          <a:latin typeface="Cambria Math"/>
                        </a:rPr>
                        <m:t>𝟕𝟐𝟑</m:t>
                      </m:r>
                      <m:r>
                        <a:rPr lang="zh-TW" altLang="en-US" b="1">
                          <a:latin typeface="Cambria Math"/>
                        </a:rPr>
                        <m:t>+</m:t>
                      </m:r>
                      <m:r>
                        <a:rPr lang="zh-TW" altLang="en-US" b="1" i="1">
                          <a:latin typeface="Cambria Math"/>
                        </a:rPr>
                        <m:t>𝟗𝟒𝟐𝟑</m:t>
                      </m:r>
                      <m:r>
                        <a:rPr lang="zh-TW" altLang="en-US" b="1">
                          <a:latin typeface="Cambria Math"/>
                        </a:rPr>
                        <m:t>×</m:t>
                      </m:r>
                      <m:r>
                        <a:rPr lang="zh-TW" altLang="en-US" b="1" i="1">
                          <a:latin typeface="Cambria Math"/>
                        </a:rPr>
                        <m:t>𝟖𝟑𝟐</m:t>
                      </m:r>
                      <m:r>
                        <a:rPr lang="zh-TW" altLang="en-US" b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b="1" i="1">
                              <a:latin typeface="Cambria Math"/>
                            </a:rPr>
                            <m:t>𝟏𝟎</m:t>
                          </m:r>
                        </m:e>
                        <m:sup>
                          <m:r>
                            <a:rPr lang="zh-TW" altLang="en-US" b="1" i="1"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zh-TW" altLang="en-US" b="1">
                          <a:latin typeface="Cambria Math"/>
                        </a:rPr>
                        <m:t>+</m:t>
                      </m:r>
                      <m:r>
                        <a:rPr lang="zh-TW" altLang="en-US" b="1" i="1">
                          <a:latin typeface="Cambria Math"/>
                        </a:rPr>
                        <m:t>𝟖𝟑𝟐</m:t>
                      </m:r>
                      <m:r>
                        <a:rPr lang="zh-TW" altLang="en-US" b="1">
                          <a:latin typeface="Cambria Math"/>
                        </a:rPr>
                        <m:t>×</m:t>
                      </m:r>
                      <m:r>
                        <a:rPr lang="zh-TW" altLang="en-US" b="1" i="1">
                          <a:latin typeface="Cambria Math"/>
                        </a:rPr>
                        <m:t>𝟕𝟐𝟑</m:t>
                      </m:r>
                    </m:oMath>
                  </m:oMathPara>
                </a14:m>
                <a:endParaRPr lang="en-US" altLang="zh-TW" dirty="0">
                  <a:latin typeface="Cambria Math"/>
                </a:endParaRPr>
              </a:p>
              <a:p>
                <a:pPr marL="667512" lvl="2" indent="0">
                  <a:buNone/>
                </a:pPr>
                <a:endParaRPr lang="en-US" altLang="zh-TW" dirty="0">
                  <a:sym typeface="Symbol" panose="05050102010706020507" pitchFamily="18" charset="2"/>
                </a:endParaRPr>
              </a:p>
              <a:p>
                <a:pPr lvl="1"/>
                <a:endParaRPr lang="en-US" altLang="zh-TW" i="1" dirty="0">
                  <a:sym typeface="Symbol" panose="05050102010706020507" pitchFamily="18" charset="2"/>
                </a:endParaRPr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1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大整數的計算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 分析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大整數的乘法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基本運算</a:t>
                </a:r>
                <a:r>
                  <a:rPr lang="zh-TW" altLang="en-US" dirty="0"/>
                  <a:t>：相加、相減、執行 </a:t>
                </a:r>
                <a:r>
                  <a:rPr lang="en-US" altLang="zh-TW" dirty="0"/>
                  <a:t>divide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rem</a:t>
                </a:r>
                <a:r>
                  <a:rPr lang="zh-TW" altLang="en-US" dirty="0"/>
                  <a:t>、</a:t>
                </a:r>
                <a:r>
                  <a:rPr lang="zh-TW" altLang="en-US" dirty="0">
                    <a:sym typeface="Symbol" panose="05050102010706020507" pitchFamily="18" charset="2"/>
                  </a:rPr>
                  <a:t> 時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zh-TW" altLang="en-US" dirty="0">
                    <a:sym typeface="Symbol" panose="05050102010706020507" pitchFamily="18" charset="2"/>
                  </a:rPr>
                  <a:t>每次呼叫會執行</a:t>
                </a:r>
                <a:r>
                  <a:rPr lang="en-US" altLang="zh-TW" i="1" dirty="0">
                    <a:sym typeface="Symbol" panose="05050102010706020507" pitchFamily="18" charset="2"/>
                  </a:rPr>
                  <a:t>m</a:t>
                </a:r>
                <a:r>
                  <a:rPr lang="zh-TW" altLang="en-US" dirty="0">
                    <a:sym typeface="Symbol" panose="05050102010706020507" pitchFamily="18" charset="2"/>
                  </a:rPr>
                  <a:t>次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輸入大小</a:t>
                </a:r>
                <a:r>
                  <a:rPr lang="zh-TW" altLang="en-US" dirty="0"/>
                  <a:t>：兩個大整數</a:t>
                </a:r>
                <a:r>
                  <a:rPr lang="en-US" altLang="zh-TW" i="1" dirty="0"/>
                  <a:t>u</a:t>
                </a:r>
                <a:r>
                  <a:rPr lang="zh-TW" altLang="en-US" dirty="0"/>
                  <a:t>、</a:t>
                </a:r>
                <a:r>
                  <a:rPr lang="en-US" altLang="zh-TW" i="1" dirty="0"/>
                  <a:t>v</a:t>
                </a:r>
                <a:r>
                  <a:rPr lang="zh-TW" altLang="en-US" dirty="0"/>
                  <a:t>的位數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假設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為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2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的乘冪</a:t>
                </a:r>
                <a:r>
                  <a:rPr lang="zh-TW" altLang="en-US" dirty="0"/>
                  <a:t>：</a:t>
                </a:r>
                <a:r>
                  <a:rPr lang="en-US" altLang="zh-TW" i="1" dirty="0"/>
                  <a:t>x</a:t>
                </a:r>
                <a:r>
                  <a:rPr lang="zh-TW" altLang="en-US" dirty="0"/>
                  <a:t>，</a:t>
                </a:r>
                <a:r>
                  <a:rPr lang="en-US" altLang="zh-TW" i="1" dirty="0"/>
                  <a:t>y</a:t>
                </a:r>
                <a:r>
                  <a:rPr lang="zh-TW" altLang="en-US" dirty="0"/>
                  <a:t>，</a:t>
                </a:r>
                <a:r>
                  <a:rPr lang="en-US" altLang="zh-TW" i="1" dirty="0"/>
                  <a:t>w</a:t>
                </a:r>
                <a:r>
                  <a:rPr lang="zh-TW" altLang="en-US" dirty="0"/>
                  <a:t>，</a:t>
                </a:r>
                <a:r>
                  <a:rPr lang="en-US" altLang="zh-TW" i="1" dirty="0"/>
                  <a:t>z</a:t>
                </a:r>
                <a:r>
                  <a:rPr lang="zh-TW" altLang="en-US" dirty="0"/>
                  <a:t>的位數為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/2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num>
                                    <m:den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𝒄𝒔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𝐨𝐫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                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                         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/>
                  <a:t>  (</a:t>
                </a:r>
                <a:r>
                  <a:rPr lang="zh-TW" altLang="en-US" dirty="0"/>
                  <a:t>附錄</a:t>
                </a:r>
                <a:r>
                  <a:rPr lang="en-US" altLang="zh-TW" dirty="0"/>
                  <a:t>B</a:t>
                </a:r>
                <a:r>
                  <a:rPr lang="zh-TW" altLang="en-US" dirty="0"/>
                  <a:t>，範例</a:t>
                </a:r>
                <a:r>
                  <a:rPr lang="en-US" altLang="zh-TW" dirty="0"/>
                  <a:t>B.25)</a:t>
                </a:r>
                <a:endParaRPr lang="en-US" altLang="zh-TW" i="1" dirty="0"/>
              </a:p>
              <a:p>
                <a:pPr lvl="1"/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 (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 err="1">
                    <a:sym typeface="Symbol" panose="05050102010706020507" pitchFamily="18" charset="2"/>
                  </a:rPr>
                  <a:t>lg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 4</a:t>
                </a:r>
                <a:r>
                  <a:rPr lang="en-US" altLang="zh-TW" dirty="0">
                    <a:sym typeface="Symbol" panose="05050102010706020507" pitchFamily="18" charset="2"/>
                  </a:rPr>
                  <a:t>) = 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en-US" altLang="zh-TW" i="1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0802" t="16504" b="27075"/>
          <a:stretch/>
        </p:blipFill>
        <p:spPr bwMode="auto">
          <a:xfrm>
            <a:off x="2880311" y="4514975"/>
            <a:ext cx="6106034" cy="1033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圓角矩形 7"/>
          <p:cNvSpPr/>
          <p:nvPr/>
        </p:nvSpPr>
        <p:spPr>
          <a:xfrm>
            <a:off x="5536420" y="5326594"/>
            <a:ext cx="1346886" cy="22169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8"/>
          <p:cNvSpPr/>
          <p:nvPr/>
        </p:nvSpPr>
        <p:spPr>
          <a:xfrm>
            <a:off x="2880311" y="5949279"/>
            <a:ext cx="2776482" cy="646783"/>
          </a:xfrm>
          <a:prstGeom prst="wedgeRoundRectCallout">
            <a:avLst>
              <a:gd name="adj1" fmla="val 65879"/>
              <a:gd name="adj2" fmla="val -10436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+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)) 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中文課本錯誤</a:t>
            </a:r>
          </a:p>
        </p:txBody>
      </p:sp>
    </p:spTree>
    <p:extLst>
      <p:ext uri="{BB962C8B-B14F-4D97-AF65-F5344CB8AC3E}">
        <p14:creationId xmlns:p14="http://schemas.microsoft.com/office/powerpoint/2010/main" val="318967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大整數的計算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遞迴呼叫</a:t>
            </a:r>
            <a:r>
              <a:rPr lang="en-US" altLang="zh-TW" i="1" dirty="0"/>
              <a:t>prod</a:t>
            </a:r>
            <a:r>
              <a:rPr lang="zh-TW" altLang="en-US" dirty="0"/>
              <a:t>函式</a:t>
            </a:r>
            <a:r>
              <a:rPr lang="en-US" altLang="zh-TW" dirty="0"/>
              <a:t>4</a:t>
            </a:r>
            <a:r>
              <a:rPr lang="zh-TW" altLang="en-US" dirty="0"/>
              <a:t>次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大整數乘法</a:t>
            </a:r>
            <a:r>
              <a:rPr lang="en-US" altLang="zh-TW" dirty="0"/>
              <a:t>2</a:t>
            </a:r>
          </a:p>
          <a:p>
            <a:pPr lvl="1"/>
            <a:r>
              <a:rPr lang="en-US" altLang="zh-TW" i="1" dirty="0"/>
              <a:t>r</a:t>
            </a:r>
            <a:r>
              <a:rPr lang="en-US" altLang="zh-TW" dirty="0"/>
              <a:t> = (</a:t>
            </a:r>
            <a:r>
              <a:rPr lang="en-US" altLang="zh-TW" i="1" dirty="0"/>
              <a:t>x</a:t>
            </a:r>
            <a:r>
              <a:rPr lang="en-US" altLang="zh-TW" dirty="0"/>
              <a:t> + </a:t>
            </a:r>
            <a:r>
              <a:rPr lang="en-US" altLang="zh-TW" i="1" dirty="0"/>
              <a:t>y</a:t>
            </a:r>
            <a:r>
              <a:rPr lang="en-US" altLang="zh-TW" dirty="0"/>
              <a:t>)(</a:t>
            </a:r>
            <a:r>
              <a:rPr lang="en-US" altLang="zh-TW" i="1" dirty="0"/>
              <a:t>w</a:t>
            </a:r>
            <a:r>
              <a:rPr lang="en-US" altLang="zh-TW" dirty="0"/>
              <a:t> + </a:t>
            </a:r>
            <a:r>
              <a:rPr lang="en-US" altLang="zh-TW" i="1" dirty="0"/>
              <a:t>z</a:t>
            </a:r>
            <a:r>
              <a:rPr lang="en-US" altLang="zh-TW" dirty="0"/>
              <a:t>) = </a:t>
            </a:r>
            <a:r>
              <a:rPr lang="en-US" altLang="zh-TW" i="1" dirty="0" err="1"/>
              <a:t>xw</a:t>
            </a:r>
            <a:r>
              <a:rPr lang="en-US" altLang="zh-TW" dirty="0"/>
              <a:t> + (</a:t>
            </a:r>
            <a:r>
              <a:rPr lang="en-US" altLang="zh-TW" i="1" dirty="0" err="1"/>
              <a:t>xz</a:t>
            </a:r>
            <a:r>
              <a:rPr lang="en-US" altLang="zh-TW" dirty="0"/>
              <a:t> + </a:t>
            </a:r>
            <a:r>
              <a:rPr lang="en-US" altLang="zh-TW" i="1" dirty="0" err="1"/>
              <a:t>yw</a:t>
            </a:r>
            <a:r>
              <a:rPr lang="en-US" altLang="zh-TW" dirty="0"/>
              <a:t>) + </a:t>
            </a:r>
            <a:r>
              <a:rPr lang="en-US" altLang="zh-TW" i="1" dirty="0" err="1"/>
              <a:t>yz</a:t>
            </a:r>
            <a:endParaRPr lang="en-US" altLang="zh-TW" i="1" dirty="0"/>
          </a:p>
          <a:p>
            <a:pPr lvl="1"/>
            <a:r>
              <a:rPr lang="en-US" altLang="zh-TW" i="1" dirty="0" err="1"/>
              <a:t>xz</a:t>
            </a:r>
            <a:r>
              <a:rPr lang="en-US" altLang="zh-TW" dirty="0"/>
              <a:t> + </a:t>
            </a:r>
            <a:r>
              <a:rPr lang="en-US" altLang="zh-TW" i="1" dirty="0" err="1"/>
              <a:t>yw</a:t>
            </a:r>
            <a:r>
              <a:rPr lang="en-US" altLang="zh-TW" dirty="0"/>
              <a:t> = </a:t>
            </a:r>
            <a:r>
              <a:rPr lang="en-US" altLang="zh-TW" i="1" dirty="0"/>
              <a:t>r</a:t>
            </a:r>
            <a:r>
              <a:rPr lang="en-US" altLang="zh-TW" dirty="0"/>
              <a:t> – </a:t>
            </a:r>
            <a:r>
              <a:rPr lang="en-US" altLang="zh-TW" i="1" dirty="0" err="1"/>
              <a:t>xw</a:t>
            </a:r>
            <a:r>
              <a:rPr lang="en-US" altLang="zh-TW" dirty="0"/>
              <a:t> – </a:t>
            </a:r>
            <a:r>
              <a:rPr lang="en-US" altLang="zh-TW" i="1" dirty="0" err="1"/>
              <a:t>yz</a:t>
            </a:r>
            <a:r>
              <a:rPr lang="en-US" altLang="zh-TW" dirty="0"/>
              <a:t> 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呼叫</a:t>
            </a:r>
            <a:r>
              <a:rPr lang="en-US" altLang="zh-TW" i="1" dirty="0"/>
              <a:t>prod</a:t>
            </a:r>
            <a:r>
              <a:rPr lang="zh-TW" altLang="en-US" dirty="0"/>
              <a:t>函式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>
                <a:solidFill>
                  <a:srgbClr val="C00000"/>
                </a:solidFill>
              </a:rPr>
              <a:t>次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l="10802" t="16504" b="27075"/>
          <a:stretch/>
        </p:blipFill>
        <p:spPr bwMode="auto">
          <a:xfrm>
            <a:off x="1873236" y="1333898"/>
            <a:ext cx="6106034" cy="1033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圓角矩形 8"/>
          <p:cNvSpPr/>
          <p:nvPr/>
        </p:nvSpPr>
        <p:spPr>
          <a:xfrm>
            <a:off x="4529345" y="2133161"/>
            <a:ext cx="1346886" cy="22169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圖說文字 9"/>
          <p:cNvSpPr/>
          <p:nvPr/>
        </p:nvSpPr>
        <p:spPr>
          <a:xfrm>
            <a:off x="5876231" y="836712"/>
            <a:ext cx="2776482" cy="662662"/>
          </a:xfrm>
          <a:prstGeom prst="wedgeRoundRectCallout">
            <a:avLst>
              <a:gd name="adj1" fmla="val -66079"/>
              <a:gd name="adj2" fmla="val 13989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中文課本錯誤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+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5" name="群組 14"/>
          <p:cNvGrpSpPr/>
          <p:nvPr/>
        </p:nvGrpSpPr>
        <p:grpSpPr>
          <a:xfrm>
            <a:off x="1521031" y="4324585"/>
            <a:ext cx="6458239" cy="1074147"/>
            <a:chOff x="1521031" y="3491136"/>
            <a:chExt cx="6458239" cy="1074147"/>
          </a:xfrm>
        </p:grpSpPr>
        <p:pic>
          <p:nvPicPr>
            <p:cNvPr id="11" name="Picture 4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10802" t="58111" b="27075"/>
            <a:stretch/>
          </p:blipFill>
          <p:spPr bwMode="auto">
            <a:xfrm>
              <a:off x="1521031" y="4287794"/>
              <a:ext cx="6245097" cy="2774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4" name="群組 13"/>
            <p:cNvGrpSpPr/>
            <p:nvPr/>
          </p:nvGrpSpPr>
          <p:grpSpPr>
            <a:xfrm>
              <a:off x="4267795" y="3491136"/>
              <a:ext cx="3711475" cy="1055613"/>
              <a:chOff x="4267795" y="3491136"/>
              <a:chExt cx="3711475" cy="1055613"/>
            </a:xfrm>
          </p:grpSpPr>
          <p:sp>
            <p:nvSpPr>
              <p:cNvPr id="12" name="圓角矩形 11"/>
              <p:cNvSpPr/>
              <p:nvPr/>
            </p:nvSpPr>
            <p:spPr>
              <a:xfrm>
                <a:off x="4267795" y="4325053"/>
                <a:ext cx="1346886" cy="221696"/>
              </a:xfrm>
              <a:prstGeom prst="round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圓角矩形圖說文字 12"/>
              <p:cNvSpPr/>
              <p:nvPr/>
            </p:nvSpPr>
            <p:spPr>
              <a:xfrm>
                <a:off x="5202788" y="3491136"/>
                <a:ext cx="2776482" cy="462134"/>
              </a:xfrm>
              <a:prstGeom prst="wedgeRoundRectCallout">
                <a:avLst>
                  <a:gd name="adj1" fmla="val -61628"/>
                  <a:gd name="adj2" fmla="val 124241"/>
                  <a:gd name="adj3" fmla="val 166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prod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z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+ 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prod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))</a:t>
                </a:r>
                <a:endPara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1" name="群組 20"/>
          <p:cNvGrpSpPr/>
          <p:nvPr/>
        </p:nvGrpSpPr>
        <p:grpSpPr>
          <a:xfrm>
            <a:off x="2219505" y="5170858"/>
            <a:ext cx="1044000" cy="535310"/>
            <a:chOff x="2219505" y="4992313"/>
            <a:chExt cx="1044000" cy="535310"/>
          </a:xfrm>
        </p:grpSpPr>
        <p:sp>
          <p:nvSpPr>
            <p:cNvPr id="16" name="圓角矩形 15"/>
            <p:cNvSpPr/>
            <p:nvPr/>
          </p:nvSpPr>
          <p:spPr>
            <a:xfrm>
              <a:off x="2219505" y="4992313"/>
              <a:ext cx="1044000" cy="221696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2549975" y="5127513"/>
              <a:ext cx="1915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TW" alt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511420" y="5161495"/>
            <a:ext cx="1116000" cy="539739"/>
            <a:chOff x="6511420" y="4982950"/>
            <a:chExt cx="1116000" cy="539739"/>
          </a:xfrm>
        </p:grpSpPr>
        <p:sp>
          <p:nvSpPr>
            <p:cNvPr id="17" name="圓角矩形 16"/>
            <p:cNvSpPr/>
            <p:nvPr/>
          </p:nvSpPr>
          <p:spPr>
            <a:xfrm>
              <a:off x="6511420" y="4982950"/>
              <a:ext cx="1116000" cy="221696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6899327" y="5122579"/>
              <a:ext cx="1915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TW" alt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字方塊 19"/>
          <p:cNvSpPr txBox="1"/>
          <p:nvPr/>
        </p:nvSpPr>
        <p:spPr>
          <a:xfrm>
            <a:off x="4342484" y="5333146"/>
            <a:ext cx="1089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– p – q</a:t>
            </a:r>
            <a:endParaRPr lang="zh-TW" alt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2270588" y="3936552"/>
            <a:ext cx="426235" cy="28265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2786410" y="3942006"/>
            <a:ext cx="426235" cy="28265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1259632" y="3502511"/>
            <a:ext cx="1437191" cy="397769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01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決定門檻值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當切割至</a:t>
            </a:r>
            <a:r>
              <a:rPr lang="zh-TW" altLang="en-US" dirty="0">
                <a:solidFill>
                  <a:srgbClr val="C00000"/>
                </a:solidFill>
              </a:rPr>
              <a:t>夠小</a:t>
            </a:r>
            <a:r>
              <a:rPr lang="zh-TW" altLang="en-US" dirty="0"/>
              <a:t>時</a:t>
            </a:r>
            <a:endParaRPr lang="en-US" altLang="zh-TW" dirty="0"/>
          </a:p>
          <a:p>
            <a:pPr lvl="1"/>
            <a:r>
              <a:rPr lang="zh-TW" altLang="en-US" dirty="0"/>
              <a:t>門檻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最佳的門檻值</a:t>
            </a:r>
            <a:r>
              <a:rPr lang="en-US" altLang="zh-TW" dirty="0">
                <a:solidFill>
                  <a:srgbClr val="0000FF"/>
                </a:solidFill>
              </a:rPr>
              <a:t>(optimal threshold value)</a:t>
            </a:r>
          </a:p>
          <a:p>
            <a:pPr lvl="1"/>
            <a:r>
              <a:rPr lang="zh-TW" altLang="zh-TW" dirty="0"/>
              <a:t>當實例大小較該值小時</a:t>
            </a:r>
            <a:endParaRPr lang="en-US" altLang="zh-TW" dirty="0"/>
          </a:p>
          <a:p>
            <a:pPr lvl="2"/>
            <a:r>
              <a:rPr lang="zh-TW" altLang="zh-TW" dirty="0"/>
              <a:t>呼叫其他的替代演算法至少和繼續分割下去執行</a:t>
            </a:r>
            <a:r>
              <a:rPr lang="en-US" altLang="zh-TW" dirty="0"/>
              <a:t>divide-and-conquer</a:t>
            </a:r>
            <a:r>
              <a:rPr lang="zh-TW" altLang="zh-TW" dirty="0"/>
              <a:t>演算法一樣快</a:t>
            </a:r>
            <a:endParaRPr lang="en-US" altLang="zh-TW" dirty="0"/>
          </a:p>
          <a:p>
            <a:pPr lvl="2"/>
            <a:r>
              <a:rPr lang="en-US" altLang="zh-TW" dirty="0">
                <a:solidFill>
                  <a:srgbClr val="C00000"/>
                </a:solidFill>
              </a:rPr>
              <a:t>divide-and-conquer</a:t>
            </a:r>
            <a:r>
              <a:rPr lang="zh-TW" altLang="en-US" dirty="0">
                <a:solidFill>
                  <a:srgbClr val="C00000"/>
                </a:solidFill>
              </a:rPr>
              <a:t>的優勢不再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zh-TW" dirty="0"/>
              <a:t>當實例大小大於這個值時</a:t>
            </a:r>
            <a:endParaRPr lang="en-US" altLang="zh-TW" dirty="0"/>
          </a:p>
          <a:p>
            <a:pPr lvl="2"/>
            <a:r>
              <a:rPr lang="zh-TW" altLang="zh-TW" dirty="0"/>
              <a:t>繼續執行</a:t>
            </a:r>
            <a:r>
              <a:rPr lang="en-US" altLang="zh-TW" dirty="0"/>
              <a:t>divide-and-conquer</a:t>
            </a:r>
            <a:r>
              <a:rPr lang="zh-TW" altLang="zh-TW" dirty="0"/>
              <a:t>演算法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344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不能使用</a:t>
            </a:r>
            <a:r>
              <a:rPr lang="en-US" altLang="zh-TW" dirty="0"/>
              <a:t>Divide-and-Conquer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一個大小為</a:t>
            </a:r>
            <a:r>
              <a:rPr lang="en-US" altLang="zh-TW" i="1" dirty="0"/>
              <a:t>n</a:t>
            </a:r>
            <a:r>
              <a:rPr lang="zh-TW" altLang="zh-TW" dirty="0"/>
              <a:t>的個體被分成兩個或更多大小接近</a:t>
            </a:r>
            <a:r>
              <a:rPr lang="en-US" altLang="zh-TW" i="1" dirty="0"/>
              <a:t>n</a:t>
            </a:r>
            <a:r>
              <a:rPr lang="zh-TW" altLang="zh-TW" dirty="0"/>
              <a:t>的個體</a:t>
            </a:r>
            <a:endParaRPr lang="en-US" altLang="zh-TW" dirty="0"/>
          </a:p>
          <a:p>
            <a:pPr lvl="1"/>
            <a:r>
              <a:rPr lang="zh-TW" altLang="en-US" dirty="0"/>
              <a:t>導致指數時間演算法 </a:t>
            </a:r>
            <a:r>
              <a:rPr lang="zh-TW" altLang="en-US" dirty="0">
                <a:solidFill>
                  <a:srgbClr val="C00000"/>
                </a:solidFill>
                <a:sym typeface="Symbol" panose="05050102010706020507" pitchFamily="18" charset="2"/>
              </a:rPr>
              <a:t>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(2</a:t>
            </a:r>
            <a:r>
              <a:rPr lang="en-US" altLang="zh-TW" i="1" baseline="30000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r>
              <a:rPr lang="zh-TW" altLang="zh-TW" dirty="0"/>
              <a:t>一個大小為</a:t>
            </a:r>
            <a:r>
              <a:rPr lang="en-US" altLang="zh-TW" i="1" dirty="0"/>
              <a:t>n</a:t>
            </a:r>
            <a:r>
              <a:rPr lang="zh-TW" altLang="zh-TW" dirty="0"/>
              <a:t>的個體被分成</a:t>
            </a:r>
            <a:r>
              <a:rPr lang="en-US" altLang="zh-TW" i="1" dirty="0"/>
              <a:t>n</a:t>
            </a:r>
            <a:r>
              <a:rPr lang="zh-TW" altLang="zh-TW" dirty="0"/>
              <a:t>個大小為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/</a:t>
            </a:r>
            <a:r>
              <a:rPr lang="en-US" altLang="zh-TW" i="1" dirty="0"/>
              <a:t>c</a:t>
            </a:r>
            <a:r>
              <a:rPr lang="en-US" altLang="zh-TW" dirty="0"/>
              <a:t> </a:t>
            </a:r>
            <a:r>
              <a:rPr lang="zh-TW" altLang="zh-TW" dirty="0"/>
              <a:t>的個體，其中</a:t>
            </a:r>
            <a:r>
              <a:rPr lang="en-US" altLang="zh-TW" i="1" dirty="0"/>
              <a:t>c</a:t>
            </a:r>
            <a:r>
              <a:rPr lang="zh-TW" altLang="zh-TW" dirty="0"/>
              <a:t>為常數</a:t>
            </a:r>
            <a:endParaRPr lang="en-US" altLang="zh-TW" dirty="0"/>
          </a:p>
          <a:p>
            <a:pPr lvl="1"/>
            <a:r>
              <a:rPr lang="zh-TW" altLang="en-US" dirty="0"/>
              <a:t>導致 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zh-TW" altLang="en-US" baseline="30000" dirty="0">
                <a:solidFill>
                  <a:srgbClr val="C00000"/>
                </a:solidFill>
                <a:sym typeface="Symbol" panose="05050102010706020507" pitchFamily="18" charset="2"/>
              </a:rPr>
              <a:t></a:t>
            </a:r>
            <a:r>
              <a:rPr lang="en-US" altLang="zh-TW" baseline="30000" dirty="0">
                <a:solidFill>
                  <a:srgbClr val="C00000"/>
                </a:solidFill>
                <a:sym typeface="Symbol" panose="05050102010706020507" pitchFamily="18" charset="2"/>
              </a:rPr>
              <a:t>(</a:t>
            </a:r>
            <a:r>
              <a:rPr lang="en-US" altLang="zh-TW" baseline="30000" dirty="0" err="1">
                <a:solidFill>
                  <a:srgbClr val="C00000"/>
                </a:solidFill>
                <a:sym typeface="Symbol" panose="05050102010706020507" pitchFamily="18" charset="2"/>
              </a:rPr>
              <a:t>lg</a:t>
            </a:r>
            <a:r>
              <a:rPr lang="en-US" altLang="zh-TW" baseline="30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TW" i="1" baseline="30000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r>
              <a:rPr lang="zh-TW" altLang="en-US" dirty="0">
                <a:sym typeface="Symbol" panose="05050102010706020507" pitchFamily="18" charset="2"/>
              </a:rPr>
              <a:t>演算法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2026/09/16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887616"/>
      </p:ext>
    </p:extLst>
  </p:cSld>
  <p:clrMapOvr>
    <a:masterClrMapping/>
  </p:clrMapOvr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8714</TotalTime>
  <Words>3618</Words>
  <Application>Microsoft Office PowerPoint</Application>
  <PresentationFormat>如螢幕大小 (4:3)</PresentationFormat>
  <Paragraphs>808</Paragraphs>
  <Slides>33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1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NCKU3</vt:lpstr>
      <vt:lpstr>ALGORITHMS 演算法</vt:lpstr>
      <vt:lpstr>Divide-and-Conquer</vt:lpstr>
      <vt:lpstr>二元搜尋法 (1/4)</vt:lpstr>
      <vt:lpstr>二元搜尋法 (2/4) 加入遞迴</vt:lpstr>
      <vt:lpstr>二元搜尋法 (3/4)</vt:lpstr>
      <vt:lpstr>二元搜尋法 (4/4)</vt:lpstr>
      <vt:lpstr>合併排序法 Merge sort (1/6)</vt:lpstr>
      <vt:lpstr>合併排序法 Merge sort (2/6)</vt:lpstr>
      <vt:lpstr>合併排序法 Merge sort (3/6)</vt:lpstr>
      <vt:lpstr>合併排序法 Merge sort (4/6)</vt:lpstr>
      <vt:lpstr>合併排序法 Merge sort (5/6)</vt:lpstr>
      <vt:lpstr>合併排序法 Merge sort (6/6)</vt:lpstr>
      <vt:lpstr>Divide-and-Conquer 技巧</vt:lpstr>
      <vt:lpstr>快速排序法 Quick sort (1/7)</vt:lpstr>
      <vt:lpstr>快速排序法 Quick sort (2/7)</vt:lpstr>
      <vt:lpstr>快速排序法 Quick sort (3/7)</vt:lpstr>
      <vt:lpstr>快速排序法 Quick sort (4/7)</vt:lpstr>
      <vt:lpstr>快速排序法 Quick sort (5/7)</vt:lpstr>
      <vt:lpstr>快速排序法 Quick sort (6/7)</vt:lpstr>
      <vt:lpstr>快速排序法 Quick sort (7/7)</vt:lpstr>
      <vt:lpstr>Strassen的矩陣相乘演算法 (1/6)</vt:lpstr>
      <vt:lpstr>Strassen的矩陣相乘演算法 (2/6)</vt:lpstr>
      <vt:lpstr>Strassen的矩陣相乘演算法 (3/6)</vt:lpstr>
      <vt:lpstr>Strassen的矩陣相乘演算法 (4/6)</vt:lpstr>
      <vt:lpstr>Strassen的矩陣相乘演算法 (5/6)</vt:lpstr>
      <vt:lpstr>Strassen的矩陣相乘演算法 (6/6)</vt:lpstr>
      <vt:lpstr>大整數的計算 (1/5)</vt:lpstr>
      <vt:lpstr>大整數的計算 (2/5)</vt:lpstr>
      <vt:lpstr>大整數的計算 (3/5)</vt:lpstr>
      <vt:lpstr>大整數的計算 (4/5)</vt:lpstr>
      <vt:lpstr>大整數的計算 (5/5)</vt:lpstr>
      <vt:lpstr>決定門檻值</vt:lpstr>
      <vt:lpstr>不能使用Divide-and-Conquer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64</cp:revision>
  <cp:lastPrinted>2022-09-24T09:12:24Z</cp:lastPrinted>
  <dcterms:created xsi:type="dcterms:W3CDTF">2018-01-10T03:26:15Z</dcterms:created>
  <dcterms:modified xsi:type="dcterms:W3CDTF">2026-07-27T07:10:52Z</dcterms:modified>
</cp:coreProperties>
</file>