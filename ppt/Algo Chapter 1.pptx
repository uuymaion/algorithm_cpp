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sldIdLst>
    <p:sldId id="365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89" r:id="rId26"/>
    <p:sldId id="390" r:id="rId27"/>
    <p:sldId id="391" r:id="rId28"/>
    <p:sldId id="392" r:id="rId29"/>
    <p:sldId id="393" r:id="rId30"/>
    <p:sldId id="394" r:id="rId31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CC"/>
    <a:srgbClr val="820000"/>
    <a:srgbClr val="700000"/>
    <a:srgbClr val="9E0000"/>
    <a:srgbClr val="323232"/>
    <a:srgbClr val="333399"/>
    <a:srgbClr val="CC00CC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0932" autoAdjust="0"/>
  </p:normalViewPr>
  <p:slideViewPr>
    <p:cSldViewPr>
      <p:cViewPr varScale="1">
        <p:scale>
          <a:sx n="82" d="100"/>
          <a:sy n="82" d="100"/>
        </p:scale>
        <p:origin x="145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r">
              <a:defRPr sz="1200"/>
            </a:lvl1pPr>
          </a:lstStyle>
          <a:p>
            <a:fld id="{7F921807-99F1-4DF0-94D7-7548FA810751}" type="datetimeFigureOut">
              <a:rPr lang="zh-TW" altLang="en-US" smtClean="0"/>
              <a:pPr/>
              <a:t>2026/7/27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42" tIns="45921" rIns="91842" bIns="4592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3"/>
          </a:xfrm>
          <a:prstGeom prst="rect">
            <a:avLst/>
          </a:prstGeom>
        </p:spPr>
        <p:txBody>
          <a:bodyPr vert="horz" lIns="91842" tIns="45921" rIns="91842" bIns="45921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r">
              <a:defRPr sz="1200"/>
            </a:lvl1pPr>
          </a:lstStyle>
          <a:p>
            <a:fld id="{6C24E503-88D4-45A6-8EBB-14391082A01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1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22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8543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9088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3233" y="225653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2483768" y="4530498"/>
            <a:ext cx="6552728" cy="1676400"/>
          </a:xfrm>
        </p:spPr>
        <p:txBody>
          <a:bodyPr/>
          <a:lstStyle>
            <a:lvl1pPr marL="0" indent="0" algn="ctr">
              <a:buFontTx/>
              <a:buNone/>
              <a:defRPr b="1"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2026/09/09</a:t>
            </a:r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924896" y="2394158"/>
            <a:ext cx="6111600" cy="1860612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3233" y="425477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300993" y="6581001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12" name="Picture 2" descr="C:\Users\admin\Dropbox\世暘&amp;莉淳\相片\DSC_9359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92" y="2382770"/>
            <a:ext cx="2812457" cy="1872000"/>
          </a:xfrm>
          <a:prstGeom prst="rect">
            <a:avLst/>
          </a:prstGeom>
          <a:noFill/>
        </p:spPr>
      </p:pic>
      <p:pic>
        <p:nvPicPr>
          <p:cNvPr id="20" name="圖片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458" y="1161633"/>
            <a:ext cx="3566038" cy="108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0"/>
            <a:ext cx="6861448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950" y="1268760"/>
            <a:ext cx="8928100" cy="532730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2026/09/09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3F35E6-A8E7-488D-BD9F-ED9A7F7FA10F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2026/09/09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183EC-7050-45EB-9E88-B86B53D28D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795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2026/09/09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32F3C-BFB5-4433-80F2-31E4E599C27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2026/09/09</a:t>
            </a: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71ADB-DDEF-4830-B9BC-5050A26247A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2026/09/09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8238B-CE9D-4BC3-843E-48DE31256F2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2026/09/09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989FA-7C75-4428-B4F8-334FD772112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2026/09/09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ED4DE-EAF4-4F9D-92A9-54CDF4DC460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2026/09/09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BED88-20FD-46BD-AA27-41E91F90C6D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2026/09/09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5973D2-4DDA-41F5-8DAD-51687E6176F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04025" y="0"/>
            <a:ext cx="2232025" cy="659606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07950" y="0"/>
            <a:ext cx="6543675" cy="659606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2026/09/09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BEB42-A2EB-4830-8F53-FDF4A3AEB5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86816" y="0"/>
            <a:ext cx="6861448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40" y="1250328"/>
            <a:ext cx="8940456" cy="53457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en-US" altLang="zh-TW"/>
              <a:t>2026/09/09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97650"/>
            <a:ext cx="28956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+mn-lt"/>
                <a:cs typeface="Angsana New" pitchFamily="18" charset="-34"/>
              </a:defRPr>
            </a:lvl1pPr>
          </a:lstStyle>
          <a:p>
            <a:fld id="{88815D73-EF14-4780-98ED-F121D5ADB135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16" name="矩形 15"/>
          <p:cNvSpPr/>
          <p:nvPr userDrawn="1"/>
        </p:nvSpPr>
        <p:spPr>
          <a:xfrm>
            <a:off x="0" y="1160664"/>
            <a:ext cx="9144000" cy="72000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4343620" y="935059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43" y="18248"/>
            <a:ext cx="2133600" cy="64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+mj-lt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2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3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ALGORITHMS</a:t>
            </a:r>
            <a:br>
              <a:rPr lang="en-US" altLang="zh-TW" dirty="0"/>
            </a:br>
            <a:r>
              <a:rPr lang="zh-TW" altLang="en-US" dirty="0"/>
              <a:t>演算法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dirty="0"/>
              <a:t>Chapter 1</a:t>
            </a:r>
          </a:p>
          <a:p>
            <a:pPr algn="r"/>
            <a:r>
              <a:rPr lang="en-US" altLang="zh-TW" dirty="0"/>
              <a:t>Algorithms: Efficiency, Analysis, and Order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14987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Algorithms</a:t>
            </a:r>
            <a:r>
              <a:rPr lang="zh-TW" altLang="en-US" dirty="0"/>
              <a:t> 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</a:rPr>
              <a:t>Problem</a:t>
            </a:r>
          </a:p>
          <a:p>
            <a:pPr lvl="1"/>
            <a:r>
              <a:rPr lang="en-US" altLang="zh-TW" dirty="0"/>
              <a:t>design of the individual modules that accomplish the specific tasks</a:t>
            </a:r>
          </a:p>
          <a:p>
            <a:pPr lvl="1"/>
            <a:r>
              <a:rPr lang="en-US" altLang="zh-TW" dirty="0"/>
              <a:t>Determine whether the </a:t>
            </a:r>
            <a:r>
              <a:rPr lang="en-US" altLang="zh-TW" dirty="0">
                <a:solidFill>
                  <a:srgbClr val="C00000"/>
                </a:solidFill>
              </a:rPr>
              <a:t>number </a:t>
            </a:r>
            <a:r>
              <a:rPr lang="en-US" altLang="zh-TW" i="1" dirty="0">
                <a:solidFill>
                  <a:srgbClr val="C00000"/>
                </a:solidFill>
              </a:rPr>
              <a:t>x</a:t>
            </a:r>
            <a:r>
              <a:rPr lang="en-US" altLang="zh-TW" dirty="0"/>
              <a:t> is in the </a:t>
            </a:r>
            <a:r>
              <a:rPr lang="en-US" altLang="zh-TW" dirty="0">
                <a:solidFill>
                  <a:srgbClr val="C00000"/>
                </a:solidFill>
              </a:rPr>
              <a:t>list </a:t>
            </a:r>
            <a:r>
              <a:rPr lang="en-US" altLang="zh-TW" i="1" dirty="0">
                <a:solidFill>
                  <a:srgbClr val="C00000"/>
                </a:solidFill>
              </a:rPr>
              <a:t>S</a:t>
            </a:r>
            <a:r>
              <a:rPr lang="en-US" altLang="zh-TW" dirty="0"/>
              <a:t> of </a:t>
            </a:r>
            <a:r>
              <a:rPr lang="en-US" altLang="zh-TW" i="1" dirty="0">
                <a:solidFill>
                  <a:srgbClr val="C00000"/>
                </a:solidFill>
              </a:rPr>
              <a:t>n</a:t>
            </a:r>
            <a:r>
              <a:rPr lang="en-US" altLang="zh-TW" dirty="0">
                <a:solidFill>
                  <a:srgbClr val="C00000"/>
                </a:solidFill>
              </a:rPr>
              <a:t> numbers</a:t>
            </a:r>
            <a:r>
              <a:rPr lang="en-US" altLang="zh-TW" dirty="0"/>
              <a:t>. The answer is “yes” if </a:t>
            </a:r>
            <a:r>
              <a:rPr lang="en-US" altLang="zh-TW" i="1" dirty="0"/>
              <a:t>x</a:t>
            </a:r>
            <a:r>
              <a:rPr lang="en-US" altLang="zh-TW" dirty="0"/>
              <a:t> is in </a:t>
            </a:r>
            <a:r>
              <a:rPr lang="en-US" altLang="zh-TW" i="1" dirty="0"/>
              <a:t>S</a:t>
            </a:r>
            <a:r>
              <a:rPr lang="en-US" altLang="zh-TW" dirty="0"/>
              <a:t> and “no” if it is not.</a:t>
            </a:r>
          </a:p>
          <a:p>
            <a:endParaRPr lang="en-US" altLang="zh-TW" sz="1200" dirty="0"/>
          </a:p>
          <a:p>
            <a:r>
              <a:rPr lang="en-US" altLang="zh-TW" dirty="0">
                <a:solidFill>
                  <a:srgbClr val="0000FF"/>
                </a:solidFill>
              </a:rPr>
              <a:t>parameter</a:t>
            </a:r>
          </a:p>
          <a:p>
            <a:pPr lvl="1"/>
            <a:r>
              <a:rPr lang="en-US" altLang="zh-TW" dirty="0"/>
              <a:t>A “problem” may contain variables that are not assigned specific values in the statement of the problem.</a:t>
            </a:r>
          </a:p>
          <a:p>
            <a:pPr lvl="1"/>
            <a:r>
              <a:rPr lang="en-US" altLang="zh-TW" i="1" dirty="0">
                <a:solidFill>
                  <a:srgbClr val="C00000"/>
                </a:solidFill>
              </a:rPr>
              <a:t>S</a:t>
            </a:r>
            <a:r>
              <a:rPr lang="zh-TW" altLang="en-US" dirty="0"/>
              <a:t>、</a:t>
            </a:r>
            <a:r>
              <a:rPr lang="en-US" altLang="zh-TW" i="1" dirty="0">
                <a:solidFill>
                  <a:srgbClr val="C00000"/>
                </a:solidFill>
              </a:rPr>
              <a:t>n</a:t>
            </a:r>
            <a:r>
              <a:rPr lang="zh-TW" altLang="en-US" dirty="0"/>
              <a:t>、</a:t>
            </a:r>
            <a:r>
              <a:rPr lang="en-US" altLang="zh-TW" i="1" dirty="0">
                <a:solidFill>
                  <a:srgbClr val="C00000"/>
                </a:solidFill>
              </a:rPr>
              <a:t>x</a:t>
            </a:r>
          </a:p>
          <a:p>
            <a:endParaRPr lang="en-US" altLang="zh-TW" sz="1200" dirty="0"/>
          </a:p>
          <a:p>
            <a:r>
              <a:rPr lang="en-US" altLang="zh-TW" dirty="0">
                <a:solidFill>
                  <a:srgbClr val="0000FF"/>
                </a:solidFill>
              </a:rPr>
              <a:t>instance</a:t>
            </a:r>
            <a:r>
              <a:rPr lang="en-US" altLang="zh-TW" dirty="0"/>
              <a:t>: each specific assignment of values to the parameters</a:t>
            </a:r>
          </a:p>
          <a:p>
            <a:pPr lvl="1"/>
            <a:r>
              <a:rPr lang="en-US" altLang="zh-TW" i="1" dirty="0"/>
              <a:t>S</a:t>
            </a:r>
            <a:r>
              <a:rPr lang="en-US" altLang="zh-TW" dirty="0"/>
              <a:t> = [10, 7, 11, 5, 13, 8], </a:t>
            </a:r>
            <a:r>
              <a:rPr lang="en-US" altLang="zh-TW" i="1" dirty="0"/>
              <a:t>n</a:t>
            </a:r>
            <a:r>
              <a:rPr lang="en-US" altLang="zh-TW" dirty="0"/>
              <a:t> = 6, </a:t>
            </a:r>
            <a:r>
              <a:rPr lang="en-US" altLang="zh-TW" i="1" dirty="0"/>
              <a:t>x</a:t>
            </a:r>
            <a:r>
              <a:rPr lang="en-US" altLang="zh-TW" dirty="0"/>
              <a:t> = 5</a:t>
            </a:r>
          </a:p>
          <a:p>
            <a:endParaRPr lang="en-US" altLang="zh-TW" dirty="0"/>
          </a:p>
          <a:p>
            <a:r>
              <a:rPr lang="en-US" altLang="zh-TW" dirty="0">
                <a:solidFill>
                  <a:srgbClr val="0000FF"/>
                </a:solidFill>
              </a:rPr>
              <a:t>solution</a:t>
            </a:r>
            <a:r>
              <a:rPr lang="en-US" altLang="zh-TW" dirty="0"/>
              <a:t>: the answer to the question asked by the problem in that instance</a:t>
            </a:r>
          </a:p>
          <a:p>
            <a:pPr lvl="1"/>
            <a:r>
              <a:rPr lang="en-US" altLang="zh-TW" dirty="0"/>
              <a:t>yes</a:t>
            </a:r>
          </a:p>
          <a:p>
            <a:pPr lvl="1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5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Algorithms</a:t>
            </a:r>
            <a:r>
              <a:rPr lang="zh-TW" altLang="en-US" dirty="0"/>
              <a:t> 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</a:rPr>
              <a:t>Algorithms</a:t>
            </a:r>
          </a:p>
          <a:p>
            <a:pPr lvl="1"/>
            <a:r>
              <a:rPr lang="en-US" altLang="zh-TW" dirty="0"/>
              <a:t>specify a general </a:t>
            </a:r>
            <a:r>
              <a:rPr lang="en-US" altLang="zh-TW" dirty="0">
                <a:solidFill>
                  <a:srgbClr val="C00000"/>
                </a:solidFill>
              </a:rPr>
              <a:t>step-by-step</a:t>
            </a:r>
            <a:r>
              <a:rPr lang="en-US" altLang="zh-TW" dirty="0"/>
              <a:t> procedure for producing the solution to each instance</a:t>
            </a:r>
          </a:p>
          <a:p>
            <a:pPr lvl="1"/>
            <a:r>
              <a:rPr lang="en-US" altLang="zh-TW" dirty="0"/>
              <a:t>algorithm </a:t>
            </a:r>
            <a:r>
              <a:rPr lang="en-US" altLang="zh-TW" i="1" dirty="0">
                <a:solidFill>
                  <a:srgbClr val="C00000"/>
                </a:solidFill>
              </a:rPr>
              <a:t>solves</a:t>
            </a:r>
            <a:r>
              <a:rPr lang="en-US" altLang="zh-TW" dirty="0"/>
              <a:t> the problem</a:t>
            </a:r>
          </a:p>
          <a:p>
            <a:endParaRPr lang="en-US" altLang="zh-TW" dirty="0"/>
          </a:p>
          <a:p>
            <a:r>
              <a:rPr lang="en-US" altLang="zh-TW" dirty="0"/>
              <a:t>Determine whether the </a:t>
            </a:r>
            <a:r>
              <a:rPr lang="en-US" altLang="zh-TW" dirty="0">
                <a:solidFill>
                  <a:srgbClr val="C00000"/>
                </a:solidFill>
              </a:rPr>
              <a:t>number </a:t>
            </a:r>
            <a:r>
              <a:rPr lang="en-US" altLang="zh-TW" i="1" dirty="0">
                <a:solidFill>
                  <a:srgbClr val="C00000"/>
                </a:solidFill>
              </a:rPr>
              <a:t>x</a:t>
            </a:r>
            <a:r>
              <a:rPr lang="en-US" altLang="zh-TW" dirty="0"/>
              <a:t> is in the </a:t>
            </a:r>
            <a:r>
              <a:rPr lang="en-US" altLang="zh-TW" dirty="0">
                <a:solidFill>
                  <a:srgbClr val="C00000"/>
                </a:solidFill>
              </a:rPr>
              <a:t>list </a:t>
            </a:r>
            <a:r>
              <a:rPr lang="en-US" altLang="zh-TW" i="1" dirty="0">
                <a:solidFill>
                  <a:srgbClr val="C00000"/>
                </a:solidFill>
              </a:rPr>
              <a:t>S</a:t>
            </a:r>
            <a:r>
              <a:rPr lang="en-US" altLang="zh-TW" dirty="0"/>
              <a:t> of </a:t>
            </a:r>
            <a:r>
              <a:rPr lang="en-US" altLang="zh-TW" i="1" dirty="0">
                <a:solidFill>
                  <a:srgbClr val="C00000"/>
                </a:solidFill>
              </a:rPr>
              <a:t>n</a:t>
            </a:r>
            <a:r>
              <a:rPr lang="en-US" altLang="zh-TW" dirty="0">
                <a:solidFill>
                  <a:srgbClr val="C00000"/>
                </a:solidFill>
              </a:rPr>
              <a:t> numbers</a:t>
            </a:r>
            <a:r>
              <a:rPr lang="en-US" altLang="zh-TW" dirty="0"/>
              <a:t>. The answer is “yes” if </a:t>
            </a:r>
            <a:r>
              <a:rPr lang="en-US" altLang="zh-TW" i="1" dirty="0"/>
              <a:t>x</a:t>
            </a:r>
            <a:r>
              <a:rPr lang="en-US" altLang="zh-TW" dirty="0"/>
              <a:t> is in </a:t>
            </a:r>
            <a:r>
              <a:rPr lang="en-US" altLang="zh-TW" i="1" dirty="0"/>
              <a:t>S</a:t>
            </a:r>
            <a:r>
              <a:rPr lang="en-US" altLang="zh-TW" dirty="0"/>
              <a:t> and “no” if it is not.</a:t>
            </a:r>
          </a:p>
          <a:p>
            <a:pPr lvl="1"/>
            <a:r>
              <a:rPr lang="en-US" altLang="zh-TW" dirty="0"/>
              <a:t>Starting with the first item in </a:t>
            </a:r>
            <a:r>
              <a:rPr lang="en-US" altLang="zh-TW" i="1" dirty="0"/>
              <a:t>S</a:t>
            </a:r>
            <a:r>
              <a:rPr lang="en-US" altLang="zh-TW" dirty="0"/>
              <a:t>, compare </a:t>
            </a:r>
            <a:r>
              <a:rPr lang="en-US" altLang="zh-TW" i="1" dirty="0"/>
              <a:t>x</a:t>
            </a:r>
            <a:r>
              <a:rPr lang="en-US" altLang="zh-TW" dirty="0"/>
              <a:t> with each item in </a:t>
            </a:r>
            <a:r>
              <a:rPr lang="en-US" altLang="zh-TW" i="1" dirty="0"/>
              <a:t>S</a:t>
            </a:r>
            <a:r>
              <a:rPr lang="en-US" altLang="zh-TW" dirty="0"/>
              <a:t> in sequence until </a:t>
            </a:r>
            <a:r>
              <a:rPr lang="en-US" altLang="zh-TW" i="1" dirty="0"/>
              <a:t>x</a:t>
            </a:r>
            <a:r>
              <a:rPr lang="en-US" altLang="zh-TW" dirty="0"/>
              <a:t> is found or until </a:t>
            </a:r>
            <a:r>
              <a:rPr lang="en-US" altLang="zh-TW" i="1" dirty="0"/>
              <a:t>S</a:t>
            </a:r>
            <a:r>
              <a:rPr lang="en-US" altLang="zh-TW" dirty="0"/>
              <a:t> is exhausted. If </a:t>
            </a:r>
            <a:r>
              <a:rPr lang="en-US" altLang="zh-TW" i="1" dirty="0"/>
              <a:t>x</a:t>
            </a:r>
            <a:r>
              <a:rPr lang="en-US" altLang="zh-TW" dirty="0"/>
              <a:t> is found, answer yes; if </a:t>
            </a:r>
            <a:r>
              <a:rPr lang="en-US" altLang="zh-TW" i="1" dirty="0"/>
              <a:t>x</a:t>
            </a:r>
            <a:r>
              <a:rPr lang="en-US" altLang="zh-TW" dirty="0"/>
              <a:t> is not found, answer no.</a:t>
            </a:r>
          </a:p>
          <a:p>
            <a:pPr lvl="1"/>
            <a:r>
              <a:rPr lang="en-US" altLang="zh-TW" dirty="0">
                <a:solidFill>
                  <a:srgbClr val="0000FF"/>
                </a:solidFill>
              </a:rPr>
              <a:t>Input</a:t>
            </a:r>
            <a:r>
              <a:rPr lang="en-US" altLang="zh-TW" dirty="0"/>
              <a:t>: number </a:t>
            </a:r>
            <a:r>
              <a:rPr lang="en-US" altLang="zh-TW" i="1" dirty="0">
                <a:solidFill>
                  <a:srgbClr val="C00000"/>
                </a:solidFill>
              </a:rPr>
              <a:t>n</a:t>
            </a:r>
            <a:r>
              <a:rPr lang="en-US" altLang="zh-TW" dirty="0"/>
              <a:t>, list </a:t>
            </a:r>
            <a:r>
              <a:rPr lang="en-US" altLang="zh-TW" i="1" dirty="0">
                <a:solidFill>
                  <a:srgbClr val="C00000"/>
                </a:solidFill>
              </a:rPr>
              <a:t>S</a:t>
            </a:r>
            <a:r>
              <a:rPr lang="en-US" altLang="zh-TW" dirty="0"/>
              <a:t> with </a:t>
            </a:r>
            <a:r>
              <a:rPr lang="en-US" altLang="zh-TW" i="1" dirty="0"/>
              <a:t>n</a:t>
            </a:r>
            <a:r>
              <a:rPr lang="en-US" altLang="zh-TW" dirty="0"/>
              <a:t> elements, key number </a:t>
            </a:r>
            <a:r>
              <a:rPr lang="en-US" altLang="zh-TW" i="1" dirty="0">
                <a:solidFill>
                  <a:srgbClr val="C00000"/>
                </a:solidFill>
              </a:rPr>
              <a:t>x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rgbClr val="0000FF"/>
                </a:solidFill>
              </a:rPr>
              <a:t>Output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yes</a:t>
            </a:r>
            <a:r>
              <a:rPr lang="en-US" altLang="zh-TW" dirty="0"/>
              <a:t> or </a:t>
            </a:r>
            <a:r>
              <a:rPr lang="en-US" altLang="zh-TW" dirty="0">
                <a:solidFill>
                  <a:srgbClr val="C00000"/>
                </a:solidFill>
              </a:rPr>
              <a:t>no</a:t>
            </a:r>
          </a:p>
          <a:p>
            <a:pPr lvl="1"/>
            <a:r>
              <a:rPr lang="en-US" altLang="zh-TW" dirty="0">
                <a:solidFill>
                  <a:srgbClr val="0000FF"/>
                </a:solidFill>
              </a:rPr>
              <a:t>Finiteness:</a:t>
            </a:r>
            <a:r>
              <a:rPr lang="en-US" altLang="zh-TW" dirty="0"/>
              <a:t> until </a:t>
            </a:r>
            <a:r>
              <a:rPr lang="en-US" altLang="zh-TW" i="1" dirty="0"/>
              <a:t>x</a:t>
            </a:r>
            <a:r>
              <a:rPr lang="en-US" altLang="zh-TW" dirty="0"/>
              <a:t> is found or until </a:t>
            </a:r>
            <a:r>
              <a:rPr lang="en-US" altLang="zh-TW" i="1" dirty="0"/>
              <a:t>S</a:t>
            </a:r>
            <a:r>
              <a:rPr lang="en-US" altLang="zh-TW" dirty="0"/>
              <a:t> is exhausted</a:t>
            </a:r>
          </a:p>
          <a:p>
            <a:pPr lvl="1"/>
            <a:r>
              <a:rPr lang="en-US" altLang="zh-TW" dirty="0">
                <a:solidFill>
                  <a:srgbClr val="0000FF"/>
                </a:solidFill>
              </a:rPr>
              <a:t>Definiteness</a:t>
            </a:r>
          </a:p>
          <a:p>
            <a:pPr lvl="1"/>
            <a:r>
              <a:rPr lang="en-US" altLang="zh-TW" dirty="0">
                <a:solidFill>
                  <a:srgbClr val="0000FF"/>
                </a:solidFill>
              </a:rPr>
              <a:t>Correctness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91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Sequential Search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</a:rPr>
              <a:t>Algorithm 1.1</a:t>
            </a:r>
          </a:p>
          <a:p>
            <a:pPr lvl="1"/>
            <a:r>
              <a:rPr lang="en-US" altLang="zh-TW" dirty="0">
                <a:solidFill>
                  <a:srgbClr val="0000FF"/>
                </a:solidFill>
              </a:rPr>
              <a:t>Problem</a:t>
            </a:r>
            <a:r>
              <a:rPr lang="en-US" altLang="zh-TW" dirty="0"/>
              <a:t>: Is the key </a:t>
            </a:r>
            <a:r>
              <a:rPr lang="en-US" altLang="zh-TW" i="1" dirty="0"/>
              <a:t>x</a:t>
            </a:r>
            <a:r>
              <a:rPr lang="en-US" altLang="zh-TW" dirty="0"/>
              <a:t> in the array </a:t>
            </a:r>
            <a:r>
              <a:rPr lang="en-US" altLang="zh-TW" i="1" dirty="0"/>
              <a:t>S</a:t>
            </a:r>
            <a:r>
              <a:rPr lang="en-US" altLang="zh-TW" dirty="0"/>
              <a:t> of </a:t>
            </a:r>
            <a:r>
              <a:rPr lang="en-US" altLang="zh-TW" i="1" dirty="0"/>
              <a:t>n</a:t>
            </a:r>
            <a:r>
              <a:rPr lang="en-US" altLang="zh-TW" dirty="0"/>
              <a:t> keys?</a:t>
            </a:r>
          </a:p>
          <a:p>
            <a:pPr lvl="1"/>
            <a:r>
              <a:rPr lang="en-US" altLang="zh-TW" dirty="0">
                <a:solidFill>
                  <a:srgbClr val="0000FF"/>
                </a:solidFill>
              </a:rPr>
              <a:t>Input</a:t>
            </a:r>
            <a:r>
              <a:rPr lang="en-US" altLang="zh-TW" dirty="0"/>
              <a:t>: positive integer </a:t>
            </a:r>
            <a:r>
              <a:rPr lang="en-US" altLang="zh-TW" i="1" dirty="0"/>
              <a:t>n</a:t>
            </a:r>
            <a:r>
              <a:rPr lang="en-US" altLang="zh-TW" dirty="0"/>
              <a:t>, array of keys </a:t>
            </a:r>
            <a:r>
              <a:rPr lang="en-US" altLang="zh-TW" i="1" dirty="0"/>
              <a:t>S</a:t>
            </a:r>
            <a:r>
              <a:rPr lang="en-US" altLang="zh-TW" dirty="0"/>
              <a:t> indexed from 1 to </a:t>
            </a:r>
            <a:r>
              <a:rPr lang="en-US" altLang="zh-TW" i="1" dirty="0"/>
              <a:t>n</a:t>
            </a:r>
            <a:r>
              <a:rPr lang="en-US" altLang="zh-TW" dirty="0"/>
              <a:t>, and a key </a:t>
            </a:r>
            <a:r>
              <a:rPr lang="en-US" altLang="zh-TW" i="1" dirty="0"/>
              <a:t>x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>
                <a:solidFill>
                  <a:srgbClr val="0000FF"/>
                </a:solidFill>
              </a:rPr>
              <a:t>Output</a:t>
            </a:r>
            <a:r>
              <a:rPr lang="en-US" altLang="zh-TW" dirty="0"/>
              <a:t>: </a:t>
            </a:r>
            <a:r>
              <a:rPr lang="en-US" altLang="zh-TW" i="1" dirty="0"/>
              <a:t>location</a:t>
            </a:r>
            <a:r>
              <a:rPr lang="en-US" altLang="zh-TW" dirty="0"/>
              <a:t>, the location of </a:t>
            </a:r>
            <a:r>
              <a:rPr lang="en-US" altLang="zh-TW" i="1" dirty="0"/>
              <a:t>x</a:t>
            </a:r>
            <a:r>
              <a:rPr lang="en-US" altLang="zh-TW" dirty="0"/>
              <a:t> in </a:t>
            </a:r>
            <a:r>
              <a:rPr lang="en-US" altLang="zh-TW" i="1" dirty="0"/>
              <a:t>S</a:t>
            </a:r>
            <a:r>
              <a:rPr lang="en-US" altLang="zh-TW" dirty="0"/>
              <a:t> (0 if </a:t>
            </a:r>
            <a:r>
              <a:rPr lang="en-US" altLang="zh-TW" i="1" dirty="0"/>
              <a:t>x</a:t>
            </a:r>
            <a:r>
              <a:rPr lang="en-US" altLang="zh-TW" dirty="0"/>
              <a:t> is not in </a:t>
            </a:r>
            <a:r>
              <a:rPr lang="en-US" altLang="zh-TW" i="1" dirty="0"/>
              <a:t>S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also called </a:t>
            </a:r>
            <a:r>
              <a:rPr lang="en-US" altLang="zh-TW" dirty="0">
                <a:solidFill>
                  <a:srgbClr val="C00000"/>
                </a:solidFill>
              </a:rPr>
              <a:t>linear search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004392" y="4380940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向下箭號 7"/>
          <p:cNvSpPr/>
          <p:nvPr/>
        </p:nvSpPr>
        <p:spPr>
          <a:xfrm>
            <a:off x="2313361" y="4181878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734541" y="3983583"/>
            <a:ext cx="12123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search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734541" y="4757082"/>
            <a:ext cx="12123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search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向下箭號 10"/>
          <p:cNvSpPr/>
          <p:nvPr/>
        </p:nvSpPr>
        <p:spPr>
          <a:xfrm flipV="1">
            <a:off x="2313361" y="4787463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向下箭號 11"/>
          <p:cNvSpPr/>
          <p:nvPr/>
        </p:nvSpPr>
        <p:spPr>
          <a:xfrm>
            <a:off x="3035104" y="4180574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向下箭號 12"/>
          <p:cNvSpPr/>
          <p:nvPr/>
        </p:nvSpPr>
        <p:spPr>
          <a:xfrm>
            <a:off x="3799979" y="4180574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向下箭號 13"/>
          <p:cNvSpPr/>
          <p:nvPr/>
        </p:nvSpPr>
        <p:spPr>
          <a:xfrm>
            <a:off x="4584983" y="4180574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向下箭號 14"/>
          <p:cNvSpPr/>
          <p:nvPr/>
        </p:nvSpPr>
        <p:spPr>
          <a:xfrm>
            <a:off x="5349858" y="4180574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向下箭號 15"/>
          <p:cNvSpPr/>
          <p:nvPr/>
        </p:nvSpPr>
        <p:spPr>
          <a:xfrm flipV="1">
            <a:off x="3035104" y="4788974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向下箭號 16"/>
          <p:cNvSpPr/>
          <p:nvPr/>
        </p:nvSpPr>
        <p:spPr>
          <a:xfrm flipV="1">
            <a:off x="3799979" y="4788974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向下箭號 17"/>
          <p:cNvSpPr/>
          <p:nvPr/>
        </p:nvSpPr>
        <p:spPr>
          <a:xfrm flipV="1">
            <a:off x="4584983" y="4788974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向下箭號 18"/>
          <p:cNvSpPr/>
          <p:nvPr/>
        </p:nvSpPr>
        <p:spPr>
          <a:xfrm flipV="1">
            <a:off x="5349858" y="4788974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向下箭號 19"/>
          <p:cNvSpPr/>
          <p:nvPr/>
        </p:nvSpPr>
        <p:spPr>
          <a:xfrm flipV="1">
            <a:off x="6131988" y="4788974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向下箭號 20"/>
          <p:cNvSpPr/>
          <p:nvPr/>
        </p:nvSpPr>
        <p:spPr>
          <a:xfrm flipV="1">
            <a:off x="6882486" y="4788974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向下箭號 21"/>
          <p:cNvSpPr/>
          <p:nvPr/>
        </p:nvSpPr>
        <p:spPr>
          <a:xfrm flipV="1">
            <a:off x="7650236" y="4788974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752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0"/>
                            </p:stCondLst>
                            <p:childTnLst>
                              <p:par>
                                <p:cTn id="72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0"/>
                            </p:stCondLst>
                            <p:childTnLst>
                              <p:par>
                                <p:cTn id="80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000"/>
                            </p:stCondLst>
                            <p:childTnLst>
                              <p:par>
                                <p:cTn id="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500"/>
                            </p:stCondLst>
                            <p:childTnLst>
                              <p:par>
                                <p:cTn id="88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0"/>
                            </p:stCondLst>
                            <p:childTnLst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500"/>
                            </p:stCondLst>
                            <p:childTnLst>
                              <p:par>
                                <p:cTn id="96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6000"/>
                            </p:stCondLst>
                            <p:childTnLst>
                              <p:par>
                                <p:cTn id="10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6500"/>
                            </p:stCondLst>
                            <p:childTnLst>
                              <p:par>
                                <p:cTn id="10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7000"/>
                            </p:stCondLst>
                            <p:childTnLst>
                              <p:par>
                                <p:cTn id="10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/>
      <p:bldP spid="10" grpId="0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Binary Search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array is </a:t>
            </a:r>
            <a:r>
              <a:rPr lang="en-US" altLang="zh-TW" dirty="0">
                <a:solidFill>
                  <a:srgbClr val="C00000"/>
                </a:solidFill>
              </a:rPr>
              <a:t>sorted</a:t>
            </a:r>
            <a:r>
              <a:rPr lang="en-US" altLang="zh-TW" dirty="0"/>
              <a:t> in </a:t>
            </a:r>
            <a:r>
              <a:rPr lang="en-US" altLang="zh-TW" dirty="0" err="1"/>
              <a:t>nondecreasing</a:t>
            </a:r>
            <a:r>
              <a:rPr lang="en-US" altLang="zh-TW" dirty="0"/>
              <a:t> order, binary search is more efficient</a:t>
            </a:r>
          </a:p>
          <a:p>
            <a:r>
              <a:rPr lang="en-US" altLang="zh-TW" dirty="0"/>
              <a:t>compare key </a:t>
            </a:r>
            <a:r>
              <a:rPr lang="en-US" altLang="zh-TW" i="1" dirty="0"/>
              <a:t>x</a:t>
            </a:r>
            <a:r>
              <a:rPr lang="en-US" altLang="zh-TW" dirty="0"/>
              <a:t> with the </a:t>
            </a:r>
            <a:r>
              <a:rPr lang="en-US" altLang="zh-TW" dirty="0">
                <a:solidFill>
                  <a:srgbClr val="C00000"/>
                </a:solidFill>
              </a:rPr>
              <a:t>middle item</a:t>
            </a:r>
            <a:r>
              <a:rPr lang="en-US" altLang="zh-TW" dirty="0"/>
              <a:t> (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m</a:t>
            </a:r>
            <a:r>
              <a:rPr lang="en-US" altLang="zh-TW" dirty="0"/>
              <a:t>])of the array:</a:t>
            </a:r>
          </a:p>
          <a:p>
            <a:pPr lvl="1"/>
            <a:r>
              <a:rPr lang="en-US" altLang="zh-TW" i="1" dirty="0"/>
              <a:t>key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=</a:t>
            </a:r>
            <a:r>
              <a:rPr lang="en-US" altLang="zh-TW" dirty="0"/>
              <a:t>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m</a:t>
            </a:r>
            <a:r>
              <a:rPr lang="en-US" altLang="zh-TW" dirty="0"/>
              <a:t>]</a:t>
            </a:r>
            <a:r>
              <a:rPr lang="zh-TW" altLang="en-US" dirty="0"/>
              <a:t>：</a:t>
            </a:r>
            <a:r>
              <a:rPr lang="en-US" altLang="zh-TW" dirty="0"/>
              <a:t>algorithm done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r>
              <a:rPr lang="en-US" altLang="zh-TW" i="1" dirty="0"/>
              <a:t>key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&lt;</a:t>
            </a:r>
            <a:r>
              <a:rPr lang="en-US" altLang="zh-TW" dirty="0"/>
              <a:t>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m</a:t>
            </a:r>
            <a:r>
              <a:rPr lang="en-US" altLang="zh-TW" dirty="0"/>
              <a:t>]</a:t>
            </a:r>
            <a:r>
              <a:rPr lang="zh-TW" altLang="en-US" dirty="0"/>
              <a:t>：</a:t>
            </a:r>
            <a:r>
              <a:rPr lang="en-US" altLang="zh-TW" dirty="0"/>
              <a:t>key </a:t>
            </a:r>
            <a:r>
              <a:rPr lang="en-US" altLang="zh-TW" i="1" dirty="0"/>
              <a:t>x</a:t>
            </a:r>
            <a:r>
              <a:rPr lang="en-US" altLang="zh-TW" dirty="0"/>
              <a:t> must be in the </a:t>
            </a:r>
            <a:r>
              <a:rPr lang="en-US" altLang="zh-TW" dirty="0">
                <a:solidFill>
                  <a:srgbClr val="C00000"/>
                </a:solidFill>
              </a:rPr>
              <a:t>first half </a:t>
            </a:r>
            <a:r>
              <a:rPr lang="en-US" altLang="zh-TW" dirty="0"/>
              <a:t>of the array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l</a:t>
            </a:r>
            <a:r>
              <a:rPr lang="en-US" altLang="zh-TW" dirty="0"/>
              <a:t>] ~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m</a:t>
            </a:r>
            <a:r>
              <a:rPr lang="en-US" altLang="zh-TW" dirty="0"/>
              <a:t> – 1])</a:t>
            </a:r>
          </a:p>
          <a:p>
            <a:pPr lvl="1"/>
            <a:r>
              <a:rPr lang="en-US" altLang="zh-TW" i="1" dirty="0"/>
              <a:t>key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&gt;</a:t>
            </a:r>
            <a:r>
              <a:rPr lang="en-US" altLang="zh-TW" dirty="0"/>
              <a:t>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m</a:t>
            </a:r>
            <a:r>
              <a:rPr lang="en-US" altLang="zh-TW" dirty="0"/>
              <a:t>]</a:t>
            </a:r>
            <a:r>
              <a:rPr lang="zh-TW" altLang="en-US" dirty="0"/>
              <a:t>：</a:t>
            </a:r>
            <a:r>
              <a:rPr lang="en-US" altLang="zh-TW" dirty="0"/>
              <a:t>key</a:t>
            </a:r>
            <a:r>
              <a:rPr lang="en-US" altLang="zh-TW" i="1" dirty="0"/>
              <a:t> x</a:t>
            </a:r>
            <a:r>
              <a:rPr lang="en-US" altLang="zh-TW" dirty="0"/>
              <a:t> must be in the </a:t>
            </a:r>
            <a:r>
              <a:rPr lang="en-US" altLang="zh-TW" dirty="0">
                <a:solidFill>
                  <a:srgbClr val="C00000"/>
                </a:solidFill>
              </a:rPr>
              <a:t>second half </a:t>
            </a:r>
            <a:r>
              <a:rPr lang="en-US" altLang="zh-TW" dirty="0"/>
              <a:t>of the array (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m</a:t>
            </a:r>
            <a:r>
              <a:rPr lang="en-US" altLang="zh-TW" dirty="0"/>
              <a:t> + 1] ~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r</a:t>
            </a:r>
            <a:r>
              <a:rPr lang="en-US" altLang="zh-TW" dirty="0"/>
              <a:t>])</a:t>
            </a:r>
          </a:p>
          <a:p>
            <a:pPr lvl="1"/>
            <a:r>
              <a:rPr lang="en-US" altLang="zh-TW" i="1" dirty="0"/>
              <a:t>key</a:t>
            </a:r>
            <a:r>
              <a:rPr lang="en-US" altLang="zh-TW" dirty="0"/>
              <a:t> = </a:t>
            </a:r>
            <a:r>
              <a:rPr lang="en-US" altLang="zh-TW" dirty="0">
                <a:solidFill>
                  <a:srgbClr val="C00000"/>
                </a:solidFill>
              </a:rPr>
              <a:t>78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44" name="表格 43"/>
          <p:cNvGraphicFramePr>
            <a:graphicFrameLocks noGrp="1"/>
          </p:cNvGraphicFramePr>
          <p:nvPr/>
        </p:nvGraphicFramePr>
        <p:xfrm>
          <a:off x="1489498" y="4018830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" name="文字方塊 44"/>
          <p:cNvSpPr txBox="1"/>
          <p:nvPr/>
        </p:nvSpPr>
        <p:spPr>
          <a:xfrm>
            <a:off x="1552756" y="3613886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2161847" y="3613886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2770939" y="361430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3380030" y="361430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3998002" y="3614728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4607093" y="3614728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5216185" y="3615149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5825276" y="3615149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6431569" y="3613886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7040660" y="3613886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5" name="表格 54"/>
              <p:cNvGraphicFramePr>
                <a:graphicFrameLocks noGrp="1"/>
              </p:cNvGraphicFramePr>
              <p:nvPr/>
            </p:nvGraphicFramePr>
            <p:xfrm>
              <a:off x="179512" y="4600657"/>
              <a:ext cx="8775447" cy="17236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92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2942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6874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i-</a:t>
                          </a:r>
                          <a:r>
                            <a:rPr lang="en-US" altLang="zh-TW" sz="2000" b="1" dirty="0" err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th</a:t>
                          </a:r>
                          <a:r>
                            <a:rPr lang="en-US" altLang="zh-TW" sz="20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compare</a:t>
                          </a:r>
                          <a:endParaRPr lang="zh-TW" altLang="en-US" sz="20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zh-TW" altLang="en-US" sz="20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𝒍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𝒓</m:t>
                                  </m:r>
                                </m:num>
                                <m:den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oMath>
                          </a14:m>
                          <a:endParaRPr lang="zh-TW" altLang="en-US" sz="20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zh-TW" altLang="en-US" sz="20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compare key with </a:t>
                          </a:r>
                          <a:r>
                            <a:rPr lang="en-US" altLang="zh-TW" sz="2000" b="1" i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US" altLang="zh-TW" sz="20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lang="en-US" altLang="zh-TW" sz="2000" b="1" i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altLang="zh-TW" sz="20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]</a:t>
                          </a:r>
                          <a:endParaRPr lang="zh-TW" altLang="en-US" sz="20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new range</a:t>
                          </a:r>
                          <a:endParaRPr lang="zh-TW" altLang="en-US" sz="20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5" name="表格 5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7606996"/>
                  </p:ext>
                </p:extLst>
              </p:nvPr>
            </p:nvGraphicFramePr>
            <p:xfrm>
              <a:off x="179512" y="4600657"/>
              <a:ext cx="8775447" cy="17236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92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2942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6874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5349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i-</a:t>
                          </a:r>
                          <a:r>
                            <a:rPr lang="en-US" altLang="zh-TW" sz="2000" b="1" dirty="0" err="1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th</a:t>
                          </a:r>
                          <a:r>
                            <a:rPr lang="en-US" altLang="zh-TW" sz="2000" b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compare</a:t>
                          </a:r>
                          <a:endParaRPr lang="zh-TW" altLang="en-US" sz="20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zh-TW" altLang="en-US" sz="20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60479" t="-1136" r="-505389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zh-TW" altLang="en-US" sz="2000" b="1" i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compare key with </a:t>
                          </a:r>
                          <a:r>
                            <a:rPr lang="en-US" altLang="zh-TW" sz="2000" b="1" i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US" altLang="zh-TW" sz="2000" b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lang="en-US" altLang="zh-TW" sz="2000" b="1" i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altLang="zh-TW" sz="2000" b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]</a:t>
                          </a:r>
                          <a:endParaRPr lang="zh-TW" altLang="en-US" sz="20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new range</a:t>
                          </a:r>
                          <a:endParaRPr lang="zh-TW" altLang="en-US" sz="2000" b="1" dirty="0">
                            <a:solidFill>
                              <a:srgbClr val="0000FF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/>
              <p:cNvSpPr txBox="1"/>
              <p:nvPr/>
            </p:nvSpPr>
            <p:spPr>
              <a:xfrm>
                <a:off x="2917664" y="5097155"/>
                <a:ext cx="875560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𝟎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𝟗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𝟒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56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664" y="5097155"/>
                <a:ext cx="875560" cy="460062"/>
              </a:xfrm>
              <a:prstGeom prst="rect">
                <a:avLst/>
              </a:prstGeom>
              <a:blipFill rotWithShape="0"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字方塊 56"/>
          <p:cNvSpPr txBox="1"/>
          <p:nvPr/>
        </p:nvSpPr>
        <p:spPr>
          <a:xfrm>
            <a:off x="5376917" y="5127131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 &gt;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= 52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8092815" y="512713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右</a:t>
            </a:r>
          </a:p>
        </p:txBody>
      </p:sp>
      <p:sp>
        <p:nvSpPr>
          <p:cNvPr id="59" name="文字方塊 58"/>
          <p:cNvSpPr txBox="1"/>
          <p:nvPr/>
        </p:nvSpPr>
        <p:spPr>
          <a:xfrm>
            <a:off x="2152441" y="512713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4213808" y="512713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829432" y="512713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/>
              <p:cNvSpPr txBox="1"/>
              <p:nvPr/>
            </p:nvSpPr>
            <p:spPr>
              <a:xfrm>
                <a:off x="2917664" y="5505662"/>
                <a:ext cx="875561" cy="4646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𝟓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𝟗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𝟕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62" name="文字方塊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664" y="5505662"/>
                <a:ext cx="875561" cy="464614"/>
              </a:xfrm>
              <a:prstGeom prst="rect">
                <a:avLst/>
              </a:prstGeom>
              <a:blipFill rotWithShape="0"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文字方塊 62"/>
          <p:cNvSpPr txBox="1"/>
          <p:nvPr/>
        </p:nvSpPr>
        <p:spPr>
          <a:xfrm>
            <a:off x="5376917" y="5535638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 &gt;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= 77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8092815" y="553563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右</a:t>
            </a:r>
          </a:p>
        </p:txBody>
      </p:sp>
      <p:sp>
        <p:nvSpPr>
          <p:cNvPr id="65" name="文字方塊 64"/>
          <p:cNvSpPr txBox="1"/>
          <p:nvPr/>
        </p:nvSpPr>
        <p:spPr>
          <a:xfrm>
            <a:off x="2152441" y="553563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4213808" y="553563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829432" y="553563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/>
              <p:cNvSpPr txBox="1"/>
              <p:nvPr/>
            </p:nvSpPr>
            <p:spPr>
              <a:xfrm>
                <a:off x="2915816" y="5908416"/>
                <a:ext cx="875560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𝟖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𝟗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𝟖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68" name="文字方塊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5908416"/>
                <a:ext cx="875560" cy="460062"/>
              </a:xfrm>
              <a:prstGeom prst="rect">
                <a:avLst/>
              </a:prstGeom>
              <a:blipFill rotWithShape="0"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文字方塊 68"/>
          <p:cNvSpPr txBox="1"/>
          <p:nvPr/>
        </p:nvSpPr>
        <p:spPr>
          <a:xfrm>
            <a:off x="5375069" y="5938392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= 78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7978829" y="593839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成功</a:t>
            </a:r>
          </a:p>
        </p:txBody>
      </p:sp>
      <p:sp>
        <p:nvSpPr>
          <p:cNvPr id="71" name="文字方塊 70"/>
          <p:cNvSpPr txBox="1"/>
          <p:nvPr/>
        </p:nvSpPr>
        <p:spPr>
          <a:xfrm>
            <a:off x="2150593" y="593839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4211960" y="593839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827584" y="593839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502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Number of Comparisons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If the array </a:t>
            </a:r>
            <a:r>
              <a:rPr lang="en-US" altLang="zh-TW" i="1" dirty="0"/>
              <a:t>S</a:t>
            </a:r>
            <a:r>
              <a:rPr lang="en-US" altLang="zh-TW" dirty="0"/>
              <a:t> contains 32 items and </a:t>
            </a:r>
            <a:r>
              <a:rPr lang="en-US" altLang="zh-TW" i="1" dirty="0"/>
              <a:t>x</a:t>
            </a:r>
            <a:r>
              <a:rPr lang="en-US" altLang="zh-TW" dirty="0"/>
              <a:t> is </a:t>
            </a:r>
            <a:r>
              <a:rPr lang="en-US" altLang="zh-TW" i="1" dirty="0">
                <a:solidFill>
                  <a:srgbClr val="C00000"/>
                </a:solidFill>
              </a:rPr>
              <a:t>not</a:t>
            </a:r>
            <a:r>
              <a:rPr lang="en-US" altLang="zh-TW" dirty="0"/>
              <a:t> in the array.</a:t>
            </a:r>
          </a:p>
          <a:p>
            <a:pPr lvl="1"/>
            <a:r>
              <a:rPr lang="en-US" altLang="zh-TW" dirty="0"/>
              <a:t>sequential search: 32</a:t>
            </a:r>
            <a:r>
              <a:rPr lang="zh-TW" altLang="en-US" dirty="0"/>
              <a:t> </a:t>
            </a:r>
            <a:r>
              <a:rPr lang="en-US" altLang="zh-TW" dirty="0"/>
              <a:t>times</a:t>
            </a:r>
          </a:p>
          <a:p>
            <a:pPr lvl="1"/>
            <a:r>
              <a:rPr lang="en-US" altLang="zh-TW" dirty="0"/>
              <a:t>binary search: 6</a:t>
            </a:r>
            <a:r>
              <a:rPr lang="zh-TW" altLang="en-US" dirty="0"/>
              <a:t> </a:t>
            </a:r>
            <a:r>
              <a:rPr lang="en-US" altLang="zh-TW" dirty="0"/>
              <a:t>times (</a:t>
            </a:r>
            <a:r>
              <a:rPr lang="en-US" altLang="zh-TW" dirty="0" err="1"/>
              <a:t>lg</a:t>
            </a:r>
            <a:r>
              <a:rPr lang="en-US" altLang="zh-TW" dirty="0"/>
              <a:t> 32 + 1)</a:t>
            </a:r>
          </a:p>
          <a:p>
            <a:endParaRPr lang="en-US" altLang="zh-TW" dirty="0"/>
          </a:p>
          <a:p>
            <a:r>
              <a:rPr lang="en-US" altLang="zh-TW" dirty="0"/>
              <a:t>If the array </a:t>
            </a:r>
            <a:r>
              <a:rPr lang="en-US" altLang="zh-TW" i="1" dirty="0"/>
              <a:t>S</a:t>
            </a:r>
            <a:r>
              <a:rPr lang="en-US" altLang="zh-TW" dirty="0"/>
              <a:t> contains 32 items and </a:t>
            </a:r>
            <a:r>
              <a:rPr lang="en-US" altLang="zh-TW" i="1" dirty="0"/>
              <a:t>x</a:t>
            </a:r>
            <a:r>
              <a:rPr lang="en-US" altLang="zh-TW" dirty="0"/>
              <a:t> is in the array.</a:t>
            </a:r>
          </a:p>
          <a:p>
            <a:pPr lvl="1"/>
            <a:r>
              <a:rPr lang="en-US" altLang="zh-TW" dirty="0"/>
              <a:t>sequential search: no more than 32</a:t>
            </a:r>
            <a:r>
              <a:rPr lang="zh-TW" altLang="en-US" dirty="0"/>
              <a:t> </a:t>
            </a:r>
            <a:r>
              <a:rPr lang="en-US" altLang="zh-TW" dirty="0"/>
              <a:t>times</a:t>
            </a:r>
          </a:p>
          <a:p>
            <a:pPr lvl="1"/>
            <a:r>
              <a:rPr lang="en-US" altLang="zh-TW" dirty="0"/>
              <a:t>binary search: no more than 6</a:t>
            </a:r>
            <a:r>
              <a:rPr lang="zh-TW" altLang="en-US" dirty="0"/>
              <a:t> </a:t>
            </a:r>
            <a:r>
              <a:rPr lang="en-US" altLang="zh-TW" dirty="0"/>
              <a:t>times (</a:t>
            </a:r>
            <a:r>
              <a:rPr lang="en-US" altLang="zh-TW" dirty="0" err="1"/>
              <a:t>lg</a:t>
            </a:r>
            <a:r>
              <a:rPr lang="en-US" altLang="zh-TW" dirty="0"/>
              <a:t> 32 + 1)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10692" y="4149080"/>
          <a:ext cx="7875016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0000FF"/>
                          </a:solidFill>
                        </a:rPr>
                        <a:t>Array Size</a:t>
                      </a:r>
                      <a:endParaRPr lang="zh-TW" altLang="en-US" sz="20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0000FF"/>
                          </a:solidFill>
                        </a:rPr>
                        <a:t>Number of Comparisons</a:t>
                      </a:r>
                    </a:p>
                    <a:p>
                      <a:pPr algn="ctr"/>
                      <a:r>
                        <a:rPr lang="en-US" altLang="zh-TW" sz="2000" b="1" dirty="0">
                          <a:solidFill>
                            <a:srgbClr val="0000FF"/>
                          </a:solidFill>
                        </a:rPr>
                        <a:t>by Sequential Search</a:t>
                      </a:r>
                      <a:endParaRPr lang="zh-TW" altLang="en-US" sz="20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0000FF"/>
                          </a:solidFill>
                        </a:rPr>
                        <a:t>Number of Comparisons</a:t>
                      </a:r>
                    </a:p>
                    <a:p>
                      <a:pPr algn="ctr"/>
                      <a:r>
                        <a:rPr lang="en-US" altLang="zh-TW" sz="2000" b="1" dirty="0">
                          <a:solidFill>
                            <a:srgbClr val="0000FF"/>
                          </a:solidFill>
                        </a:rPr>
                        <a:t>by Binary Search</a:t>
                      </a:r>
                      <a:endParaRPr lang="zh-TW" altLang="en-US" sz="20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/>
                        <a:t>128</a:t>
                      </a:r>
                      <a:endParaRPr lang="zh-TW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/>
                        <a:t>128</a:t>
                      </a:r>
                      <a:endParaRPr lang="zh-TW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/>
                        <a:t>8</a:t>
                      </a:r>
                      <a:endParaRPr lang="zh-TW" alt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/>
                        <a:t>1,024</a:t>
                      </a:r>
                      <a:endParaRPr lang="zh-TW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/>
                        <a:t>1,024</a:t>
                      </a:r>
                      <a:endParaRPr lang="zh-TW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/>
                        <a:t>11</a:t>
                      </a:r>
                      <a:endParaRPr lang="zh-TW" alt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/>
                        <a:t>1,048,576</a:t>
                      </a:r>
                      <a:endParaRPr lang="zh-TW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/>
                        <a:t>1,048,576</a:t>
                      </a:r>
                      <a:endParaRPr lang="zh-TW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/>
                        <a:t>21</a:t>
                      </a:r>
                      <a:endParaRPr lang="zh-TW" alt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/>
                        <a:t>4,294,967,296</a:t>
                      </a:r>
                      <a:endParaRPr lang="zh-TW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/>
                        <a:t>4,294,967,296</a:t>
                      </a:r>
                      <a:endParaRPr lang="zh-TW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/>
                        <a:t>33</a:t>
                      </a:r>
                      <a:endParaRPr lang="zh-TW" alt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9511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Fibonacci Sequence</a:t>
            </a:r>
            <a:r>
              <a:rPr lang="zh-TW" altLang="en-US" dirty="0"/>
              <a:t> </a:t>
            </a:r>
            <a:r>
              <a:rPr lang="en-US" altLang="zh-TW" dirty="0"/>
              <a:t>(1/4)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0, 1, 1, 2, 3, 5, 8, 13, 21, 34,…</a:t>
            </a:r>
            <a:endParaRPr lang="zh-TW" altLang="en-US" dirty="0"/>
          </a:p>
          <a:p>
            <a:r>
              <a:rPr lang="en-US" altLang="zh-TW" dirty="0"/>
              <a:t>compute the </a:t>
            </a:r>
            <a:r>
              <a:rPr lang="en-US" altLang="zh-TW" i="1" dirty="0"/>
              <a:t>n</a:t>
            </a:r>
            <a:r>
              <a:rPr lang="en-US" altLang="zh-TW" dirty="0"/>
              <a:t>th term of the Fibonacci sequence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98507" y="2020338"/>
                <a:ext cx="4764125" cy="9766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b="0" i="0" smtClean="0">
                          <a:latin typeface="Cambria Math"/>
                        </a:rPr>
                        <m:t>Fib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0,                                   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latin typeface="Cambria Math"/>
                                </a:rPr>
                                <m:t>if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=0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1, 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latin typeface="Cambria Math"/>
                                </a:rPr>
                                <m:t>                                  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latin typeface="Cambria Math"/>
                                </a:rPr>
                                <m:t>if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=1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latin typeface="Cambria Math"/>
                                </a:rPr>
                                <m:t>Fib</m:t>
                              </m:r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latin typeface="Cambria Math"/>
                                </a:rPr>
                                <m:t>Fib</m:t>
                              </m:r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−2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latin typeface="Cambria Math"/>
                                </a:rPr>
                                <m:t>if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 ≥2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07" y="2020338"/>
                <a:ext cx="4764125" cy="97661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橢圓 7"/>
          <p:cNvSpPr/>
          <p:nvPr/>
        </p:nvSpPr>
        <p:spPr>
          <a:xfrm>
            <a:off x="6252233" y="2447291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F(5)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4618961" y="3282861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F(4)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3667179" y="4166816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F(3)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2965564" y="4983452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F(2)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4366213" y="4983452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F(1)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3272358" y="5810405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F(0)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2646098" y="5810405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F(1)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線接點 14"/>
          <p:cNvCxnSpPr>
            <a:stCxn id="11" idx="4"/>
            <a:endCxn id="14" idx="0"/>
          </p:cNvCxnSpPr>
          <p:nvPr/>
        </p:nvCxnSpPr>
        <p:spPr>
          <a:xfrm flipH="1">
            <a:off x="2916098" y="5523452"/>
            <a:ext cx="319466" cy="286953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>
            <a:stCxn id="11" idx="4"/>
            <a:endCxn id="13" idx="0"/>
          </p:cNvCxnSpPr>
          <p:nvPr/>
        </p:nvCxnSpPr>
        <p:spPr>
          <a:xfrm>
            <a:off x="3235564" y="5523452"/>
            <a:ext cx="306794" cy="286953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0" idx="4"/>
            <a:endCxn id="11" idx="0"/>
          </p:cNvCxnSpPr>
          <p:nvPr/>
        </p:nvCxnSpPr>
        <p:spPr>
          <a:xfrm flipH="1">
            <a:off x="3235564" y="4706816"/>
            <a:ext cx="701615" cy="276636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2" idx="0"/>
            <a:endCxn id="10" idx="4"/>
          </p:cNvCxnSpPr>
          <p:nvPr/>
        </p:nvCxnSpPr>
        <p:spPr>
          <a:xfrm flipH="1" flipV="1">
            <a:off x="3937179" y="4706816"/>
            <a:ext cx="699034" cy="276636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橢圓 18"/>
          <p:cNvSpPr/>
          <p:nvPr/>
        </p:nvSpPr>
        <p:spPr>
          <a:xfrm>
            <a:off x="5511238" y="4166816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F(2)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5818032" y="4993769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F(0)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5191772" y="4993769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F(1)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線接點 21"/>
          <p:cNvCxnSpPr>
            <a:stCxn id="19" idx="4"/>
            <a:endCxn id="21" idx="0"/>
          </p:cNvCxnSpPr>
          <p:nvPr/>
        </p:nvCxnSpPr>
        <p:spPr>
          <a:xfrm flipH="1">
            <a:off x="5461772" y="4706816"/>
            <a:ext cx="319466" cy="286953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9" idx="4"/>
            <a:endCxn id="20" idx="0"/>
          </p:cNvCxnSpPr>
          <p:nvPr/>
        </p:nvCxnSpPr>
        <p:spPr>
          <a:xfrm>
            <a:off x="5781238" y="4706816"/>
            <a:ext cx="306794" cy="286953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9" idx="4"/>
            <a:endCxn id="10" idx="0"/>
          </p:cNvCxnSpPr>
          <p:nvPr/>
        </p:nvCxnSpPr>
        <p:spPr>
          <a:xfrm flipH="1">
            <a:off x="3937179" y="3822861"/>
            <a:ext cx="951782" cy="343955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9" idx="4"/>
            <a:endCxn id="19" idx="0"/>
          </p:cNvCxnSpPr>
          <p:nvPr/>
        </p:nvCxnSpPr>
        <p:spPr>
          <a:xfrm>
            <a:off x="4888961" y="3822861"/>
            <a:ext cx="892277" cy="343955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7740947" y="3346715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F(3)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7039332" y="4163351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F(2)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8439981" y="4163351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F(1)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橢圓 28"/>
          <p:cNvSpPr/>
          <p:nvPr/>
        </p:nvSpPr>
        <p:spPr>
          <a:xfrm>
            <a:off x="7346126" y="4990304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F(0)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6719866" y="4990304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F(1)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直線接點 30"/>
          <p:cNvCxnSpPr>
            <a:stCxn id="27" idx="4"/>
            <a:endCxn id="30" idx="0"/>
          </p:cNvCxnSpPr>
          <p:nvPr/>
        </p:nvCxnSpPr>
        <p:spPr>
          <a:xfrm flipH="1">
            <a:off x="6989866" y="4703351"/>
            <a:ext cx="319466" cy="286953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>
            <a:stCxn id="27" idx="4"/>
            <a:endCxn id="29" idx="0"/>
          </p:cNvCxnSpPr>
          <p:nvPr/>
        </p:nvCxnSpPr>
        <p:spPr>
          <a:xfrm>
            <a:off x="7309332" y="4703351"/>
            <a:ext cx="306794" cy="286953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26" idx="4"/>
            <a:endCxn id="27" idx="0"/>
          </p:cNvCxnSpPr>
          <p:nvPr/>
        </p:nvCxnSpPr>
        <p:spPr>
          <a:xfrm flipH="1">
            <a:off x="7309332" y="3886715"/>
            <a:ext cx="701615" cy="276636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>
            <a:stCxn id="28" idx="0"/>
            <a:endCxn id="26" idx="4"/>
          </p:cNvCxnSpPr>
          <p:nvPr/>
        </p:nvCxnSpPr>
        <p:spPr>
          <a:xfrm flipH="1" flipV="1">
            <a:off x="8010947" y="3886715"/>
            <a:ext cx="699034" cy="276636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>
            <a:stCxn id="8" idx="4"/>
            <a:endCxn id="26" idx="0"/>
          </p:cNvCxnSpPr>
          <p:nvPr/>
        </p:nvCxnSpPr>
        <p:spPr>
          <a:xfrm>
            <a:off x="6522233" y="2987291"/>
            <a:ext cx="1488714" cy="359424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stCxn id="8" idx="4"/>
            <a:endCxn id="9" idx="0"/>
          </p:cNvCxnSpPr>
          <p:nvPr/>
        </p:nvCxnSpPr>
        <p:spPr>
          <a:xfrm flipH="1">
            <a:off x="4888961" y="2987291"/>
            <a:ext cx="1633272" cy="295570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圓角矩形 36"/>
          <p:cNvSpPr/>
          <p:nvPr/>
        </p:nvSpPr>
        <p:spPr>
          <a:xfrm>
            <a:off x="2544150" y="4894273"/>
            <a:ext cx="1358526" cy="153672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圓角矩形 37"/>
          <p:cNvSpPr/>
          <p:nvPr/>
        </p:nvSpPr>
        <p:spPr>
          <a:xfrm>
            <a:off x="5101975" y="4093233"/>
            <a:ext cx="1358526" cy="153672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圓角矩形 38"/>
          <p:cNvSpPr/>
          <p:nvPr/>
        </p:nvSpPr>
        <p:spPr>
          <a:xfrm>
            <a:off x="6626672" y="4081842"/>
            <a:ext cx="1358526" cy="153672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0" name="直線接點 39"/>
          <p:cNvCxnSpPr>
            <a:endCxn id="8" idx="0"/>
          </p:cNvCxnSpPr>
          <p:nvPr/>
        </p:nvCxnSpPr>
        <p:spPr>
          <a:xfrm>
            <a:off x="6522233" y="2078642"/>
            <a:ext cx="0" cy="368649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群組 40"/>
          <p:cNvGrpSpPr/>
          <p:nvPr/>
        </p:nvGrpSpPr>
        <p:grpSpPr>
          <a:xfrm>
            <a:off x="6464422" y="2821740"/>
            <a:ext cx="1488714" cy="524975"/>
            <a:chOff x="5317727" y="2135942"/>
            <a:chExt cx="1488714" cy="524975"/>
          </a:xfrm>
        </p:grpSpPr>
        <p:sp>
          <p:nvSpPr>
            <p:cNvPr id="42" name="文字方塊 41"/>
            <p:cNvSpPr txBox="1"/>
            <p:nvPr/>
          </p:nvSpPr>
          <p:spPr>
            <a:xfrm>
              <a:off x="5952172" y="213594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3" name="直線接點 42"/>
            <p:cNvCxnSpPr>
              <a:stCxn id="26" idx="0"/>
              <a:endCxn id="8" idx="4"/>
            </p:cNvCxnSpPr>
            <p:nvPr/>
          </p:nvCxnSpPr>
          <p:spPr>
            <a:xfrm flipH="1" flipV="1">
              <a:off x="5317727" y="2301493"/>
              <a:ext cx="1488714" cy="359424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群組 43"/>
          <p:cNvGrpSpPr/>
          <p:nvPr/>
        </p:nvGrpSpPr>
        <p:grpSpPr>
          <a:xfrm>
            <a:off x="2821436" y="5376844"/>
            <a:ext cx="356317" cy="433561"/>
            <a:chOff x="1674741" y="4691046"/>
            <a:chExt cx="356317" cy="433561"/>
          </a:xfrm>
        </p:grpSpPr>
        <p:cxnSp>
          <p:nvCxnSpPr>
            <p:cNvPr id="45" name="直線接點 44"/>
            <p:cNvCxnSpPr>
              <a:stCxn id="14" idx="0"/>
              <a:endCxn id="11" idx="4"/>
            </p:cNvCxnSpPr>
            <p:nvPr/>
          </p:nvCxnSpPr>
          <p:spPr>
            <a:xfrm flipV="1">
              <a:off x="1711592" y="4837654"/>
              <a:ext cx="319466" cy="286953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字方塊 45"/>
            <p:cNvSpPr txBox="1"/>
            <p:nvPr/>
          </p:nvSpPr>
          <p:spPr>
            <a:xfrm>
              <a:off x="1674741" y="469104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3177753" y="5376844"/>
            <a:ext cx="460676" cy="433561"/>
            <a:chOff x="2031058" y="4691046"/>
            <a:chExt cx="460676" cy="433561"/>
          </a:xfrm>
        </p:grpSpPr>
        <p:cxnSp>
          <p:nvCxnSpPr>
            <p:cNvPr id="48" name="直線接點 47"/>
            <p:cNvCxnSpPr>
              <a:stCxn id="13" idx="0"/>
              <a:endCxn id="11" idx="4"/>
            </p:cNvCxnSpPr>
            <p:nvPr/>
          </p:nvCxnSpPr>
          <p:spPr>
            <a:xfrm flipH="1" flipV="1">
              <a:off x="2031058" y="4837654"/>
              <a:ext cx="306794" cy="286953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字方塊 48"/>
            <p:cNvSpPr txBox="1"/>
            <p:nvPr/>
          </p:nvSpPr>
          <p:spPr>
            <a:xfrm>
              <a:off x="2178828" y="469104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3177753" y="4520041"/>
            <a:ext cx="701615" cy="463411"/>
            <a:chOff x="2031058" y="3834243"/>
            <a:chExt cx="701615" cy="463411"/>
          </a:xfrm>
        </p:grpSpPr>
        <p:cxnSp>
          <p:nvCxnSpPr>
            <p:cNvPr id="51" name="直線接點 50"/>
            <p:cNvCxnSpPr>
              <a:stCxn id="11" idx="0"/>
              <a:endCxn id="10" idx="4"/>
            </p:cNvCxnSpPr>
            <p:nvPr/>
          </p:nvCxnSpPr>
          <p:spPr>
            <a:xfrm flipV="1">
              <a:off x="2031058" y="4021018"/>
              <a:ext cx="701615" cy="276636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字方塊 51"/>
            <p:cNvSpPr txBox="1"/>
            <p:nvPr/>
          </p:nvSpPr>
          <p:spPr>
            <a:xfrm>
              <a:off x="2213332" y="383424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3879368" y="4529174"/>
            <a:ext cx="699034" cy="454278"/>
            <a:chOff x="2732673" y="3843376"/>
            <a:chExt cx="699034" cy="454278"/>
          </a:xfrm>
        </p:grpSpPr>
        <p:cxnSp>
          <p:nvCxnSpPr>
            <p:cNvPr id="54" name="直線接點 53"/>
            <p:cNvCxnSpPr>
              <a:stCxn id="12" idx="0"/>
              <a:endCxn id="10" idx="4"/>
            </p:cNvCxnSpPr>
            <p:nvPr/>
          </p:nvCxnSpPr>
          <p:spPr>
            <a:xfrm flipH="1" flipV="1">
              <a:off x="2732673" y="4021018"/>
              <a:ext cx="699034" cy="276636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字方塊 54"/>
            <p:cNvSpPr txBox="1"/>
            <p:nvPr/>
          </p:nvSpPr>
          <p:spPr>
            <a:xfrm>
              <a:off x="3030137" y="384337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3879368" y="3668053"/>
            <a:ext cx="951782" cy="498763"/>
            <a:chOff x="2732673" y="2982255"/>
            <a:chExt cx="951782" cy="498763"/>
          </a:xfrm>
        </p:grpSpPr>
        <p:cxnSp>
          <p:nvCxnSpPr>
            <p:cNvPr id="57" name="直線接點 56"/>
            <p:cNvCxnSpPr>
              <a:stCxn id="10" idx="0"/>
              <a:endCxn id="9" idx="4"/>
            </p:cNvCxnSpPr>
            <p:nvPr/>
          </p:nvCxnSpPr>
          <p:spPr>
            <a:xfrm flipV="1">
              <a:off x="2732673" y="3137063"/>
              <a:ext cx="951782" cy="343955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字方塊 57"/>
            <p:cNvSpPr txBox="1"/>
            <p:nvPr/>
          </p:nvSpPr>
          <p:spPr>
            <a:xfrm>
              <a:off x="3064641" y="298225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5374327" y="4566090"/>
            <a:ext cx="349100" cy="427679"/>
            <a:chOff x="4227632" y="3880292"/>
            <a:chExt cx="349100" cy="427679"/>
          </a:xfrm>
        </p:grpSpPr>
        <p:cxnSp>
          <p:nvCxnSpPr>
            <p:cNvPr id="60" name="直線接點 59"/>
            <p:cNvCxnSpPr>
              <a:stCxn id="21" idx="0"/>
              <a:endCxn id="19" idx="4"/>
            </p:cNvCxnSpPr>
            <p:nvPr/>
          </p:nvCxnSpPr>
          <p:spPr>
            <a:xfrm flipV="1">
              <a:off x="4257266" y="4021018"/>
              <a:ext cx="319466" cy="286953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字方塊 60"/>
            <p:cNvSpPr txBox="1"/>
            <p:nvPr/>
          </p:nvSpPr>
          <p:spPr>
            <a:xfrm>
              <a:off x="4227632" y="388029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2" name="群組 61"/>
          <p:cNvGrpSpPr/>
          <p:nvPr/>
        </p:nvGrpSpPr>
        <p:grpSpPr>
          <a:xfrm>
            <a:off x="5723427" y="4566090"/>
            <a:ext cx="458386" cy="427679"/>
            <a:chOff x="4576732" y="3880292"/>
            <a:chExt cx="458386" cy="427679"/>
          </a:xfrm>
        </p:grpSpPr>
        <p:cxnSp>
          <p:nvCxnSpPr>
            <p:cNvPr id="63" name="直線接點 62"/>
            <p:cNvCxnSpPr>
              <a:stCxn id="20" idx="0"/>
              <a:endCxn id="19" idx="4"/>
            </p:cNvCxnSpPr>
            <p:nvPr/>
          </p:nvCxnSpPr>
          <p:spPr>
            <a:xfrm flipH="1" flipV="1">
              <a:off x="4576732" y="4021018"/>
              <a:ext cx="306794" cy="286953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文字方塊 63"/>
            <p:cNvSpPr txBox="1"/>
            <p:nvPr/>
          </p:nvSpPr>
          <p:spPr>
            <a:xfrm>
              <a:off x="4722212" y="388029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5" name="群組 64"/>
          <p:cNvGrpSpPr/>
          <p:nvPr/>
        </p:nvGrpSpPr>
        <p:grpSpPr>
          <a:xfrm>
            <a:off x="4831150" y="3668053"/>
            <a:ext cx="892277" cy="498763"/>
            <a:chOff x="3684455" y="2982255"/>
            <a:chExt cx="892277" cy="498763"/>
          </a:xfrm>
        </p:grpSpPr>
        <p:cxnSp>
          <p:nvCxnSpPr>
            <p:cNvPr id="66" name="直線接點 65"/>
            <p:cNvCxnSpPr>
              <a:stCxn id="19" idx="0"/>
              <a:endCxn id="9" idx="4"/>
            </p:cNvCxnSpPr>
            <p:nvPr/>
          </p:nvCxnSpPr>
          <p:spPr>
            <a:xfrm flipH="1" flipV="1">
              <a:off x="3684455" y="3137063"/>
              <a:ext cx="892277" cy="343955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文字方塊 66"/>
            <p:cNvSpPr txBox="1"/>
            <p:nvPr/>
          </p:nvSpPr>
          <p:spPr>
            <a:xfrm>
              <a:off x="4158624" y="298225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8" name="群組 67"/>
          <p:cNvGrpSpPr/>
          <p:nvPr/>
        </p:nvGrpSpPr>
        <p:grpSpPr>
          <a:xfrm>
            <a:off x="4831150" y="2787236"/>
            <a:ext cx="1633272" cy="495625"/>
            <a:chOff x="3684455" y="2101438"/>
            <a:chExt cx="1633272" cy="495625"/>
          </a:xfrm>
        </p:grpSpPr>
        <p:cxnSp>
          <p:nvCxnSpPr>
            <p:cNvPr id="69" name="直線接點 68"/>
            <p:cNvCxnSpPr>
              <a:stCxn id="9" idx="0"/>
              <a:endCxn id="8" idx="4"/>
            </p:cNvCxnSpPr>
            <p:nvPr/>
          </p:nvCxnSpPr>
          <p:spPr>
            <a:xfrm flipV="1">
              <a:off x="3684455" y="2301493"/>
              <a:ext cx="1633272" cy="295570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文字方塊 69"/>
            <p:cNvSpPr txBox="1"/>
            <p:nvPr/>
          </p:nvSpPr>
          <p:spPr>
            <a:xfrm>
              <a:off x="4353738" y="210143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1" name="群組 70"/>
          <p:cNvGrpSpPr/>
          <p:nvPr/>
        </p:nvGrpSpPr>
        <p:grpSpPr>
          <a:xfrm>
            <a:off x="6917383" y="4557464"/>
            <a:ext cx="334138" cy="432840"/>
            <a:chOff x="5770688" y="3871666"/>
            <a:chExt cx="334138" cy="432840"/>
          </a:xfrm>
        </p:grpSpPr>
        <p:cxnSp>
          <p:nvCxnSpPr>
            <p:cNvPr id="72" name="直線接點 71"/>
            <p:cNvCxnSpPr>
              <a:stCxn id="30" idx="0"/>
              <a:endCxn id="27" idx="4"/>
            </p:cNvCxnSpPr>
            <p:nvPr/>
          </p:nvCxnSpPr>
          <p:spPr>
            <a:xfrm flipV="1">
              <a:off x="5785360" y="4017553"/>
              <a:ext cx="319466" cy="286953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文字方塊 72"/>
            <p:cNvSpPr txBox="1"/>
            <p:nvPr/>
          </p:nvSpPr>
          <p:spPr>
            <a:xfrm>
              <a:off x="5770688" y="387166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4" name="群組 73"/>
          <p:cNvGrpSpPr/>
          <p:nvPr/>
        </p:nvGrpSpPr>
        <p:grpSpPr>
          <a:xfrm>
            <a:off x="7251521" y="4563678"/>
            <a:ext cx="441134" cy="426626"/>
            <a:chOff x="6104826" y="3877880"/>
            <a:chExt cx="441134" cy="426626"/>
          </a:xfrm>
        </p:grpSpPr>
        <p:cxnSp>
          <p:nvCxnSpPr>
            <p:cNvPr id="75" name="直線接點 74"/>
            <p:cNvCxnSpPr>
              <a:stCxn id="29" idx="0"/>
              <a:endCxn id="27" idx="4"/>
            </p:cNvCxnSpPr>
            <p:nvPr/>
          </p:nvCxnSpPr>
          <p:spPr>
            <a:xfrm flipH="1" flipV="1">
              <a:off x="6104826" y="4017553"/>
              <a:ext cx="306794" cy="286953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字方塊 75"/>
            <p:cNvSpPr txBox="1"/>
            <p:nvPr/>
          </p:nvSpPr>
          <p:spPr>
            <a:xfrm>
              <a:off x="6233054" y="387788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7" name="群組 76"/>
          <p:cNvGrpSpPr/>
          <p:nvPr/>
        </p:nvGrpSpPr>
        <p:grpSpPr>
          <a:xfrm>
            <a:off x="7251521" y="3710375"/>
            <a:ext cx="701615" cy="452976"/>
            <a:chOff x="6104826" y="3024577"/>
            <a:chExt cx="701615" cy="452976"/>
          </a:xfrm>
        </p:grpSpPr>
        <p:cxnSp>
          <p:nvCxnSpPr>
            <p:cNvPr id="78" name="直線接點 77"/>
            <p:cNvCxnSpPr>
              <a:stCxn id="27" idx="0"/>
              <a:endCxn id="26" idx="4"/>
            </p:cNvCxnSpPr>
            <p:nvPr/>
          </p:nvCxnSpPr>
          <p:spPr>
            <a:xfrm flipV="1">
              <a:off x="6104826" y="3200917"/>
              <a:ext cx="701615" cy="276636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字方塊 78"/>
            <p:cNvSpPr txBox="1"/>
            <p:nvPr/>
          </p:nvSpPr>
          <p:spPr>
            <a:xfrm>
              <a:off x="6290956" y="302457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0" name="群組 79"/>
          <p:cNvGrpSpPr/>
          <p:nvPr/>
        </p:nvGrpSpPr>
        <p:grpSpPr>
          <a:xfrm>
            <a:off x="7953136" y="3710375"/>
            <a:ext cx="699034" cy="452976"/>
            <a:chOff x="6806441" y="3024577"/>
            <a:chExt cx="699034" cy="452976"/>
          </a:xfrm>
        </p:grpSpPr>
        <p:cxnSp>
          <p:nvCxnSpPr>
            <p:cNvPr id="81" name="直線接點 80"/>
            <p:cNvCxnSpPr>
              <a:stCxn id="28" idx="0"/>
              <a:endCxn id="26" idx="4"/>
            </p:cNvCxnSpPr>
            <p:nvPr/>
          </p:nvCxnSpPr>
          <p:spPr>
            <a:xfrm flipH="1" flipV="1">
              <a:off x="6806441" y="3200917"/>
              <a:ext cx="699034" cy="276636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文字方塊 81"/>
            <p:cNvSpPr txBox="1"/>
            <p:nvPr/>
          </p:nvSpPr>
          <p:spPr>
            <a:xfrm>
              <a:off x="7117000" y="302457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3" name="群組 82"/>
          <p:cNvGrpSpPr/>
          <p:nvPr/>
        </p:nvGrpSpPr>
        <p:grpSpPr>
          <a:xfrm>
            <a:off x="6522233" y="2062911"/>
            <a:ext cx="312906" cy="400110"/>
            <a:chOff x="5375538" y="1377113"/>
            <a:chExt cx="312906" cy="400110"/>
          </a:xfrm>
        </p:grpSpPr>
        <p:cxnSp>
          <p:nvCxnSpPr>
            <p:cNvPr id="84" name="直線接點 83"/>
            <p:cNvCxnSpPr/>
            <p:nvPr/>
          </p:nvCxnSpPr>
          <p:spPr>
            <a:xfrm>
              <a:off x="5375538" y="1392844"/>
              <a:ext cx="0" cy="368649"/>
            </a:xfrm>
            <a:prstGeom prst="line">
              <a:avLst/>
            </a:prstGeom>
            <a:ln w="28575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字方塊 84"/>
            <p:cNvSpPr txBox="1"/>
            <p:nvPr/>
          </p:nvSpPr>
          <p:spPr>
            <a:xfrm>
              <a:off x="5375538" y="137711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6" name="圓角矩形 85"/>
          <p:cNvSpPr/>
          <p:nvPr/>
        </p:nvSpPr>
        <p:spPr>
          <a:xfrm>
            <a:off x="2483768" y="4101859"/>
            <a:ext cx="2484403" cy="2432648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圓角矩形 86"/>
          <p:cNvSpPr/>
          <p:nvPr/>
        </p:nvSpPr>
        <p:spPr>
          <a:xfrm>
            <a:off x="6566290" y="3289428"/>
            <a:ext cx="2484403" cy="2432648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89" name="表格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206834"/>
              </p:ext>
            </p:extLst>
          </p:nvPr>
        </p:nvGraphicFramePr>
        <p:xfrm>
          <a:off x="83840" y="3135076"/>
          <a:ext cx="2471936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solidFill>
                            <a:srgbClr val="0000FF"/>
                          </a:solidFill>
                        </a:rPr>
                        <a:t>n</a:t>
                      </a:r>
                      <a:endParaRPr lang="zh-TW" altLang="en-US" sz="2000" b="1" i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0000FF"/>
                          </a:solidFill>
                        </a:rPr>
                        <a:t>Number of Terms Computed</a:t>
                      </a:r>
                      <a:endParaRPr lang="zh-TW" altLang="en-US" sz="20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/>
                        <a:t>0</a:t>
                      </a:r>
                      <a:endParaRPr lang="zh-TW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/>
                        <a:t>1</a:t>
                      </a:r>
                      <a:endParaRPr lang="zh-TW" alt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/>
                        <a:t>1</a:t>
                      </a:r>
                      <a:endParaRPr lang="zh-TW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/>
                        <a:t>1</a:t>
                      </a:r>
                      <a:endParaRPr lang="zh-TW" alt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/>
                        <a:t>2</a:t>
                      </a:r>
                      <a:endParaRPr lang="zh-TW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/>
                        <a:t>3</a:t>
                      </a:r>
                      <a:endParaRPr lang="zh-TW" alt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/>
                        <a:t>3</a:t>
                      </a:r>
                      <a:endParaRPr lang="zh-TW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/>
                        <a:t>5</a:t>
                      </a:r>
                      <a:endParaRPr lang="zh-TW" alt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/>
                        <a:t>4</a:t>
                      </a:r>
                      <a:endParaRPr lang="zh-TW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/>
                        <a:t>9</a:t>
                      </a:r>
                      <a:endParaRPr lang="zh-TW" alt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/>
                        <a:t>5</a:t>
                      </a:r>
                      <a:endParaRPr lang="zh-TW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/>
                        <a:t>15</a:t>
                      </a:r>
                      <a:endParaRPr lang="zh-TW" alt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/>
                        <a:t>6</a:t>
                      </a:r>
                      <a:endParaRPr lang="zh-TW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/>
                        <a:t>25</a:t>
                      </a:r>
                      <a:endParaRPr lang="zh-TW" alt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9918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500"/>
                            </p:stCondLst>
                            <p:childTnLst>
                              <p:par>
                                <p:cTn id="1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500"/>
                            </p:stCondLst>
                            <p:childTnLst>
                              <p:par>
                                <p:cTn id="1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00"/>
                            </p:stCondLst>
                            <p:childTnLst>
                              <p:par>
                                <p:cTn id="19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500"/>
                            </p:stCondLst>
                            <p:childTnLst>
                              <p:par>
                                <p:cTn id="20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500"/>
                            </p:stCondLst>
                            <p:childTnLst>
                              <p:par>
                                <p:cTn id="2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500"/>
                            </p:stCondLst>
                            <p:childTnLst>
                              <p:par>
                                <p:cTn id="2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500"/>
                            </p:stCondLst>
                            <p:childTnLst>
                              <p:par>
                                <p:cTn id="2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500"/>
                            </p:stCondLst>
                            <p:childTnLst>
                              <p:par>
                                <p:cTn id="2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500"/>
                            </p:stCondLst>
                            <p:childTnLst>
                              <p:par>
                                <p:cTn id="2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9" grpId="0" animBg="1"/>
      <p:bldP spid="20" grpId="0" animBg="1"/>
      <p:bldP spid="21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7" grpId="0" animBg="1"/>
      <p:bldP spid="38" grpId="0" animBg="1"/>
      <p:bldP spid="39" grpId="0" animBg="1"/>
      <p:bldP spid="86" grpId="0" animBg="1"/>
      <p:bldP spid="8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Fibonacci Sequence</a:t>
            </a:r>
            <a:r>
              <a:rPr lang="zh-TW" altLang="en-US" dirty="0"/>
              <a:t> </a:t>
            </a:r>
            <a:r>
              <a:rPr lang="en-US" altLang="zh-TW" dirty="0"/>
              <a:t>(2/4)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</a:rPr>
              <a:t>Theorem 1.1:</a:t>
            </a:r>
            <a:r>
              <a:rPr lang="zh-TW" altLang="en-US" dirty="0"/>
              <a:t> </a:t>
            </a:r>
            <a:r>
              <a:rPr lang="en-US" altLang="zh-TW" dirty="0"/>
              <a:t>If </a:t>
            </a:r>
            <a:r>
              <a:rPr lang="en-US" altLang="zh-TW" i="1" dirty="0"/>
              <a:t>T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 is the number of terms in the recursion tree corresponding to Algorithm 1.6, then, for </a:t>
            </a:r>
            <a:r>
              <a:rPr lang="en-US" altLang="zh-TW" i="1" dirty="0"/>
              <a:t>n</a:t>
            </a:r>
            <a:r>
              <a:rPr lang="en-US" altLang="zh-TW" dirty="0"/>
              <a:t> </a:t>
            </a:r>
            <a:r>
              <a:rPr lang="en-US" altLang="zh-TW" dirty="0">
                <a:sym typeface="Symbol" panose="05050102010706020507" pitchFamily="18" charset="2"/>
              </a:rPr>
              <a:t> 2, </a:t>
            </a:r>
            <a:r>
              <a:rPr lang="en-US" altLang="zh-TW" i="1" dirty="0">
                <a:sym typeface="Symbol" panose="05050102010706020507" pitchFamily="18" charset="2"/>
              </a:rPr>
              <a:t>T</a:t>
            </a:r>
            <a:r>
              <a:rPr lang="en-US" altLang="zh-TW" dirty="0">
                <a:sym typeface="Symbol" panose="05050102010706020507" pitchFamily="18" charset="2"/>
              </a:rPr>
              <a:t>(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dirty="0">
                <a:sym typeface="Symbol" panose="05050102010706020507" pitchFamily="18" charset="2"/>
              </a:rPr>
              <a:t>) &gt; 2</a:t>
            </a:r>
            <a:r>
              <a:rPr lang="en-US" altLang="zh-TW" i="1" baseline="30000" dirty="0"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ym typeface="Symbol" panose="05050102010706020507" pitchFamily="18" charset="2"/>
              </a:rPr>
              <a:t>/2</a:t>
            </a:r>
            <a:r>
              <a:rPr lang="en-US" altLang="zh-TW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2639834" y="2825221"/>
            <a:ext cx="387638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T</a:t>
            </a:r>
            <a:r>
              <a:rPr lang="en-US" altLang="zh-TW" sz="2000" b="1" dirty="0">
                <a:latin typeface="+mj-lt"/>
              </a:rPr>
              <a:t>(</a:t>
            </a:r>
            <a:r>
              <a:rPr lang="en-US" altLang="zh-TW" sz="2000" b="1" i="1" dirty="0">
                <a:latin typeface="+mj-lt"/>
              </a:rPr>
              <a:t>n</a:t>
            </a:r>
            <a:r>
              <a:rPr lang="en-US" altLang="zh-TW" sz="2000" b="1" dirty="0">
                <a:latin typeface="+mj-lt"/>
              </a:rPr>
              <a:t>) = </a:t>
            </a:r>
            <a:r>
              <a:rPr lang="en-US" altLang="zh-TW" sz="2000" b="1" i="1" dirty="0">
                <a:latin typeface="+mj-lt"/>
              </a:rPr>
              <a:t>T</a:t>
            </a:r>
            <a:r>
              <a:rPr lang="en-US" altLang="zh-TW" sz="2000" b="1" dirty="0">
                <a:latin typeface="+mj-lt"/>
              </a:rPr>
              <a:t>(</a:t>
            </a:r>
            <a:r>
              <a:rPr lang="en-US" altLang="zh-TW" sz="2000" b="1" i="1" dirty="0">
                <a:latin typeface="+mj-lt"/>
              </a:rPr>
              <a:t>n</a:t>
            </a:r>
            <a:r>
              <a:rPr lang="en-US" altLang="zh-TW" sz="2000" b="1" dirty="0">
                <a:latin typeface="+mj-lt"/>
              </a:rPr>
              <a:t> – 1) + </a:t>
            </a:r>
            <a:r>
              <a:rPr lang="en-US" altLang="zh-TW" sz="2000" b="1" i="1" dirty="0">
                <a:latin typeface="+mj-lt"/>
              </a:rPr>
              <a:t>T</a:t>
            </a:r>
            <a:r>
              <a:rPr lang="en-US" altLang="zh-TW" sz="2000" b="1" dirty="0">
                <a:latin typeface="+mj-lt"/>
              </a:rPr>
              <a:t>(</a:t>
            </a:r>
            <a:r>
              <a:rPr lang="en-US" altLang="zh-TW" sz="2000" b="1" i="1" dirty="0">
                <a:latin typeface="+mj-lt"/>
              </a:rPr>
              <a:t>n</a:t>
            </a:r>
            <a:r>
              <a:rPr lang="en-US" altLang="zh-TW" sz="2000" b="1" dirty="0">
                <a:latin typeface="+mj-lt"/>
              </a:rPr>
              <a:t> – 2)</a:t>
            </a:r>
          </a:p>
          <a:p>
            <a:r>
              <a:rPr lang="en-US" altLang="zh-TW" sz="2000" b="1" dirty="0">
                <a:latin typeface="+mj-lt"/>
              </a:rPr>
              <a:t>        &gt; 2 </a:t>
            </a:r>
            <a:r>
              <a:rPr lang="en-US" altLang="zh-TW" sz="2000" b="1" dirty="0">
                <a:latin typeface="+mj-lt"/>
                <a:sym typeface="Symbol" panose="05050102010706020507" pitchFamily="18" charset="2"/>
              </a:rPr>
              <a:t> </a:t>
            </a:r>
            <a:r>
              <a:rPr lang="en-US" altLang="zh-TW" sz="2000" b="1" i="1" dirty="0">
                <a:latin typeface="+mj-lt"/>
                <a:sym typeface="Symbol" panose="05050102010706020507" pitchFamily="18" charset="2"/>
              </a:rPr>
              <a:t>T</a:t>
            </a:r>
            <a:r>
              <a:rPr lang="en-US" altLang="zh-TW" sz="2000" b="1" dirty="0">
                <a:latin typeface="+mj-lt"/>
                <a:sym typeface="Symbol" panose="05050102010706020507" pitchFamily="18" charset="2"/>
              </a:rPr>
              <a:t>(</a:t>
            </a:r>
            <a:r>
              <a:rPr lang="en-US" altLang="zh-TW" sz="2000" b="1" i="1" dirty="0">
                <a:latin typeface="+mj-lt"/>
                <a:sym typeface="Symbol" panose="05050102010706020507" pitchFamily="18" charset="2"/>
              </a:rPr>
              <a:t>n</a:t>
            </a:r>
            <a:r>
              <a:rPr lang="en-US" altLang="zh-TW" sz="2000" b="1" dirty="0">
                <a:latin typeface="+mj-lt"/>
                <a:sym typeface="Symbol" panose="05050102010706020507" pitchFamily="18" charset="2"/>
              </a:rPr>
              <a:t> – 2)</a:t>
            </a:r>
          </a:p>
          <a:p>
            <a:r>
              <a:rPr lang="en-US" altLang="zh-TW" sz="2000" b="1" dirty="0">
                <a:latin typeface="+mj-lt"/>
                <a:sym typeface="Symbol" panose="05050102010706020507" pitchFamily="18" charset="2"/>
              </a:rPr>
              <a:t>        &gt; 2  2  </a:t>
            </a:r>
            <a:r>
              <a:rPr lang="en-US" altLang="zh-TW" sz="2000" b="1" i="1" dirty="0">
                <a:latin typeface="+mj-lt"/>
                <a:sym typeface="Symbol" panose="05050102010706020507" pitchFamily="18" charset="2"/>
              </a:rPr>
              <a:t>T</a:t>
            </a:r>
            <a:r>
              <a:rPr lang="en-US" altLang="zh-TW" sz="2000" b="1" dirty="0">
                <a:latin typeface="+mj-lt"/>
                <a:sym typeface="Symbol" panose="05050102010706020507" pitchFamily="18" charset="2"/>
              </a:rPr>
              <a:t>(</a:t>
            </a:r>
            <a:r>
              <a:rPr lang="en-US" altLang="zh-TW" sz="2000" b="1" i="1" dirty="0">
                <a:latin typeface="+mj-lt"/>
                <a:sym typeface="Symbol" panose="05050102010706020507" pitchFamily="18" charset="2"/>
              </a:rPr>
              <a:t>n</a:t>
            </a:r>
            <a:r>
              <a:rPr lang="en-US" altLang="zh-TW" sz="2000" b="1" dirty="0">
                <a:latin typeface="+mj-lt"/>
                <a:sym typeface="Symbol" panose="05050102010706020507" pitchFamily="18" charset="2"/>
              </a:rPr>
              <a:t> – 4)</a:t>
            </a:r>
          </a:p>
          <a:p>
            <a:r>
              <a:rPr lang="en-US" altLang="zh-TW" sz="2000" b="1" dirty="0">
                <a:latin typeface="+mj-lt"/>
              </a:rPr>
              <a:t>        &gt; 2 </a:t>
            </a:r>
            <a:r>
              <a:rPr lang="en-US" altLang="zh-TW" sz="2000" b="1" dirty="0">
                <a:latin typeface="+mj-lt"/>
                <a:sym typeface="Symbol" panose="05050102010706020507" pitchFamily="18" charset="2"/>
              </a:rPr>
              <a:t> 2  2  </a:t>
            </a:r>
            <a:r>
              <a:rPr lang="en-US" altLang="zh-TW" sz="2000" b="1" i="1" dirty="0">
                <a:latin typeface="+mj-lt"/>
                <a:sym typeface="Symbol" panose="05050102010706020507" pitchFamily="18" charset="2"/>
              </a:rPr>
              <a:t>T</a:t>
            </a:r>
            <a:r>
              <a:rPr lang="en-US" altLang="zh-TW" sz="2000" b="1" dirty="0">
                <a:latin typeface="+mj-lt"/>
                <a:sym typeface="Symbol" panose="05050102010706020507" pitchFamily="18" charset="2"/>
              </a:rPr>
              <a:t>(</a:t>
            </a:r>
            <a:r>
              <a:rPr lang="en-US" altLang="zh-TW" sz="2000" b="1" i="1" dirty="0">
                <a:latin typeface="+mj-lt"/>
                <a:sym typeface="Symbol" panose="05050102010706020507" pitchFamily="18" charset="2"/>
              </a:rPr>
              <a:t>n</a:t>
            </a:r>
            <a:r>
              <a:rPr lang="en-US" altLang="zh-TW" sz="2000" b="1" dirty="0">
                <a:latin typeface="+mj-lt"/>
                <a:sym typeface="Symbol" panose="05050102010706020507" pitchFamily="18" charset="2"/>
              </a:rPr>
              <a:t> – 6)</a:t>
            </a:r>
          </a:p>
          <a:p>
            <a:r>
              <a:rPr lang="en-US" altLang="zh-TW" sz="2000" b="1" dirty="0">
                <a:latin typeface="+mj-lt"/>
                <a:sym typeface="Symbol" panose="05050102010706020507" pitchFamily="18" charset="2"/>
              </a:rPr>
              <a:t>        …</a:t>
            </a:r>
          </a:p>
          <a:p>
            <a:r>
              <a:rPr lang="en-US" altLang="zh-TW" sz="2000" b="1" dirty="0">
                <a:latin typeface="+mj-lt"/>
                <a:sym typeface="Symbol" panose="05050102010706020507" pitchFamily="18" charset="2"/>
              </a:rPr>
              <a:t>        &gt; 2  2  2  2  …  2  </a:t>
            </a:r>
            <a:r>
              <a:rPr lang="en-US" altLang="zh-TW" sz="2000" b="1" i="1" dirty="0">
                <a:latin typeface="+mj-lt"/>
                <a:sym typeface="Symbol" panose="05050102010706020507" pitchFamily="18" charset="2"/>
              </a:rPr>
              <a:t>T</a:t>
            </a:r>
            <a:r>
              <a:rPr lang="en-US" altLang="zh-TW" sz="2000" b="1" dirty="0">
                <a:latin typeface="+mj-lt"/>
                <a:sym typeface="Symbol" panose="05050102010706020507" pitchFamily="18" charset="2"/>
              </a:rPr>
              <a:t>(0)</a:t>
            </a:r>
            <a:endParaRPr lang="zh-TW" altLang="en-US" sz="2000" b="1" dirty="0">
              <a:latin typeface="+mj-lt"/>
            </a:endParaRPr>
          </a:p>
        </p:txBody>
      </p:sp>
      <p:grpSp>
        <p:nvGrpSpPr>
          <p:cNvPr id="10" name="群組 9"/>
          <p:cNvGrpSpPr/>
          <p:nvPr/>
        </p:nvGrpSpPr>
        <p:grpSpPr>
          <a:xfrm>
            <a:off x="3456417" y="4684185"/>
            <a:ext cx="2201575" cy="616135"/>
            <a:chOff x="3456417" y="4397041"/>
            <a:chExt cx="2201575" cy="616135"/>
          </a:xfrm>
        </p:grpSpPr>
        <p:sp>
          <p:nvSpPr>
            <p:cNvPr id="8" name="左大括弧 7"/>
            <p:cNvSpPr/>
            <p:nvPr/>
          </p:nvSpPr>
          <p:spPr>
            <a:xfrm rot="16200000">
              <a:off x="4449192" y="3404266"/>
              <a:ext cx="216025" cy="2201575"/>
            </a:xfrm>
            <a:prstGeom prst="leftBrace">
              <a:avLst>
                <a:gd name="adj1" fmla="val 39794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3991967" y="4613066"/>
              <a:ext cx="12153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solidFill>
                    <a:srgbClr val="C00000"/>
                  </a:solidFill>
                  <a:latin typeface="+mj-lt"/>
                </a:rPr>
                <a:t>n</a:t>
              </a:r>
              <a:r>
                <a:rPr lang="en-US" altLang="zh-TW" sz="2000" b="1" dirty="0">
                  <a:solidFill>
                    <a:srgbClr val="C00000"/>
                  </a:solidFill>
                  <a:latin typeface="+mj-lt"/>
                </a:rPr>
                <a:t>/2 terms</a:t>
              </a:r>
              <a:endParaRPr lang="zh-TW" altLang="en-US" sz="2000" b="1" dirty="0">
                <a:solidFill>
                  <a:srgbClr val="C00000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688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Fibonacci Sequence</a:t>
            </a:r>
            <a:r>
              <a:rPr lang="zh-TW" altLang="en-US" dirty="0"/>
              <a:t> </a:t>
            </a:r>
            <a:r>
              <a:rPr lang="en-US" altLang="zh-TW" dirty="0"/>
              <a:t>(3/4)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</a:rPr>
              <a:t>Theorem 1.1:</a:t>
            </a:r>
            <a:r>
              <a:rPr lang="zh-TW" altLang="en-US" dirty="0"/>
              <a:t> </a:t>
            </a:r>
            <a:r>
              <a:rPr lang="en-US" altLang="zh-TW" dirty="0"/>
              <a:t>If </a:t>
            </a:r>
            <a:r>
              <a:rPr lang="en-US" altLang="zh-TW" i="1" dirty="0"/>
              <a:t>T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 is the number of terms in the recursion tree corresponding to Algorithm 1.6, then, for </a:t>
            </a:r>
            <a:r>
              <a:rPr lang="en-US" altLang="zh-TW" i="1" dirty="0"/>
              <a:t>n</a:t>
            </a:r>
            <a:r>
              <a:rPr lang="en-US" altLang="zh-TW" dirty="0"/>
              <a:t> </a:t>
            </a:r>
            <a:r>
              <a:rPr lang="en-US" altLang="zh-TW" dirty="0">
                <a:sym typeface="Symbol" panose="05050102010706020507" pitchFamily="18" charset="2"/>
              </a:rPr>
              <a:t> 2, </a:t>
            </a:r>
            <a:r>
              <a:rPr lang="en-US" altLang="zh-TW" i="1" dirty="0">
                <a:sym typeface="Symbol" panose="05050102010706020507" pitchFamily="18" charset="2"/>
              </a:rPr>
              <a:t>T</a:t>
            </a:r>
            <a:r>
              <a:rPr lang="en-US" altLang="zh-TW" dirty="0">
                <a:sym typeface="Symbol" panose="05050102010706020507" pitchFamily="18" charset="2"/>
              </a:rPr>
              <a:t>(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dirty="0">
                <a:sym typeface="Symbol" panose="05050102010706020507" pitchFamily="18" charset="2"/>
              </a:rPr>
              <a:t>) &gt; 2</a:t>
            </a:r>
            <a:r>
              <a:rPr lang="en-US" altLang="zh-TW" i="1" baseline="30000" dirty="0"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ym typeface="Symbol" panose="05050102010706020507" pitchFamily="18" charset="2"/>
              </a:rPr>
              <a:t>/2</a:t>
            </a:r>
            <a:r>
              <a:rPr lang="en-US" altLang="zh-TW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zh-TW" i="1" dirty="0">
                <a:solidFill>
                  <a:srgbClr val="0000FF"/>
                </a:solidFill>
                <a:sym typeface="Symbol" panose="05050102010706020507" pitchFamily="18" charset="2"/>
              </a:rPr>
              <a:t>Proof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. </a:t>
            </a:r>
            <a:r>
              <a:rPr lang="en-US" altLang="zh-TW" dirty="0">
                <a:sym typeface="Symbol" panose="05050102010706020507" pitchFamily="18" charset="2"/>
              </a:rPr>
              <a:t>By induction on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</a:p>
          <a:p>
            <a:pPr lvl="1"/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induction base: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dirty="0">
                <a:sym typeface="Symbol" panose="05050102010706020507" pitchFamily="18" charset="2"/>
              </a:rPr>
              <a:t> = 2,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dirty="0">
                <a:sym typeface="Symbol" panose="05050102010706020507" pitchFamily="18" charset="2"/>
              </a:rPr>
              <a:t> = 3</a:t>
            </a:r>
          </a:p>
          <a:p>
            <a:pPr lvl="2"/>
            <a:r>
              <a:rPr lang="en-US" altLang="zh-TW" i="1" dirty="0">
                <a:sym typeface="Symbol" panose="05050102010706020507" pitchFamily="18" charset="2"/>
              </a:rPr>
              <a:t>T</a:t>
            </a:r>
            <a:r>
              <a:rPr lang="en-US" altLang="zh-TW" dirty="0">
                <a:sym typeface="Symbol" panose="05050102010706020507" pitchFamily="18" charset="2"/>
              </a:rPr>
              <a:t>(2) = 3 &gt; 2</a:t>
            </a:r>
            <a:r>
              <a:rPr lang="en-US" altLang="zh-TW" baseline="30000" dirty="0">
                <a:sym typeface="Symbol" panose="05050102010706020507" pitchFamily="18" charset="2"/>
              </a:rPr>
              <a:t>2/2</a:t>
            </a:r>
          </a:p>
          <a:p>
            <a:pPr lvl="2"/>
            <a:r>
              <a:rPr lang="en-US" altLang="zh-TW" i="1" dirty="0"/>
              <a:t>T</a:t>
            </a:r>
            <a:r>
              <a:rPr lang="en-US" altLang="zh-TW" dirty="0"/>
              <a:t>(3) = 5 &gt; 2</a:t>
            </a:r>
            <a:r>
              <a:rPr lang="en-US" altLang="zh-TW" baseline="30000" dirty="0"/>
              <a:t>3/2</a:t>
            </a:r>
            <a:r>
              <a:rPr lang="en-US" altLang="zh-TW" dirty="0"/>
              <a:t> </a:t>
            </a:r>
            <a:r>
              <a:rPr lang="en-US" altLang="zh-TW" dirty="0">
                <a:sym typeface="Symbol" panose="05050102010706020507" pitchFamily="18" charset="2"/>
              </a:rPr>
              <a:t> 2.8323</a:t>
            </a:r>
          </a:p>
          <a:p>
            <a:pPr lvl="1"/>
            <a:r>
              <a:rPr lang="en-US" altLang="zh-TW" dirty="0">
                <a:solidFill>
                  <a:srgbClr val="C00000"/>
                </a:solidFill>
              </a:rPr>
              <a:t>induction hypothesis:</a:t>
            </a:r>
          </a:p>
          <a:p>
            <a:pPr lvl="2"/>
            <a:r>
              <a:rPr lang="en-US" altLang="zh-TW" dirty="0"/>
              <a:t>for all </a:t>
            </a:r>
            <a:r>
              <a:rPr lang="en-US" altLang="zh-TW" i="1" dirty="0"/>
              <a:t>m</a:t>
            </a:r>
            <a:r>
              <a:rPr lang="en-US" altLang="zh-TW" dirty="0"/>
              <a:t>, 2 </a:t>
            </a:r>
            <a:r>
              <a:rPr lang="en-US" altLang="zh-TW" dirty="0">
                <a:sym typeface="Symbol" panose="05050102010706020507" pitchFamily="18" charset="2"/>
              </a:rPr>
              <a:t> </a:t>
            </a:r>
            <a:r>
              <a:rPr lang="en-US" altLang="zh-TW" i="1" dirty="0">
                <a:sym typeface="Symbol" panose="05050102010706020507" pitchFamily="18" charset="2"/>
              </a:rPr>
              <a:t>m</a:t>
            </a:r>
            <a:r>
              <a:rPr lang="en-US" altLang="zh-TW" dirty="0">
                <a:sym typeface="Symbol" panose="05050102010706020507" pitchFamily="18" charset="2"/>
              </a:rPr>
              <a:t> &lt;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dirty="0">
                <a:sym typeface="Symbol" panose="05050102010706020507" pitchFamily="18" charset="2"/>
              </a:rPr>
              <a:t>, </a:t>
            </a:r>
            <a:r>
              <a:rPr lang="en-US" altLang="zh-TW" i="1" dirty="0">
                <a:sym typeface="Symbol" panose="05050102010706020507" pitchFamily="18" charset="2"/>
              </a:rPr>
              <a:t>T</a:t>
            </a:r>
            <a:r>
              <a:rPr lang="en-US" altLang="zh-TW" dirty="0">
                <a:sym typeface="Symbol" panose="05050102010706020507" pitchFamily="18" charset="2"/>
              </a:rPr>
              <a:t>(</a:t>
            </a:r>
            <a:r>
              <a:rPr lang="en-US" altLang="zh-TW" i="1" dirty="0">
                <a:sym typeface="Symbol" panose="05050102010706020507" pitchFamily="18" charset="2"/>
              </a:rPr>
              <a:t>m</a:t>
            </a:r>
            <a:r>
              <a:rPr lang="en-US" altLang="zh-TW" dirty="0">
                <a:sym typeface="Symbol" panose="05050102010706020507" pitchFamily="18" charset="2"/>
              </a:rPr>
              <a:t>) &gt; 2</a:t>
            </a:r>
            <a:r>
              <a:rPr lang="en-US" altLang="zh-TW" i="1" baseline="30000" dirty="0">
                <a:sym typeface="Symbol" panose="05050102010706020507" pitchFamily="18" charset="2"/>
              </a:rPr>
              <a:t>m</a:t>
            </a:r>
            <a:r>
              <a:rPr lang="en-US" altLang="zh-TW" baseline="30000" dirty="0">
                <a:sym typeface="Symbol" panose="05050102010706020507" pitchFamily="18" charset="2"/>
              </a:rPr>
              <a:t>/2</a:t>
            </a:r>
          </a:p>
          <a:p>
            <a:pPr lvl="1"/>
            <a:r>
              <a:rPr lang="en-US" altLang="zh-TW" dirty="0">
                <a:solidFill>
                  <a:srgbClr val="C00000"/>
                </a:solidFill>
              </a:rPr>
              <a:t>induction step:</a:t>
            </a:r>
          </a:p>
          <a:p>
            <a:pPr marL="667512" lvl="2" indent="0">
              <a:buNone/>
            </a:pPr>
            <a:r>
              <a:rPr lang="en-US" altLang="zh-TW" i="1" dirty="0"/>
              <a:t>T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 = </a:t>
            </a:r>
            <a:r>
              <a:rPr lang="en-US" altLang="zh-TW" i="1" dirty="0"/>
              <a:t>T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 – 1) + </a:t>
            </a:r>
            <a:r>
              <a:rPr lang="en-US" altLang="zh-TW" i="1" dirty="0"/>
              <a:t>T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 – 2) + 1</a:t>
            </a:r>
          </a:p>
          <a:p>
            <a:pPr marL="667512" lvl="2" indent="0">
              <a:buNone/>
            </a:pPr>
            <a:r>
              <a:rPr lang="en-US" altLang="zh-TW" dirty="0"/>
              <a:t>         &gt; 2</a:t>
            </a:r>
            <a:r>
              <a:rPr lang="en-US" altLang="zh-TW" baseline="30000" dirty="0"/>
              <a:t>(</a:t>
            </a:r>
            <a:r>
              <a:rPr lang="en-US" altLang="zh-TW" i="1" baseline="30000" dirty="0"/>
              <a:t>n</a:t>
            </a:r>
            <a:r>
              <a:rPr lang="en-US" altLang="zh-TW" baseline="30000" dirty="0"/>
              <a:t>–1)/2</a:t>
            </a:r>
            <a:r>
              <a:rPr lang="en-US" altLang="zh-TW" dirty="0"/>
              <a:t> + 2</a:t>
            </a:r>
            <a:r>
              <a:rPr lang="en-US" altLang="zh-TW" baseline="30000" dirty="0"/>
              <a:t>(</a:t>
            </a:r>
            <a:r>
              <a:rPr lang="en-US" altLang="zh-TW" i="1" baseline="30000" dirty="0"/>
              <a:t>n</a:t>
            </a:r>
            <a:r>
              <a:rPr lang="en-US" altLang="zh-TW" baseline="30000" dirty="0"/>
              <a:t>–2)/2</a:t>
            </a:r>
            <a:r>
              <a:rPr lang="en-US" altLang="zh-TW" dirty="0"/>
              <a:t> + 1</a:t>
            </a:r>
          </a:p>
          <a:p>
            <a:pPr marL="667512" lvl="2" indent="0">
              <a:buNone/>
            </a:pPr>
            <a:r>
              <a:rPr lang="en-US" altLang="zh-TW" dirty="0"/>
              <a:t>         &gt; 2</a:t>
            </a:r>
            <a:r>
              <a:rPr lang="en-US" altLang="zh-TW" baseline="30000" dirty="0"/>
              <a:t>(</a:t>
            </a:r>
            <a:r>
              <a:rPr lang="en-US" altLang="zh-TW" i="1" baseline="30000" dirty="0"/>
              <a:t>n</a:t>
            </a:r>
            <a:r>
              <a:rPr lang="en-US" altLang="zh-TW" baseline="30000" dirty="0"/>
              <a:t>–2)/2</a:t>
            </a:r>
            <a:r>
              <a:rPr lang="en-US" altLang="zh-TW" dirty="0"/>
              <a:t> + 2</a:t>
            </a:r>
            <a:r>
              <a:rPr lang="en-US" altLang="zh-TW" baseline="30000" dirty="0"/>
              <a:t>(</a:t>
            </a:r>
            <a:r>
              <a:rPr lang="en-US" altLang="zh-TW" i="1" baseline="30000" dirty="0"/>
              <a:t>n</a:t>
            </a:r>
            <a:r>
              <a:rPr lang="en-US" altLang="zh-TW" baseline="30000" dirty="0"/>
              <a:t>–2)/2</a:t>
            </a:r>
            <a:r>
              <a:rPr lang="en-US" altLang="zh-TW" dirty="0"/>
              <a:t> </a:t>
            </a:r>
          </a:p>
          <a:p>
            <a:pPr marL="667512" lvl="2" indent="0">
              <a:buNone/>
            </a:pPr>
            <a:r>
              <a:rPr lang="en-US" altLang="zh-TW" dirty="0"/>
              <a:t>         &gt; 2 </a:t>
            </a:r>
            <a:r>
              <a:rPr lang="en-US" altLang="zh-TW" dirty="0">
                <a:sym typeface="Symbol" panose="05050102010706020507" pitchFamily="18" charset="2"/>
              </a:rPr>
              <a:t> 2</a:t>
            </a:r>
            <a:r>
              <a:rPr lang="en-US" altLang="zh-TW" baseline="30000" dirty="0">
                <a:sym typeface="Symbol" panose="05050102010706020507" pitchFamily="18" charset="2"/>
              </a:rPr>
              <a:t>(</a:t>
            </a:r>
            <a:r>
              <a:rPr lang="en-US" altLang="zh-TW" i="1" baseline="30000" dirty="0"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ym typeface="Symbol" panose="05050102010706020507" pitchFamily="18" charset="2"/>
              </a:rPr>
              <a:t>/2)</a:t>
            </a:r>
            <a:r>
              <a:rPr lang="en-US" altLang="zh-TW" baseline="30000" dirty="0"/>
              <a:t>–</a:t>
            </a:r>
            <a:r>
              <a:rPr lang="en-US" altLang="zh-TW" baseline="30000" dirty="0">
                <a:sym typeface="Symbol" panose="05050102010706020507" pitchFamily="18" charset="2"/>
              </a:rPr>
              <a:t>1</a:t>
            </a:r>
          </a:p>
          <a:p>
            <a:pPr marL="667512" lvl="2" indent="0">
              <a:buNone/>
            </a:pPr>
            <a:r>
              <a:rPr lang="en-US" altLang="zh-TW" dirty="0">
                <a:sym typeface="Symbol" panose="05050102010706020507" pitchFamily="18" charset="2"/>
              </a:rPr>
              <a:t>         = 2</a:t>
            </a:r>
            <a:r>
              <a:rPr lang="en-US" altLang="zh-TW" baseline="30000" dirty="0">
                <a:sym typeface="Symbol" panose="05050102010706020507" pitchFamily="18" charset="2"/>
              </a:rPr>
              <a:t>(</a:t>
            </a:r>
            <a:r>
              <a:rPr lang="en-US" altLang="zh-TW" i="1" baseline="30000" dirty="0"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ym typeface="Symbol" panose="05050102010706020507" pitchFamily="18" charset="2"/>
              </a:rPr>
              <a:t>/2)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7596336" y="1556792"/>
            <a:ext cx="1277914" cy="400110"/>
          </a:xfrm>
          <a:prstGeom prst="rect">
            <a:avLst/>
          </a:prstGeom>
          <a:solidFill>
            <a:srgbClr val="FFFFCC"/>
          </a:solidFill>
          <a:ln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+mj-lt"/>
              </a:rPr>
              <a:t>inefficient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70058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Fibonacci Sequence</a:t>
            </a:r>
            <a:r>
              <a:rPr lang="zh-TW" altLang="en-US" dirty="0"/>
              <a:t> </a:t>
            </a:r>
            <a:r>
              <a:rPr lang="en-US" altLang="zh-TW" dirty="0"/>
              <a:t>(4/4)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It is inefficient for computing </a:t>
            </a:r>
            <a:r>
              <a:rPr lang="en-US" altLang="zh-TW" i="1" dirty="0"/>
              <a:t>n</a:t>
            </a:r>
            <a:r>
              <a:rPr lang="en-US" altLang="zh-TW" dirty="0"/>
              <a:t>th Fibonacci by using </a:t>
            </a:r>
            <a:r>
              <a:rPr lang="en-US" altLang="zh-TW" dirty="0">
                <a:solidFill>
                  <a:srgbClr val="C00000"/>
                </a:solidFill>
              </a:rPr>
              <a:t>recursive algorithm</a:t>
            </a:r>
          </a:p>
          <a:p>
            <a:pPr lvl="1"/>
            <a:r>
              <a:rPr lang="en-US" altLang="zh-TW" dirty="0"/>
              <a:t>the same value is computed over and over</a:t>
            </a:r>
          </a:p>
          <a:p>
            <a:r>
              <a:rPr lang="en-US" altLang="zh-TW" dirty="0"/>
              <a:t>When computing a value, we save it in an </a:t>
            </a:r>
            <a:r>
              <a:rPr lang="en-US" altLang="zh-TW" dirty="0">
                <a:solidFill>
                  <a:srgbClr val="C00000"/>
                </a:solidFill>
              </a:rPr>
              <a:t>array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452427" y="2825832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515685" y="2420888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124776" y="2420888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733868" y="2421309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342959" y="2421309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960931" y="2421730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570022" y="2421730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179114" y="2422151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788205" y="2422151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394498" y="2420888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941809" y="2420888"/>
            <a:ext cx="61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[…]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94"/>
          <a:stretch/>
        </p:blipFill>
        <p:spPr bwMode="auto">
          <a:xfrm>
            <a:off x="517935" y="3274992"/>
            <a:ext cx="7964983" cy="33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9427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Binary Search</a:t>
            </a:r>
            <a:r>
              <a:rPr lang="zh-TW" altLang="en-US" dirty="0"/>
              <a:t> </a:t>
            </a:r>
            <a:r>
              <a:rPr lang="en-US" altLang="zh-TW" dirty="0"/>
              <a:t>(Algorithm 1.5) and </a:t>
            </a:r>
            <a:r>
              <a:rPr lang="en-US" altLang="zh-TW" i="1" dirty="0"/>
              <a:t>n</a:t>
            </a:r>
            <a:r>
              <a:rPr lang="en-US" altLang="zh-TW" dirty="0"/>
              <a:t>th Fibonacci Term (Algorithm 1.6)</a:t>
            </a:r>
          </a:p>
          <a:p>
            <a:pPr lvl="1"/>
            <a:r>
              <a:rPr lang="en-US" altLang="zh-TW" dirty="0"/>
              <a:t>divide-and-conquer</a:t>
            </a:r>
          </a:p>
          <a:p>
            <a:pPr lvl="1"/>
            <a:r>
              <a:rPr lang="en-US" altLang="zh-TW" dirty="0"/>
              <a:t>Chapter 2</a:t>
            </a:r>
          </a:p>
          <a:p>
            <a:pPr lvl="1"/>
            <a:endParaRPr lang="en-US" altLang="zh-TW" dirty="0"/>
          </a:p>
          <a:p>
            <a:r>
              <a:rPr lang="en-US" altLang="zh-TW" i="1" dirty="0"/>
              <a:t>n</a:t>
            </a:r>
            <a:r>
              <a:rPr lang="en-US" altLang="zh-TW" dirty="0"/>
              <a:t>th Fibonacci Term (iterative)</a:t>
            </a:r>
            <a:r>
              <a:rPr lang="zh-TW" altLang="en-US" dirty="0"/>
              <a:t> </a:t>
            </a:r>
            <a:r>
              <a:rPr lang="en-US" altLang="zh-TW" dirty="0"/>
              <a:t>(Algorithm 1.7)</a:t>
            </a:r>
          </a:p>
          <a:p>
            <a:pPr lvl="1"/>
            <a:r>
              <a:rPr lang="en-US" altLang="zh-TW" dirty="0"/>
              <a:t>dynamic programming</a:t>
            </a:r>
          </a:p>
          <a:p>
            <a:pPr lvl="1"/>
            <a:r>
              <a:rPr lang="en-US" altLang="zh-TW" dirty="0"/>
              <a:t>Chapter 3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15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Analysis of Algorithms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</a:t>
            </a:r>
            <a:r>
              <a:rPr lang="en-US" altLang="zh-TW" dirty="0">
                <a:solidFill>
                  <a:srgbClr val="C00000"/>
                </a:solidFill>
              </a:rPr>
              <a:t>running time</a:t>
            </a:r>
            <a:r>
              <a:rPr lang="en-US" altLang="zh-TW" dirty="0"/>
              <a:t> of an algorithm increases with the </a:t>
            </a:r>
            <a:r>
              <a:rPr lang="en-US" altLang="zh-TW" dirty="0">
                <a:solidFill>
                  <a:srgbClr val="C00000"/>
                </a:solidFill>
              </a:rPr>
              <a:t>size of input</a:t>
            </a:r>
            <a:r>
              <a:rPr lang="en-US" altLang="zh-TW" dirty="0"/>
              <a:t>, and the total running time is roughly proportional to </a:t>
            </a:r>
            <a:r>
              <a:rPr lang="en-US" altLang="zh-TW" dirty="0">
                <a:solidFill>
                  <a:srgbClr val="C00000"/>
                </a:solidFill>
              </a:rPr>
              <a:t>how many times some basic operation</a:t>
            </a:r>
            <a:r>
              <a:rPr lang="en-US" altLang="zh-TW" dirty="0"/>
              <a:t> (such as a comparison instruction)</a:t>
            </a:r>
          </a:p>
          <a:p>
            <a:pPr lvl="1"/>
            <a:r>
              <a:rPr lang="en-US" altLang="zh-TW" dirty="0"/>
              <a:t>analyze the algorithm’s efficiency by determining the number of times some basic operation is done as a function of the size of the input</a:t>
            </a:r>
          </a:p>
          <a:p>
            <a:endParaRPr lang="en-US" altLang="zh-TW" dirty="0"/>
          </a:p>
          <a:p>
            <a:r>
              <a:rPr lang="en-US" altLang="zh-TW" dirty="0">
                <a:solidFill>
                  <a:srgbClr val="0000FF"/>
                </a:solidFill>
              </a:rPr>
              <a:t>basic operation</a:t>
            </a:r>
          </a:p>
          <a:p>
            <a:pPr lvl="1"/>
            <a:r>
              <a:rPr lang="en-US" altLang="zh-TW" dirty="0"/>
              <a:t>pick </a:t>
            </a:r>
            <a:r>
              <a:rPr lang="en-US" altLang="zh-TW" u="sng" dirty="0"/>
              <a:t>some instruction or group of instructions</a:t>
            </a:r>
            <a:r>
              <a:rPr lang="en-US" altLang="zh-TW" dirty="0"/>
              <a:t> such that the total work done by the algorithm is </a:t>
            </a:r>
            <a:r>
              <a:rPr lang="en-US" altLang="zh-TW" dirty="0">
                <a:solidFill>
                  <a:srgbClr val="C00000"/>
                </a:solidFill>
              </a:rPr>
              <a:t>roughly proportional</a:t>
            </a:r>
            <a:r>
              <a:rPr lang="en-US" altLang="zh-TW" dirty="0"/>
              <a:t> to the number of times this instruction or group of instructions is done</a:t>
            </a:r>
          </a:p>
          <a:p>
            <a:pPr lvl="1"/>
            <a:r>
              <a:rPr lang="en-US" altLang="zh-TW" dirty="0"/>
              <a:t>Algorithms 1.1 and 1.5:</a:t>
            </a:r>
          </a:p>
          <a:p>
            <a:pPr lvl="2"/>
            <a:r>
              <a:rPr lang="en-US" altLang="zh-TW" dirty="0"/>
              <a:t>basic operation is the </a:t>
            </a:r>
            <a:r>
              <a:rPr lang="en-US" altLang="zh-TW" dirty="0">
                <a:solidFill>
                  <a:srgbClr val="C00000"/>
                </a:solidFill>
              </a:rPr>
              <a:t>compare</a:t>
            </a:r>
            <a:r>
              <a:rPr lang="en-US" altLang="zh-TW" dirty="0"/>
              <a:t> instruction</a:t>
            </a:r>
          </a:p>
          <a:p>
            <a:pPr lvl="1"/>
            <a:endParaRPr lang="en-US" altLang="zh-TW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79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Time Complexity</a:t>
            </a:r>
            <a:r>
              <a:rPr lang="zh-TW" altLang="en-US" dirty="0"/>
              <a:t>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determining how many times the basic operation is done for each value of </a:t>
            </a:r>
            <a:r>
              <a:rPr lang="en-US" altLang="zh-TW" dirty="0">
                <a:solidFill>
                  <a:srgbClr val="C00000"/>
                </a:solidFill>
              </a:rPr>
              <a:t>the input size</a:t>
            </a:r>
          </a:p>
          <a:p>
            <a:r>
              <a:rPr lang="en-US" altLang="zh-TW" dirty="0">
                <a:solidFill>
                  <a:srgbClr val="0000FF"/>
                </a:solidFill>
              </a:rPr>
              <a:t>Sequential Search</a:t>
            </a:r>
            <a:r>
              <a:rPr lang="zh-TW" altLang="en-US" dirty="0">
                <a:solidFill>
                  <a:srgbClr val="0000FF"/>
                </a:solidFill>
              </a:rPr>
              <a:t> </a:t>
            </a:r>
            <a:r>
              <a:rPr lang="en-US" altLang="zh-TW" dirty="0">
                <a:solidFill>
                  <a:srgbClr val="0000FF"/>
                </a:solidFill>
              </a:rPr>
              <a:t>(Algorithm 1.1)</a:t>
            </a:r>
            <a:r>
              <a:rPr lang="en-US" altLang="zh-TW" dirty="0"/>
              <a:t>: the number of times it is done depends not only on the input size, but also on the input’s values</a:t>
            </a:r>
          </a:p>
          <a:p>
            <a:pPr lvl="1"/>
            <a:r>
              <a:rPr lang="en-US" altLang="zh-TW" dirty="0"/>
              <a:t>key </a:t>
            </a:r>
            <a:r>
              <a:rPr lang="en-US" altLang="zh-TW" i="1" dirty="0"/>
              <a:t>x</a:t>
            </a:r>
            <a:r>
              <a:rPr lang="zh-TW" altLang="en-US" dirty="0"/>
              <a:t> </a:t>
            </a:r>
            <a:r>
              <a:rPr lang="en-US" altLang="zh-TW" dirty="0"/>
              <a:t>is the </a:t>
            </a:r>
            <a:r>
              <a:rPr lang="en-US" altLang="zh-TW" dirty="0">
                <a:solidFill>
                  <a:srgbClr val="C00000"/>
                </a:solidFill>
              </a:rPr>
              <a:t>first item</a:t>
            </a:r>
            <a:r>
              <a:rPr lang="en-US" altLang="zh-TW" dirty="0"/>
              <a:t> in the array:</a:t>
            </a:r>
            <a:r>
              <a:rPr lang="zh-TW" altLang="en-US" dirty="0"/>
              <a:t> </a:t>
            </a:r>
            <a:r>
              <a:rPr lang="en-US" altLang="zh-TW" dirty="0"/>
              <a:t>done once</a:t>
            </a:r>
          </a:p>
          <a:p>
            <a:pPr lvl="1"/>
            <a:r>
              <a:rPr lang="en-US" altLang="zh-TW" dirty="0"/>
              <a:t>key </a:t>
            </a:r>
            <a:r>
              <a:rPr lang="en-US" altLang="zh-TW" i="1" dirty="0"/>
              <a:t>x</a:t>
            </a:r>
            <a:r>
              <a:rPr lang="zh-TW" altLang="en-US" dirty="0"/>
              <a:t> </a:t>
            </a:r>
            <a:r>
              <a:rPr lang="en-US" altLang="zh-TW" dirty="0"/>
              <a:t>is </a:t>
            </a:r>
            <a:r>
              <a:rPr lang="en-US" altLang="zh-TW" dirty="0">
                <a:solidFill>
                  <a:srgbClr val="C00000"/>
                </a:solidFill>
              </a:rPr>
              <a:t>not</a:t>
            </a:r>
            <a:r>
              <a:rPr lang="en-US" altLang="zh-TW" dirty="0"/>
              <a:t> in the array: done </a:t>
            </a:r>
            <a:r>
              <a:rPr lang="en-US" altLang="zh-TW" i="1" dirty="0"/>
              <a:t>n</a:t>
            </a:r>
            <a:r>
              <a:rPr lang="en-US" altLang="zh-TW" dirty="0"/>
              <a:t> times</a:t>
            </a:r>
          </a:p>
          <a:p>
            <a:r>
              <a:rPr lang="en-US" altLang="zh-TW" dirty="0">
                <a:solidFill>
                  <a:srgbClr val="0000FF"/>
                </a:solidFill>
              </a:rPr>
              <a:t>Add Array Members (Algorithm 1.2)</a:t>
            </a:r>
            <a:r>
              <a:rPr lang="en-US" altLang="zh-TW" dirty="0"/>
              <a:t>: done the </a:t>
            </a:r>
            <a:r>
              <a:rPr lang="en-US" altLang="zh-TW" dirty="0">
                <a:solidFill>
                  <a:srgbClr val="C00000"/>
                </a:solidFill>
              </a:rPr>
              <a:t>same</a:t>
            </a:r>
            <a:r>
              <a:rPr lang="en-US" altLang="zh-TW" dirty="0"/>
              <a:t> number of times for every instance of size </a:t>
            </a:r>
            <a:r>
              <a:rPr lang="en-US" altLang="zh-TW" i="1" dirty="0"/>
              <a:t>n</a:t>
            </a:r>
          </a:p>
          <a:p>
            <a:pPr lvl="1"/>
            <a:r>
              <a:rPr lang="en-US" altLang="zh-TW" i="1" dirty="0"/>
              <a:t>T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): the number of times the algorithm does the basic operation for an instance of size </a:t>
            </a:r>
            <a:r>
              <a:rPr lang="en-US" altLang="zh-TW" i="1" dirty="0"/>
              <a:t>n </a:t>
            </a:r>
            <a:r>
              <a:rPr lang="en-US" altLang="zh-TW" dirty="0"/>
              <a:t>(</a:t>
            </a:r>
            <a:r>
              <a:rPr lang="en-US" altLang="zh-TW" dirty="0">
                <a:solidFill>
                  <a:srgbClr val="C00000"/>
                </a:solidFill>
              </a:rPr>
              <a:t>every-case time complexity</a:t>
            </a:r>
            <a:r>
              <a:rPr lang="en-US" altLang="zh-TW" dirty="0"/>
              <a:t>)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r>
              <a:rPr lang="en-US" altLang="zh-TW" dirty="0">
                <a:solidFill>
                  <a:srgbClr val="0000FF"/>
                </a:solidFill>
              </a:rPr>
              <a:t>basic operation</a:t>
            </a:r>
            <a:r>
              <a:rPr lang="en-US" altLang="zh-TW" dirty="0"/>
              <a:t>: the addition of an item in the array to </a:t>
            </a:r>
            <a:r>
              <a:rPr lang="en-US" altLang="zh-TW" i="1" dirty="0"/>
              <a:t>sum</a:t>
            </a:r>
          </a:p>
          <a:p>
            <a:pPr lvl="1"/>
            <a:r>
              <a:rPr lang="en-US" altLang="zh-TW" dirty="0">
                <a:solidFill>
                  <a:srgbClr val="0000FF"/>
                </a:solidFill>
              </a:rPr>
              <a:t>input size</a:t>
            </a:r>
            <a:r>
              <a:rPr lang="en-US" altLang="zh-TW" dirty="0"/>
              <a:t>: the number of items in the array, </a:t>
            </a:r>
            <a:r>
              <a:rPr lang="en-US" altLang="zh-TW" i="1" dirty="0"/>
              <a:t>n</a:t>
            </a:r>
          </a:p>
          <a:p>
            <a:pPr lvl="1"/>
            <a:r>
              <a:rPr lang="en-US" altLang="zh-TW" dirty="0"/>
              <a:t>Regardless of the values of the numbers in the array, there are </a:t>
            </a:r>
            <a:r>
              <a:rPr lang="en-US" altLang="zh-TW" i="1" dirty="0"/>
              <a:t>n</a:t>
            </a:r>
            <a:r>
              <a:rPr lang="en-US" altLang="zh-TW" dirty="0"/>
              <a:t> passes through the for loop.</a:t>
            </a:r>
          </a:p>
          <a:p>
            <a:pPr lvl="1"/>
            <a:r>
              <a:rPr lang="en-US" altLang="zh-TW" dirty="0"/>
              <a:t>The basic operation is always done </a:t>
            </a:r>
            <a:r>
              <a:rPr lang="en-US" altLang="zh-TW" i="1" dirty="0">
                <a:solidFill>
                  <a:srgbClr val="C00000"/>
                </a:solidFill>
              </a:rPr>
              <a:t>n</a:t>
            </a:r>
            <a:r>
              <a:rPr lang="en-US" altLang="zh-TW" dirty="0">
                <a:solidFill>
                  <a:srgbClr val="C00000"/>
                </a:solidFill>
              </a:rPr>
              <a:t> times</a:t>
            </a:r>
            <a:r>
              <a:rPr lang="en-US" altLang="zh-TW" dirty="0"/>
              <a:t>: </a:t>
            </a:r>
            <a:r>
              <a:rPr lang="en-US" altLang="zh-TW" i="1" dirty="0"/>
              <a:t>T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 = </a:t>
            </a:r>
            <a:r>
              <a:rPr lang="en-US" altLang="zh-TW" i="1" dirty="0"/>
              <a:t>n</a:t>
            </a:r>
            <a:endParaRPr lang="zh-TW" altLang="en-US" i="1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5814670" y="2617994"/>
            <a:ext cx="513529" cy="380480"/>
          </a:xfrm>
          <a:prstGeom prst="rect">
            <a:avLst/>
          </a:prstGeom>
          <a:solidFill>
            <a:srgbClr val="FFFFCC"/>
          </a:solidFill>
          <a:ln>
            <a:solidFill>
              <a:srgbClr val="0000FF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080863" y="2999570"/>
            <a:ext cx="685050" cy="380480"/>
          </a:xfrm>
          <a:prstGeom prst="rect">
            <a:avLst/>
          </a:prstGeom>
          <a:solidFill>
            <a:srgbClr val="FFFFCC"/>
          </a:solidFill>
          <a:ln>
            <a:solidFill>
              <a:srgbClr val="0000FF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worst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748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Time Complexity</a:t>
            </a:r>
            <a:r>
              <a:rPr lang="zh-TW" altLang="en-US" dirty="0"/>
              <a:t>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for an input size of </a:t>
            </a:r>
            <a:r>
              <a:rPr lang="en-US" altLang="zh-TW" i="1" dirty="0"/>
              <a:t>n</a:t>
            </a:r>
            <a:r>
              <a:rPr lang="en-US" altLang="zh-TW" dirty="0"/>
              <a:t>, three analysis techniques:</a:t>
            </a:r>
          </a:p>
          <a:p>
            <a:pPr lvl="1"/>
            <a:r>
              <a:rPr lang="en-US" altLang="zh-TW" dirty="0">
                <a:solidFill>
                  <a:srgbClr val="C00000"/>
                </a:solidFill>
              </a:rPr>
              <a:t>worst-case</a:t>
            </a:r>
            <a:r>
              <a:rPr lang="zh-TW" altLang="en-US" dirty="0">
                <a:solidFill>
                  <a:srgbClr val="C00000"/>
                </a:solidFill>
              </a:rPr>
              <a:t> </a:t>
            </a:r>
            <a:r>
              <a:rPr lang="en-US" altLang="zh-TW" dirty="0"/>
              <a:t>time complexity </a:t>
            </a:r>
            <a:r>
              <a:rPr lang="en-US" altLang="zh-TW" i="1" dirty="0">
                <a:solidFill>
                  <a:srgbClr val="C00000"/>
                </a:solidFill>
              </a:rPr>
              <a:t>W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en-US" altLang="zh-TW" i="1" dirty="0">
                <a:solidFill>
                  <a:srgbClr val="C00000"/>
                </a:solidFill>
              </a:rPr>
              <a:t>n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en-US" altLang="zh-TW" dirty="0"/>
              <a:t>: the </a:t>
            </a:r>
            <a:r>
              <a:rPr lang="en-US" altLang="zh-TW" dirty="0">
                <a:solidFill>
                  <a:srgbClr val="C00000"/>
                </a:solidFill>
              </a:rPr>
              <a:t>maximum</a:t>
            </a:r>
            <a:r>
              <a:rPr lang="en-US" altLang="zh-TW" dirty="0"/>
              <a:t> number times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r>
              <a:rPr lang="en-US" altLang="zh-TW" dirty="0">
                <a:solidFill>
                  <a:srgbClr val="C00000"/>
                </a:solidFill>
              </a:rPr>
              <a:t>average-case </a:t>
            </a:r>
            <a:r>
              <a:rPr lang="en-US" altLang="zh-TW" dirty="0"/>
              <a:t>time complexity </a:t>
            </a:r>
            <a:r>
              <a:rPr lang="en-US" altLang="zh-TW" i="1" dirty="0">
                <a:solidFill>
                  <a:srgbClr val="C00000"/>
                </a:solidFill>
              </a:rPr>
              <a:t>A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en-US" altLang="zh-TW" i="1" dirty="0">
                <a:solidFill>
                  <a:srgbClr val="C00000"/>
                </a:solidFill>
              </a:rPr>
              <a:t>n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en-US" altLang="zh-TW" dirty="0"/>
              <a:t>: the </a:t>
            </a:r>
            <a:r>
              <a:rPr lang="en-US" altLang="zh-TW" dirty="0">
                <a:solidFill>
                  <a:srgbClr val="C00000"/>
                </a:solidFill>
              </a:rPr>
              <a:t>average</a:t>
            </a:r>
            <a:r>
              <a:rPr lang="en-US" altLang="zh-TW" dirty="0"/>
              <a:t> of number of times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r>
              <a:rPr lang="en-US" altLang="zh-TW" dirty="0">
                <a:solidFill>
                  <a:srgbClr val="C00000"/>
                </a:solidFill>
              </a:rPr>
              <a:t>best-case</a:t>
            </a:r>
            <a:r>
              <a:rPr lang="zh-TW" altLang="en-US" dirty="0"/>
              <a:t> </a:t>
            </a:r>
            <a:r>
              <a:rPr lang="en-US" altLang="zh-TW" dirty="0"/>
              <a:t>time complexity </a:t>
            </a:r>
            <a:r>
              <a:rPr lang="en-US" altLang="zh-TW" i="1" dirty="0">
                <a:solidFill>
                  <a:srgbClr val="C00000"/>
                </a:solidFill>
              </a:rPr>
              <a:t>B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en-US" altLang="zh-TW" i="1" dirty="0">
                <a:solidFill>
                  <a:srgbClr val="C00000"/>
                </a:solidFill>
              </a:rPr>
              <a:t>n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en-US" altLang="zh-TW" dirty="0"/>
              <a:t>: the </a:t>
            </a:r>
            <a:r>
              <a:rPr lang="en-US" altLang="zh-TW" dirty="0">
                <a:solidFill>
                  <a:srgbClr val="C00000"/>
                </a:solidFill>
              </a:rPr>
              <a:t>minimum</a:t>
            </a:r>
            <a:r>
              <a:rPr lang="en-US" altLang="zh-TW" dirty="0"/>
              <a:t> number times</a:t>
            </a:r>
            <a:endParaRPr lang="en-US" altLang="zh-TW" dirty="0">
              <a:solidFill>
                <a:srgbClr val="C00000"/>
              </a:solidFill>
            </a:endParaRPr>
          </a:p>
          <a:p>
            <a:endParaRPr lang="en-US" altLang="zh-TW" dirty="0"/>
          </a:p>
          <a:p>
            <a:r>
              <a:rPr lang="en-US" altLang="zh-TW" dirty="0">
                <a:solidFill>
                  <a:srgbClr val="0000FF"/>
                </a:solidFill>
              </a:rPr>
              <a:t>Sequential Search</a:t>
            </a:r>
            <a:r>
              <a:rPr lang="en-US" altLang="zh-TW" dirty="0"/>
              <a:t>:</a:t>
            </a:r>
          </a:p>
          <a:p>
            <a:pPr lvl="1"/>
            <a:r>
              <a:rPr lang="en-US" altLang="zh-TW" dirty="0"/>
              <a:t>basic operation: the comparison of an item in the array with </a:t>
            </a:r>
            <a:r>
              <a:rPr lang="en-US" altLang="zh-TW" i="1" dirty="0"/>
              <a:t>x</a:t>
            </a:r>
          </a:p>
          <a:p>
            <a:pPr lvl="1"/>
            <a:r>
              <a:rPr lang="en-US" altLang="zh-TW" dirty="0"/>
              <a:t>Input size: the number of items in the array, </a:t>
            </a:r>
            <a:r>
              <a:rPr lang="en-US" altLang="zh-TW" i="1" dirty="0"/>
              <a:t>n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rgbClr val="C00000"/>
                </a:solidFill>
              </a:rPr>
              <a:t>worst case</a:t>
            </a:r>
            <a:r>
              <a:rPr lang="en-US" altLang="zh-TW" dirty="0"/>
              <a:t>: </a:t>
            </a:r>
            <a:r>
              <a:rPr lang="en-US" altLang="zh-TW" i="1" dirty="0"/>
              <a:t>x</a:t>
            </a:r>
            <a:r>
              <a:rPr lang="en-US" altLang="zh-TW" dirty="0"/>
              <a:t> is the last item in the array or </a:t>
            </a:r>
            <a:r>
              <a:rPr lang="en-US" altLang="zh-TW" i="1" dirty="0"/>
              <a:t>x</a:t>
            </a:r>
            <a:r>
              <a:rPr lang="en-US" altLang="zh-TW" dirty="0"/>
              <a:t> is not in the array</a:t>
            </a:r>
          </a:p>
          <a:p>
            <a:pPr lvl="2"/>
            <a:r>
              <a:rPr lang="en-US" altLang="zh-TW" i="1" dirty="0"/>
              <a:t>W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 = </a:t>
            </a:r>
            <a:r>
              <a:rPr lang="en-US" altLang="zh-TW" i="1" dirty="0"/>
              <a:t>n</a:t>
            </a:r>
          </a:p>
          <a:p>
            <a:pPr lvl="1"/>
            <a:r>
              <a:rPr lang="en-US" altLang="zh-TW" dirty="0">
                <a:solidFill>
                  <a:srgbClr val="C00000"/>
                </a:solidFill>
              </a:rPr>
              <a:t>best case</a:t>
            </a:r>
            <a:r>
              <a:rPr lang="en-US" altLang="zh-TW" dirty="0"/>
              <a:t>: </a:t>
            </a:r>
            <a:r>
              <a:rPr lang="en-US" altLang="zh-TW" i="1" dirty="0"/>
              <a:t>x </a:t>
            </a:r>
            <a:r>
              <a:rPr lang="en-US" altLang="zh-TW" dirty="0"/>
              <a:t>= </a:t>
            </a:r>
            <a:r>
              <a:rPr lang="en-US" altLang="zh-TW" i="1" dirty="0"/>
              <a:t>S</a:t>
            </a:r>
            <a:r>
              <a:rPr lang="en-US" altLang="zh-TW" dirty="0"/>
              <a:t>[1], one pass through the loop regardless of the size of </a:t>
            </a:r>
            <a:r>
              <a:rPr lang="en-US" altLang="zh-TW" i="1" dirty="0"/>
              <a:t>n</a:t>
            </a:r>
          </a:p>
          <a:p>
            <a:pPr lvl="2"/>
            <a:r>
              <a:rPr lang="en-US" altLang="zh-TW" i="1" dirty="0"/>
              <a:t>B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 = 1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42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Time Complexity</a:t>
            </a:r>
            <a:r>
              <a:rPr lang="zh-TW" altLang="en-US" dirty="0"/>
              <a:t> 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>
                    <a:solidFill>
                      <a:srgbClr val="0000FF"/>
                    </a:solidFill>
                  </a:rPr>
                  <a:t>Sequential Search </a:t>
                </a:r>
                <a:r>
                  <a:rPr lang="en-US" altLang="zh-TW" dirty="0"/>
                  <a:t>(average-case time complexity </a:t>
                </a:r>
                <a:r>
                  <a:rPr lang="en-US" altLang="zh-TW" i="1" dirty="0"/>
                  <a:t>A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))</a:t>
                </a:r>
              </a:p>
              <a:p>
                <a:pPr lvl="1"/>
                <a:r>
                  <a:rPr lang="en-US" altLang="zh-TW" dirty="0"/>
                  <a:t>basic operation: the comparison of an item in the array with </a:t>
                </a:r>
                <a:r>
                  <a:rPr lang="en-US" altLang="zh-TW" i="1" dirty="0"/>
                  <a:t>x</a:t>
                </a:r>
              </a:p>
              <a:p>
                <a:pPr lvl="1"/>
                <a:r>
                  <a:rPr lang="en-US" altLang="zh-TW" dirty="0"/>
                  <a:t>Input size: the number of items in the array, </a:t>
                </a:r>
                <a:r>
                  <a:rPr lang="en-US" altLang="zh-TW" i="1" dirty="0"/>
                  <a:t>n</a:t>
                </a:r>
                <a:endParaRPr lang="en-US" altLang="zh-TW" dirty="0"/>
              </a:p>
              <a:p>
                <a:pPr lvl="1"/>
                <a:r>
                  <a:rPr lang="en-US" altLang="zh-TW" i="1" dirty="0">
                    <a:solidFill>
                      <a:srgbClr val="C00000"/>
                    </a:solidFill>
                  </a:rPr>
                  <a:t>x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is in 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TW" b="1" i="1" dirty="0" smtClean="0"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TW" b="1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d>
                          <m:dPr>
                            <m:ctrlPr>
                              <a:rPr lang="en-US" altLang="zh-TW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 dirty="0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TW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box>
                              <m:boxPr>
                                <m:ctrlPr>
                                  <a:rPr lang="en-US" altLang="zh-TW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f>
                                  <m:fPr>
                                    <m:ctrlPr>
                                      <a:rPr lang="en-US" altLang="zh-TW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altLang="zh-TW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𝒏</m:t>
                                    </m:r>
                                  </m:den>
                                </m:f>
                              </m:e>
                            </m:box>
                          </m:e>
                        </m:d>
                        <m: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box>
                          <m:boxPr>
                            <m:ctrlPr>
                              <a:rPr lang="en-US" altLang="zh-TW" b="1" i="1" dirty="0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f>
                              <m:fPr>
                                <m:ctrlPr>
                                  <a:rPr lang="en-US" altLang="zh-TW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altLang="zh-TW" b="1" i="1" dirty="0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den>
                            </m:f>
                          </m:e>
                        </m:box>
                        <m:r>
                          <a:rPr lang="en-US" altLang="zh-TW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nary>
                          <m:naryPr>
                            <m:chr m:val="∑"/>
                            <m:ctrlPr>
                              <a:rPr lang="en-US" altLang="zh-TW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TW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TW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sup>
                          <m:e>
                            <m:r>
                              <a:rPr lang="en-US" altLang="zh-TW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</m:e>
                        </m:nary>
                        <m:r>
                          <a:rPr lang="en-US" altLang="zh-TW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box>
                          <m:boxPr>
                            <m:ctrlPr>
                              <a:rPr lang="en-US" altLang="zh-TW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oxPr>
                          <m:e>
                            <m:f>
                              <m:fPr>
                                <m:ctrlPr>
                                  <a:rPr lang="en-US" altLang="zh-TW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altLang="zh-TW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</m:den>
                            </m:f>
                          </m:e>
                        </m:box>
                        <m:r>
                          <a:rPr lang="en-US" altLang="zh-TW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box>
                          <m:boxPr>
                            <m:ctrlPr>
                              <a:rPr lang="en-US" altLang="zh-TW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oxPr>
                          <m:e>
                            <m:f>
                              <m:fPr>
                                <m:ctrlPr>
                                  <a:rPr lang="en-US" altLang="zh-TW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TW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TW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TW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US" altLang="zh-TW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box>
                        <m:r>
                          <a:rPr lang="en-US" altLang="zh-TW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box>
                          <m:boxPr>
                            <m:ctrlPr>
                              <a:rPr lang="en-US" altLang="zh-TW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oxPr>
                          <m:e>
                            <m:f>
                              <m:fPr>
                                <m:ctrlPr>
                                  <a:rPr lang="en-US" altLang="zh-TW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TW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altLang="zh-TW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box>
                      </m:e>
                    </m:nary>
                  </m:oMath>
                </a14:m>
                <a:endParaRPr lang="en-US" altLang="zh-TW" dirty="0"/>
              </a:p>
              <a:p>
                <a:pPr lvl="1"/>
                <a:r>
                  <a:rPr lang="en-US" altLang="zh-TW" i="1" dirty="0">
                    <a:solidFill>
                      <a:srgbClr val="C00000"/>
                    </a:solidFill>
                  </a:rPr>
                  <a:t>x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may not be in the array</a:t>
                </a:r>
              </a:p>
              <a:p>
                <a:pPr lvl="2"/>
                <a:r>
                  <a:rPr lang="en-US" altLang="zh-TW" i="1" dirty="0"/>
                  <a:t>x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in the array</a:t>
                </a:r>
                <a:r>
                  <a:rPr lang="en-US" altLang="zh-TW" dirty="0"/>
                  <a:t> with the probability 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p</a:t>
                </a:r>
                <a:r>
                  <a:rPr lang="en-US" altLang="zh-TW" dirty="0"/>
                  <a:t>;  </a:t>
                </a:r>
                <a:r>
                  <a:rPr lang="en-US" altLang="zh-TW" i="1" dirty="0"/>
                  <a:t>x</a:t>
                </a:r>
                <a:r>
                  <a:rPr lang="en-US" altLang="zh-TW" dirty="0"/>
                  <a:t> is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not in the array </a:t>
                </a:r>
                <a:r>
                  <a:rPr lang="en-US" altLang="zh-TW" dirty="0"/>
                  <a:t>with the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probability 1 – 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p</a:t>
                </a:r>
                <a:r>
                  <a:rPr lang="en-US" altLang="zh-TW" dirty="0"/>
                  <a:t>.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d>
                          <m:d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box>
                              <m:box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f>
                                  <m:fPr>
                                    <m:ctrlPr>
                                      <a:rPr lang="en-US" altLang="zh-TW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𝒑</m:t>
                                    </m:r>
                                  </m:num>
                                  <m:den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𝒏</m:t>
                                    </m:r>
                                  </m:den>
                                </m:f>
                              </m:e>
                            </m:box>
                          </m:e>
                        </m:d>
                        <m:r>
                          <a:rPr lang="en-US" altLang="zh-TW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𝒏</m:t>
                    </m:r>
                    <m:d>
                      <m:d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box>
                          <m:box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f>
                              <m:f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num>
                              <m:den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box>
                      </m:e>
                    </m:d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+</m:t>
                    </m:r>
                    <m:box>
                      <m:box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num>
                          <m:den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box>
                  </m:oMath>
                </a14:m>
                <a:endParaRPr lang="en-US" altLang="zh-TW" dirty="0"/>
              </a:p>
              <a:p>
                <a:pPr lvl="2"/>
                <a:endParaRPr lang="en-US" altLang="zh-TW" i="1" dirty="0"/>
              </a:p>
              <a:p>
                <a:pPr lvl="2"/>
                <a:endParaRPr lang="en-US" altLang="zh-TW" i="1" dirty="0"/>
              </a:p>
              <a:p>
                <a:pPr lvl="2"/>
                <a:r>
                  <a:rPr lang="en-US" altLang="zh-TW" i="1" dirty="0"/>
                  <a:t>p</a:t>
                </a:r>
                <a:r>
                  <a:rPr lang="en-US" altLang="zh-TW" dirty="0"/>
                  <a:t> = 1</a:t>
                </a:r>
                <a:r>
                  <a:rPr lang="zh-TW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= </m:t>
                    </m:r>
                    <m:box>
                      <m:box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box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5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2101483" y="4941168"/>
            <a:ext cx="1479892" cy="400110"/>
          </a:xfrm>
          <a:prstGeom prst="rect">
            <a:avLst/>
          </a:prstGeom>
          <a:solidFill>
            <a:srgbClr val="FFFFCC"/>
          </a:solidFill>
          <a:ln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in the array</a:t>
            </a:r>
            <a:endParaRPr lang="zh-TW" altLang="en-US" sz="2000" b="1" dirty="0">
              <a:solidFill>
                <a:srgbClr val="C00000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919642" y="4941168"/>
            <a:ext cx="1899879" cy="400110"/>
          </a:xfrm>
          <a:prstGeom prst="rect">
            <a:avLst/>
          </a:prstGeom>
          <a:solidFill>
            <a:srgbClr val="FFFFCC"/>
          </a:solidFill>
          <a:ln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not in the array</a:t>
            </a:r>
            <a:endParaRPr lang="zh-TW" altLang="en-US" sz="2000" b="1" dirty="0">
              <a:solidFill>
                <a:srgbClr val="C00000"/>
              </a:solidFill>
              <a:latin typeface="+mj-lt"/>
              <a:ea typeface="標楷體" panose="03000509000000000000" pitchFamily="65" charset="-120"/>
            </a:endParaRPr>
          </a:p>
        </p:txBody>
      </p:sp>
      <p:cxnSp>
        <p:nvCxnSpPr>
          <p:cNvPr id="10" name="直線接點 9"/>
          <p:cNvCxnSpPr/>
          <p:nvPr/>
        </p:nvCxnSpPr>
        <p:spPr>
          <a:xfrm>
            <a:off x="2213375" y="4886031"/>
            <a:ext cx="13680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3919642" y="4887601"/>
            <a:ext cx="10440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80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Complexity Function (1/3)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positive integers </a:t>
                </a:r>
                <a:r>
                  <a:rPr lang="en-US" altLang="zh-TW" dirty="0">
                    <a:sym typeface="Symbol" panose="05050102010706020507" pitchFamily="18" charset="2"/>
                  </a:rPr>
                  <a:t> non-negative real numbers</a:t>
                </a: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𝒇</m:t>
                            </m:r>
                            <m:d>
                              <m:d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mr>
                        <m:mr>
                          <m:e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𝒇</m:t>
                            </m:r>
                            <m:d>
                              <m:d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</m:d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p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mr>
                        <m:mr>
                          <m:e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𝒇</m:t>
                            </m:r>
                            <m:d>
                              <m:d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</m:d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b="1" i="0" smtClean="0">
                                <a:latin typeface="Cambria Math" panose="02040503050406030204" pitchFamily="18" charset="0"/>
                              </a:rPr>
                              <m:t>𝐥𝐠</m:t>
                            </m:r>
                            <m:r>
                              <a:rPr lang="en-US" altLang="zh-TW" b="1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mr>
                        <m:mr>
                          <m:e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𝒇</m:t>
                            </m:r>
                            <m:d>
                              <m:d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</m:d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sSup>
                              <m:sSup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p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There are two algorithms for the same problem (such as search algorithm)</a:t>
                </a:r>
              </a:p>
              <a:p>
                <a:pPr lvl="1"/>
                <a:r>
                  <a:rPr lang="en-US" altLang="zh-TW" dirty="0"/>
                  <a:t>suppose the time complexity of Algorithm A is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100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n</a:t>
                </a:r>
                <a:r>
                  <a:rPr lang="en-US" altLang="zh-TW" dirty="0"/>
                  <a:t>, and the time complexity of Algorithm B is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0.01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n</a:t>
                </a:r>
                <a:r>
                  <a:rPr lang="en-US" altLang="zh-TW" baseline="30000" dirty="0">
                    <a:solidFill>
                      <a:srgbClr val="C00000"/>
                    </a:solidFill>
                  </a:rPr>
                  <a:t>2</a:t>
                </a:r>
              </a:p>
              <a:p>
                <a:pPr lvl="1"/>
                <a:r>
                  <a:rPr lang="en-US" altLang="zh-TW" dirty="0">
                    <a:solidFill>
                      <a:srgbClr val="0000FF"/>
                    </a:solidFill>
                  </a:rPr>
                  <a:t>Algorithm A is fast than Algorithm B?</a:t>
                </a:r>
              </a:p>
              <a:p>
                <a:pPr lvl="1"/>
                <a:r>
                  <a:rPr lang="en-US" altLang="zh-TW" dirty="0"/>
                  <a:t>If input size is more than 10,000,</a:t>
                </a:r>
              </a:p>
              <a:p>
                <a:pPr marL="393192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𝟎𝟏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𝟏𝟎𝟎𝟎𝟎</m:t>
                          </m:r>
                        </m:e>
                        <m:sup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𝟏𝟎𝟎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𝟏𝟎𝟎𝟎𝟎</m:t>
                      </m:r>
                    </m:oMath>
                  </m:oMathPara>
                </a14:m>
                <a:endParaRPr lang="en-US" altLang="zh-TW" b="1" dirty="0">
                  <a:ea typeface="Cambria Math" panose="02040503050406030204" pitchFamily="18" charset="0"/>
                </a:endParaRPr>
              </a:p>
              <a:p>
                <a:pPr marL="393192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m:rPr>
                          <m:aln/>
                        </m:rPr>
                        <a:rPr lang="en-US" altLang="zh-TW" b="1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𝟏𝟎𝟎𝟎𝟎</m:t>
                      </m:r>
                    </m:oMath>
                  </m:oMathPara>
                </a14:m>
                <a:endParaRPr lang="en-US" altLang="zh-TW" dirty="0"/>
              </a:p>
              <a:p>
                <a:pPr lvl="1"/>
                <a:r>
                  <a:rPr lang="en-US" altLang="zh-TW" dirty="0">
                    <a:solidFill>
                      <a:srgbClr val="C00000"/>
                    </a:solidFill>
                  </a:rPr>
                  <a:t>for sufficiently large values of 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n</a:t>
                </a:r>
                <a:r>
                  <a:rPr lang="en-US" altLang="zh-TW" dirty="0"/>
                  <a:t>, time complexity of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 is more efficient than time complexity of </a:t>
                </a:r>
                <a:r>
                  <a:rPr lang="en-US" altLang="zh-TW" i="1" dirty="0"/>
                  <a:t>n</a:t>
                </a:r>
                <a:r>
                  <a:rPr lang="en-US" altLang="zh-TW" baseline="30000" dirty="0"/>
                  <a:t>2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6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930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Complexity Function 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C00000"/>
                </a:solidFill>
              </a:rPr>
              <a:t>pure quadratic function</a:t>
            </a:r>
            <a:r>
              <a:rPr lang="en-US" altLang="zh-TW" dirty="0"/>
              <a:t>: contain no linear term</a:t>
            </a:r>
          </a:p>
          <a:p>
            <a:pPr lvl="1"/>
            <a:r>
              <a:rPr lang="en-US" altLang="zh-TW" dirty="0"/>
              <a:t>5</a:t>
            </a:r>
            <a:r>
              <a:rPr lang="en-US" altLang="zh-TW" i="1" dirty="0"/>
              <a:t>n</a:t>
            </a:r>
            <a:r>
              <a:rPr lang="en-US" altLang="zh-TW" baseline="30000" dirty="0"/>
              <a:t>2</a:t>
            </a:r>
            <a:r>
              <a:rPr lang="zh-TW" altLang="en-US" dirty="0"/>
              <a:t>、</a:t>
            </a:r>
            <a:r>
              <a:rPr lang="en-US" altLang="zh-TW" dirty="0"/>
              <a:t>5</a:t>
            </a:r>
            <a:r>
              <a:rPr lang="en-US" altLang="zh-TW" i="1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 + 100</a:t>
            </a:r>
          </a:p>
          <a:p>
            <a:r>
              <a:rPr lang="en-US" altLang="zh-TW" dirty="0">
                <a:solidFill>
                  <a:srgbClr val="C00000"/>
                </a:solidFill>
              </a:rPr>
              <a:t>complete quadratic function</a:t>
            </a:r>
            <a:r>
              <a:rPr lang="en-US" altLang="zh-TW" dirty="0"/>
              <a:t>:</a:t>
            </a:r>
          </a:p>
          <a:p>
            <a:pPr lvl="1"/>
            <a:r>
              <a:rPr lang="en-US" altLang="zh-TW" dirty="0"/>
              <a:t>0.1</a:t>
            </a:r>
            <a:r>
              <a:rPr lang="en-US" altLang="zh-TW" i="1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 + </a:t>
            </a:r>
            <a:r>
              <a:rPr lang="en-US" altLang="zh-TW" i="1" dirty="0"/>
              <a:t>n</a:t>
            </a:r>
            <a:r>
              <a:rPr lang="en-US" altLang="zh-TW" dirty="0"/>
              <a:t> + 100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throw away low-order terms when classifying complexity functions</a:t>
            </a:r>
          </a:p>
          <a:p>
            <a:pPr lvl="1"/>
            <a:r>
              <a:rPr lang="en-US" altLang="zh-TW" dirty="0"/>
              <a:t>classify 0.1</a:t>
            </a:r>
            <a:r>
              <a:rPr lang="en-US" altLang="zh-TW" i="1" dirty="0"/>
              <a:t>n</a:t>
            </a:r>
            <a:r>
              <a:rPr lang="en-US" altLang="zh-TW" baseline="30000" dirty="0"/>
              <a:t>3</a:t>
            </a:r>
            <a:r>
              <a:rPr lang="en-US" altLang="zh-TW" dirty="0"/>
              <a:t> + 10</a:t>
            </a:r>
            <a:r>
              <a:rPr lang="en-US" altLang="zh-TW" i="1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 + 5</a:t>
            </a:r>
            <a:r>
              <a:rPr lang="en-US" altLang="zh-TW" i="1" dirty="0"/>
              <a:t>n</a:t>
            </a:r>
            <a:r>
              <a:rPr lang="en-US" altLang="zh-TW" dirty="0"/>
              <a:t> + 25</a:t>
            </a:r>
            <a:r>
              <a:rPr lang="zh-TW" altLang="en-US" dirty="0"/>
              <a:t> </a:t>
            </a:r>
            <a:r>
              <a:rPr lang="en-US" altLang="zh-TW" dirty="0"/>
              <a:t>with pure cubic function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537236" y="2887420"/>
          <a:ext cx="6096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000" b="1" i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r>
                        <a:rPr lang="en-US" altLang="zh-TW" sz="2000" b="1" i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baseline="30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30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r>
                        <a:rPr lang="en-US" altLang="zh-TW" sz="2000" b="1" i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baseline="30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0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US" altLang="zh-TW" sz="2000" b="1" i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+ 100</a:t>
                      </a:r>
                      <a:endParaRPr lang="zh-TW" altLang="en-US" sz="20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100000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101100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4027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Complexity Function 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C00000"/>
                </a:solidFill>
                <a:sym typeface="Symbol" panose="05050102010706020507" pitchFamily="18" charset="2"/>
              </a:rPr>
              <a:t>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(</a:t>
            </a:r>
            <a:r>
              <a:rPr lang="en-US" altLang="zh-TW" i="1" dirty="0">
                <a:solidFill>
                  <a:srgbClr val="C00000"/>
                </a:solidFill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)</a:t>
            </a:r>
            <a:r>
              <a:rPr lang="en-US" altLang="zh-TW" dirty="0">
                <a:sym typeface="Symbol" panose="05050102010706020507" pitchFamily="18" charset="2"/>
              </a:rPr>
              <a:t>: the set of all complexity functions that can be classified with pure quadratic functions</a:t>
            </a:r>
            <a:endParaRPr lang="en-US" altLang="zh-TW" dirty="0">
              <a:solidFill>
                <a:srgbClr val="C00000"/>
              </a:solidFill>
              <a:sym typeface="Symbol" panose="05050102010706020507" pitchFamily="18" charset="2"/>
            </a:endParaRPr>
          </a:p>
          <a:p>
            <a:pPr lvl="1"/>
            <a:r>
              <a:rPr lang="en-US" altLang="zh-TW" i="1" dirty="0">
                <a:sym typeface="Symbol" panose="05050102010706020507" pitchFamily="18" charset="2"/>
              </a:rPr>
              <a:t>g</a:t>
            </a:r>
            <a:r>
              <a:rPr lang="en-US" altLang="zh-TW" dirty="0">
                <a:sym typeface="Symbol" panose="05050102010706020507" pitchFamily="18" charset="2"/>
              </a:rPr>
              <a:t>(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dirty="0">
                <a:sym typeface="Symbol" panose="05050102010706020507" pitchFamily="18" charset="2"/>
              </a:rPr>
              <a:t>) = 5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 + 100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dirty="0">
                <a:sym typeface="Symbol" panose="05050102010706020507" pitchFamily="18" charset="2"/>
              </a:rPr>
              <a:t> + 20  (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)</a:t>
            </a:r>
          </a:p>
          <a:p>
            <a:pPr lvl="1"/>
            <a:r>
              <a:rPr lang="en-US" altLang="zh-TW" dirty="0"/>
              <a:t>When an algorithm’s time complexity is in </a:t>
            </a:r>
            <a:r>
              <a:rPr lang="zh-TW" altLang="en-US" dirty="0">
                <a:sym typeface="Symbol" panose="05050102010706020507" pitchFamily="18" charset="2"/>
              </a:rPr>
              <a:t></a:t>
            </a:r>
            <a:r>
              <a:rPr lang="en-US" altLang="zh-TW" dirty="0">
                <a:sym typeface="Symbol" panose="05050102010706020507" pitchFamily="18" charset="2"/>
              </a:rPr>
              <a:t>(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), the algorithm is called a </a:t>
            </a:r>
            <a:r>
              <a:rPr lang="en-US" altLang="zh-TW" dirty="0">
                <a:solidFill>
                  <a:srgbClr val="C00000"/>
                </a:solidFill>
              </a:rPr>
              <a:t>quadratic-time algorithm </a:t>
            </a:r>
            <a:r>
              <a:rPr lang="en-US" altLang="zh-TW" dirty="0"/>
              <a:t>or a </a:t>
            </a:r>
            <a:r>
              <a:rPr lang="zh-TW" altLang="en-US" dirty="0">
                <a:solidFill>
                  <a:srgbClr val="C00000"/>
                </a:solidFill>
                <a:sym typeface="Symbol" panose="05050102010706020507" pitchFamily="18" charset="2"/>
              </a:rPr>
              <a:t>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(</a:t>
            </a:r>
            <a:r>
              <a:rPr lang="en-US" altLang="zh-TW" i="1" dirty="0">
                <a:solidFill>
                  <a:srgbClr val="C00000"/>
                </a:solidFill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)</a:t>
            </a:r>
            <a:r>
              <a:rPr lang="en-US" altLang="zh-TW" dirty="0">
                <a:solidFill>
                  <a:srgbClr val="C00000"/>
                </a:solidFill>
              </a:rPr>
              <a:t> algorithm.</a:t>
            </a:r>
          </a:p>
          <a:p>
            <a:endParaRPr lang="en-US" altLang="zh-TW" dirty="0"/>
          </a:p>
          <a:p>
            <a:r>
              <a:rPr lang="en-US" altLang="zh-TW" dirty="0"/>
              <a:t>the most common complexity categories:</a:t>
            </a:r>
          </a:p>
          <a:p>
            <a:pPr marL="0" indent="0">
              <a:buNone/>
            </a:pPr>
            <a:r>
              <a:rPr lang="en-US" altLang="zh-TW" dirty="0">
                <a:sym typeface="Symbol" panose="05050102010706020507" pitchFamily="18" charset="2"/>
              </a:rPr>
              <a:t>     (</a:t>
            </a:r>
            <a:r>
              <a:rPr lang="en-US" altLang="zh-TW" dirty="0" err="1">
                <a:sym typeface="Symbol" panose="05050102010706020507" pitchFamily="18" charset="2"/>
              </a:rPr>
              <a:t>lg</a:t>
            </a:r>
            <a:r>
              <a:rPr lang="en-US" altLang="zh-TW" dirty="0">
                <a:sym typeface="Symbol" panose="05050102010706020507" pitchFamily="18" charset="2"/>
              </a:rPr>
              <a:t>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dirty="0">
                <a:sym typeface="Symbol" panose="05050102010706020507" pitchFamily="18" charset="2"/>
              </a:rPr>
              <a:t>)    (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dirty="0">
                <a:sym typeface="Symbol" panose="05050102010706020507" pitchFamily="18" charset="2"/>
              </a:rPr>
              <a:t>)    (</a:t>
            </a:r>
            <a:r>
              <a:rPr lang="en-US" altLang="zh-TW" i="1" dirty="0" err="1">
                <a:sym typeface="Symbol" panose="05050102010706020507" pitchFamily="18" charset="2"/>
              </a:rPr>
              <a:t>n</a:t>
            </a:r>
            <a:r>
              <a:rPr lang="en-US" altLang="zh-TW" dirty="0" err="1">
                <a:sym typeface="Symbol" panose="05050102010706020507" pitchFamily="18" charset="2"/>
              </a:rPr>
              <a:t>lg</a:t>
            </a:r>
            <a:r>
              <a:rPr lang="en-US" altLang="zh-TW" dirty="0">
                <a:sym typeface="Symbol" panose="05050102010706020507" pitchFamily="18" charset="2"/>
              </a:rPr>
              <a:t>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dirty="0">
                <a:sym typeface="Symbol" panose="05050102010706020507" pitchFamily="18" charset="2"/>
              </a:rPr>
              <a:t>)    (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)    (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ym typeface="Symbol" panose="05050102010706020507" pitchFamily="18" charset="2"/>
              </a:rPr>
              <a:t>3</a:t>
            </a:r>
            <a:r>
              <a:rPr lang="en-US" altLang="zh-TW" dirty="0">
                <a:sym typeface="Symbol" panose="05050102010706020507" pitchFamily="18" charset="2"/>
              </a:rPr>
              <a:t>)    (2</a:t>
            </a:r>
            <a:r>
              <a:rPr lang="en-US" altLang="zh-TW" i="1" baseline="30000" dirty="0">
                <a:sym typeface="Symbol" panose="05050102010706020507" pitchFamily="18" charset="2"/>
              </a:rPr>
              <a:t>n</a:t>
            </a:r>
            <a:r>
              <a:rPr lang="en-US" altLang="zh-TW" dirty="0">
                <a:sym typeface="Symbol" panose="05050102010706020507" pitchFamily="18" charset="2"/>
              </a:rPr>
              <a:t>)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An algorithm has to be 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(</a:t>
            </a:r>
            <a:r>
              <a:rPr lang="en-US" altLang="zh-TW" i="1" dirty="0" err="1">
                <a:solidFill>
                  <a:srgbClr val="C00000"/>
                </a:solidFill>
                <a:sym typeface="Symbol" panose="05050102010706020507" pitchFamily="18" charset="2"/>
              </a:rPr>
              <a:t>n</a:t>
            </a:r>
            <a:r>
              <a:rPr lang="en-US" altLang="zh-TW" dirty="0" err="1">
                <a:solidFill>
                  <a:srgbClr val="C00000"/>
                </a:solidFill>
                <a:sym typeface="Symbol" panose="05050102010706020507" pitchFamily="18" charset="2"/>
              </a:rPr>
              <a:t>lg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TW" i="1" dirty="0">
                <a:solidFill>
                  <a:srgbClr val="C00000"/>
                </a:solidFill>
                <a:sym typeface="Symbol" panose="05050102010706020507" pitchFamily="18" charset="2"/>
              </a:rPr>
              <a:t>n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)</a:t>
            </a:r>
            <a:r>
              <a:rPr lang="en-US" altLang="zh-TW" dirty="0">
                <a:sym typeface="Symbol" panose="05050102010706020507" pitchFamily="18" charset="2"/>
              </a:rPr>
              <a:t> or 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better</a:t>
            </a:r>
            <a:r>
              <a:rPr lang="en-US" altLang="zh-TW" dirty="0">
                <a:sym typeface="Symbol" panose="05050102010706020507" pitchFamily="18" charset="2"/>
              </a:rPr>
              <a:t> for us to assume that it can process extremely large instances in tolerable amounts of time.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03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big </a:t>
            </a:r>
            <a:r>
              <a:rPr lang="en-US" altLang="zh-TW" i="1" dirty="0"/>
              <a:t>O</a:t>
            </a:r>
            <a:r>
              <a:rPr lang="en-US" altLang="zh-TW" dirty="0"/>
              <a:t> (1/2)</a:t>
            </a:r>
            <a:endParaRPr lang="zh-TW" alt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TW" dirty="0">
                    <a:solidFill>
                      <a:srgbClr val="C00000"/>
                    </a:solidFill>
                  </a:rPr>
                  <a:t>asymptotic upper bound(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漸近上限</a:t>
                </a:r>
                <a:r>
                  <a:rPr kumimoji="1" lang="en-US" altLang="zh-TW" dirty="0">
                    <a:solidFill>
                      <a:srgbClr val="C00000"/>
                    </a:solidFill>
                  </a:rPr>
                  <a:t>)</a:t>
                </a:r>
              </a:p>
              <a:p>
                <a:r>
                  <a:rPr kumimoji="1" lang="en-US" altLang="zh-TW" dirty="0">
                    <a:solidFill>
                      <a:srgbClr val="333333"/>
                    </a:solidFill>
                  </a:rPr>
                  <a:t>For a given complexity function 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f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(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), 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O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(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f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(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)) is the set of complexity functions</a:t>
                </a:r>
                <a:r>
                  <a:rPr kumimoji="1" lang="zh-TW" altLang="en-US" dirty="0">
                    <a:solidFill>
                      <a:srgbClr val="333333"/>
                    </a:solidFill>
                  </a:rPr>
                  <a:t> 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g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(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) for which there </a:t>
                </a:r>
                <a:r>
                  <a:rPr kumimoji="1" lang="en-US" altLang="zh-TW" dirty="0">
                    <a:solidFill>
                      <a:srgbClr val="C00000"/>
                    </a:solidFill>
                  </a:rPr>
                  <a:t>exists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 some positive real constant 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c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 and some nonnegative integer 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 such that for all 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lang="en-US" altLang="zh-TW" i="1" dirty="0"/>
                  <a:t> </a:t>
                </a:r>
                <a14:m>
                  <m:oMath xmlns:m="http://schemas.openxmlformats.org/officeDocument/2006/math">
                    <m:r>
                      <a:rPr kumimoji="1" lang="zh-TW" altLang="en-US" b="1" i="1">
                        <a:latin typeface="Cambria Math"/>
                        <a:ea typeface="文鼎粗黑"/>
                      </a:rPr>
                      <m:t>≥</m:t>
                    </m:r>
                  </m:oMath>
                </a14:m>
                <a:r>
                  <a:rPr lang="en-US" altLang="zh-TW" i="1" dirty="0"/>
                  <a:t> N</a:t>
                </a:r>
                <a:r>
                  <a:rPr lang="en-US" altLang="zh-TW" dirty="0"/>
                  <a:t>,</a:t>
                </a:r>
              </a:p>
              <a:p>
                <a:pPr marL="27432" indent="0" algn="ctr">
                  <a:buNone/>
                </a:pPr>
                <a:r>
                  <a:rPr lang="en-US" altLang="zh-TW" i="1" dirty="0"/>
                  <a:t>g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</a:t>
                </a:r>
                <a:r>
                  <a:rPr lang="en-US" altLang="zh-TW" dirty="0">
                    <a:sym typeface="Symbol" panose="05050102010706020507" pitchFamily="18" charset="2"/>
                  </a:rPr>
                  <a:t>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c</a:t>
                </a:r>
                <a:r>
                  <a:rPr lang="en-US" altLang="zh-TW" dirty="0">
                    <a:sym typeface="Symbol" panose="05050102010706020507" pitchFamily="18" charset="2"/>
                  </a:rPr>
                  <a:t> 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f</a:t>
                </a:r>
                <a:r>
                  <a:rPr lang="en-US" altLang="zh-TW" dirty="0">
                    <a:sym typeface="Symbol" panose="05050102010706020507" pitchFamily="18" charset="2"/>
                  </a:rPr>
                  <a:t>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dirty="0">
                    <a:sym typeface="Symbol" panose="05050102010706020507" pitchFamily="18" charset="2"/>
                  </a:rPr>
                  <a:t>)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If </a:t>
                </a:r>
                <a:r>
                  <a:rPr lang="en-US" altLang="zh-TW" i="1" dirty="0"/>
                  <a:t>g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</a:t>
                </a:r>
                <a:r>
                  <a:rPr lang="en-US" altLang="zh-TW" dirty="0">
                    <a:sym typeface="Symbol" panose="05050102010706020507" pitchFamily="18" charset="2"/>
                  </a:rPr>
                  <a:t></a:t>
                </a:r>
                <a:r>
                  <a:rPr lang="en-US" altLang="zh-TW" dirty="0"/>
                  <a:t>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f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)), say </a:t>
                </a:r>
                <a:r>
                  <a:rPr lang="en-US" altLang="zh-TW" i="1" dirty="0"/>
                  <a:t>g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is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big 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O</a:t>
                </a:r>
                <a:r>
                  <a:rPr lang="en-US" altLang="zh-TW" dirty="0"/>
                  <a:t> of </a:t>
                </a:r>
                <a:r>
                  <a:rPr lang="en-US" altLang="zh-TW" i="1" dirty="0"/>
                  <a:t>f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).</a:t>
                </a:r>
              </a:p>
              <a:p>
                <a:r>
                  <a:rPr lang="en-US" altLang="zh-TW" i="1" dirty="0"/>
                  <a:t>g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</a:t>
                </a:r>
                <a:r>
                  <a:rPr lang="en-US" altLang="zh-TW" dirty="0">
                    <a:sym typeface="Symbol" panose="05050102010706020507" pitchFamily="18" charset="2"/>
                  </a:rPr>
                  <a:t>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O</a:t>
                </a:r>
                <a:r>
                  <a:rPr lang="en-US" altLang="zh-TW" dirty="0">
                    <a:sym typeface="Symbol" panose="05050102010706020507" pitchFamily="18" charset="2"/>
                  </a:rPr>
                  <a:t>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baseline="30000" dirty="0">
                    <a:sym typeface="Symbol" panose="05050102010706020507" pitchFamily="18" charset="2"/>
                  </a:rPr>
                  <a:t>2</a:t>
                </a:r>
                <a:r>
                  <a:rPr lang="en-US" altLang="zh-TW" dirty="0">
                    <a:sym typeface="Symbol" panose="05050102010706020507" pitchFamily="18" charset="2"/>
                  </a:rPr>
                  <a:t>): eventually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g</a:t>
                </a:r>
                <a:r>
                  <a:rPr lang="en-US" altLang="zh-TW" dirty="0">
                    <a:sym typeface="Symbol" panose="05050102010706020507" pitchFamily="18" charset="2"/>
                  </a:rPr>
                  <a:t>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dirty="0">
                    <a:sym typeface="Symbol" panose="05050102010706020507" pitchFamily="18" charset="2"/>
                  </a:rPr>
                  <a:t>) lies </a:t>
                </a:r>
                <a:r>
                  <a:rPr lang="en-US" altLang="zh-TW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beneath</a:t>
                </a:r>
                <a:r>
                  <a:rPr lang="en-US" altLang="zh-TW" dirty="0">
                    <a:sym typeface="Symbol" panose="05050102010706020507" pitchFamily="18" charset="2"/>
                  </a:rPr>
                  <a:t> some pure quadratic function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cn</a:t>
                </a:r>
                <a:r>
                  <a:rPr lang="en-US" altLang="zh-TW" baseline="30000" dirty="0">
                    <a:sym typeface="Symbol" panose="05050102010706020507" pitchFamily="18" charset="2"/>
                  </a:rPr>
                  <a:t>2</a:t>
                </a:r>
                <a:r>
                  <a:rPr lang="zh-TW" altLang="en-US" dirty="0">
                    <a:sym typeface="Symbol" panose="05050102010706020507" pitchFamily="18" charset="2"/>
                  </a:rPr>
                  <a:t> </a:t>
                </a:r>
                <a:r>
                  <a:rPr lang="en-US" altLang="zh-TW" dirty="0">
                    <a:sym typeface="Symbol" panose="05050102010706020507" pitchFamily="18" charset="2"/>
                  </a:rPr>
                  <a:t>on a graph</a:t>
                </a:r>
                <a:endParaRPr lang="en-US" altLang="zh-TW" dirty="0">
                  <a:solidFill>
                    <a:srgbClr val="C00000"/>
                  </a:solidFill>
                  <a:sym typeface="Symbol" panose="05050102010706020507" pitchFamily="18" charset="2"/>
                </a:endParaRPr>
              </a:p>
              <a:p>
                <a:r>
                  <a:rPr lang="en-US" altLang="zh-TW" i="1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g</a:t>
                </a:r>
                <a:r>
                  <a:rPr lang="en-US" altLang="zh-TW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(</a:t>
                </a:r>
                <a:r>
                  <a:rPr lang="en-US" altLang="zh-TW" i="1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n</a:t>
                </a:r>
                <a:r>
                  <a:rPr lang="en-US" altLang="zh-TW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) is at least as good as a pure quadratic function.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t="-5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11" name="群組 10"/>
          <p:cNvGrpSpPr/>
          <p:nvPr/>
        </p:nvGrpSpPr>
        <p:grpSpPr>
          <a:xfrm>
            <a:off x="5868144" y="4365104"/>
            <a:ext cx="3254678" cy="2371108"/>
            <a:chOff x="5219915" y="3890765"/>
            <a:chExt cx="3254678" cy="2371108"/>
          </a:xfrm>
        </p:grpSpPr>
        <p:graphicFrame>
          <p:nvGraphicFramePr>
            <p:cNvPr id="7" name="Object 7"/>
            <p:cNvGraphicFramePr>
              <a:graphicFrameLocks noChangeAspect="1"/>
            </p:cNvGraphicFramePr>
            <p:nvPr/>
          </p:nvGraphicFramePr>
          <p:xfrm>
            <a:off x="5219915" y="3957981"/>
            <a:ext cx="3105150" cy="2185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3529889" imgH="2486558" progId="Visio.Drawing.6">
                    <p:embed/>
                  </p:oleObj>
                </mc:Choice>
                <mc:Fallback>
                  <p:oleObj name="Visio" r:id="rId4" imgW="3529889" imgH="2486558" progId="Visio.Drawing.6">
                    <p:embed/>
                    <p:pic>
                      <p:nvPicPr>
                        <p:cNvPr id="7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9915" y="3957981"/>
                          <a:ext cx="3105150" cy="21859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文字方塊 7"/>
            <p:cNvSpPr txBox="1"/>
            <p:nvPr/>
          </p:nvSpPr>
          <p:spPr>
            <a:xfrm>
              <a:off x="7778569" y="4399005"/>
              <a:ext cx="625492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g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n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7778569" y="3890765"/>
              <a:ext cx="69602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err="1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cf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n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5929170" y="5861763"/>
              <a:ext cx="37061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N</a:t>
              </a:r>
              <a:endPara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4548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big </a:t>
            </a:r>
            <a:r>
              <a:rPr lang="en-US" altLang="zh-TW" i="1" dirty="0"/>
              <a:t>O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Show that </a:t>
            </a:r>
            <a:r>
              <a:rPr lang="en-US" altLang="zh-TW" dirty="0">
                <a:solidFill>
                  <a:srgbClr val="0000FF"/>
                </a:solidFill>
              </a:rPr>
              <a:t>5</a:t>
            </a:r>
            <a:r>
              <a:rPr lang="en-US" altLang="zh-TW" i="1" dirty="0">
                <a:solidFill>
                  <a:srgbClr val="0000FF"/>
                </a:solidFill>
              </a:rPr>
              <a:t>n</a:t>
            </a:r>
            <a:r>
              <a:rPr lang="en-US" altLang="zh-TW" baseline="30000" dirty="0">
                <a:solidFill>
                  <a:srgbClr val="0000FF"/>
                </a:solidFill>
              </a:rPr>
              <a:t>2</a:t>
            </a:r>
            <a:r>
              <a:rPr lang="en-US" altLang="zh-TW" dirty="0">
                <a:solidFill>
                  <a:srgbClr val="0000FF"/>
                </a:solidFill>
              </a:rPr>
              <a:t> 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 </a:t>
            </a:r>
            <a:r>
              <a:rPr lang="en-US" altLang="zh-TW" i="1" dirty="0">
                <a:solidFill>
                  <a:srgbClr val="0000FF"/>
                </a:solidFill>
                <a:sym typeface="Symbol" panose="05050102010706020507" pitchFamily="18" charset="2"/>
              </a:rPr>
              <a:t>O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(</a:t>
            </a:r>
            <a:r>
              <a:rPr lang="en-US" altLang="zh-TW" i="1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).</a:t>
            </a:r>
          </a:p>
          <a:p>
            <a:pPr lvl="1"/>
            <a:r>
              <a:rPr lang="en-US" altLang="zh-TW" i="1" dirty="0"/>
              <a:t>g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 = 5</a:t>
            </a:r>
            <a:r>
              <a:rPr lang="en-US" altLang="zh-TW" i="1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, </a:t>
            </a:r>
            <a:r>
              <a:rPr lang="en-US" altLang="zh-TW" i="1" dirty="0"/>
              <a:t>f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 = </a:t>
            </a:r>
            <a:r>
              <a:rPr lang="en-US" altLang="zh-TW" i="1" dirty="0"/>
              <a:t>n</a:t>
            </a:r>
            <a:r>
              <a:rPr lang="en-US" altLang="zh-TW" baseline="30000" dirty="0"/>
              <a:t>2</a:t>
            </a:r>
            <a:endParaRPr lang="en-US" altLang="zh-TW" dirty="0"/>
          </a:p>
          <a:p>
            <a:pPr lvl="1"/>
            <a:r>
              <a:rPr lang="en-US" altLang="zh-TW" dirty="0"/>
              <a:t>take </a:t>
            </a:r>
            <a:r>
              <a:rPr lang="en-US" altLang="zh-TW" i="1" dirty="0">
                <a:solidFill>
                  <a:srgbClr val="C00000"/>
                </a:solidFill>
                <a:sym typeface="Symbol" panose="05050102010706020507" pitchFamily="18" charset="2"/>
              </a:rPr>
              <a:t>c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 = 5 and </a:t>
            </a:r>
            <a:r>
              <a:rPr lang="en-US" altLang="zh-TW" i="1" dirty="0">
                <a:solidFill>
                  <a:srgbClr val="C00000"/>
                </a:solidFill>
                <a:sym typeface="Symbol" panose="05050102010706020507" pitchFamily="18" charset="2"/>
              </a:rPr>
              <a:t>N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 = 0</a:t>
            </a:r>
          </a:p>
          <a:p>
            <a:pPr lvl="1"/>
            <a:r>
              <a:rPr lang="en-US" altLang="zh-TW" dirty="0">
                <a:sym typeface="Symbol" panose="05050102010706020507" pitchFamily="18" charset="2"/>
              </a:rPr>
              <a:t>5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  5 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, for all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dirty="0">
                <a:sym typeface="Symbol" panose="05050102010706020507" pitchFamily="18" charset="2"/>
              </a:rPr>
              <a:t>  0</a:t>
            </a:r>
          </a:p>
          <a:p>
            <a:endParaRPr lang="en-US" altLang="zh-TW" dirty="0">
              <a:sym typeface="Symbol" panose="05050102010706020507" pitchFamily="18" charset="2"/>
            </a:endParaRPr>
          </a:p>
          <a:p>
            <a:r>
              <a:rPr lang="en-US" altLang="zh-TW" dirty="0">
                <a:sym typeface="Symbol" panose="05050102010706020507" pitchFamily="18" charset="2"/>
              </a:rPr>
              <a:t>Show that </a:t>
            </a:r>
            <a:r>
              <a:rPr lang="en-US" altLang="zh-TW" i="1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 + 10</a:t>
            </a:r>
            <a:r>
              <a:rPr lang="en-US" altLang="zh-TW" i="1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  </a:t>
            </a:r>
            <a:r>
              <a:rPr lang="en-US" altLang="zh-TW" i="1" dirty="0">
                <a:solidFill>
                  <a:srgbClr val="0000FF"/>
                </a:solidFill>
                <a:sym typeface="Symbol" panose="05050102010706020507" pitchFamily="18" charset="2"/>
              </a:rPr>
              <a:t>O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(</a:t>
            </a:r>
            <a:r>
              <a:rPr lang="en-US" altLang="zh-TW" i="1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).</a:t>
            </a:r>
          </a:p>
          <a:p>
            <a:pPr lvl="1"/>
            <a:r>
              <a:rPr lang="en-US" altLang="zh-TW" i="1" dirty="0"/>
              <a:t>g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 =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 + 10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dirty="0"/>
              <a:t>, </a:t>
            </a:r>
            <a:r>
              <a:rPr lang="en-US" altLang="zh-TW" i="1" dirty="0"/>
              <a:t>f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 = </a:t>
            </a:r>
            <a:r>
              <a:rPr lang="en-US" altLang="zh-TW" i="1" dirty="0"/>
              <a:t>n</a:t>
            </a:r>
            <a:r>
              <a:rPr lang="en-US" altLang="zh-TW" baseline="30000" dirty="0"/>
              <a:t>2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take </a:t>
            </a:r>
            <a:r>
              <a:rPr lang="en-US" altLang="zh-TW" i="1" dirty="0">
                <a:solidFill>
                  <a:srgbClr val="C00000"/>
                </a:solidFill>
                <a:sym typeface="Symbol" panose="05050102010706020507" pitchFamily="18" charset="2"/>
              </a:rPr>
              <a:t>c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 = 2 and </a:t>
            </a:r>
            <a:r>
              <a:rPr lang="en-US" altLang="zh-TW" i="1" dirty="0">
                <a:solidFill>
                  <a:srgbClr val="C00000"/>
                </a:solidFill>
                <a:sym typeface="Symbol" panose="05050102010706020507" pitchFamily="18" charset="2"/>
              </a:rPr>
              <a:t>N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 = 10</a:t>
            </a:r>
          </a:p>
          <a:p>
            <a:pPr lvl="1"/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 + 10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dirty="0">
                <a:sym typeface="Symbol" panose="05050102010706020507" pitchFamily="18" charset="2"/>
              </a:rPr>
              <a:t>  2 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, for all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dirty="0">
                <a:sym typeface="Symbol" panose="05050102010706020507" pitchFamily="18" charset="2"/>
              </a:rPr>
              <a:t>  10</a:t>
            </a:r>
          </a:p>
          <a:p>
            <a:pPr lvl="1"/>
            <a:r>
              <a:rPr lang="en-US" altLang="zh-TW" i="1" dirty="0"/>
              <a:t>g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 =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 + 10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dirty="0"/>
              <a:t>, </a:t>
            </a:r>
            <a:r>
              <a:rPr lang="en-US" altLang="zh-TW" i="1" dirty="0"/>
              <a:t>f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 = </a:t>
            </a:r>
            <a:r>
              <a:rPr lang="en-US" altLang="zh-TW" i="1" dirty="0"/>
              <a:t>n</a:t>
            </a:r>
            <a:r>
              <a:rPr lang="en-US" altLang="zh-TW" baseline="30000" dirty="0"/>
              <a:t>2</a:t>
            </a:r>
            <a:endParaRPr lang="en-US" altLang="zh-TW" dirty="0"/>
          </a:p>
          <a:p>
            <a:pPr lvl="1"/>
            <a:r>
              <a:rPr lang="en-US" altLang="zh-TW" dirty="0"/>
              <a:t>take </a:t>
            </a:r>
            <a:r>
              <a:rPr lang="en-US" altLang="zh-TW" i="1" dirty="0">
                <a:solidFill>
                  <a:srgbClr val="C00000"/>
                </a:solidFill>
                <a:sym typeface="Symbol" panose="05050102010706020507" pitchFamily="18" charset="2"/>
              </a:rPr>
              <a:t>c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 = 11 and </a:t>
            </a:r>
            <a:r>
              <a:rPr lang="en-US" altLang="zh-TW" i="1" dirty="0">
                <a:solidFill>
                  <a:srgbClr val="C00000"/>
                </a:solidFill>
                <a:sym typeface="Symbol" panose="05050102010706020507" pitchFamily="18" charset="2"/>
              </a:rPr>
              <a:t>N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 = 1</a:t>
            </a:r>
          </a:p>
          <a:p>
            <a:pPr lvl="1"/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 + 10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dirty="0">
                <a:sym typeface="Symbol" panose="05050102010706020507" pitchFamily="18" charset="2"/>
              </a:rPr>
              <a:t> 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 + 10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 = 11 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, for all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dirty="0">
                <a:sym typeface="Symbol" panose="05050102010706020507" pitchFamily="18" charset="2"/>
              </a:rPr>
              <a:t>  1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4561557" y="76883"/>
            <a:ext cx="4534591" cy="1938992"/>
          </a:xfrm>
          <a:prstGeom prst="rect">
            <a:avLst/>
          </a:prstGeom>
          <a:solidFill>
            <a:srgbClr val="FFFFCC"/>
          </a:solidFill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For a given complexity function </a:t>
            </a:r>
            <a:r>
              <a:rPr lang="en-US" altLang="zh-TW" sz="2000" b="1" i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), </a:t>
            </a:r>
            <a:r>
              <a:rPr lang="en-US" altLang="zh-TW" sz="2000" b="1" i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</a:t>
            </a:r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)) is the set of complexity functions </a:t>
            </a:r>
            <a:r>
              <a:rPr lang="en-US" altLang="zh-TW" sz="2000" b="1" i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</a:t>
            </a:r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for which there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exists</a:t>
            </a:r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some positive real constant </a:t>
            </a:r>
            <a:r>
              <a:rPr lang="en-US" altLang="zh-TW" sz="2000" b="1" i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and some nonnegative integer </a:t>
            </a:r>
            <a:r>
              <a:rPr lang="en-US" altLang="zh-TW" sz="2000" b="1" i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such that for all </a:t>
            </a:r>
            <a:r>
              <a:rPr lang="en-US" altLang="zh-TW" sz="2000" b="1" i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≥ </a:t>
            </a:r>
            <a:r>
              <a:rPr lang="en-US" altLang="zh-TW" sz="2000" b="1" i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7432" indent="0" algn="ctr">
              <a:buNone/>
            </a:pP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  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652792" y="2708920"/>
            <a:ext cx="2352119" cy="400110"/>
          </a:xfrm>
          <a:prstGeom prst="rect">
            <a:avLst/>
          </a:prstGeom>
          <a:solidFill>
            <a:srgbClr val="FFFFCC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big </a:t>
            </a:r>
            <a:r>
              <a:rPr lang="en-US" altLang="zh-TW" sz="2000" b="1" i="1" dirty="0">
                <a:latin typeface="+mj-lt"/>
              </a:rPr>
              <a:t>O</a:t>
            </a:r>
            <a:r>
              <a:rPr lang="en-US" altLang="zh-TW" sz="2000" b="1" dirty="0">
                <a:latin typeface="+mj-lt"/>
              </a:rPr>
              <a:t>: upper bound</a:t>
            </a:r>
            <a:endParaRPr lang="zh-TW" alt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11512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omega </a:t>
            </a:r>
            <a:r>
              <a:rPr lang="en-US" altLang="zh-TW" dirty="0">
                <a:sym typeface="Symbol" panose="05050102010706020507" pitchFamily="18" charset="2"/>
              </a:rPr>
              <a:t> (1/2)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TW" dirty="0">
                    <a:solidFill>
                      <a:srgbClr val="C00000"/>
                    </a:solidFill>
                  </a:rPr>
                  <a:t>asymptotic lower bound(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漸近下限</a:t>
                </a:r>
                <a:r>
                  <a:rPr kumimoji="1" lang="en-US" altLang="zh-TW" dirty="0">
                    <a:solidFill>
                      <a:srgbClr val="C00000"/>
                    </a:solidFill>
                  </a:rPr>
                  <a:t>)</a:t>
                </a:r>
              </a:p>
              <a:p>
                <a:r>
                  <a:rPr kumimoji="1" lang="en-US" altLang="zh-TW" dirty="0">
                    <a:solidFill>
                      <a:srgbClr val="333333"/>
                    </a:solidFill>
                  </a:rPr>
                  <a:t>For a given complexity function 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f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(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), </a:t>
                </a:r>
                <a:r>
                  <a:rPr lang="en-US" altLang="zh-TW" dirty="0">
                    <a:sym typeface="Symbol" panose="05050102010706020507" pitchFamily="18" charset="2"/>
                  </a:rPr>
                  <a:t>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(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f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(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)) is the set of complexity functions 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g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(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) for which there </a:t>
                </a:r>
                <a:r>
                  <a:rPr kumimoji="1" lang="en-US" altLang="zh-TW" dirty="0">
                    <a:solidFill>
                      <a:srgbClr val="C00000"/>
                    </a:solidFill>
                  </a:rPr>
                  <a:t>exists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 some positive real constant 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d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 and some nonnegative integer 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 such that, for all 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lang="en-US" altLang="zh-TW" i="1" dirty="0"/>
                  <a:t> </a:t>
                </a:r>
                <a14:m>
                  <m:oMath xmlns:m="http://schemas.openxmlformats.org/officeDocument/2006/math">
                    <m:r>
                      <a:rPr kumimoji="1" lang="zh-TW" altLang="en-US" i="1">
                        <a:latin typeface="Cambria Math"/>
                        <a:ea typeface="文鼎粗黑"/>
                      </a:rPr>
                      <m:t>≥</m:t>
                    </m:r>
                  </m:oMath>
                </a14:m>
                <a:r>
                  <a:rPr lang="en-US" altLang="zh-TW" i="1" dirty="0"/>
                  <a:t> N</a:t>
                </a:r>
                <a:r>
                  <a:rPr lang="en-US" altLang="zh-TW" dirty="0"/>
                  <a:t>,</a:t>
                </a:r>
              </a:p>
              <a:p>
                <a:pPr marL="27432" indent="0" algn="ctr">
                  <a:buNone/>
                </a:pPr>
                <a:r>
                  <a:rPr lang="en-US" altLang="zh-TW" i="1" dirty="0"/>
                  <a:t>g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</a:t>
                </a:r>
                <a:r>
                  <a:rPr lang="en-US" altLang="zh-TW" dirty="0">
                    <a:sym typeface="Symbol" panose="05050102010706020507" pitchFamily="18" charset="2"/>
                  </a:rPr>
                  <a:t>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d</a:t>
                </a:r>
                <a:r>
                  <a:rPr lang="en-US" altLang="zh-TW" dirty="0">
                    <a:sym typeface="Symbol" panose="05050102010706020507" pitchFamily="18" charset="2"/>
                  </a:rPr>
                  <a:t> 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f</a:t>
                </a:r>
                <a:r>
                  <a:rPr lang="en-US" altLang="zh-TW" dirty="0">
                    <a:sym typeface="Symbol" panose="05050102010706020507" pitchFamily="18" charset="2"/>
                  </a:rPr>
                  <a:t>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dirty="0">
                    <a:sym typeface="Symbol" panose="05050102010706020507" pitchFamily="18" charset="2"/>
                  </a:rPr>
                  <a:t>)</a:t>
                </a:r>
              </a:p>
              <a:p>
                <a:pPr marL="370332" indent="-342900"/>
                <a:endParaRPr lang="en-US" altLang="zh-TW" dirty="0"/>
              </a:p>
              <a:p>
                <a:pPr marL="370332" indent="-342900"/>
                <a:r>
                  <a:rPr lang="en-US" altLang="zh-TW" dirty="0"/>
                  <a:t>If </a:t>
                </a:r>
                <a:r>
                  <a:rPr lang="en-US" altLang="zh-TW" i="1" dirty="0"/>
                  <a:t>g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</a:t>
                </a:r>
                <a:r>
                  <a:rPr lang="en-US" altLang="zh-TW" dirty="0">
                    <a:sym typeface="Symbol" panose="05050102010706020507" pitchFamily="18" charset="2"/>
                  </a:rPr>
                  <a:t>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sym typeface="Symbol" panose="05050102010706020507" pitchFamily="18" charset="2"/>
                  </a:rPr>
                  <a:t>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f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)), say </a:t>
                </a:r>
                <a:r>
                  <a:rPr lang="en-US" altLang="zh-TW" i="1" dirty="0"/>
                  <a:t>g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is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omega</a:t>
                </a:r>
                <a:r>
                  <a:rPr lang="en-US" altLang="zh-TW" dirty="0"/>
                  <a:t> of </a:t>
                </a:r>
                <a:r>
                  <a:rPr lang="en-US" altLang="zh-TW" i="1" dirty="0"/>
                  <a:t>f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).</a:t>
                </a:r>
              </a:p>
              <a:p>
                <a:pPr marL="370332" indent="-342900"/>
                <a:r>
                  <a:rPr lang="en-US" altLang="zh-TW" i="1" dirty="0"/>
                  <a:t>g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</a:t>
                </a:r>
                <a:r>
                  <a:rPr lang="en-US" altLang="zh-TW" dirty="0">
                    <a:sym typeface="Symbol" panose="05050102010706020507" pitchFamily="18" charset="2"/>
                  </a:rPr>
                  <a:t> (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baseline="30000" dirty="0">
                    <a:sym typeface="Symbol" panose="05050102010706020507" pitchFamily="18" charset="2"/>
                  </a:rPr>
                  <a:t>2</a:t>
                </a:r>
                <a:r>
                  <a:rPr lang="en-US" altLang="zh-TW" dirty="0">
                    <a:sym typeface="Symbol" panose="05050102010706020507" pitchFamily="18" charset="2"/>
                  </a:rPr>
                  <a:t>): eventually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g</a:t>
                </a:r>
                <a:r>
                  <a:rPr lang="en-US" altLang="zh-TW" dirty="0">
                    <a:sym typeface="Symbol" panose="05050102010706020507" pitchFamily="18" charset="2"/>
                  </a:rPr>
                  <a:t>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dirty="0">
                    <a:sym typeface="Symbol" panose="05050102010706020507" pitchFamily="18" charset="2"/>
                  </a:rPr>
                  <a:t>) lies </a:t>
                </a:r>
                <a:r>
                  <a:rPr lang="en-US" altLang="zh-TW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above</a:t>
                </a:r>
                <a:r>
                  <a:rPr lang="en-US" altLang="zh-TW" dirty="0">
                    <a:sym typeface="Symbol" panose="05050102010706020507" pitchFamily="18" charset="2"/>
                  </a:rPr>
                  <a:t> some pure quadratic function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dn</a:t>
                </a:r>
                <a:r>
                  <a:rPr lang="en-US" altLang="zh-TW" baseline="30000" dirty="0">
                    <a:sym typeface="Symbol" panose="05050102010706020507" pitchFamily="18" charset="2"/>
                  </a:rPr>
                  <a:t>2</a:t>
                </a:r>
                <a:r>
                  <a:rPr lang="en-US" altLang="zh-TW" dirty="0">
                    <a:sym typeface="Symbol" panose="05050102010706020507" pitchFamily="18" charset="2"/>
                  </a:rPr>
                  <a:t> on a graph</a:t>
                </a:r>
                <a:endParaRPr lang="en-US" altLang="zh-TW" dirty="0">
                  <a:solidFill>
                    <a:srgbClr val="C00000"/>
                  </a:solidFill>
                  <a:sym typeface="Symbol" panose="05050102010706020507" pitchFamily="18" charset="2"/>
                </a:endParaRPr>
              </a:p>
              <a:p>
                <a:pPr marL="370332" indent="-342900"/>
                <a:r>
                  <a:rPr lang="en-US" altLang="zh-TW" i="1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g</a:t>
                </a:r>
                <a:r>
                  <a:rPr lang="en-US" altLang="zh-TW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(</a:t>
                </a:r>
                <a:r>
                  <a:rPr lang="en-US" altLang="zh-TW" i="1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n</a:t>
                </a:r>
                <a:r>
                  <a:rPr lang="en-US" altLang="zh-TW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)</a:t>
                </a:r>
                <a:r>
                  <a:rPr lang="zh-TW" altLang="en-US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altLang="zh-TW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is at least as bad as a pure quadratic function.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572" r="-8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11" name="群組 10"/>
          <p:cNvGrpSpPr/>
          <p:nvPr/>
        </p:nvGrpSpPr>
        <p:grpSpPr>
          <a:xfrm>
            <a:off x="5739366" y="4362790"/>
            <a:ext cx="3404634" cy="2495210"/>
            <a:chOff x="5309976" y="4096508"/>
            <a:chExt cx="3404634" cy="2495210"/>
          </a:xfrm>
        </p:grpSpPr>
        <p:graphicFrame>
          <p:nvGraphicFramePr>
            <p:cNvPr id="7" name="Object 5"/>
            <p:cNvGraphicFramePr>
              <a:graphicFrameLocks noChangeAspect="1"/>
            </p:cNvGraphicFramePr>
            <p:nvPr/>
          </p:nvGraphicFramePr>
          <p:xfrm>
            <a:off x="5309976" y="4096508"/>
            <a:ext cx="3348249" cy="2391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3468014" imgH="2478024" progId="Visio.Drawing.6">
                    <p:embed/>
                  </p:oleObj>
                </mc:Choice>
                <mc:Fallback>
                  <p:oleObj name="Visio" r:id="rId4" imgW="3468014" imgH="2478024" progId="Visio.Drawing.6">
                    <p:embed/>
                    <p:pic>
                      <p:nvPicPr>
                        <p:cNvPr id="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9976" y="4096508"/>
                          <a:ext cx="3348249" cy="2391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文字方塊 7"/>
            <p:cNvSpPr txBox="1"/>
            <p:nvPr/>
          </p:nvSpPr>
          <p:spPr>
            <a:xfrm>
              <a:off x="8004159" y="4231994"/>
              <a:ext cx="625492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g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n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8004159" y="4947684"/>
              <a:ext cx="710451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err="1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df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n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6062277" y="6191608"/>
              <a:ext cx="37061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N</a:t>
              </a:r>
              <a:endPara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6682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omega </a:t>
            </a:r>
            <a:r>
              <a:rPr lang="en-US" altLang="zh-TW" dirty="0">
                <a:sym typeface="Symbol" panose="05050102010706020507" pitchFamily="18" charset="2"/>
              </a:rPr>
              <a:t> 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Show that </a:t>
            </a:r>
            <a:r>
              <a:rPr lang="en-US" altLang="zh-TW" dirty="0">
                <a:solidFill>
                  <a:srgbClr val="0000FF"/>
                </a:solidFill>
              </a:rPr>
              <a:t>5</a:t>
            </a:r>
            <a:r>
              <a:rPr lang="en-US" altLang="zh-TW" i="1" dirty="0">
                <a:solidFill>
                  <a:srgbClr val="0000FF"/>
                </a:solidFill>
              </a:rPr>
              <a:t>n</a:t>
            </a:r>
            <a:r>
              <a:rPr lang="en-US" altLang="zh-TW" baseline="30000" dirty="0">
                <a:solidFill>
                  <a:srgbClr val="0000FF"/>
                </a:solidFill>
              </a:rPr>
              <a:t>2</a:t>
            </a:r>
            <a:r>
              <a:rPr lang="en-US" altLang="zh-TW" dirty="0">
                <a:solidFill>
                  <a:srgbClr val="0000FF"/>
                </a:solidFill>
              </a:rPr>
              <a:t> 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</a:t>
            </a:r>
            <a:r>
              <a:rPr lang="zh-TW" altLang="en-US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(</a:t>
            </a:r>
            <a:r>
              <a:rPr lang="en-US" altLang="zh-TW" i="1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en-US" altLang="zh-TW" dirty="0">
                <a:sym typeface="Symbol" panose="05050102010706020507" pitchFamily="18" charset="2"/>
              </a:rPr>
              <a:t>.</a:t>
            </a:r>
          </a:p>
          <a:p>
            <a:pPr lvl="1"/>
            <a:r>
              <a:rPr lang="en-US" altLang="zh-TW" i="1" dirty="0"/>
              <a:t>g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 = 5</a:t>
            </a:r>
            <a:r>
              <a:rPr lang="en-US" altLang="zh-TW" i="1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, </a:t>
            </a:r>
            <a:r>
              <a:rPr lang="en-US" altLang="zh-TW" i="1" dirty="0"/>
              <a:t>f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 = </a:t>
            </a:r>
            <a:r>
              <a:rPr lang="en-US" altLang="zh-TW" i="1" dirty="0"/>
              <a:t>n</a:t>
            </a:r>
            <a:r>
              <a:rPr lang="en-US" altLang="zh-TW" baseline="30000" dirty="0"/>
              <a:t>2</a:t>
            </a:r>
            <a:endParaRPr lang="en-US" altLang="zh-TW" dirty="0"/>
          </a:p>
          <a:p>
            <a:pPr lvl="1"/>
            <a:r>
              <a:rPr lang="en-US" altLang="zh-TW" dirty="0"/>
              <a:t>take </a:t>
            </a:r>
            <a:r>
              <a:rPr lang="en-US" altLang="zh-TW" i="1" dirty="0">
                <a:solidFill>
                  <a:srgbClr val="C00000"/>
                </a:solidFill>
                <a:sym typeface="Symbol" panose="05050102010706020507" pitchFamily="18" charset="2"/>
              </a:rPr>
              <a:t>d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 = 1 and </a:t>
            </a:r>
            <a:r>
              <a:rPr lang="en-US" altLang="zh-TW" i="1" dirty="0">
                <a:solidFill>
                  <a:srgbClr val="C00000"/>
                </a:solidFill>
                <a:sym typeface="Symbol" panose="05050102010706020507" pitchFamily="18" charset="2"/>
              </a:rPr>
              <a:t>N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 = 0</a:t>
            </a:r>
          </a:p>
          <a:p>
            <a:pPr lvl="1"/>
            <a:r>
              <a:rPr lang="en-US" altLang="zh-TW" dirty="0">
                <a:sym typeface="Symbol" panose="05050102010706020507" pitchFamily="18" charset="2"/>
              </a:rPr>
              <a:t>5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  1 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, for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dirty="0">
                <a:sym typeface="Symbol" panose="05050102010706020507" pitchFamily="18" charset="2"/>
              </a:rPr>
              <a:t>  0</a:t>
            </a:r>
          </a:p>
          <a:p>
            <a:endParaRPr lang="en-US" altLang="zh-TW" dirty="0">
              <a:sym typeface="Symbol" panose="05050102010706020507" pitchFamily="18" charset="2"/>
            </a:endParaRPr>
          </a:p>
          <a:p>
            <a:r>
              <a:rPr lang="en-US" altLang="zh-TW" dirty="0">
                <a:sym typeface="Symbol" panose="05050102010706020507" pitchFamily="18" charset="2"/>
              </a:rPr>
              <a:t>Show that </a:t>
            </a:r>
            <a:r>
              <a:rPr lang="en-US" altLang="zh-TW" i="1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 + 10</a:t>
            </a:r>
            <a:r>
              <a:rPr lang="en-US" altLang="zh-TW" i="1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  (</a:t>
            </a:r>
            <a:r>
              <a:rPr lang="en-US" altLang="zh-TW" i="1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en-US" altLang="zh-TW" dirty="0">
                <a:sym typeface="Symbol" panose="05050102010706020507" pitchFamily="18" charset="2"/>
              </a:rPr>
              <a:t>.</a:t>
            </a:r>
          </a:p>
          <a:p>
            <a:pPr lvl="1"/>
            <a:r>
              <a:rPr lang="en-US" altLang="zh-TW" i="1" dirty="0"/>
              <a:t>g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 =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 + 10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dirty="0"/>
              <a:t>, </a:t>
            </a:r>
            <a:r>
              <a:rPr lang="en-US" altLang="zh-TW" i="1" dirty="0"/>
              <a:t>f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 = </a:t>
            </a:r>
            <a:r>
              <a:rPr lang="en-US" altLang="zh-TW" i="1" dirty="0"/>
              <a:t>n</a:t>
            </a:r>
            <a:r>
              <a:rPr lang="en-US" altLang="zh-TW" baseline="30000" dirty="0"/>
              <a:t>2</a:t>
            </a:r>
            <a:endParaRPr lang="en-US" altLang="zh-TW" dirty="0"/>
          </a:p>
          <a:p>
            <a:pPr lvl="1"/>
            <a:r>
              <a:rPr lang="en-US" altLang="zh-TW" dirty="0"/>
              <a:t>take </a:t>
            </a:r>
            <a:r>
              <a:rPr lang="en-US" altLang="zh-TW" i="1" dirty="0">
                <a:solidFill>
                  <a:srgbClr val="C00000"/>
                </a:solidFill>
                <a:sym typeface="Symbol" panose="05050102010706020507" pitchFamily="18" charset="2"/>
              </a:rPr>
              <a:t>d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 = 1 and </a:t>
            </a:r>
            <a:r>
              <a:rPr lang="en-US" altLang="zh-TW" i="1" dirty="0">
                <a:solidFill>
                  <a:srgbClr val="C00000"/>
                </a:solidFill>
                <a:sym typeface="Symbol" panose="05050102010706020507" pitchFamily="18" charset="2"/>
              </a:rPr>
              <a:t>N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 = 0</a:t>
            </a:r>
          </a:p>
          <a:p>
            <a:pPr lvl="1"/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 + 10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dirty="0">
                <a:sym typeface="Symbol" panose="05050102010706020507" pitchFamily="18" charset="2"/>
              </a:rPr>
              <a:t>  1 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, for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dirty="0">
                <a:sym typeface="Symbol" panose="05050102010706020507" pitchFamily="18" charset="2"/>
              </a:rPr>
              <a:t>  0</a:t>
            </a:r>
          </a:p>
          <a:p>
            <a:pPr lvl="1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4558680" y="44624"/>
            <a:ext cx="4534591" cy="1938992"/>
          </a:xfrm>
          <a:prstGeom prst="rect">
            <a:avLst/>
          </a:prstGeom>
          <a:solidFill>
            <a:srgbClr val="FFFFCC"/>
          </a:solidFill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For a given complexity function </a:t>
            </a:r>
            <a:r>
              <a:rPr lang="en-US" altLang="zh-TW" sz="2000" b="1" i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), </a:t>
            </a:r>
            <a:r>
              <a:rPr lang="en-US" altLang="zh-TW" sz="2000" b="1" dirty="0">
                <a:latin typeface="+mj-lt"/>
                <a:sym typeface="Symbol" panose="05050102010706020507" pitchFamily="18" charset="2"/>
              </a:rPr>
              <a:t></a:t>
            </a:r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)) is the set of complexity functions </a:t>
            </a:r>
            <a:r>
              <a:rPr lang="en-US" altLang="zh-TW" sz="2000" b="1" i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</a:t>
            </a:r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for which there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exists</a:t>
            </a:r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some positive real constant </a:t>
            </a:r>
            <a:r>
              <a:rPr lang="en-US" altLang="zh-TW" sz="2000" b="1" i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and some nonnegative integer </a:t>
            </a:r>
            <a:r>
              <a:rPr lang="en-US" altLang="zh-TW" sz="2000" b="1" i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such that, for all </a:t>
            </a:r>
            <a:r>
              <a:rPr lang="en-US" altLang="zh-TW" sz="2000" b="1" i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≥ </a:t>
            </a:r>
            <a:r>
              <a:rPr lang="en-US" altLang="zh-TW" sz="2000" b="1" i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7432" indent="0" algn="ctr">
              <a:buNone/>
            </a:pP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  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839871" y="2708920"/>
            <a:ext cx="1972207" cy="400110"/>
          </a:xfrm>
          <a:prstGeom prst="rect">
            <a:avLst/>
          </a:prstGeom>
          <a:solidFill>
            <a:srgbClr val="FFFFCC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ym typeface="Symbol" panose="05050102010706020507" pitchFamily="18" charset="2"/>
              </a:rPr>
              <a:t></a:t>
            </a:r>
            <a:r>
              <a:rPr lang="en-US" altLang="zh-TW" sz="2000" b="1" dirty="0">
                <a:latin typeface="+mj-lt"/>
              </a:rPr>
              <a:t>: lower bound</a:t>
            </a:r>
            <a:endParaRPr lang="zh-TW" alt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43940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ym typeface="Symbol" panose="05050102010706020507" pitchFamily="18" charset="2"/>
              </a:rPr>
              <a:t>theta </a:t>
            </a:r>
            <a:r>
              <a:rPr lang="zh-TW" altLang="en-US" dirty="0">
                <a:sym typeface="Symbol" panose="05050102010706020507" pitchFamily="18" charset="2"/>
              </a:rPr>
              <a:t> </a:t>
            </a:r>
            <a:r>
              <a:rPr lang="en-US" altLang="zh-TW" dirty="0">
                <a:sym typeface="Symbol" panose="05050102010706020507" pitchFamily="18" charset="2"/>
              </a:rPr>
              <a:t>(1/3)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>
                    <a:solidFill>
                      <a:srgbClr val="C00000"/>
                    </a:solidFill>
                  </a:rPr>
                  <a:t>If a function is in both 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O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n</a:t>
                </a:r>
                <a:r>
                  <a:rPr lang="en-US" altLang="zh-TW" baseline="30000" dirty="0">
                    <a:solidFill>
                      <a:srgbClr val="C00000"/>
                    </a:solidFill>
                  </a:rPr>
                  <a:t>2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) and </a:t>
                </a:r>
                <a:r>
                  <a:rPr lang="zh-TW" altLang="zh-TW" dirty="0">
                    <a:solidFill>
                      <a:srgbClr val="C00000"/>
                    </a:solidFill>
                  </a:rPr>
                  <a:t>Ω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n</a:t>
                </a:r>
                <a:r>
                  <a:rPr lang="en-US" altLang="zh-TW" baseline="30000" dirty="0">
                    <a:solidFill>
                      <a:srgbClr val="C00000"/>
                    </a:solidFill>
                  </a:rPr>
                  <a:t>2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),</a:t>
                </a:r>
              </a:p>
              <a:p>
                <a:pPr lvl="1"/>
                <a:r>
                  <a:rPr lang="en-US" altLang="zh-TW" dirty="0"/>
                  <a:t>eventually it lies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beneath</a:t>
                </a:r>
                <a:r>
                  <a:rPr lang="en-US" altLang="zh-TW" dirty="0"/>
                  <a:t> some pure quadratic function on a graph and eventually it lies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above</a:t>
                </a:r>
                <a:r>
                  <a:rPr lang="en-US" altLang="zh-TW" dirty="0"/>
                  <a:t> some pure quadratic function on a graph</a:t>
                </a:r>
              </a:p>
              <a:p>
                <a:pPr lvl="1"/>
                <a:r>
                  <a:rPr lang="en-US" altLang="zh-TW" dirty="0"/>
                  <a:t>eventually it is at least as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good</a:t>
                </a:r>
                <a:r>
                  <a:rPr lang="en-US" altLang="zh-TW" dirty="0"/>
                  <a:t> as some pure quadratic function and eventually it is at least as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bad</a:t>
                </a:r>
                <a:r>
                  <a:rPr lang="en-US" altLang="zh-TW" dirty="0"/>
                  <a:t> as some pure quadratic function</a:t>
                </a:r>
                <a:endParaRPr lang="en-US" altLang="zh-TW" dirty="0">
                  <a:solidFill>
                    <a:srgbClr val="C00000"/>
                  </a:solidFill>
                </a:endParaRPr>
              </a:p>
              <a:p>
                <a:pPr lvl="1"/>
                <a:r>
                  <a:rPr lang="en-US" altLang="zh-TW" dirty="0"/>
                  <a:t>its growth is similar to that of a pure quadratic</a:t>
                </a:r>
              </a:p>
              <a:p>
                <a:endParaRPr lang="en-US" altLang="zh-TW" sz="1200" dirty="0"/>
              </a:p>
              <a:p>
                <a:r>
                  <a:rPr lang="en-US" altLang="zh-TW" dirty="0"/>
                  <a:t>For a given complexity function </a:t>
                </a:r>
                <a:r>
                  <a:rPr lang="en-US" altLang="zh-TW" i="1" dirty="0"/>
                  <a:t>f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),</a:t>
                </a:r>
                <a:r>
                  <a:rPr kumimoji="1" lang="en-US" altLang="zh-TW" dirty="0">
                    <a:solidFill>
                      <a:srgbClr val="333333"/>
                    </a:solidFill>
                    <a:sym typeface="Symbol" panose="05050102010706020507" pitchFamily="18" charset="2"/>
                  </a:rPr>
                  <a:t> 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(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f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(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)) = 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O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(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f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(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)) </a:t>
                </a:r>
                <a:r>
                  <a:rPr kumimoji="1" lang="en-US" altLang="zh-TW" dirty="0">
                    <a:solidFill>
                      <a:srgbClr val="333333"/>
                    </a:solidFill>
                    <a:sym typeface="Symbol" panose="05050102010706020507" pitchFamily="18" charset="2"/>
                  </a:rPr>
                  <a:t> (</a:t>
                </a:r>
                <a:r>
                  <a:rPr kumimoji="1" lang="en-US" altLang="zh-TW" i="1" dirty="0">
                    <a:solidFill>
                      <a:srgbClr val="333333"/>
                    </a:solidFill>
                    <a:sym typeface="Symbol" panose="05050102010706020507" pitchFamily="18" charset="2"/>
                  </a:rPr>
                  <a:t>f</a:t>
                </a:r>
                <a:r>
                  <a:rPr kumimoji="1" lang="en-US" altLang="zh-TW" dirty="0">
                    <a:solidFill>
                      <a:srgbClr val="333333"/>
                    </a:solidFill>
                    <a:sym typeface="Symbol" panose="05050102010706020507" pitchFamily="18" charset="2"/>
                  </a:rPr>
                  <a:t>(</a:t>
                </a:r>
                <a:r>
                  <a:rPr kumimoji="1" lang="en-US" altLang="zh-TW" i="1" dirty="0">
                    <a:solidFill>
                      <a:srgbClr val="333333"/>
                    </a:solidFill>
                    <a:sym typeface="Symbol" panose="05050102010706020507" pitchFamily="18" charset="2"/>
                  </a:rPr>
                  <a:t>n</a:t>
                </a:r>
                <a:r>
                  <a:rPr kumimoji="1" lang="en-US" altLang="zh-TW" dirty="0">
                    <a:solidFill>
                      <a:srgbClr val="333333"/>
                    </a:solidFill>
                    <a:sym typeface="Symbol" panose="05050102010706020507" pitchFamily="18" charset="2"/>
                  </a:rPr>
                  <a:t>))</a:t>
                </a:r>
                <a:endParaRPr kumimoji="1" lang="en-US" altLang="zh-TW" dirty="0">
                  <a:solidFill>
                    <a:srgbClr val="333333"/>
                  </a:solidFill>
                </a:endParaRPr>
              </a:p>
              <a:p>
                <a:pPr marL="0" indent="0">
                  <a:buNone/>
                </a:pPr>
                <a:r>
                  <a:rPr kumimoji="1" lang="zh-TW" altLang="en-US" i="1" dirty="0">
                    <a:solidFill>
                      <a:srgbClr val="333333"/>
                    </a:solidFill>
                  </a:rPr>
                  <a:t>     </a:t>
                </a:r>
                <a:r>
                  <a:rPr kumimoji="1" lang="en-US" altLang="zh-TW" dirty="0">
                    <a:solidFill>
                      <a:srgbClr val="333333"/>
                    </a:solidFill>
                    <a:sym typeface="Symbol" panose="05050102010706020507" pitchFamily="18" charset="2"/>
                  </a:rPr>
                  <a:t>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(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f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(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)) is the set of complexity function 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g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(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) for which there </a:t>
                </a:r>
                <a:r>
                  <a:rPr kumimoji="1" lang="en-US" altLang="zh-TW" dirty="0">
                    <a:solidFill>
                      <a:srgbClr val="C00000"/>
                    </a:solidFill>
                  </a:rPr>
                  <a:t>exists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 some 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solidFill>
                      <a:srgbClr val="333333"/>
                    </a:solidFill>
                  </a:rPr>
                  <a:t>     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positive real constant 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c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 and 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d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 and some nonnegative integer 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 such that, for 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solidFill>
                      <a:srgbClr val="333333"/>
                    </a:solidFill>
                  </a:rPr>
                  <a:t>     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all 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lang="en-US" altLang="zh-TW" i="1" dirty="0"/>
                  <a:t> </a:t>
                </a:r>
                <a14:m>
                  <m:oMath xmlns:m="http://schemas.openxmlformats.org/officeDocument/2006/math">
                    <m:r>
                      <a:rPr kumimoji="1" lang="zh-TW" altLang="en-US" i="1">
                        <a:latin typeface="Cambria Math"/>
                        <a:ea typeface="文鼎粗黑"/>
                      </a:rPr>
                      <m:t>≥</m:t>
                    </m:r>
                  </m:oMath>
                </a14:m>
                <a:r>
                  <a:rPr lang="en-US" altLang="zh-TW" i="1" dirty="0"/>
                  <a:t> N</a:t>
                </a:r>
                <a:r>
                  <a:rPr lang="en-US" altLang="zh-TW" dirty="0"/>
                  <a:t>,</a:t>
                </a:r>
              </a:p>
              <a:p>
                <a:pPr marL="0" indent="0">
                  <a:buNone/>
                </a:pPr>
                <a:r>
                  <a:rPr lang="en-US" altLang="zh-TW" i="1" dirty="0">
                    <a:sym typeface="Symbol" panose="05050102010706020507" pitchFamily="18" charset="2"/>
                  </a:rPr>
                  <a:t>                             d</a:t>
                </a:r>
                <a:r>
                  <a:rPr lang="en-US" altLang="zh-TW" dirty="0">
                    <a:sym typeface="Symbol" panose="05050102010706020507" pitchFamily="18" charset="2"/>
                  </a:rPr>
                  <a:t> 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f</a:t>
                </a:r>
                <a:r>
                  <a:rPr lang="en-US" altLang="zh-TW" dirty="0">
                    <a:sym typeface="Symbol" panose="05050102010706020507" pitchFamily="18" charset="2"/>
                  </a:rPr>
                  <a:t>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dirty="0">
                    <a:sym typeface="Symbol" panose="05050102010706020507" pitchFamily="18" charset="2"/>
                  </a:rPr>
                  <a:t>)</a:t>
                </a:r>
                <a:r>
                  <a:rPr lang="zh-TW" altLang="en-US" dirty="0">
                    <a:sym typeface="Symbol" panose="05050102010706020507" pitchFamily="18" charset="2"/>
                  </a:rPr>
                  <a:t> 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g</a:t>
                </a:r>
                <a:r>
                  <a:rPr lang="en-US" altLang="zh-TW" dirty="0">
                    <a:sym typeface="Symbol" panose="05050102010706020507" pitchFamily="18" charset="2"/>
                  </a:rPr>
                  <a:t>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dirty="0">
                    <a:sym typeface="Symbol" panose="05050102010706020507" pitchFamily="18" charset="2"/>
                  </a:rPr>
                  <a:t>) </a:t>
                </a:r>
                <a:r>
                  <a:rPr lang="zh-TW" altLang="en-US" dirty="0">
                    <a:sym typeface="Symbol" panose="05050102010706020507" pitchFamily="18" charset="2"/>
                  </a:rPr>
                  <a:t> </a:t>
                </a:r>
                <a:r>
                  <a:rPr lang="en-US" altLang="zh-TW" i="1">
                    <a:sym typeface="Symbol" panose="05050102010706020507" pitchFamily="18" charset="2"/>
                  </a:rPr>
                  <a:t>c</a:t>
                </a:r>
                <a:r>
                  <a:rPr lang="en-US" altLang="zh-TW">
                    <a:sym typeface="Symbol" panose="05050102010706020507" pitchFamily="18" charset="2"/>
                  </a:rPr>
                  <a:t> </a:t>
                </a:r>
                <a:r>
                  <a:rPr lang="en-US" altLang="zh-TW" dirty="0">
                    <a:sym typeface="Symbol" panose="05050102010706020507" pitchFamily="18" charset="2"/>
                  </a:rPr>
                  <a:t>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f</a:t>
                </a:r>
                <a:r>
                  <a:rPr lang="en-US" altLang="zh-TW" dirty="0">
                    <a:sym typeface="Symbol" panose="05050102010706020507" pitchFamily="18" charset="2"/>
                  </a:rPr>
                  <a:t>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dirty="0">
                    <a:sym typeface="Symbol" panose="05050102010706020507" pitchFamily="18" charset="2"/>
                  </a:rPr>
                  <a:t>)</a:t>
                </a:r>
              </a:p>
              <a:p>
                <a:pPr marL="370332" indent="-342900"/>
                <a:endParaRPr lang="en-US" altLang="zh-TW" dirty="0">
                  <a:sym typeface="Symbol" panose="05050102010706020507" pitchFamily="18" charset="2"/>
                </a:endParaRPr>
              </a:p>
              <a:p>
                <a:pPr marL="370332" indent="-342900"/>
                <a:r>
                  <a:rPr lang="en-US" altLang="zh-TW" dirty="0"/>
                  <a:t>If </a:t>
                </a:r>
                <a:r>
                  <a:rPr lang="en-US" altLang="zh-TW" i="1" dirty="0"/>
                  <a:t>g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</a:t>
                </a:r>
                <a:r>
                  <a:rPr lang="en-US" altLang="zh-TW" dirty="0">
                    <a:sym typeface="Symbol" panose="05050102010706020507" pitchFamily="18" charset="2"/>
                  </a:rPr>
                  <a:t></a:t>
                </a:r>
                <a:r>
                  <a:rPr lang="en-US" altLang="zh-TW" dirty="0"/>
                  <a:t> </a:t>
                </a:r>
                <a:r>
                  <a:rPr kumimoji="1" lang="en-US" altLang="zh-TW" dirty="0">
                    <a:solidFill>
                      <a:srgbClr val="333333"/>
                    </a:solidFill>
                    <a:sym typeface="Symbol" panose="05050102010706020507" pitchFamily="18" charset="2"/>
                  </a:rPr>
                  <a:t>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f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)), say </a:t>
                </a:r>
                <a:r>
                  <a:rPr lang="en-US" altLang="zh-TW" i="1" dirty="0"/>
                  <a:t>g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is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order</a:t>
                </a:r>
                <a:r>
                  <a:rPr lang="en-US" altLang="zh-TW" dirty="0"/>
                  <a:t> of </a:t>
                </a:r>
                <a:r>
                  <a:rPr lang="en-US" altLang="zh-TW" i="1" dirty="0"/>
                  <a:t>f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</a:t>
                </a:r>
                <a:endParaRPr lang="en-US" altLang="zh-TW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5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23</a:t>
            </a:fld>
            <a:endParaRPr lang="en-US" dirty="0"/>
          </a:p>
        </p:txBody>
      </p:sp>
      <p:grpSp>
        <p:nvGrpSpPr>
          <p:cNvPr id="12" name="群組 11"/>
          <p:cNvGrpSpPr/>
          <p:nvPr/>
        </p:nvGrpSpPr>
        <p:grpSpPr>
          <a:xfrm>
            <a:off x="5903435" y="4581128"/>
            <a:ext cx="3122441" cy="2316868"/>
            <a:chOff x="5502576" y="4293704"/>
            <a:chExt cx="3122441" cy="2316868"/>
          </a:xfrm>
        </p:grpSpPr>
        <p:graphicFrame>
          <p:nvGraphicFramePr>
            <p:cNvPr id="7" name="Object 5"/>
            <p:cNvGraphicFramePr>
              <a:graphicFrameLocks noChangeAspect="1"/>
            </p:cNvGraphicFramePr>
            <p:nvPr/>
          </p:nvGraphicFramePr>
          <p:xfrm>
            <a:off x="5502576" y="4386612"/>
            <a:ext cx="2957513" cy="2184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3477158" imgH="2567635" progId="Visio.Drawing.6">
                    <p:embed/>
                  </p:oleObj>
                </mc:Choice>
                <mc:Fallback>
                  <p:oleObj name="Visio" r:id="rId4" imgW="3477158" imgH="2567635" progId="Visio.Drawing.6">
                    <p:embed/>
                    <p:pic>
                      <p:nvPicPr>
                        <p:cNvPr id="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2576" y="4386612"/>
                          <a:ext cx="2957513" cy="2184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文字方塊 7"/>
            <p:cNvSpPr txBox="1"/>
            <p:nvPr/>
          </p:nvSpPr>
          <p:spPr>
            <a:xfrm>
              <a:off x="7949832" y="4724704"/>
              <a:ext cx="625492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g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n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7914566" y="5185503"/>
              <a:ext cx="710451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err="1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df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n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6195926" y="6302795"/>
              <a:ext cx="37061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tIns="0" bIns="0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N</a:t>
              </a:r>
              <a:endPara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7914566" y="4293704"/>
              <a:ext cx="710451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err="1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cf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n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8916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ym typeface="Symbol" panose="05050102010706020507" pitchFamily="18" charset="2"/>
              </a:rPr>
              <a:t>theta </a:t>
            </a:r>
            <a:r>
              <a:rPr lang="zh-TW" altLang="en-US" dirty="0">
                <a:sym typeface="Symbol" panose="05050102010706020507" pitchFamily="18" charset="2"/>
              </a:rPr>
              <a:t> </a:t>
            </a:r>
            <a:r>
              <a:rPr lang="en-US" altLang="zh-TW" dirty="0">
                <a:sym typeface="Symbol" panose="05050102010706020507" pitchFamily="18" charset="2"/>
              </a:rPr>
              <a:t>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12" y="2026507"/>
            <a:ext cx="8906562" cy="3556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>
          <a:xfrm>
            <a:off x="3635896" y="2132856"/>
            <a:ext cx="1231427" cy="400110"/>
          </a:xfrm>
          <a:prstGeom prst="rect">
            <a:avLst/>
          </a:prstGeom>
          <a:solidFill>
            <a:srgbClr val="FFFFCC"/>
          </a:solidFill>
          <a:ln>
            <a:solidFill>
              <a:srgbClr val="0000FF"/>
            </a:solidFill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above 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cn</a:t>
            </a:r>
            <a:r>
              <a:rPr lang="en-US" altLang="zh-TW" sz="2000" b="1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99592" y="2132856"/>
            <a:ext cx="1459054" cy="400110"/>
          </a:xfrm>
          <a:prstGeom prst="rect">
            <a:avLst/>
          </a:prstGeom>
          <a:solidFill>
            <a:srgbClr val="FFFFCC"/>
          </a:solidFill>
          <a:ln>
            <a:solidFill>
              <a:srgbClr val="0000FF"/>
            </a:solidFill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beneath 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cn</a:t>
            </a:r>
            <a:r>
              <a:rPr lang="en-US" altLang="zh-TW" sz="2000" b="1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659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ym typeface="Symbol" panose="05050102010706020507" pitchFamily="18" charset="2"/>
              </a:rPr>
              <a:t>theta </a:t>
            </a:r>
            <a:r>
              <a:rPr lang="zh-TW" altLang="en-US" dirty="0">
                <a:sym typeface="Symbol" panose="05050102010706020507" pitchFamily="18" charset="2"/>
              </a:rPr>
              <a:t> </a:t>
            </a:r>
            <a:r>
              <a:rPr lang="en-US" altLang="zh-TW" dirty="0">
                <a:sym typeface="Symbol" panose="05050102010706020507" pitchFamily="18" charset="2"/>
              </a:rPr>
              <a:t>(3/3)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Intuitively, the function 5</a:t>
                </a:r>
                <a:r>
                  <a:rPr lang="en-US" altLang="zh-TW" i="1" dirty="0"/>
                  <a:t>n </a:t>
                </a:r>
                <a:r>
                  <a:rPr lang="en-US" altLang="zh-TW" dirty="0"/>
                  <a:t>+ 7 is not in </a:t>
                </a:r>
                <a:r>
                  <a:rPr lang="zh-TW" altLang="zh-TW" dirty="0"/>
                  <a:t>Ω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baseline="30000" dirty="0"/>
                  <a:t>2</a:t>
                </a:r>
                <a:r>
                  <a:rPr lang="en-US" altLang="zh-TW" dirty="0"/>
                  <a:t>), and 4</a:t>
                </a:r>
                <a:r>
                  <a:rPr lang="en-US" altLang="zh-TW" i="1" dirty="0"/>
                  <a:t>n</a:t>
                </a:r>
                <a:r>
                  <a:rPr lang="en-US" altLang="zh-TW" baseline="30000" dirty="0"/>
                  <a:t>3</a:t>
                </a:r>
                <a:r>
                  <a:rPr lang="en-US" altLang="zh-TW" dirty="0"/>
                  <a:t> + 3</a:t>
                </a:r>
                <a:r>
                  <a:rPr lang="en-US" altLang="zh-TW" i="1" dirty="0"/>
                  <a:t>n</a:t>
                </a:r>
                <a:r>
                  <a:rPr lang="en-US" altLang="zh-TW" baseline="30000" dirty="0"/>
                  <a:t>2</a:t>
                </a:r>
                <a:r>
                  <a:rPr lang="en-US" altLang="zh-TW" dirty="0"/>
                  <a:t> is not in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baseline="30000" dirty="0"/>
                  <a:t>2</a:t>
                </a:r>
                <a:r>
                  <a:rPr lang="en-US" altLang="zh-TW" dirty="0"/>
                  <a:t>)</a:t>
                </a:r>
              </a:p>
              <a:p>
                <a:pPr lvl="1"/>
                <a:r>
                  <a:rPr lang="en-US" altLang="zh-TW" dirty="0"/>
                  <a:t>neither of these functions is in </a:t>
                </a:r>
                <a:r>
                  <a:rPr kumimoji="1" lang="en-US" altLang="zh-TW" dirty="0">
                    <a:solidFill>
                      <a:srgbClr val="333333"/>
                    </a:solidFill>
                    <a:sym typeface="Symbol" panose="05050102010706020507" pitchFamily="18" charset="2"/>
                  </a:rPr>
                  <a:t>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(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kumimoji="1" lang="en-US" altLang="zh-TW" baseline="30000" dirty="0">
                    <a:solidFill>
                      <a:srgbClr val="333333"/>
                    </a:solidFill>
                  </a:rPr>
                  <a:t>2</a:t>
                </a:r>
                <a:r>
                  <a:rPr kumimoji="1" lang="en-US" altLang="zh-TW" dirty="0">
                    <a:solidFill>
                      <a:srgbClr val="333333"/>
                    </a:solidFill>
                  </a:rPr>
                  <a:t>)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Show that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 is not in </a:t>
                </a:r>
                <a:r>
                  <a:rPr lang="zh-TW" altLang="zh-TW" dirty="0"/>
                  <a:t>Ω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baseline="30000" dirty="0"/>
                  <a:t>2</a:t>
                </a:r>
                <a:r>
                  <a:rPr lang="en-US" altLang="zh-TW" dirty="0"/>
                  <a:t>) by using 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proof by contradiction</a:t>
                </a:r>
              </a:p>
              <a:p>
                <a:pPr lvl="1"/>
                <a:r>
                  <a:rPr lang="en-US" altLang="zh-TW" dirty="0"/>
                  <a:t>suppose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sym typeface="Symbol" panose="05050102010706020507" pitchFamily="18" charset="2"/>
                  </a:rPr>
                  <a:t></a:t>
                </a:r>
                <a:r>
                  <a:rPr lang="en-US" altLang="zh-TW" dirty="0"/>
                  <a:t> </a:t>
                </a:r>
                <a:r>
                  <a:rPr kumimoji="1" lang="en-US" altLang="zh-TW" dirty="0">
                    <a:solidFill>
                      <a:srgbClr val="333333"/>
                    </a:solidFill>
                    <a:sym typeface="Symbol" panose="05050102010706020507" pitchFamily="18" charset="2"/>
                  </a:rPr>
                  <a:t>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baseline="30000" dirty="0"/>
                  <a:t>2</a:t>
                </a:r>
                <a:r>
                  <a:rPr lang="en-US" altLang="zh-TW" dirty="0"/>
                  <a:t>)</a:t>
                </a:r>
              </a:p>
              <a:p>
                <a:pPr lvl="1"/>
                <a:r>
                  <a:rPr lang="en-US" altLang="zh-TW" dirty="0"/>
                  <a:t>there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exists</a:t>
                </a:r>
                <a:r>
                  <a:rPr lang="en-US" altLang="zh-TW" dirty="0"/>
                  <a:t> some positive constant </a:t>
                </a:r>
                <a:r>
                  <a:rPr lang="en-US" altLang="zh-TW" i="1" dirty="0"/>
                  <a:t>d</a:t>
                </a:r>
                <a:r>
                  <a:rPr lang="en-US" altLang="zh-TW" dirty="0"/>
                  <a:t> and some nonnegative integer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 such that, for all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altLang="zh-TW" i="1" dirty="0"/>
                  <a:t>N</a:t>
                </a:r>
                <a:r>
                  <a:rPr lang="en-US" altLang="zh-TW" dirty="0"/>
                  <a:t>,</a:t>
                </a:r>
              </a:p>
              <a:p>
                <a:pPr marL="393192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sSup>
                        <m:sSup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altLang="zh-TW" i="1" dirty="0"/>
              </a:p>
              <a:p>
                <a:pPr lvl="1"/>
                <a:r>
                  <a:rPr lang="en-US" altLang="zh-TW" dirty="0"/>
                  <a:t>divide both sides of this inequality by </a:t>
                </a:r>
                <a:r>
                  <a:rPr lang="en-US" altLang="zh-TW" i="1" dirty="0" err="1">
                    <a:solidFill>
                      <a:srgbClr val="C00000"/>
                    </a:solidFill>
                  </a:rPr>
                  <a:t>dn</a:t>
                </a:r>
                <a:r>
                  <a:rPr lang="en-US" altLang="zh-TW" dirty="0"/>
                  <a:t>, for all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  <a:ea typeface="Cambria Math"/>
                      </a:rPr>
                      <m:t>≥</m:t>
                    </m:r>
                  </m:oMath>
                </a14:m>
                <a:r>
                  <a:rPr lang="en-US" altLang="zh-TW" i="1" dirty="0"/>
                  <a:t> N</a:t>
                </a:r>
                <a:r>
                  <a:rPr lang="en-US" altLang="zh-TW" dirty="0"/>
                  <a:t>,</a:t>
                </a:r>
              </a:p>
              <a:p>
                <a:pPr marL="393192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den>
                      </m:f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for any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 &gt; 1/</a:t>
                </a:r>
                <a:r>
                  <a:rPr lang="en-US" altLang="zh-TW" i="1" dirty="0"/>
                  <a:t>d</a:t>
                </a:r>
                <a:r>
                  <a:rPr lang="en-US" altLang="zh-TW" dirty="0"/>
                  <a:t>, this inequality cannot hold</a:t>
                </a:r>
              </a:p>
              <a:p>
                <a:pPr lvl="2"/>
                <a:r>
                  <a:rPr lang="en-US" altLang="zh-TW" dirty="0"/>
                  <a:t>it cannot hold for all </a:t>
                </a:r>
                <a:r>
                  <a:rPr lang="en-US" altLang="zh-TW" i="1" dirty="0"/>
                  <a:t>n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zh-TW" altLang="en-US">
                        <a:latin typeface="Cambria Math"/>
                      </a:rPr>
                      <m:t>≥</m:t>
                    </m:r>
                    <m:r>
                      <a:rPr lang="zh-TW" altLang="en-US" i="1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i="1" dirty="0"/>
                  <a:t>N</a:t>
                </a:r>
                <a:endParaRPr lang="en-US" altLang="zh-TW" dirty="0"/>
              </a:p>
              <a:p>
                <a:pPr lvl="2"/>
                <a:r>
                  <a:rPr lang="en-US" altLang="zh-TW" dirty="0"/>
                  <a:t>this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contradiction</a:t>
                </a:r>
                <a:r>
                  <a:rPr lang="en-US" altLang="zh-TW" dirty="0"/>
                  <a:t> proves that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 is not in </a:t>
                </a:r>
                <a:r>
                  <a:rPr lang="zh-TW" altLang="zh-TW" dirty="0"/>
                  <a:t>Ω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baseline="30000" dirty="0"/>
                  <a:t>2</a:t>
                </a:r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572" r="-1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449071" y="2780928"/>
            <a:ext cx="697627" cy="400110"/>
          </a:xfrm>
          <a:prstGeom prst="rect">
            <a:avLst/>
          </a:prstGeom>
          <a:solidFill>
            <a:srgbClr val="FFFFCC"/>
          </a:solidFill>
          <a:ln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定義</a:t>
            </a:r>
          </a:p>
        </p:txBody>
      </p:sp>
    </p:spTree>
    <p:extLst>
      <p:ext uri="{BB962C8B-B14F-4D97-AF65-F5344CB8AC3E}">
        <p14:creationId xmlns:p14="http://schemas.microsoft.com/office/powerpoint/2010/main" val="1345297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small </a:t>
            </a:r>
            <a:r>
              <a:rPr lang="en-US" altLang="zh-TW" i="1" dirty="0"/>
              <a:t>o</a:t>
            </a:r>
            <a:r>
              <a:rPr lang="zh-TW" altLang="en-US" dirty="0"/>
              <a:t> </a:t>
            </a:r>
            <a:r>
              <a:rPr lang="en-US" altLang="zh-TW" dirty="0"/>
              <a:t>(1/3)</a:t>
            </a:r>
            <a:endParaRPr lang="zh-TW" alt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TW" dirty="0">
                    <a:solidFill>
                      <a:srgbClr val="0000FF"/>
                    </a:solidFill>
                  </a:rPr>
                  <a:t>big </a:t>
                </a:r>
                <a:r>
                  <a:rPr kumimoji="1" lang="en-US" altLang="zh-TW" i="1" dirty="0">
                    <a:solidFill>
                      <a:srgbClr val="0000FF"/>
                    </a:solidFill>
                  </a:rPr>
                  <a:t>O</a:t>
                </a:r>
                <a:r>
                  <a:rPr kumimoji="1" lang="en-US" altLang="zh-TW" dirty="0">
                    <a:solidFill>
                      <a:srgbClr val="0000FF"/>
                    </a:solidFill>
                  </a:rPr>
                  <a:t>:</a:t>
                </a:r>
                <a:r>
                  <a:rPr kumimoji="1" lang="zh-TW" altLang="en-US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TW" dirty="0">
                    <a:solidFill>
                      <a:srgbClr val="333333"/>
                    </a:solidFill>
                  </a:rPr>
                  <a:t>For a given complexity function </a:t>
                </a:r>
                <a:r>
                  <a:rPr lang="en-US" altLang="zh-TW" i="1" dirty="0">
                    <a:solidFill>
                      <a:srgbClr val="333333"/>
                    </a:solidFill>
                  </a:rPr>
                  <a:t>f</a:t>
                </a:r>
                <a:r>
                  <a:rPr lang="en-US" altLang="zh-TW" dirty="0">
                    <a:solidFill>
                      <a:srgbClr val="333333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lang="en-US" altLang="zh-TW" dirty="0">
                    <a:solidFill>
                      <a:srgbClr val="333333"/>
                    </a:solidFill>
                  </a:rPr>
                  <a:t>), </a:t>
                </a:r>
                <a:r>
                  <a:rPr lang="en-US" altLang="zh-TW" i="1" dirty="0">
                    <a:solidFill>
                      <a:srgbClr val="333333"/>
                    </a:solidFill>
                  </a:rPr>
                  <a:t>O</a:t>
                </a:r>
                <a:r>
                  <a:rPr lang="en-US" altLang="zh-TW" dirty="0">
                    <a:solidFill>
                      <a:srgbClr val="333333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333333"/>
                    </a:solidFill>
                  </a:rPr>
                  <a:t>f</a:t>
                </a:r>
                <a:r>
                  <a:rPr lang="en-US" altLang="zh-TW" dirty="0">
                    <a:solidFill>
                      <a:srgbClr val="333333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lang="en-US" altLang="zh-TW" dirty="0">
                    <a:solidFill>
                      <a:srgbClr val="333333"/>
                    </a:solidFill>
                  </a:rPr>
                  <a:t>)) is the set of complexity functions</a:t>
                </a:r>
                <a:r>
                  <a:rPr lang="zh-TW" altLang="en-US" dirty="0">
                    <a:solidFill>
                      <a:srgbClr val="333333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333333"/>
                    </a:solidFill>
                  </a:rPr>
                  <a:t>g</a:t>
                </a:r>
                <a:r>
                  <a:rPr lang="en-US" altLang="zh-TW" dirty="0">
                    <a:solidFill>
                      <a:srgbClr val="333333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lang="en-US" altLang="zh-TW" dirty="0">
                    <a:solidFill>
                      <a:srgbClr val="333333"/>
                    </a:solidFill>
                  </a:rPr>
                  <a:t>) for which there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exists</a:t>
                </a:r>
                <a:r>
                  <a:rPr lang="en-US" altLang="zh-TW" dirty="0">
                    <a:solidFill>
                      <a:srgbClr val="333333"/>
                    </a:solidFill>
                  </a:rPr>
                  <a:t> some positive real constant </a:t>
                </a:r>
                <a:r>
                  <a:rPr lang="en-US" altLang="zh-TW" i="1" dirty="0">
                    <a:solidFill>
                      <a:srgbClr val="333333"/>
                    </a:solidFill>
                  </a:rPr>
                  <a:t>c</a:t>
                </a:r>
                <a:r>
                  <a:rPr lang="en-US" altLang="zh-TW" dirty="0">
                    <a:solidFill>
                      <a:srgbClr val="333333"/>
                    </a:solidFill>
                  </a:rPr>
                  <a:t> and some nonnegative integer </a:t>
                </a:r>
                <a:r>
                  <a:rPr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lang="en-US" altLang="zh-TW" dirty="0">
                    <a:solidFill>
                      <a:srgbClr val="333333"/>
                    </a:solidFill>
                  </a:rPr>
                  <a:t> such that for all </a:t>
                </a:r>
                <a:r>
                  <a:rPr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lang="en-US" altLang="zh-TW" i="1" dirty="0"/>
                  <a:t>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/>
                        <a:ea typeface="文鼎粗黑"/>
                      </a:rPr>
                      <m:t>≥</m:t>
                    </m:r>
                  </m:oMath>
                </a14:m>
                <a:r>
                  <a:rPr lang="en-US" altLang="zh-TW" i="1" dirty="0"/>
                  <a:t> N</a:t>
                </a:r>
                <a:r>
                  <a:rPr lang="en-US" altLang="zh-TW" dirty="0"/>
                  <a:t>,</a:t>
                </a:r>
              </a:p>
              <a:p>
                <a:pPr marL="27432" indent="0" algn="ctr">
                  <a:buNone/>
                </a:pPr>
                <a:r>
                  <a:rPr lang="en-US" altLang="zh-TW" i="1" dirty="0"/>
                  <a:t>g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</a:t>
                </a:r>
                <a:r>
                  <a:rPr lang="en-US" altLang="zh-TW" dirty="0">
                    <a:sym typeface="Symbol" panose="05050102010706020507" pitchFamily="18" charset="2"/>
                  </a:rPr>
                  <a:t>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c</a:t>
                </a:r>
                <a:r>
                  <a:rPr lang="en-US" altLang="zh-TW" dirty="0">
                    <a:sym typeface="Symbol" panose="05050102010706020507" pitchFamily="18" charset="2"/>
                  </a:rPr>
                  <a:t> 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f</a:t>
                </a:r>
                <a:r>
                  <a:rPr lang="en-US" altLang="zh-TW" dirty="0">
                    <a:sym typeface="Symbol" panose="05050102010706020507" pitchFamily="18" charset="2"/>
                  </a:rPr>
                  <a:t>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dirty="0">
                    <a:sym typeface="Symbol" panose="05050102010706020507" pitchFamily="18" charset="2"/>
                  </a:rPr>
                  <a:t>)</a:t>
                </a:r>
              </a:p>
              <a:p>
                <a:endParaRPr lang="en-US" altLang="zh-TW" dirty="0">
                  <a:sym typeface="Symbol" panose="05050102010706020507" pitchFamily="18" charset="2"/>
                </a:endParaRPr>
              </a:p>
              <a:p>
                <a:r>
                  <a:rPr lang="en-US" altLang="zh-TW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small </a:t>
                </a:r>
                <a:r>
                  <a:rPr lang="en-US" altLang="zh-TW" i="1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o</a:t>
                </a:r>
                <a:r>
                  <a:rPr lang="en-US" altLang="zh-TW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:</a:t>
                </a:r>
                <a:r>
                  <a:rPr lang="zh-TW" altLang="en-US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altLang="zh-TW" dirty="0">
                    <a:solidFill>
                      <a:srgbClr val="333333"/>
                    </a:solidFill>
                  </a:rPr>
                  <a:t>For a given complexity function </a:t>
                </a:r>
                <a:r>
                  <a:rPr lang="en-US" altLang="zh-TW" i="1" dirty="0">
                    <a:solidFill>
                      <a:srgbClr val="333333"/>
                    </a:solidFill>
                  </a:rPr>
                  <a:t>f</a:t>
                </a:r>
                <a:r>
                  <a:rPr lang="en-US" altLang="zh-TW" dirty="0">
                    <a:solidFill>
                      <a:srgbClr val="333333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lang="en-US" altLang="zh-TW" dirty="0">
                    <a:solidFill>
                      <a:srgbClr val="333333"/>
                    </a:solidFill>
                  </a:rPr>
                  <a:t>), </a:t>
                </a:r>
                <a:r>
                  <a:rPr lang="en-US" altLang="zh-TW" i="1" dirty="0">
                    <a:solidFill>
                      <a:srgbClr val="333333"/>
                    </a:solidFill>
                  </a:rPr>
                  <a:t>O</a:t>
                </a:r>
                <a:r>
                  <a:rPr lang="en-US" altLang="zh-TW" dirty="0">
                    <a:solidFill>
                      <a:srgbClr val="333333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333333"/>
                    </a:solidFill>
                  </a:rPr>
                  <a:t>f</a:t>
                </a:r>
                <a:r>
                  <a:rPr lang="en-US" altLang="zh-TW" dirty="0">
                    <a:solidFill>
                      <a:srgbClr val="333333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lang="en-US" altLang="zh-TW" dirty="0">
                    <a:solidFill>
                      <a:srgbClr val="333333"/>
                    </a:solidFill>
                  </a:rPr>
                  <a:t>)) is the set of complexity functions</a:t>
                </a:r>
                <a:r>
                  <a:rPr lang="zh-TW" altLang="en-US" dirty="0">
                    <a:solidFill>
                      <a:srgbClr val="333333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333333"/>
                    </a:solidFill>
                  </a:rPr>
                  <a:t>g</a:t>
                </a:r>
                <a:r>
                  <a:rPr lang="en-US" altLang="zh-TW" dirty="0">
                    <a:solidFill>
                      <a:srgbClr val="333333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lang="en-US" altLang="zh-TW" dirty="0">
                    <a:solidFill>
                      <a:srgbClr val="333333"/>
                    </a:solidFill>
                  </a:rPr>
                  <a:t>) satisfying the following: For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every positive real constant 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c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333333"/>
                    </a:solidFill>
                  </a:rPr>
                  <a:t>there exists a nonnegative integer </a:t>
                </a:r>
                <a:r>
                  <a:rPr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lang="en-US" altLang="zh-TW" dirty="0">
                    <a:solidFill>
                      <a:srgbClr val="333333"/>
                    </a:solidFill>
                  </a:rPr>
                  <a:t> such that, for all </a:t>
                </a:r>
                <a:r>
                  <a:rPr kumimoji="1" lang="en-US" altLang="zh-TW" i="1" dirty="0">
                    <a:solidFill>
                      <a:srgbClr val="333333"/>
                    </a:solidFill>
                  </a:rPr>
                  <a:t>n</a:t>
                </a:r>
                <a:r>
                  <a:rPr lang="en-US" altLang="zh-TW" i="1" dirty="0"/>
                  <a:t> </a:t>
                </a:r>
                <a14:m>
                  <m:oMath xmlns:m="http://schemas.openxmlformats.org/officeDocument/2006/math">
                    <m:r>
                      <a:rPr kumimoji="1" lang="zh-TW" altLang="en-US" b="1" i="1">
                        <a:latin typeface="Cambria Math"/>
                        <a:ea typeface="文鼎粗黑"/>
                      </a:rPr>
                      <m:t>≥</m:t>
                    </m:r>
                  </m:oMath>
                </a14:m>
                <a:r>
                  <a:rPr lang="en-US" altLang="zh-TW" i="1" dirty="0"/>
                  <a:t> N</a:t>
                </a:r>
                <a:r>
                  <a:rPr lang="zh-TW" altLang="en-US" dirty="0"/>
                  <a:t>，</a:t>
                </a:r>
                <a:endParaRPr lang="en-US" altLang="zh-TW" dirty="0"/>
              </a:p>
              <a:p>
                <a:pPr marL="27432" indent="0" algn="ctr">
                  <a:buNone/>
                </a:pPr>
                <a:r>
                  <a:rPr lang="en-US" altLang="zh-TW" i="1" dirty="0"/>
                  <a:t>g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</a:t>
                </a:r>
                <a:r>
                  <a:rPr lang="en-US" altLang="zh-TW" dirty="0">
                    <a:sym typeface="Symbol" panose="05050102010706020507" pitchFamily="18" charset="2"/>
                  </a:rPr>
                  <a:t>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c</a:t>
                </a:r>
                <a:r>
                  <a:rPr lang="en-US" altLang="zh-TW" dirty="0">
                    <a:sym typeface="Symbol" panose="05050102010706020507" pitchFamily="18" charset="2"/>
                  </a:rPr>
                  <a:t> 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f</a:t>
                </a:r>
                <a:r>
                  <a:rPr lang="en-US" altLang="zh-TW" dirty="0">
                    <a:sym typeface="Symbol" panose="05050102010706020507" pitchFamily="18" charset="2"/>
                  </a:rPr>
                  <a:t>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dirty="0">
                    <a:sym typeface="Symbol" panose="05050102010706020507" pitchFamily="18" charset="2"/>
                  </a:rPr>
                  <a:t>)</a:t>
                </a:r>
              </a:p>
              <a:p>
                <a:pPr marL="736092" lvl="1" indent="-342900"/>
                <a:endParaRPr lang="en-US" altLang="zh-TW" dirty="0">
                  <a:sym typeface="Symbol" panose="05050102010706020507" pitchFamily="18" charset="2"/>
                </a:endParaRPr>
              </a:p>
              <a:p>
                <a:pPr marL="736092" lvl="1" indent="-342900"/>
                <a:r>
                  <a:rPr lang="en-US" altLang="zh-TW" dirty="0">
                    <a:sym typeface="Symbol" panose="05050102010706020507" pitchFamily="18" charset="2"/>
                  </a:rPr>
                  <a:t>it holds for arbitrarily </a:t>
                </a:r>
                <a:r>
                  <a:rPr lang="en-US" altLang="zh-TW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small </a:t>
                </a:r>
                <a:r>
                  <a:rPr lang="en-US" altLang="zh-TW" i="1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c</a:t>
                </a:r>
              </a:p>
              <a:p>
                <a:pPr marL="393192" lvl="1" indent="0" algn="ctr">
                  <a:buNone/>
                </a:pPr>
                <a:r>
                  <a:rPr lang="en-US" altLang="zh-TW" i="1" dirty="0">
                    <a:sym typeface="Symbol" panose="05050102010706020507" pitchFamily="18" charset="2"/>
                  </a:rPr>
                  <a:t>g</a:t>
                </a:r>
                <a:r>
                  <a:rPr lang="en-US" altLang="zh-TW" dirty="0">
                    <a:sym typeface="Symbol" panose="05050102010706020507" pitchFamily="18" charset="2"/>
                  </a:rPr>
                  <a:t>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dirty="0">
                    <a:sym typeface="Symbol" panose="05050102010706020507" pitchFamily="18" charset="2"/>
                  </a:rPr>
                  <a:t>) </a:t>
                </a:r>
                <a:r>
                  <a:rPr lang="en-US" altLang="zh-TW" dirty="0">
                    <a:sym typeface="Symbol"/>
                  </a:rPr>
                  <a:t> 0.000001  </a:t>
                </a:r>
                <a:r>
                  <a:rPr lang="en-US" altLang="zh-TW" i="1" dirty="0">
                    <a:sym typeface="Symbol"/>
                  </a:rPr>
                  <a:t>f</a:t>
                </a:r>
                <a:r>
                  <a:rPr lang="en-US" altLang="zh-TW" dirty="0">
                    <a:sym typeface="Symbol"/>
                  </a:rPr>
                  <a:t>(</a:t>
                </a:r>
                <a:r>
                  <a:rPr lang="en-US" altLang="zh-TW" i="1" dirty="0">
                    <a:sym typeface="Symbol"/>
                  </a:rPr>
                  <a:t>n</a:t>
                </a:r>
                <a:r>
                  <a:rPr lang="en-US" altLang="zh-TW" dirty="0">
                    <a:sym typeface="Symbol"/>
                  </a:rPr>
                  <a:t>)</a:t>
                </a:r>
                <a:endParaRPr lang="en-US" altLang="zh-TW" dirty="0">
                  <a:sym typeface="Symbol" panose="05050102010706020507" pitchFamily="18" charset="2"/>
                </a:endParaRPr>
              </a:p>
              <a:p>
                <a:pPr marL="736092" lvl="1" indent="-342900"/>
                <a:endParaRPr lang="en-US" altLang="zh-TW" dirty="0">
                  <a:sym typeface="Symbol" panose="05050102010706020507" pitchFamily="18" charset="2"/>
                </a:endParaRPr>
              </a:p>
              <a:p>
                <a:pPr marL="736092" lvl="1" indent="-342900"/>
                <a:r>
                  <a:rPr lang="en-US" altLang="zh-TW" i="1" dirty="0">
                    <a:sym typeface="Symbol" panose="05050102010706020507" pitchFamily="18" charset="2"/>
                  </a:rPr>
                  <a:t>g</a:t>
                </a:r>
                <a:r>
                  <a:rPr lang="en-US" altLang="zh-TW" dirty="0">
                    <a:sym typeface="Symbol" panose="05050102010706020507" pitchFamily="18" charset="2"/>
                  </a:rPr>
                  <a:t>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dirty="0">
                    <a:sym typeface="Symbol" panose="05050102010706020507" pitchFamily="18" charset="2"/>
                  </a:rPr>
                  <a:t>) becomes insignificant relative to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f</a:t>
                </a:r>
                <a:r>
                  <a:rPr lang="en-US" altLang="zh-TW" dirty="0">
                    <a:sym typeface="Symbol" panose="05050102010706020507" pitchFamily="18" charset="2"/>
                  </a:rPr>
                  <a:t>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dirty="0">
                    <a:sym typeface="Symbol" panose="05050102010706020507" pitchFamily="18" charset="2"/>
                  </a:rPr>
                  <a:t>) as </a:t>
                </a:r>
                <a:r>
                  <a:rPr lang="en-US" altLang="zh-TW" i="1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n</a:t>
                </a:r>
                <a:r>
                  <a:rPr lang="en-US" altLang="zh-TW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 becomes large</a:t>
                </a:r>
                <a:r>
                  <a:rPr lang="en-US" altLang="zh-TW" dirty="0">
                    <a:sym typeface="Symbol" panose="05050102010706020507" pitchFamily="18" charset="2"/>
                  </a:rPr>
                  <a:t>.</a:t>
                </a:r>
              </a:p>
              <a:p>
                <a:pPr marL="370332" indent="-342900"/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5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650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small </a:t>
            </a:r>
            <a:r>
              <a:rPr lang="en-US" altLang="zh-TW" i="1" dirty="0"/>
              <a:t>o</a:t>
            </a:r>
            <a:r>
              <a:rPr lang="zh-TW" altLang="en-US" dirty="0"/>
              <a:t>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If </a:t>
                </a:r>
                <a:r>
                  <a:rPr lang="en-US" altLang="zh-TW" i="1" dirty="0"/>
                  <a:t>g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is in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f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))</a:t>
                </a:r>
              </a:p>
              <a:p>
                <a:pPr lvl="1"/>
                <a:r>
                  <a:rPr lang="en-US" altLang="zh-TW" dirty="0"/>
                  <a:t>then </a:t>
                </a:r>
                <a:r>
                  <a:rPr lang="en-US" altLang="zh-TW" i="1" dirty="0"/>
                  <a:t>g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eventually much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better</a:t>
                </a:r>
                <a:r>
                  <a:rPr lang="en-US" altLang="zh-TW" dirty="0"/>
                  <a:t> than functions such as </a:t>
                </a:r>
                <a:r>
                  <a:rPr lang="en-US" altLang="zh-TW" i="1" dirty="0"/>
                  <a:t>f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).</a:t>
                </a:r>
              </a:p>
              <a:p>
                <a:endParaRPr lang="en-US" altLang="zh-TW" dirty="0"/>
              </a:p>
              <a:p>
                <a:r>
                  <a:rPr lang="en-US" altLang="zh-TW" dirty="0"/>
                  <a:t>Show that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FF"/>
                    </a:solidFill>
                    <a:sym typeface="Symbol"/>
                  </a:rPr>
                  <a:t> </a:t>
                </a:r>
                <a:r>
                  <a:rPr lang="en-US" altLang="zh-TW" i="1" dirty="0">
                    <a:solidFill>
                      <a:srgbClr val="0000FF"/>
                    </a:solidFill>
                    <a:sym typeface="Symbol"/>
                  </a:rPr>
                  <a:t>o</a:t>
                </a:r>
                <a:r>
                  <a:rPr lang="en-US" altLang="zh-TW" dirty="0">
                    <a:solidFill>
                      <a:srgbClr val="0000FF"/>
                    </a:solidFill>
                    <a:sym typeface="Symbol"/>
                  </a:rPr>
                  <a:t>(</a:t>
                </a:r>
                <a:r>
                  <a:rPr lang="en-US" altLang="zh-TW" i="1" dirty="0">
                    <a:solidFill>
                      <a:srgbClr val="0000FF"/>
                    </a:solidFill>
                    <a:sym typeface="Symbol"/>
                  </a:rPr>
                  <a:t>n</a:t>
                </a:r>
                <a:r>
                  <a:rPr lang="en-US" altLang="zh-TW" baseline="30000" dirty="0">
                    <a:solidFill>
                      <a:srgbClr val="0000FF"/>
                    </a:solidFill>
                    <a:sym typeface="Symbol"/>
                  </a:rPr>
                  <a:t>2</a:t>
                </a:r>
                <a:r>
                  <a:rPr lang="en-US" altLang="zh-TW" dirty="0">
                    <a:solidFill>
                      <a:srgbClr val="0000FF"/>
                    </a:solidFill>
                    <a:sym typeface="Symbol"/>
                  </a:rPr>
                  <a:t>)</a:t>
                </a:r>
              </a:p>
              <a:p>
                <a:pPr lvl="1"/>
                <a:r>
                  <a:rPr lang="en-US" altLang="zh-TW" dirty="0"/>
                  <a:t>Let 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c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C00000"/>
                    </a:solidFill>
                    <a:sym typeface="Symbol"/>
                  </a:rPr>
                  <a:t>&gt; 0</a:t>
                </a:r>
                <a:r>
                  <a:rPr lang="en-US" altLang="zh-TW" dirty="0">
                    <a:sym typeface="Symbol"/>
                  </a:rPr>
                  <a:t>, find an </a:t>
                </a:r>
                <a:r>
                  <a:rPr lang="en-US" altLang="zh-TW" i="1" dirty="0">
                    <a:sym typeface="Symbol"/>
                  </a:rPr>
                  <a:t>N</a:t>
                </a:r>
                <a:r>
                  <a:rPr lang="zh-TW" altLang="en-US" dirty="0">
                    <a:sym typeface="Symbol"/>
                  </a:rPr>
                  <a:t> </a:t>
                </a:r>
                <a:r>
                  <a:rPr lang="en-US" altLang="zh-TW" dirty="0">
                    <a:sym typeface="Symbol"/>
                  </a:rPr>
                  <a:t>such that, for </a:t>
                </a:r>
                <a:r>
                  <a:rPr lang="en-US" altLang="zh-TW" i="1" dirty="0">
                    <a:sym typeface="Symbol"/>
                  </a:rPr>
                  <a:t>n</a:t>
                </a:r>
                <a:r>
                  <a:rPr lang="en-US" altLang="zh-TW" dirty="0">
                    <a:sym typeface="Symbol"/>
                  </a:rPr>
                  <a:t>  </a:t>
                </a:r>
                <a:r>
                  <a:rPr lang="en-US" altLang="zh-TW" i="1" dirty="0">
                    <a:sym typeface="Symbol"/>
                  </a:rPr>
                  <a:t>N</a:t>
                </a:r>
                <a:r>
                  <a:rPr lang="zh-TW" altLang="en-US" dirty="0">
                    <a:sym typeface="Symbol"/>
                  </a:rPr>
                  <a:t>，</a:t>
                </a:r>
                <a:endParaRPr lang="en-US" altLang="zh-TW" dirty="0">
                  <a:sym typeface="Symbol"/>
                </a:endParaRPr>
              </a:p>
              <a:p>
                <a:pPr marL="393192" lvl="1" indent="0" algn="ctr">
                  <a:buNone/>
                </a:pPr>
                <a:r>
                  <a:rPr lang="en-US" altLang="zh-TW" i="1" dirty="0">
                    <a:sym typeface="Symbol"/>
                  </a:rPr>
                  <a:t>n</a:t>
                </a:r>
                <a:r>
                  <a:rPr lang="en-US" altLang="zh-TW" dirty="0">
                    <a:sym typeface="Symbol"/>
                  </a:rPr>
                  <a:t>  </a:t>
                </a:r>
                <a:r>
                  <a:rPr lang="en-US" altLang="zh-TW" i="1" dirty="0">
                    <a:sym typeface="Symbol"/>
                  </a:rPr>
                  <a:t>cn</a:t>
                </a:r>
                <a:r>
                  <a:rPr lang="en-US" altLang="zh-TW" baseline="30000" dirty="0">
                    <a:sym typeface="Symbol"/>
                  </a:rPr>
                  <a:t>2</a:t>
                </a:r>
              </a:p>
              <a:p>
                <a:pPr lvl="1"/>
                <a:r>
                  <a:rPr lang="en-US" altLang="zh-TW" dirty="0"/>
                  <a:t>divide both sides of this inequality by </a:t>
                </a:r>
                <a:r>
                  <a:rPr lang="en-US" altLang="zh-TW" i="1" dirty="0" err="1"/>
                  <a:t>cn</a:t>
                </a:r>
                <a:r>
                  <a:rPr lang="en-US" altLang="zh-TW" dirty="0"/>
                  <a:t>,</a:t>
                </a:r>
              </a:p>
              <a:p>
                <a:pPr marL="393192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1" i="1" smtClean="0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TW" b="1" i="1" smtClean="0">
                                  <a:latin typeface="Cambria Math"/>
                                </a:rPr>
                                <m:t>𝒄</m:t>
                              </m:r>
                            </m:den>
                          </m:f>
                        </m:e>
                      </m:box>
                      <m:r>
                        <a:rPr lang="en-US" altLang="zh-TW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a:rPr lang="en-US" altLang="zh-TW" b="1" i="1" smtClean="0">
                          <a:latin typeface="Cambria Math"/>
                          <a:ea typeface="Cambria Math"/>
                        </a:rPr>
                        <m:t>𝒏</m:t>
                      </m:r>
                    </m:oMath>
                  </m:oMathPara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choose any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sym typeface="Symbol"/>
                  </a:rPr>
                  <a:t></a:t>
                </a:r>
                <a:r>
                  <a:rPr lang="zh-TW" altLang="en-US" dirty="0">
                    <a:sym typeface="Symbol"/>
                  </a:rPr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zh-TW" altLang="en-US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fPr>
                          <m:num>
                            <m:r>
                              <a:rPr lang="en-US" altLang="zh-TW" b="1" i="1" smtClean="0">
                                <a:latin typeface="Cambria Math"/>
                                <a:sym typeface="Symbol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TW" b="1" i="1" smtClean="0">
                                <a:latin typeface="Cambria Math"/>
                                <a:sym typeface="Symbol"/>
                              </a:rPr>
                              <m:t>𝒄</m:t>
                            </m:r>
                          </m:den>
                        </m:f>
                      </m:e>
                    </m:box>
                  </m:oMath>
                </a14:m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Show that</a:t>
                </a:r>
                <a:r>
                  <a:rPr lang="en-US" altLang="zh-TW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n</a:t>
                </a:r>
                <a:r>
                  <a:rPr lang="zh-TW" altLang="en-US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FF"/>
                    </a:solidFill>
                  </a:rPr>
                  <a:t>is not in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o</a:t>
                </a:r>
                <a:r>
                  <a:rPr lang="en-US" altLang="zh-TW" dirty="0">
                    <a:solidFill>
                      <a:srgbClr val="0000FF"/>
                    </a:solidFill>
                  </a:rPr>
                  <a:t>(5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FF"/>
                    </a:solidFill>
                  </a:rPr>
                  <a:t>)</a:t>
                </a:r>
              </a:p>
              <a:p>
                <a:pPr lvl="1"/>
                <a:r>
                  <a:rPr lang="en-US" altLang="zh-TW" dirty="0">
                    <a:solidFill>
                      <a:srgbClr val="C00000"/>
                    </a:solidFill>
                  </a:rPr>
                  <a:t>proof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by contradiction</a:t>
                </a:r>
                <a:r>
                  <a:rPr lang="en-US" altLang="zh-TW" dirty="0"/>
                  <a:t>, assume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sym typeface="Symbol"/>
                  </a:rPr>
                  <a:t> </a:t>
                </a:r>
                <a:r>
                  <a:rPr lang="en-US" altLang="zh-TW" i="1" dirty="0">
                    <a:sym typeface="Symbol"/>
                  </a:rPr>
                  <a:t>o</a:t>
                </a:r>
                <a:r>
                  <a:rPr lang="en-US" altLang="zh-TW" dirty="0">
                    <a:sym typeface="Symbol"/>
                  </a:rPr>
                  <a:t>(5</a:t>
                </a:r>
                <a:r>
                  <a:rPr lang="en-US" altLang="zh-TW" i="1" dirty="0">
                    <a:sym typeface="Symbol"/>
                  </a:rPr>
                  <a:t>n</a:t>
                </a:r>
                <a:r>
                  <a:rPr lang="en-US" altLang="zh-TW" dirty="0">
                    <a:sym typeface="Symbol"/>
                  </a:rPr>
                  <a:t>)</a:t>
                </a:r>
              </a:p>
              <a:p>
                <a:pPr lvl="1"/>
                <a:r>
                  <a:rPr lang="en-US" altLang="zh-TW" dirty="0">
                    <a:sym typeface="Symbol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/>
                        <a:sym typeface="Symbol"/>
                      </a:rPr>
                      <m:t>𝒄</m:t>
                    </m:r>
                    <m:r>
                      <a:rPr lang="en-US" altLang="zh-TW" b="1" i="1" smtClean="0">
                        <a:latin typeface="Cambria Math"/>
                        <a:sym typeface="Symbol"/>
                      </a:rPr>
                      <m:t>=</m:t>
                    </m:r>
                    <m:box>
                      <m:boxPr>
                        <m:ctrlPr>
                          <a:rPr lang="en-US" altLang="zh-TW" b="1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fPr>
                          <m:num>
                            <m:r>
                              <a:rPr lang="en-US" altLang="zh-TW" b="1" i="1" smtClean="0">
                                <a:latin typeface="Cambria Math"/>
                                <a:sym typeface="Symbol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TW" b="1" i="1" smtClean="0">
                                <a:latin typeface="Cambria Math"/>
                                <a:sym typeface="Symbol"/>
                              </a:rPr>
                              <m:t>𝟔</m:t>
                            </m:r>
                          </m:den>
                        </m:f>
                      </m:e>
                    </m:box>
                  </m:oMath>
                </a14:m>
                <a:r>
                  <a:rPr lang="zh-TW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TW" b="1" i="1" dirty="0" smtClean="0">
                        <a:latin typeface="Cambria Math"/>
                      </a:rPr>
                      <m:t>𝒏</m:t>
                    </m:r>
                    <m:r>
                      <a:rPr lang="en-US" altLang="zh-TW" b="1" i="1" dirty="0" smtClean="0">
                        <a:latin typeface="Cambria Math"/>
                        <a:ea typeface="Cambria Math"/>
                      </a:rPr>
                      <m:t>≤</m:t>
                    </m:r>
                    <m:box>
                      <m:boxPr>
                        <m:ctrlPr>
                          <a:rPr lang="en-US" altLang="zh-TW" b="1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latin typeface="Cambria Math"/>
                                <a:ea typeface="Cambria Math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latin typeface="Cambria Math"/>
                                <a:ea typeface="Cambria Math"/>
                              </a:rPr>
                              <m:t>𝟔</m:t>
                            </m:r>
                          </m:den>
                        </m:f>
                        <m:r>
                          <a:rPr lang="en-US" altLang="zh-TW" b="1" i="1" dirty="0" smtClean="0"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US" altLang="zh-TW" b="1" i="1" dirty="0" smtClean="0">
                            <a:latin typeface="Cambria Math"/>
                            <a:ea typeface="Cambria Math"/>
                          </a:rPr>
                          <m:t>𝟓</m:t>
                        </m:r>
                        <m:r>
                          <a:rPr lang="en-US" altLang="zh-TW" b="1" i="1" dirty="0" smtClean="0">
                            <a:latin typeface="Cambria Math"/>
                            <a:ea typeface="Cambria Math"/>
                          </a:rPr>
                          <m:t>𝒏</m:t>
                        </m:r>
                      </m:e>
                    </m:box>
                    <m:r>
                      <a:rPr lang="en-US" altLang="zh-TW" b="1" i="1" dirty="0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box>
                      <m:boxPr>
                        <m:ctrlPr>
                          <a:rPr lang="en-US" altLang="zh-TW" b="1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𝟓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𝟔</m:t>
                            </m:r>
                          </m:den>
                        </m:f>
                      </m:e>
                    </m:box>
                    <m:r>
                      <a:rPr lang="en-US" altLang="zh-TW" b="1" i="1" dirty="0" smtClean="0">
                        <a:latin typeface="Cambria Math" panose="02040503050406030204" pitchFamily="18" charset="0"/>
                        <a:ea typeface="Cambria Math"/>
                      </a:rPr>
                      <m:t>𝒏</m:t>
                    </m:r>
                  </m:oMath>
                </a14:m>
                <a:r>
                  <a:rPr lang="zh-TW" altLang="en-US" dirty="0"/>
                  <a:t>    </a:t>
                </a:r>
                <a:r>
                  <a:rPr lang="zh-TW" altLang="en-US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</a:t>
                </a:r>
                <a:endParaRPr lang="zh-TW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5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5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small </a:t>
            </a:r>
            <a:r>
              <a:rPr lang="en-US" altLang="zh-TW" i="1" dirty="0"/>
              <a:t>o</a:t>
            </a:r>
            <a:r>
              <a:rPr lang="zh-TW" altLang="en-US" dirty="0"/>
              <a:t> 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>
                    <a:solidFill>
                      <a:srgbClr val="0000FF"/>
                    </a:solidFill>
                  </a:rPr>
                  <a:t>Theorem 1.2: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If </a:t>
                </a:r>
                <a:r>
                  <a:rPr lang="en-US" altLang="zh-TW" i="1" dirty="0"/>
                  <a:t>g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</a:t>
                </a:r>
                <a:r>
                  <a:rPr lang="en-US" altLang="zh-TW" dirty="0">
                    <a:sym typeface="Symbol"/>
                  </a:rPr>
                  <a:t> </a:t>
                </a:r>
                <a:r>
                  <a:rPr lang="en-US" altLang="zh-TW" i="1" dirty="0">
                    <a:sym typeface="Symbol"/>
                  </a:rPr>
                  <a:t>o</a:t>
                </a:r>
                <a:r>
                  <a:rPr lang="en-US" altLang="zh-TW" dirty="0">
                    <a:sym typeface="Symbol"/>
                  </a:rPr>
                  <a:t>(</a:t>
                </a:r>
                <a:r>
                  <a:rPr lang="en-US" altLang="zh-TW" i="1" dirty="0">
                    <a:sym typeface="Symbol"/>
                  </a:rPr>
                  <a:t>f</a:t>
                </a:r>
                <a:r>
                  <a:rPr lang="en-US" altLang="zh-TW" dirty="0">
                    <a:sym typeface="Symbol"/>
                  </a:rPr>
                  <a:t>(</a:t>
                </a:r>
                <a:r>
                  <a:rPr lang="en-US" altLang="zh-TW" i="1" dirty="0">
                    <a:sym typeface="Symbol"/>
                  </a:rPr>
                  <a:t>n</a:t>
                </a:r>
                <a:r>
                  <a:rPr lang="en-US" altLang="zh-TW" dirty="0">
                    <a:sym typeface="Symbol"/>
                  </a:rPr>
                  <a:t>)), then </a:t>
                </a:r>
                <a:r>
                  <a:rPr lang="en-US" altLang="zh-TW" i="1" dirty="0">
                    <a:sym typeface="Symbol"/>
                  </a:rPr>
                  <a:t>g</a:t>
                </a:r>
                <a:r>
                  <a:rPr lang="en-US" altLang="zh-TW" dirty="0">
                    <a:sym typeface="Symbol"/>
                  </a:rPr>
                  <a:t>(</a:t>
                </a:r>
                <a:r>
                  <a:rPr lang="en-US" altLang="zh-TW" i="1" dirty="0">
                    <a:sym typeface="Symbol"/>
                  </a:rPr>
                  <a:t>n</a:t>
                </a:r>
                <a:r>
                  <a:rPr lang="en-US" altLang="zh-TW" dirty="0">
                    <a:sym typeface="Symbol"/>
                  </a:rPr>
                  <a:t>)  </a:t>
                </a:r>
                <a:r>
                  <a:rPr lang="en-US" altLang="zh-TW" i="1" dirty="0">
                    <a:sym typeface="Symbol"/>
                  </a:rPr>
                  <a:t>O</a:t>
                </a:r>
                <a:r>
                  <a:rPr lang="en-US" altLang="zh-TW" dirty="0">
                    <a:sym typeface="Symbol"/>
                  </a:rPr>
                  <a:t>(</a:t>
                </a:r>
                <a:r>
                  <a:rPr lang="en-US" altLang="zh-TW" i="1" dirty="0">
                    <a:sym typeface="Symbol"/>
                  </a:rPr>
                  <a:t>f</a:t>
                </a:r>
                <a:r>
                  <a:rPr lang="en-US" altLang="zh-TW" dirty="0">
                    <a:sym typeface="Symbol"/>
                  </a:rPr>
                  <a:t>(</a:t>
                </a:r>
                <a:r>
                  <a:rPr lang="en-US" altLang="zh-TW" i="1" dirty="0">
                    <a:sym typeface="Symbol"/>
                  </a:rPr>
                  <a:t>n</a:t>
                </a:r>
                <a:r>
                  <a:rPr lang="en-US" altLang="zh-TW" dirty="0">
                    <a:sym typeface="Symbol"/>
                  </a:rPr>
                  <a:t>)) – (</a:t>
                </a:r>
                <a:r>
                  <a:rPr lang="en-US" altLang="zh-TW" i="1" dirty="0">
                    <a:sym typeface="Symbol"/>
                  </a:rPr>
                  <a:t>f</a:t>
                </a:r>
                <a:r>
                  <a:rPr lang="en-US" altLang="zh-TW" dirty="0">
                    <a:sym typeface="Symbol"/>
                  </a:rPr>
                  <a:t>(</a:t>
                </a:r>
                <a:r>
                  <a:rPr lang="en-US" altLang="zh-TW" i="1" dirty="0">
                    <a:sym typeface="Symbol"/>
                  </a:rPr>
                  <a:t>n</a:t>
                </a:r>
                <a:r>
                  <a:rPr lang="en-US" altLang="zh-TW" dirty="0">
                    <a:sym typeface="Symbol"/>
                  </a:rPr>
                  <a:t>))</a:t>
                </a:r>
              </a:p>
              <a:p>
                <a:pPr lvl="1"/>
                <a:r>
                  <a:rPr lang="en-US" altLang="zh-TW" i="1" dirty="0">
                    <a:sym typeface="Symbol"/>
                  </a:rPr>
                  <a:t>g</a:t>
                </a:r>
                <a:r>
                  <a:rPr lang="en-US" altLang="zh-TW" dirty="0">
                    <a:sym typeface="Symbol"/>
                  </a:rPr>
                  <a:t>(</a:t>
                </a:r>
                <a:r>
                  <a:rPr lang="en-US" altLang="zh-TW" i="1" dirty="0">
                    <a:sym typeface="Symbol"/>
                  </a:rPr>
                  <a:t>n</a:t>
                </a:r>
                <a:r>
                  <a:rPr lang="en-US" altLang="zh-TW" dirty="0">
                    <a:sym typeface="Symbol"/>
                  </a:rPr>
                  <a:t>)</a:t>
                </a:r>
                <a:r>
                  <a:rPr lang="zh-TW" altLang="en-US" dirty="0">
                    <a:sym typeface="Symbol"/>
                  </a:rPr>
                  <a:t> </a:t>
                </a:r>
                <a:r>
                  <a:rPr lang="en-US" altLang="zh-TW" dirty="0">
                    <a:sym typeface="Symbol"/>
                  </a:rPr>
                  <a:t>is in</a:t>
                </a:r>
                <a:r>
                  <a:rPr lang="zh-TW" altLang="en-US" dirty="0">
                    <a:sym typeface="Symbol"/>
                  </a:rPr>
                  <a:t> </a:t>
                </a:r>
                <a:r>
                  <a:rPr lang="en-US" altLang="zh-TW" i="1" dirty="0">
                    <a:sym typeface="Symbol"/>
                  </a:rPr>
                  <a:t>O</a:t>
                </a:r>
                <a:r>
                  <a:rPr lang="en-US" altLang="zh-TW" dirty="0">
                    <a:sym typeface="Symbol"/>
                  </a:rPr>
                  <a:t>(</a:t>
                </a:r>
                <a:r>
                  <a:rPr lang="en-US" altLang="zh-TW" i="1" dirty="0">
                    <a:sym typeface="Symbol"/>
                  </a:rPr>
                  <a:t>f</a:t>
                </a:r>
                <a:r>
                  <a:rPr lang="en-US" altLang="zh-TW" dirty="0">
                    <a:sym typeface="Symbol"/>
                  </a:rPr>
                  <a:t>(</a:t>
                </a:r>
                <a:r>
                  <a:rPr lang="en-US" altLang="zh-TW" i="1" dirty="0">
                    <a:sym typeface="Symbol"/>
                  </a:rPr>
                  <a:t>n</a:t>
                </a:r>
                <a:r>
                  <a:rPr lang="en-US" altLang="zh-TW" dirty="0">
                    <a:sym typeface="Symbol"/>
                  </a:rPr>
                  <a:t>), but not in</a:t>
                </a:r>
                <a:r>
                  <a:rPr lang="zh-TW" altLang="en-US" dirty="0">
                    <a:sym typeface="Symbol"/>
                  </a:rPr>
                  <a:t> </a:t>
                </a:r>
                <a:r>
                  <a:rPr lang="en-US" altLang="zh-TW" dirty="0">
                    <a:sym typeface="Symbol"/>
                  </a:rPr>
                  <a:t>(</a:t>
                </a:r>
                <a:r>
                  <a:rPr lang="en-US" altLang="zh-TW" i="1" dirty="0">
                    <a:sym typeface="Symbol"/>
                  </a:rPr>
                  <a:t>f</a:t>
                </a:r>
                <a:r>
                  <a:rPr lang="en-US" altLang="zh-TW" dirty="0">
                    <a:sym typeface="Symbol"/>
                  </a:rPr>
                  <a:t>(</a:t>
                </a:r>
                <a:r>
                  <a:rPr lang="en-US" altLang="zh-TW" i="1" dirty="0">
                    <a:sym typeface="Symbol"/>
                  </a:rPr>
                  <a:t>n</a:t>
                </a:r>
                <a:r>
                  <a:rPr lang="en-US" altLang="zh-TW" dirty="0">
                    <a:sym typeface="Symbol"/>
                  </a:rPr>
                  <a:t>))</a:t>
                </a:r>
              </a:p>
              <a:p>
                <a:endParaRPr lang="en-US" altLang="zh-TW" dirty="0">
                  <a:sym typeface="Symbol"/>
                </a:endParaRPr>
              </a:p>
              <a:p>
                <a:r>
                  <a:rPr lang="en-US" altLang="zh-TW" i="1" dirty="0">
                    <a:sym typeface="Symbol"/>
                  </a:rPr>
                  <a:t>o</a:t>
                </a:r>
                <a:r>
                  <a:rPr lang="en-US" altLang="zh-TW" dirty="0">
                    <a:sym typeface="Symbol"/>
                  </a:rPr>
                  <a:t>(</a:t>
                </a:r>
                <a:r>
                  <a:rPr lang="en-US" altLang="zh-TW" i="1" dirty="0">
                    <a:sym typeface="Symbol"/>
                  </a:rPr>
                  <a:t>f</a:t>
                </a:r>
                <a:r>
                  <a:rPr lang="en-US" altLang="zh-TW" dirty="0">
                    <a:sym typeface="Symbol"/>
                  </a:rPr>
                  <a:t>(</a:t>
                </a:r>
                <a:r>
                  <a:rPr lang="en-US" altLang="zh-TW" i="1" dirty="0">
                    <a:sym typeface="Symbol"/>
                  </a:rPr>
                  <a:t>n</a:t>
                </a:r>
                <a:r>
                  <a:rPr lang="en-US" altLang="zh-TW" dirty="0">
                    <a:sym typeface="Symbol"/>
                  </a:rPr>
                  <a:t>))</a:t>
                </a:r>
                <a:r>
                  <a:rPr lang="zh-TW" altLang="en-US" dirty="0">
                    <a:sym typeface="Symbol"/>
                  </a:rPr>
                  <a:t> </a:t>
                </a:r>
                <a:r>
                  <a:rPr lang="en-US" altLang="zh-TW" dirty="0">
                    <a:sym typeface="Symbol"/>
                  </a:rPr>
                  <a:t>and </a:t>
                </a:r>
                <a:r>
                  <a:rPr lang="en-US" altLang="zh-TW" i="1" dirty="0">
                    <a:sym typeface="Symbol"/>
                  </a:rPr>
                  <a:t>O</a:t>
                </a:r>
                <a:r>
                  <a:rPr lang="en-US" altLang="zh-TW" dirty="0">
                    <a:sym typeface="Symbol"/>
                  </a:rPr>
                  <a:t>(</a:t>
                </a:r>
                <a:r>
                  <a:rPr lang="en-US" altLang="zh-TW" i="1" dirty="0">
                    <a:sym typeface="Symbol"/>
                  </a:rPr>
                  <a:t>f</a:t>
                </a:r>
                <a:r>
                  <a:rPr lang="en-US" altLang="zh-TW" dirty="0">
                    <a:sym typeface="Symbol"/>
                  </a:rPr>
                  <a:t>(</a:t>
                </a:r>
                <a:r>
                  <a:rPr lang="en-US" altLang="zh-TW" i="1" dirty="0">
                    <a:sym typeface="Symbol"/>
                  </a:rPr>
                  <a:t>n</a:t>
                </a:r>
                <a:r>
                  <a:rPr lang="en-US" altLang="zh-TW" dirty="0">
                    <a:sym typeface="Symbol"/>
                  </a:rPr>
                  <a:t>)) – (</a:t>
                </a:r>
                <a:r>
                  <a:rPr lang="en-US" altLang="zh-TW" i="1" dirty="0">
                    <a:sym typeface="Symbol"/>
                  </a:rPr>
                  <a:t>f</a:t>
                </a:r>
                <a:r>
                  <a:rPr lang="en-US" altLang="zh-TW" dirty="0">
                    <a:sym typeface="Symbol"/>
                  </a:rPr>
                  <a:t>(</a:t>
                </a:r>
                <a:r>
                  <a:rPr lang="en-US" altLang="zh-TW" i="1" dirty="0">
                    <a:sym typeface="Symbol"/>
                  </a:rPr>
                  <a:t>n</a:t>
                </a:r>
                <a:r>
                  <a:rPr lang="en-US" altLang="zh-TW" dirty="0">
                    <a:sym typeface="Symbol"/>
                  </a:rPr>
                  <a:t>))</a:t>
                </a:r>
                <a:r>
                  <a:rPr lang="zh-TW" altLang="en-US" dirty="0">
                    <a:sym typeface="Symbol"/>
                  </a:rPr>
                  <a:t> </a:t>
                </a:r>
                <a:r>
                  <a:rPr lang="en-US" altLang="zh-TW" dirty="0">
                    <a:sym typeface="Symbol"/>
                  </a:rPr>
                  <a:t>must be the same set?</a:t>
                </a:r>
              </a:p>
              <a:p>
                <a:pPr lvl="1"/>
                <a:r>
                  <a:rPr lang="en-US" altLang="zh-TW" dirty="0">
                    <a:sym typeface="Symbol"/>
                  </a:rPr>
                  <a:t>When complexity functions represent the time complexities of actual algorithms, ordinarily the functions in </a:t>
                </a:r>
                <a:r>
                  <a:rPr lang="en-US" altLang="zh-TW" i="1" dirty="0">
                    <a:sym typeface="Symbol"/>
                  </a:rPr>
                  <a:t>O</a:t>
                </a:r>
                <a:r>
                  <a:rPr lang="en-US" altLang="zh-TW" dirty="0">
                    <a:sym typeface="Symbol"/>
                  </a:rPr>
                  <a:t>(</a:t>
                </a:r>
                <a:r>
                  <a:rPr lang="en-US" altLang="zh-TW" i="1" dirty="0">
                    <a:sym typeface="Symbol"/>
                  </a:rPr>
                  <a:t>f</a:t>
                </a:r>
                <a:r>
                  <a:rPr lang="en-US" altLang="zh-TW" dirty="0">
                    <a:sym typeface="Symbol"/>
                  </a:rPr>
                  <a:t>(</a:t>
                </a:r>
                <a:r>
                  <a:rPr lang="en-US" altLang="zh-TW" i="1" dirty="0">
                    <a:sym typeface="Symbol"/>
                  </a:rPr>
                  <a:t>n</a:t>
                </a:r>
                <a:r>
                  <a:rPr lang="en-US" altLang="zh-TW" dirty="0">
                    <a:sym typeface="Symbol"/>
                  </a:rPr>
                  <a:t>)) – (</a:t>
                </a:r>
                <a:r>
                  <a:rPr lang="en-US" altLang="zh-TW" i="1" dirty="0">
                    <a:sym typeface="Symbol"/>
                  </a:rPr>
                  <a:t>f</a:t>
                </a:r>
                <a:r>
                  <a:rPr lang="en-US" altLang="zh-TW" dirty="0">
                    <a:sym typeface="Symbol"/>
                  </a:rPr>
                  <a:t>(</a:t>
                </a:r>
                <a:r>
                  <a:rPr lang="en-US" altLang="zh-TW" i="1" dirty="0">
                    <a:sym typeface="Symbol"/>
                  </a:rPr>
                  <a:t>n</a:t>
                </a:r>
                <a:r>
                  <a:rPr lang="en-US" altLang="zh-TW" dirty="0">
                    <a:sym typeface="Symbol"/>
                  </a:rPr>
                  <a:t>)) are the same ones in</a:t>
                </a:r>
                <a:r>
                  <a:rPr lang="zh-TW" altLang="en-US" dirty="0">
                    <a:sym typeface="Symbol"/>
                  </a:rPr>
                  <a:t> </a:t>
                </a:r>
                <a:r>
                  <a:rPr lang="en-US" altLang="zh-TW" i="1" dirty="0">
                    <a:sym typeface="Symbol"/>
                  </a:rPr>
                  <a:t>o</a:t>
                </a:r>
                <a:r>
                  <a:rPr lang="en-US" altLang="zh-TW" dirty="0">
                    <a:sym typeface="Symbol"/>
                  </a:rPr>
                  <a:t>(</a:t>
                </a:r>
                <a:r>
                  <a:rPr lang="en-US" altLang="zh-TW" i="1" dirty="0">
                    <a:sym typeface="Symbol"/>
                  </a:rPr>
                  <a:t>f</a:t>
                </a:r>
                <a:r>
                  <a:rPr lang="en-US" altLang="zh-TW" dirty="0">
                    <a:sym typeface="Symbol"/>
                  </a:rPr>
                  <a:t>(</a:t>
                </a:r>
                <a:r>
                  <a:rPr lang="en-US" altLang="zh-TW" i="1" dirty="0">
                    <a:sym typeface="Symbol"/>
                  </a:rPr>
                  <a:t>n</a:t>
                </a:r>
                <a:r>
                  <a:rPr lang="en-US" altLang="zh-TW" dirty="0">
                    <a:sym typeface="Symbol"/>
                  </a:rPr>
                  <a:t>)).</a:t>
                </a:r>
              </a:p>
              <a:p>
                <a:pPr lvl="1"/>
                <a:r>
                  <a:rPr lang="en-US" altLang="zh-TW" dirty="0">
                    <a:sym typeface="Symbol"/>
                  </a:rPr>
                  <a:t>For unusual functions, this is not true.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/>
                        <a:sym typeface="Symbol"/>
                      </a:rPr>
                      <m:t>𝒈</m:t>
                    </m:r>
                    <m:d>
                      <m:dPr>
                        <m:ctrlPr>
                          <a:rPr lang="en-US" altLang="zh-TW" b="1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altLang="zh-TW" b="1" i="1" smtClean="0">
                            <a:latin typeface="Cambria Math"/>
                            <a:sym typeface="Symbol"/>
                          </a:rPr>
                          <m:t>𝒏</m:t>
                        </m:r>
                      </m:e>
                    </m:d>
                    <m:r>
                      <a:rPr lang="en-US" altLang="zh-TW" b="1" i="1" smtClean="0">
                        <a:latin typeface="Cambria Math"/>
                        <a:sym typeface="Symbol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b="1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/>
                                  <a:sym typeface="Symbol"/>
                                </a:rPr>
                                <m:t>𝒏</m:t>
                              </m:r>
                              <m:r>
                                <a:rPr lang="en-US" altLang="zh-TW" i="1">
                                  <a:latin typeface="Cambria Math"/>
                                  <a:sym typeface="Symbol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if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i="0">
                                  <a:sym typeface="Symbol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sym typeface="Symbol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is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even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/>
                                  <a:sym typeface="Symbol"/>
                                </a:rPr>
                                <m:t>𝟏</m:t>
                              </m:r>
                              <m:r>
                                <a:rPr lang="en-US" altLang="zh-TW" b="1" i="1" smtClean="0">
                                  <a:latin typeface="Cambria Math"/>
                                  <a:sym typeface="Symbol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i="0">
                                  <a:sym typeface="Symbol"/>
                                </a:rPr>
                                <m:t>n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is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odd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TW" dirty="0">
                  <a:sym typeface="Symbol"/>
                </a:endParaRPr>
              </a:p>
              <a:p>
                <a:pPr lvl="1"/>
                <a:endParaRPr lang="en-US" altLang="zh-TW" dirty="0">
                  <a:sym typeface="Symbol"/>
                </a:endParaRP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686" r="-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4304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Properties of Order</a:t>
            </a:r>
            <a:r>
              <a:rPr lang="zh-TW" altLang="en-US" dirty="0"/>
              <a:t> 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/>
              <a:t>g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 </a:t>
            </a:r>
            <a:r>
              <a:rPr lang="en-US" altLang="zh-TW" dirty="0">
                <a:sym typeface="Symbol"/>
              </a:rPr>
              <a:t> </a:t>
            </a:r>
            <a:r>
              <a:rPr lang="en-US" altLang="zh-TW" i="1" dirty="0">
                <a:sym typeface="Symbol"/>
              </a:rPr>
              <a:t>O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f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)) </a:t>
            </a:r>
            <a:r>
              <a:rPr lang="en-US" altLang="zh-TW" dirty="0" err="1">
                <a:sym typeface="Symbol"/>
              </a:rPr>
              <a:t>iff</a:t>
            </a:r>
            <a:r>
              <a:rPr lang="en-US" altLang="zh-TW" dirty="0">
                <a:sym typeface="Symbol"/>
              </a:rPr>
              <a:t> </a:t>
            </a:r>
            <a:r>
              <a:rPr lang="en-US" altLang="zh-TW" i="1" dirty="0">
                <a:sym typeface="Symbol"/>
              </a:rPr>
              <a:t>f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  (</a:t>
            </a:r>
            <a:r>
              <a:rPr lang="en-US" altLang="zh-TW" i="1" dirty="0">
                <a:sym typeface="Symbol"/>
              </a:rPr>
              <a:t>g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))</a:t>
            </a:r>
          </a:p>
          <a:p>
            <a:r>
              <a:rPr lang="en-US" altLang="zh-TW" i="1" dirty="0">
                <a:sym typeface="Symbol"/>
              </a:rPr>
              <a:t>g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  (</a:t>
            </a:r>
            <a:r>
              <a:rPr lang="en-US" altLang="zh-TW" i="1" dirty="0">
                <a:sym typeface="Symbol"/>
              </a:rPr>
              <a:t>f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)) </a:t>
            </a:r>
            <a:r>
              <a:rPr lang="en-US" altLang="zh-TW" dirty="0" err="1">
                <a:sym typeface="Symbol"/>
              </a:rPr>
              <a:t>iff</a:t>
            </a:r>
            <a:r>
              <a:rPr lang="en-US" altLang="zh-TW" dirty="0">
                <a:sym typeface="Symbol"/>
              </a:rPr>
              <a:t> </a:t>
            </a:r>
            <a:r>
              <a:rPr lang="en-US" altLang="zh-TW" i="1" dirty="0">
                <a:sym typeface="Symbol"/>
              </a:rPr>
              <a:t>f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  (</a:t>
            </a:r>
            <a:r>
              <a:rPr lang="en-US" altLang="zh-TW" i="1" dirty="0">
                <a:sym typeface="Symbol"/>
              </a:rPr>
              <a:t>g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))</a:t>
            </a:r>
          </a:p>
          <a:p>
            <a:r>
              <a:rPr lang="en-US" altLang="zh-TW" dirty="0">
                <a:sym typeface="Symbol"/>
              </a:rPr>
              <a:t>If </a:t>
            </a:r>
            <a:r>
              <a:rPr lang="en-US" altLang="zh-TW" i="1" dirty="0">
                <a:sym typeface="Symbol"/>
              </a:rPr>
              <a:t>a</a:t>
            </a:r>
            <a:r>
              <a:rPr lang="en-US" altLang="zh-TW" dirty="0">
                <a:sym typeface="Symbol"/>
              </a:rPr>
              <a:t> &gt; 1</a:t>
            </a:r>
            <a:r>
              <a:rPr lang="zh-TW" altLang="en-US" dirty="0">
                <a:sym typeface="Symbol"/>
              </a:rPr>
              <a:t> </a:t>
            </a:r>
            <a:r>
              <a:rPr lang="en-US" altLang="zh-TW" dirty="0">
                <a:sym typeface="Symbol"/>
              </a:rPr>
              <a:t>and </a:t>
            </a:r>
            <a:r>
              <a:rPr lang="en-US" altLang="zh-TW" i="1" dirty="0">
                <a:sym typeface="Symbol"/>
              </a:rPr>
              <a:t>b</a:t>
            </a:r>
            <a:r>
              <a:rPr lang="en-US" altLang="zh-TW" dirty="0">
                <a:sym typeface="Symbol"/>
              </a:rPr>
              <a:t> &gt; 1, then </a:t>
            </a:r>
            <a:r>
              <a:rPr lang="en-US" altLang="zh-TW" dirty="0" err="1">
                <a:sym typeface="Symbol"/>
              </a:rPr>
              <a:t>log</a:t>
            </a:r>
            <a:r>
              <a:rPr lang="en-US" altLang="zh-TW" i="1" baseline="-25000" dirty="0" err="1">
                <a:sym typeface="Symbol"/>
              </a:rPr>
              <a:t>a</a:t>
            </a:r>
            <a:r>
              <a:rPr lang="en-US" altLang="zh-TW" i="1" dirty="0" err="1">
                <a:sym typeface="Symbol"/>
              </a:rPr>
              <a:t>n</a:t>
            </a:r>
            <a:r>
              <a:rPr lang="en-US" altLang="zh-TW" dirty="0">
                <a:sym typeface="Symbol"/>
              </a:rPr>
              <a:t>  (</a:t>
            </a:r>
            <a:r>
              <a:rPr lang="en-US" altLang="zh-TW" dirty="0" err="1">
                <a:sym typeface="Symbol"/>
              </a:rPr>
              <a:t>log</a:t>
            </a:r>
            <a:r>
              <a:rPr lang="en-US" altLang="zh-TW" i="1" baseline="-25000" dirty="0" err="1">
                <a:sym typeface="Symbol"/>
              </a:rPr>
              <a:t>b</a:t>
            </a:r>
            <a:r>
              <a:rPr lang="en-US" altLang="zh-TW" i="1" dirty="0" err="1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</a:t>
            </a:r>
          </a:p>
          <a:p>
            <a:pPr lvl="1"/>
            <a:r>
              <a:rPr lang="en-US" altLang="zh-TW" dirty="0">
                <a:sym typeface="Symbol"/>
              </a:rPr>
              <a:t>all logarithmic complexity functions are in the same complexity category: (</a:t>
            </a:r>
            <a:r>
              <a:rPr lang="en-US" altLang="zh-TW" dirty="0" err="1">
                <a:sym typeface="Symbol"/>
              </a:rPr>
              <a:t>lg</a:t>
            </a:r>
            <a:r>
              <a:rPr lang="en-US" altLang="zh-TW" dirty="0">
                <a:sym typeface="Symbol"/>
              </a:rPr>
              <a:t> 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</a:t>
            </a:r>
          </a:p>
          <a:p>
            <a:r>
              <a:rPr lang="en-US" altLang="zh-TW" dirty="0">
                <a:sym typeface="Symbol"/>
              </a:rPr>
              <a:t>If </a:t>
            </a:r>
            <a:r>
              <a:rPr lang="en-US" altLang="zh-TW" i="1" dirty="0">
                <a:sym typeface="Symbol"/>
              </a:rPr>
              <a:t>b</a:t>
            </a:r>
            <a:r>
              <a:rPr lang="en-US" altLang="zh-TW" dirty="0">
                <a:sym typeface="Symbol"/>
              </a:rPr>
              <a:t> &gt; </a:t>
            </a:r>
            <a:r>
              <a:rPr lang="en-US" altLang="zh-TW" i="1" dirty="0">
                <a:sym typeface="Symbol"/>
              </a:rPr>
              <a:t>a</a:t>
            </a:r>
            <a:r>
              <a:rPr lang="en-US" altLang="zh-TW" dirty="0">
                <a:sym typeface="Symbol"/>
              </a:rPr>
              <a:t> &gt; 0, then </a:t>
            </a:r>
            <a:r>
              <a:rPr lang="en-US" altLang="zh-TW" i="1" dirty="0">
                <a:sym typeface="Symbol"/>
              </a:rPr>
              <a:t>a</a:t>
            </a:r>
            <a:r>
              <a:rPr lang="en-US" altLang="zh-TW" i="1" baseline="30000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  </a:t>
            </a:r>
            <a:r>
              <a:rPr lang="en-US" altLang="zh-TW" i="1" dirty="0">
                <a:sym typeface="Symbol"/>
              </a:rPr>
              <a:t>o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 err="1">
                <a:sym typeface="Symbol"/>
              </a:rPr>
              <a:t>b</a:t>
            </a:r>
            <a:r>
              <a:rPr lang="en-US" altLang="zh-TW" i="1" baseline="30000" dirty="0" err="1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</a:t>
            </a:r>
          </a:p>
          <a:p>
            <a:pPr lvl="1"/>
            <a:r>
              <a:rPr lang="en-US" altLang="zh-TW" dirty="0">
                <a:sym typeface="Symbol"/>
              </a:rPr>
              <a:t>all exponential complexity functions are not in the same complexity category</a:t>
            </a:r>
          </a:p>
          <a:p>
            <a:r>
              <a:rPr lang="en-US" altLang="zh-TW" dirty="0">
                <a:sym typeface="Symbol"/>
              </a:rPr>
              <a:t>For all </a:t>
            </a:r>
            <a:r>
              <a:rPr lang="en-US" altLang="zh-TW" i="1" dirty="0">
                <a:sym typeface="Symbol"/>
              </a:rPr>
              <a:t>a</a:t>
            </a:r>
            <a:r>
              <a:rPr lang="en-US" altLang="zh-TW" dirty="0">
                <a:sym typeface="Symbol"/>
              </a:rPr>
              <a:t> &gt; 0, </a:t>
            </a:r>
            <a:r>
              <a:rPr lang="en-US" altLang="zh-TW" i="1" dirty="0">
                <a:sym typeface="Symbol"/>
              </a:rPr>
              <a:t>a</a:t>
            </a:r>
            <a:r>
              <a:rPr lang="en-US" altLang="zh-TW" i="1" baseline="30000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 </a:t>
            </a:r>
            <a:r>
              <a:rPr lang="zh-TW" altLang="en-US" dirty="0">
                <a:sym typeface="Symbol"/>
              </a:rPr>
              <a:t> </a:t>
            </a:r>
            <a:r>
              <a:rPr lang="en-US" altLang="zh-TW" i="1" dirty="0">
                <a:sym typeface="Symbol"/>
              </a:rPr>
              <a:t>o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!)</a:t>
            </a:r>
          </a:p>
          <a:p>
            <a:pPr lvl="1"/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!</a:t>
            </a:r>
            <a:r>
              <a:rPr lang="zh-TW" altLang="en-US" dirty="0">
                <a:sym typeface="Symbol"/>
              </a:rPr>
              <a:t> </a:t>
            </a:r>
            <a:r>
              <a:rPr lang="en-US" altLang="zh-TW" dirty="0">
                <a:sym typeface="Symbol"/>
              </a:rPr>
              <a:t>is </a:t>
            </a:r>
            <a:r>
              <a:rPr lang="en-US" altLang="zh-TW" dirty="0">
                <a:solidFill>
                  <a:srgbClr val="C00000"/>
                </a:solidFill>
                <a:sym typeface="Symbol"/>
              </a:rPr>
              <a:t>worse</a:t>
            </a:r>
            <a:r>
              <a:rPr lang="en-US" altLang="zh-TW" dirty="0">
                <a:sym typeface="Symbol"/>
              </a:rPr>
              <a:t> than any exponential complexity function</a:t>
            </a:r>
          </a:p>
          <a:p>
            <a:r>
              <a:rPr lang="zh-TW" altLang="zh-TW" dirty="0">
                <a:sym typeface="Symbol"/>
              </a:rPr>
              <a:t>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dirty="0" err="1">
                <a:sym typeface="Symbol"/>
              </a:rPr>
              <a:t>lg</a:t>
            </a:r>
            <a:r>
              <a:rPr lang="en-US" altLang="zh-TW" dirty="0">
                <a:sym typeface="Symbol"/>
              </a:rPr>
              <a:t> 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), </a:t>
            </a:r>
            <a:r>
              <a:rPr lang="zh-TW" altLang="zh-TW" dirty="0">
                <a:sym typeface="Symbol"/>
              </a:rPr>
              <a:t>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), </a:t>
            </a:r>
            <a:r>
              <a:rPr lang="zh-TW" altLang="zh-TW" dirty="0">
                <a:sym typeface="Symbol"/>
              </a:rPr>
              <a:t>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 err="1">
                <a:sym typeface="Symbol"/>
              </a:rPr>
              <a:t>n</a:t>
            </a:r>
            <a:r>
              <a:rPr lang="en-US" altLang="zh-TW" dirty="0" err="1">
                <a:sym typeface="Symbol"/>
              </a:rPr>
              <a:t>lg</a:t>
            </a:r>
            <a:r>
              <a:rPr lang="en-US" altLang="zh-TW" dirty="0">
                <a:sym typeface="Symbol"/>
              </a:rPr>
              <a:t> 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), </a:t>
            </a:r>
            <a:r>
              <a:rPr lang="zh-TW" altLang="zh-TW" dirty="0">
                <a:sym typeface="Symbol"/>
              </a:rPr>
              <a:t>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baseline="30000" dirty="0">
                <a:sym typeface="Symbol"/>
              </a:rPr>
              <a:t>2</a:t>
            </a:r>
            <a:r>
              <a:rPr lang="en-US" altLang="zh-TW" dirty="0">
                <a:sym typeface="Symbol"/>
              </a:rPr>
              <a:t>), </a:t>
            </a:r>
            <a:r>
              <a:rPr lang="zh-TW" altLang="zh-TW" dirty="0">
                <a:sym typeface="Symbol"/>
              </a:rPr>
              <a:t>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 err="1">
                <a:sym typeface="Symbol"/>
              </a:rPr>
              <a:t>n</a:t>
            </a:r>
            <a:r>
              <a:rPr lang="en-US" altLang="zh-TW" i="1" baseline="30000" dirty="0" err="1">
                <a:sym typeface="Symbol"/>
              </a:rPr>
              <a:t>j</a:t>
            </a:r>
            <a:r>
              <a:rPr lang="en-US" altLang="zh-TW" dirty="0">
                <a:sym typeface="Symbol"/>
              </a:rPr>
              <a:t>), </a:t>
            </a:r>
            <a:r>
              <a:rPr lang="zh-TW" altLang="zh-TW" dirty="0">
                <a:sym typeface="Symbol"/>
              </a:rPr>
              <a:t>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 err="1">
                <a:sym typeface="Symbol"/>
              </a:rPr>
              <a:t>n</a:t>
            </a:r>
            <a:r>
              <a:rPr lang="en-US" altLang="zh-TW" i="1" baseline="30000" dirty="0" err="1">
                <a:sym typeface="Symbol"/>
              </a:rPr>
              <a:t>k</a:t>
            </a:r>
            <a:r>
              <a:rPr lang="en-US" altLang="zh-TW" dirty="0">
                <a:sym typeface="Symbol"/>
              </a:rPr>
              <a:t>), </a:t>
            </a:r>
            <a:r>
              <a:rPr lang="zh-TW" altLang="zh-TW" dirty="0">
                <a:sym typeface="Symbol"/>
              </a:rPr>
              <a:t>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a</a:t>
            </a:r>
            <a:r>
              <a:rPr lang="en-US" altLang="zh-TW" i="1" baseline="30000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), </a:t>
            </a:r>
            <a:r>
              <a:rPr lang="zh-TW" altLang="zh-TW" dirty="0">
                <a:sym typeface="Symbol"/>
              </a:rPr>
              <a:t>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 err="1">
                <a:sym typeface="Symbol"/>
              </a:rPr>
              <a:t>b</a:t>
            </a:r>
            <a:r>
              <a:rPr lang="en-US" altLang="zh-TW" i="1" baseline="30000" dirty="0" err="1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), </a:t>
            </a:r>
            <a:r>
              <a:rPr lang="zh-TW" altLang="zh-TW" dirty="0">
                <a:sym typeface="Symbol"/>
              </a:rPr>
              <a:t>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!), where </a:t>
            </a:r>
            <a:r>
              <a:rPr lang="en-US" altLang="zh-TW" i="1" dirty="0">
                <a:sym typeface="Symbol"/>
              </a:rPr>
              <a:t>k</a:t>
            </a:r>
            <a:r>
              <a:rPr lang="en-US" altLang="zh-TW" dirty="0">
                <a:sym typeface="Symbol"/>
              </a:rPr>
              <a:t> &gt; </a:t>
            </a:r>
            <a:r>
              <a:rPr lang="en-US" altLang="zh-TW" i="1" dirty="0">
                <a:sym typeface="Symbol"/>
              </a:rPr>
              <a:t>j</a:t>
            </a:r>
            <a:r>
              <a:rPr lang="en-US" altLang="zh-TW" dirty="0">
                <a:sym typeface="Symbol"/>
              </a:rPr>
              <a:t> &gt; 2</a:t>
            </a:r>
            <a:r>
              <a:rPr lang="zh-TW" altLang="en-US" dirty="0">
                <a:sym typeface="Symbol"/>
              </a:rPr>
              <a:t>，</a:t>
            </a:r>
            <a:r>
              <a:rPr lang="en-US" altLang="zh-TW" i="1" dirty="0">
                <a:sym typeface="Symbol"/>
              </a:rPr>
              <a:t>b</a:t>
            </a:r>
            <a:r>
              <a:rPr lang="en-US" altLang="zh-TW" dirty="0">
                <a:sym typeface="Symbol"/>
              </a:rPr>
              <a:t> &gt; </a:t>
            </a:r>
            <a:r>
              <a:rPr lang="en-US" altLang="zh-TW" i="1" dirty="0">
                <a:sym typeface="Symbol"/>
              </a:rPr>
              <a:t>a</a:t>
            </a:r>
            <a:r>
              <a:rPr lang="en-US" altLang="zh-TW" dirty="0">
                <a:sym typeface="Symbol"/>
              </a:rPr>
              <a:t> &gt; 1</a:t>
            </a:r>
          </a:p>
          <a:p>
            <a:pPr lvl="1"/>
            <a:r>
              <a:rPr lang="en-US" altLang="zh-TW" i="1" dirty="0">
                <a:sym typeface="Symbol"/>
              </a:rPr>
              <a:t>g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  </a:t>
            </a:r>
            <a:r>
              <a:rPr lang="en-US" altLang="zh-TW" i="1" dirty="0">
                <a:sym typeface="Symbol"/>
              </a:rPr>
              <a:t>o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f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))</a:t>
            </a:r>
          </a:p>
          <a:p>
            <a:pPr lvl="1"/>
            <a:r>
              <a:rPr lang="en-US" altLang="zh-TW" dirty="0">
                <a:sym typeface="Symbol"/>
              </a:rPr>
              <a:t>logarithmic functions are </a:t>
            </a:r>
            <a:r>
              <a:rPr lang="en-US" altLang="zh-TW" dirty="0">
                <a:solidFill>
                  <a:srgbClr val="C00000"/>
                </a:solidFill>
                <a:sym typeface="Symbol"/>
              </a:rPr>
              <a:t>better</a:t>
            </a:r>
            <a:r>
              <a:rPr lang="en-US" altLang="zh-TW" dirty="0">
                <a:sym typeface="Symbol"/>
              </a:rPr>
              <a:t> than polynomial; polynomial is </a:t>
            </a:r>
            <a:r>
              <a:rPr lang="en-US" altLang="zh-TW" dirty="0">
                <a:solidFill>
                  <a:srgbClr val="C00000"/>
                </a:solidFill>
                <a:sym typeface="Symbol"/>
              </a:rPr>
              <a:t>better</a:t>
            </a:r>
            <a:r>
              <a:rPr lang="en-US" altLang="zh-TW" dirty="0">
                <a:sym typeface="Symbol"/>
              </a:rPr>
              <a:t> than exponential; exponential is </a:t>
            </a:r>
            <a:r>
              <a:rPr lang="en-US" altLang="zh-TW" dirty="0">
                <a:solidFill>
                  <a:srgbClr val="C00000"/>
                </a:solidFill>
                <a:sym typeface="Symbol"/>
              </a:rPr>
              <a:t>better</a:t>
            </a:r>
            <a:r>
              <a:rPr lang="en-US" altLang="zh-TW" dirty="0">
                <a:sym typeface="Symbol"/>
              </a:rPr>
              <a:t> than factorial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0921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Properties of Order</a:t>
            </a:r>
            <a:r>
              <a:rPr lang="zh-TW" altLang="en-US" dirty="0"/>
              <a:t> 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ym typeface="Symbol"/>
              </a:rPr>
              <a:t>If </a:t>
            </a:r>
            <a:r>
              <a:rPr lang="en-US" altLang="zh-TW" i="1" dirty="0">
                <a:sym typeface="Symbol"/>
              </a:rPr>
              <a:t>c</a:t>
            </a:r>
            <a:r>
              <a:rPr lang="en-US" altLang="zh-TW" dirty="0">
                <a:sym typeface="Symbol"/>
              </a:rPr>
              <a:t>  0</a:t>
            </a:r>
            <a:r>
              <a:rPr lang="zh-TW" altLang="en-US" dirty="0">
                <a:sym typeface="Symbol"/>
              </a:rPr>
              <a:t>，</a:t>
            </a:r>
            <a:r>
              <a:rPr lang="en-US" altLang="zh-TW" i="1" dirty="0">
                <a:sym typeface="Symbol"/>
              </a:rPr>
              <a:t>d</a:t>
            </a:r>
            <a:r>
              <a:rPr lang="en-US" altLang="zh-TW" dirty="0">
                <a:sym typeface="Symbol"/>
              </a:rPr>
              <a:t> &gt; 0, </a:t>
            </a:r>
            <a:r>
              <a:rPr lang="en-US" altLang="zh-TW" i="1" dirty="0">
                <a:sym typeface="Symbol"/>
              </a:rPr>
              <a:t>g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  </a:t>
            </a:r>
            <a:r>
              <a:rPr lang="en-US" altLang="zh-TW" i="1" dirty="0">
                <a:sym typeface="Symbol"/>
              </a:rPr>
              <a:t>O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f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)), and</a:t>
            </a:r>
            <a:r>
              <a:rPr lang="zh-TW" altLang="en-US" dirty="0">
                <a:sym typeface="Symbol"/>
              </a:rPr>
              <a:t> </a:t>
            </a:r>
            <a:r>
              <a:rPr lang="en-US" altLang="zh-TW" i="1" dirty="0">
                <a:sym typeface="Symbol"/>
              </a:rPr>
              <a:t>h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  (</a:t>
            </a:r>
            <a:r>
              <a:rPr lang="en-US" altLang="zh-TW" i="1" dirty="0">
                <a:sym typeface="Symbol"/>
              </a:rPr>
              <a:t>f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)), then</a:t>
            </a:r>
          </a:p>
          <a:p>
            <a:pPr marL="393192" lvl="1" indent="0">
              <a:buNone/>
            </a:pPr>
            <a:r>
              <a:rPr lang="en-US" altLang="zh-TW" i="1" dirty="0">
                <a:sym typeface="Symbol"/>
              </a:rPr>
              <a:t>c</a:t>
            </a:r>
            <a:r>
              <a:rPr lang="en-US" altLang="zh-TW" dirty="0">
                <a:sym typeface="Symbol"/>
              </a:rPr>
              <a:t>  </a:t>
            </a:r>
            <a:r>
              <a:rPr lang="en-US" altLang="zh-TW" i="1" dirty="0">
                <a:sym typeface="Symbol"/>
              </a:rPr>
              <a:t>g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 + </a:t>
            </a:r>
            <a:r>
              <a:rPr lang="en-US" altLang="zh-TW" i="1" dirty="0">
                <a:sym typeface="Symbol"/>
              </a:rPr>
              <a:t>d</a:t>
            </a:r>
            <a:r>
              <a:rPr lang="en-US" altLang="zh-TW" dirty="0">
                <a:sym typeface="Symbol"/>
              </a:rPr>
              <a:t> </a:t>
            </a:r>
            <a:r>
              <a:rPr lang="en-US" altLang="zh-TW" dirty="0">
                <a:sym typeface="Symbol" panose="05050102010706020507" pitchFamily="18" charset="2"/>
              </a:rPr>
              <a:t> </a:t>
            </a:r>
            <a:r>
              <a:rPr lang="en-US" altLang="zh-TW" i="1" dirty="0">
                <a:sym typeface="Symbol"/>
              </a:rPr>
              <a:t>h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  (</a:t>
            </a:r>
            <a:r>
              <a:rPr lang="en-US" altLang="zh-TW" i="1" dirty="0">
                <a:sym typeface="Symbol"/>
              </a:rPr>
              <a:t>f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))</a:t>
            </a:r>
          </a:p>
          <a:p>
            <a:pPr lvl="1"/>
            <a:r>
              <a:rPr lang="en-US" altLang="zh-TW" dirty="0">
                <a:solidFill>
                  <a:srgbClr val="C00000"/>
                </a:solidFill>
                <a:sym typeface="Symbol"/>
              </a:rPr>
              <a:t>throw out low-order terms</a:t>
            </a:r>
            <a:endParaRPr lang="en-US" altLang="zh-TW" dirty="0">
              <a:sym typeface="Symbol"/>
            </a:endParaRPr>
          </a:p>
          <a:p>
            <a:endParaRPr lang="en-US" altLang="zh-TW" dirty="0">
              <a:sym typeface="Symbol"/>
            </a:endParaRPr>
          </a:p>
          <a:p>
            <a:r>
              <a:rPr lang="en-US" altLang="zh-TW" dirty="0">
                <a:sym typeface="Symbol"/>
              </a:rPr>
              <a:t>If we are unable to determine </a:t>
            </a:r>
            <a:r>
              <a:rPr lang="en-US" altLang="zh-TW" i="1" dirty="0">
                <a:sym typeface="Symbol"/>
              </a:rPr>
              <a:t>T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 exactly,</a:t>
            </a:r>
          </a:p>
          <a:p>
            <a:pPr lvl="1"/>
            <a:r>
              <a:rPr lang="en-US" altLang="zh-TW" dirty="0">
                <a:sym typeface="Symbol"/>
              </a:rPr>
              <a:t>show that </a:t>
            </a:r>
            <a:r>
              <a:rPr lang="en-US" altLang="zh-TW" i="1" dirty="0">
                <a:sym typeface="Symbol"/>
              </a:rPr>
              <a:t>T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  </a:t>
            </a:r>
            <a:r>
              <a:rPr lang="en-US" altLang="zh-TW" i="1" dirty="0">
                <a:sym typeface="Symbol"/>
              </a:rPr>
              <a:t>O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f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))</a:t>
            </a:r>
            <a:r>
              <a:rPr lang="zh-TW" altLang="en-US" dirty="0">
                <a:sym typeface="Symbol"/>
              </a:rPr>
              <a:t> </a:t>
            </a:r>
            <a:r>
              <a:rPr lang="en-US" altLang="zh-TW" dirty="0">
                <a:sym typeface="Symbol"/>
              </a:rPr>
              <a:t>and </a:t>
            </a:r>
            <a:r>
              <a:rPr lang="en-US" altLang="zh-TW" i="1" dirty="0">
                <a:sym typeface="Symbol"/>
              </a:rPr>
              <a:t>T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  (</a:t>
            </a:r>
            <a:r>
              <a:rPr lang="en-US" altLang="zh-TW" i="1" dirty="0">
                <a:sym typeface="Symbol"/>
              </a:rPr>
              <a:t>f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))</a:t>
            </a:r>
          </a:p>
          <a:p>
            <a:pPr lvl="1"/>
            <a:r>
              <a:rPr lang="en-US" altLang="zh-TW" dirty="0">
                <a:sym typeface="Symbol"/>
              </a:rPr>
              <a:t>by appealing directly to the definitions, conclude </a:t>
            </a:r>
            <a:r>
              <a:rPr lang="en-US" altLang="zh-TW" i="1" dirty="0">
                <a:sym typeface="Symbol"/>
              </a:rPr>
              <a:t>T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  (</a:t>
            </a:r>
            <a:r>
              <a:rPr lang="en-US" altLang="zh-TW" i="1" dirty="0">
                <a:sym typeface="Symbol"/>
              </a:rPr>
              <a:t>f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))</a:t>
            </a:r>
          </a:p>
          <a:p>
            <a:endParaRPr lang="en-US" altLang="zh-TW" dirty="0">
              <a:sym typeface="Symbol"/>
            </a:endParaRPr>
          </a:p>
          <a:p>
            <a:r>
              <a:rPr lang="en-US" altLang="zh-TW" dirty="0">
                <a:sym typeface="Symbol"/>
              </a:rPr>
              <a:t>Sometimes, easily to show that</a:t>
            </a:r>
            <a:r>
              <a:rPr lang="zh-TW" altLang="en-US" dirty="0">
                <a:sym typeface="Symbol"/>
              </a:rPr>
              <a:t> </a:t>
            </a:r>
            <a:r>
              <a:rPr lang="en-US" altLang="zh-TW" i="1" dirty="0">
                <a:sym typeface="Symbol"/>
              </a:rPr>
              <a:t>T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  </a:t>
            </a:r>
            <a:r>
              <a:rPr lang="en-US" altLang="zh-TW" i="1" dirty="0">
                <a:sym typeface="Symbol"/>
              </a:rPr>
              <a:t>O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f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)), but difficult to determine </a:t>
            </a:r>
            <a:r>
              <a:rPr lang="en-US" altLang="zh-TW" i="1" dirty="0">
                <a:sym typeface="Symbol"/>
              </a:rPr>
              <a:t>T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  (</a:t>
            </a:r>
            <a:r>
              <a:rPr lang="en-US" altLang="zh-TW" i="1" dirty="0">
                <a:sym typeface="Symbol"/>
              </a:rPr>
              <a:t>f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))</a:t>
            </a:r>
          </a:p>
          <a:p>
            <a:pPr lvl="1"/>
            <a:r>
              <a:rPr lang="en-US" altLang="zh-TW" dirty="0">
                <a:solidFill>
                  <a:srgbClr val="C00000"/>
                </a:solidFill>
                <a:sym typeface="Symbol"/>
              </a:rPr>
              <a:t>show only</a:t>
            </a:r>
            <a:r>
              <a:rPr lang="zh-TW" altLang="en-US" dirty="0">
                <a:solidFill>
                  <a:srgbClr val="C00000"/>
                </a:solidFill>
                <a:sym typeface="Symbol"/>
              </a:rPr>
              <a:t> </a:t>
            </a:r>
            <a:r>
              <a:rPr lang="en-US" altLang="zh-TW" i="1" dirty="0">
                <a:solidFill>
                  <a:srgbClr val="C00000"/>
                </a:solidFill>
                <a:sym typeface="Symbol"/>
              </a:rPr>
              <a:t>T</a:t>
            </a:r>
            <a:r>
              <a:rPr lang="en-US" altLang="zh-TW" dirty="0">
                <a:solidFill>
                  <a:srgbClr val="C00000"/>
                </a:solidFill>
                <a:sym typeface="Symbol"/>
              </a:rPr>
              <a:t>(</a:t>
            </a:r>
            <a:r>
              <a:rPr lang="en-US" altLang="zh-TW" i="1" dirty="0">
                <a:solidFill>
                  <a:srgbClr val="C00000"/>
                </a:solidFill>
                <a:sym typeface="Symbol"/>
              </a:rPr>
              <a:t>n</a:t>
            </a:r>
            <a:r>
              <a:rPr lang="en-US" altLang="zh-TW" dirty="0">
                <a:solidFill>
                  <a:srgbClr val="C00000"/>
                </a:solidFill>
                <a:sym typeface="Symbol"/>
              </a:rPr>
              <a:t>)  </a:t>
            </a:r>
            <a:r>
              <a:rPr lang="en-US" altLang="zh-TW" i="1" dirty="0">
                <a:solidFill>
                  <a:srgbClr val="C00000"/>
                </a:solidFill>
                <a:sym typeface="Symbol"/>
              </a:rPr>
              <a:t>O</a:t>
            </a:r>
            <a:r>
              <a:rPr lang="en-US" altLang="zh-TW" dirty="0">
                <a:solidFill>
                  <a:srgbClr val="C00000"/>
                </a:solidFill>
                <a:sym typeface="Symbol"/>
              </a:rPr>
              <a:t>(</a:t>
            </a:r>
            <a:r>
              <a:rPr lang="en-US" altLang="zh-TW" i="1" dirty="0">
                <a:solidFill>
                  <a:srgbClr val="C00000"/>
                </a:solidFill>
                <a:sym typeface="Symbol"/>
              </a:rPr>
              <a:t>f</a:t>
            </a:r>
            <a:r>
              <a:rPr lang="en-US" altLang="zh-TW" dirty="0">
                <a:solidFill>
                  <a:srgbClr val="C00000"/>
                </a:solidFill>
                <a:sym typeface="Symbol"/>
              </a:rPr>
              <a:t>(</a:t>
            </a:r>
            <a:r>
              <a:rPr lang="en-US" altLang="zh-TW" i="1" dirty="0">
                <a:solidFill>
                  <a:srgbClr val="C00000"/>
                </a:solidFill>
                <a:sym typeface="Symbol"/>
              </a:rPr>
              <a:t>n</a:t>
            </a:r>
            <a:r>
              <a:rPr lang="en-US" altLang="zh-TW" dirty="0">
                <a:solidFill>
                  <a:srgbClr val="C00000"/>
                </a:solidFill>
                <a:sym typeface="Symbol"/>
              </a:rPr>
              <a:t>))</a:t>
            </a:r>
          </a:p>
          <a:p>
            <a:pPr lvl="1"/>
            <a:r>
              <a:rPr lang="en-US" altLang="zh-TW" dirty="0">
                <a:sym typeface="Symbol"/>
              </a:rPr>
              <a:t>imply that </a:t>
            </a:r>
            <a:r>
              <a:rPr lang="en-US" altLang="zh-TW" i="1" dirty="0">
                <a:sym typeface="Symbol"/>
              </a:rPr>
              <a:t>T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 is at least as </a:t>
            </a:r>
            <a:r>
              <a:rPr lang="en-US" altLang="zh-TW" dirty="0">
                <a:solidFill>
                  <a:srgbClr val="C00000"/>
                </a:solidFill>
                <a:sym typeface="Symbol"/>
              </a:rPr>
              <a:t>bad</a:t>
            </a:r>
            <a:r>
              <a:rPr lang="en-US" altLang="zh-TW" dirty="0">
                <a:sym typeface="Symbol"/>
              </a:rPr>
              <a:t> as functions such as </a:t>
            </a:r>
            <a:r>
              <a:rPr lang="en-US" altLang="zh-TW" i="1" dirty="0">
                <a:sym typeface="Symbol"/>
              </a:rPr>
              <a:t>f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n</a:t>
            </a:r>
            <a:r>
              <a:rPr lang="en-US" altLang="zh-TW" dirty="0">
                <a:sym typeface="Symbol"/>
              </a:rPr>
              <a:t>)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385488"/>
      </p:ext>
    </p:extLst>
  </p:cSld>
  <p:clrMapOvr>
    <a:masterClrMapping/>
  </p:clrMapOvr>
</p:sld>
</file>

<file path=ppt/theme/theme1.xml><?xml version="1.0" encoding="utf-8"?>
<a:theme xmlns:a="http://schemas.openxmlformats.org/drawingml/2006/main" name="NCKU3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CKU3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CKU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簡報1" id="{1D2088C2-DF28-403B-A142-ABEFFB73DCD1}" vid="{F9685623-F412-4155-8B4F-1E431000369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NTTU</Template>
  <TotalTime>8760</TotalTime>
  <Words>4130</Words>
  <Application>Microsoft Office PowerPoint</Application>
  <PresentationFormat>如螢幕大小 (4:3)</PresentationFormat>
  <Paragraphs>559</Paragraphs>
  <Slides>30</Slides>
  <Notes>3</Notes>
  <HiddenSlides>0</HiddenSlides>
  <MMClips>0</MMClips>
  <ScaleCrop>false</ScaleCrop>
  <HeadingPairs>
    <vt:vector size="8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9" baseType="lpstr">
      <vt:lpstr>標楷體</vt:lpstr>
      <vt:lpstr>Arial</vt:lpstr>
      <vt:lpstr>Calibri</vt:lpstr>
      <vt:lpstr>Cambria Math</vt:lpstr>
      <vt:lpstr>Monotype Corsiva</vt:lpstr>
      <vt:lpstr>Symbol</vt:lpstr>
      <vt:lpstr>Times New Roman</vt:lpstr>
      <vt:lpstr>NCKU3</vt:lpstr>
      <vt:lpstr>Visio</vt:lpstr>
      <vt:lpstr>ALGORITHMS 演算法</vt:lpstr>
      <vt:lpstr>Algorithms (1/2)</vt:lpstr>
      <vt:lpstr>Algorithms (2/2)</vt:lpstr>
      <vt:lpstr>Sequential Search</vt:lpstr>
      <vt:lpstr>Binary Search</vt:lpstr>
      <vt:lpstr>Number of Comparisons</vt:lpstr>
      <vt:lpstr>The Fibonacci Sequence (1/4)</vt:lpstr>
      <vt:lpstr>The Fibonacci Sequence (2/4)</vt:lpstr>
      <vt:lpstr>The Fibonacci Sequence (3/4)</vt:lpstr>
      <vt:lpstr>The Fibonacci Sequence (4/4)</vt:lpstr>
      <vt:lpstr>PowerPoint 簡報</vt:lpstr>
      <vt:lpstr>Analysis of Algorithms</vt:lpstr>
      <vt:lpstr>Time Complexity (1/3)</vt:lpstr>
      <vt:lpstr>Time Complexity (2/3)</vt:lpstr>
      <vt:lpstr>Time Complexity (3/3)</vt:lpstr>
      <vt:lpstr>Complexity Function (1/3)</vt:lpstr>
      <vt:lpstr>Complexity Function (2/3)</vt:lpstr>
      <vt:lpstr>Complexity Function (3/3)</vt:lpstr>
      <vt:lpstr>big O (1/2)</vt:lpstr>
      <vt:lpstr>big O (2/2)</vt:lpstr>
      <vt:lpstr>omega  (1/2)</vt:lpstr>
      <vt:lpstr>omega  (2/2)</vt:lpstr>
      <vt:lpstr>theta  (1/3)</vt:lpstr>
      <vt:lpstr>theta  (2/3)</vt:lpstr>
      <vt:lpstr>theta  (3/3)</vt:lpstr>
      <vt:lpstr>small o (1/3)</vt:lpstr>
      <vt:lpstr>small o (2/3)</vt:lpstr>
      <vt:lpstr>small o (3/3)</vt:lpstr>
      <vt:lpstr>Properties of Order (1/2)</vt:lpstr>
      <vt:lpstr>Properties of Order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資料結構 Data Structure</dc:title>
  <dc:creator>C.-W. Lee</dc:creator>
  <cp:lastModifiedBy>李佳衛</cp:lastModifiedBy>
  <cp:revision>63</cp:revision>
  <cp:lastPrinted>2022-09-24T09:12:24Z</cp:lastPrinted>
  <dcterms:created xsi:type="dcterms:W3CDTF">2018-01-10T03:26:15Z</dcterms:created>
  <dcterms:modified xsi:type="dcterms:W3CDTF">2026-07-27T01:55:19Z</dcterms:modified>
</cp:coreProperties>
</file>