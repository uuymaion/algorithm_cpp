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7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411" r:id="rId48"/>
    <p:sldId id="412" r:id="rId49"/>
    <p:sldId id="413" r:id="rId50"/>
    <p:sldId id="414" r:id="rId51"/>
    <p:sldId id="415" r:id="rId52"/>
    <p:sldId id="416" r:id="rId53"/>
    <p:sldId id="417" r:id="rId54"/>
    <p:sldId id="418" r:id="rId55"/>
    <p:sldId id="419" r:id="rId56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CC"/>
    <a:srgbClr val="820000"/>
    <a:srgbClr val="700000"/>
    <a:srgbClr val="9E0000"/>
    <a:srgbClr val="323232"/>
    <a:srgbClr val="333399"/>
    <a:srgbClr val="CC00CC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0932" autoAdjust="0"/>
  </p:normalViewPr>
  <p:slideViewPr>
    <p:cSldViewPr>
      <p:cViewPr varScale="1">
        <p:scale>
          <a:sx n="82" d="100"/>
          <a:sy n="82" d="100"/>
        </p:scale>
        <p:origin x="145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2026/10/2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9208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47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5164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50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4961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55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9520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/>
              <a:t>2026/09/30</a:t>
            </a: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/>
              <a:t>(c) 2026 Fall,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0.png"/><Relationship Id="rId4" Type="http://schemas.openxmlformats.org/officeDocument/2006/relationships/image" Target="../media/image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ALGORITHMS</a:t>
            </a:r>
            <a:br>
              <a:rPr lang="en-US" altLang="zh-TW" dirty="0"/>
            </a:br>
            <a:r>
              <a:rPr lang="zh-TW" altLang="en-US" dirty="0"/>
              <a:t>演算法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Chapter 4</a:t>
            </a:r>
          </a:p>
          <a:p>
            <a:pPr algn="r"/>
            <a:r>
              <a:rPr lang="en-US" altLang="zh-TW" dirty="0"/>
              <a:t>Greedy Algorithms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貪婪演算法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小氣財神</a:t>
            </a:r>
            <a:endParaRPr lang="en-US" altLang="zh-TW" dirty="0"/>
          </a:p>
          <a:p>
            <a:pPr lvl="1"/>
            <a:r>
              <a:rPr lang="zh-TW" altLang="en-US" dirty="0"/>
              <a:t>查爾士狄更斯</a:t>
            </a:r>
            <a:r>
              <a:rPr lang="en-US" altLang="zh-TW" dirty="0"/>
              <a:t>(Charles Dickens)</a:t>
            </a:r>
            <a:r>
              <a:rPr lang="zh-TW" altLang="en-US" dirty="0"/>
              <a:t>的小說</a:t>
            </a:r>
            <a:endParaRPr lang="en-US" altLang="zh-TW" dirty="0"/>
          </a:p>
          <a:p>
            <a:pPr lvl="1"/>
            <a:r>
              <a:rPr lang="zh-TW" altLang="en-US" dirty="0"/>
              <a:t>每天都竭盡所能賺取最多的金幣，從</a:t>
            </a:r>
            <a:r>
              <a:rPr lang="zh-TW" altLang="en-US" dirty="0">
                <a:solidFill>
                  <a:srgbClr val="C00000"/>
                </a:solidFill>
              </a:rPr>
              <a:t>不思考前因後果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貪婪演算法 </a:t>
            </a:r>
            <a:r>
              <a:rPr lang="en-US" altLang="zh-TW" dirty="0"/>
              <a:t>Greedy algorithms</a:t>
            </a:r>
          </a:p>
          <a:p>
            <a:pPr lvl="1"/>
            <a:r>
              <a:rPr lang="zh-TW" altLang="en-US" dirty="0"/>
              <a:t>每次決定和之前的決定或往後的決定</a:t>
            </a:r>
            <a:r>
              <a:rPr lang="zh-TW" altLang="en-US" dirty="0">
                <a:solidFill>
                  <a:srgbClr val="C00000"/>
                </a:solidFill>
              </a:rPr>
              <a:t>無關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有效率又非常簡單的演算法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與動態規劃演算法比較</a:t>
            </a:r>
            <a:endParaRPr lang="en-US" altLang="zh-TW" dirty="0"/>
          </a:p>
          <a:p>
            <a:pPr lvl="1"/>
            <a:r>
              <a:rPr lang="zh-TW" altLang="en-US" dirty="0"/>
              <a:t>動態規劃演算法利用</a:t>
            </a:r>
            <a:r>
              <a:rPr lang="zh-TW" altLang="en-US" dirty="0">
                <a:solidFill>
                  <a:srgbClr val="C00000"/>
                </a:solidFill>
              </a:rPr>
              <a:t>遞迴特性</a:t>
            </a:r>
            <a:r>
              <a:rPr lang="zh-TW" altLang="en-US" dirty="0"/>
              <a:t>將問題</a:t>
            </a:r>
            <a:r>
              <a:rPr lang="zh-TW" altLang="en-US" dirty="0">
                <a:solidFill>
                  <a:srgbClr val="C00000"/>
                </a:solidFill>
              </a:rPr>
              <a:t>切割</a:t>
            </a:r>
            <a:r>
              <a:rPr lang="zh-TW" altLang="en-US" dirty="0"/>
              <a:t>成較小問題進行處理</a:t>
            </a:r>
            <a:endParaRPr lang="en-US" altLang="zh-TW" dirty="0"/>
          </a:p>
          <a:p>
            <a:pPr lvl="1"/>
            <a:r>
              <a:rPr lang="zh-TW" altLang="en-US" dirty="0"/>
              <a:t>貪婪演算法不需要做切割</a:t>
            </a:r>
            <a:endParaRPr lang="en-US" altLang="zh-TW" dirty="0"/>
          </a:p>
          <a:p>
            <a:pPr lvl="2"/>
            <a:r>
              <a:rPr lang="zh-TW" altLang="en-US" dirty="0">
                <a:solidFill>
                  <a:srgbClr val="C00000"/>
                </a:solidFill>
              </a:rPr>
              <a:t>每一步</a:t>
            </a:r>
            <a:r>
              <a:rPr lang="zh-TW" altLang="en-US" dirty="0"/>
              <a:t>都是當時最佳的作法</a:t>
            </a:r>
            <a:endParaRPr lang="en-US" altLang="zh-TW" dirty="0"/>
          </a:p>
          <a:p>
            <a:pPr lvl="2"/>
            <a:r>
              <a:rPr lang="zh-TW" altLang="en-US" dirty="0"/>
              <a:t>結果是</a:t>
            </a:r>
            <a:r>
              <a:rPr lang="zh-TW" altLang="en-US" dirty="0">
                <a:solidFill>
                  <a:srgbClr val="C00000"/>
                </a:solidFill>
              </a:rPr>
              <a:t>局部</a:t>
            </a:r>
            <a:r>
              <a:rPr lang="zh-TW" altLang="en-US" dirty="0"/>
              <a:t>的最佳解</a:t>
            </a:r>
            <a:endParaRPr lang="en-US" altLang="zh-TW" dirty="0"/>
          </a:p>
          <a:p>
            <a:pPr lvl="2"/>
            <a:r>
              <a:rPr lang="zh-TW" altLang="en-US" dirty="0"/>
              <a:t>經過所有步驟後，可以得到</a:t>
            </a:r>
            <a:r>
              <a:rPr lang="zh-TW" altLang="en-US" dirty="0">
                <a:solidFill>
                  <a:srgbClr val="C00000"/>
                </a:solidFill>
              </a:rPr>
              <a:t>全域</a:t>
            </a:r>
            <a:r>
              <a:rPr lang="zh-TW" altLang="en-US" dirty="0"/>
              <a:t>的最佳解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097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貪婪演算法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每一步都是最佳解，經過所有步驟就會得到最佳解的答案嗎？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7805" y="1950029"/>
            <a:ext cx="5528491" cy="2829396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811423" y="4776336"/>
            <a:ext cx="832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 cent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878223" y="4776336"/>
            <a:ext cx="8322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 cent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865583" y="4776336"/>
            <a:ext cx="960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角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 cent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981184" y="4776336"/>
            <a:ext cx="960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 cent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6149524" y="4776336"/>
            <a:ext cx="96052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角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 cent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092315" y="5837202"/>
            <a:ext cx="311174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找錢金額為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0.87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美元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(87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372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貪婪演算法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561879" y="1976746"/>
            <a:ext cx="925599" cy="1290415"/>
            <a:chOff x="561879" y="1780896"/>
            <a:chExt cx="925599" cy="1290415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561879" y="1780896"/>
              <a:ext cx="925599" cy="852617"/>
            </a:xfrm>
            <a:prstGeom prst="rect">
              <a:avLst/>
            </a:prstGeom>
          </p:spPr>
        </p:pic>
        <p:sp>
          <p:nvSpPr>
            <p:cNvPr id="10" name="文字方塊 9"/>
            <p:cNvSpPr txBox="1"/>
            <p:nvPr/>
          </p:nvSpPr>
          <p:spPr>
            <a:xfrm>
              <a:off x="739984" y="2671201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圖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820" y="1381837"/>
            <a:ext cx="2295525" cy="2076450"/>
          </a:xfrm>
          <a:prstGeom prst="rect">
            <a:avLst/>
          </a:prstGeom>
        </p:spPr>
      </p:pic>
      <p:grpSp>
        <p:nvGrpSpPr>
          <p:cNvPr id="38" name="群組 37"/>
          <p:cNvGrpSpPr/>
          <p:nvPr/>
        </p:nvGrpSpPr>
        <p:grpSpPr>
          <a:xfrm>
            <a:off x="323759" y="4279814"/>
            <a:ext cx="1334530" cy="1669466"/>
            <a:chOff x="323759" y="4083964"/>
            <a:chExt cx="1334530" cy="1669466"/>
          </a:xfrm>
        </p:grpSpPr>
        <p:pic>
          <p:nvPicPr>
            <p:cNvPr id="12" name="圖片 11"/>
            <p:cNvPicPr>
              <a:picLocks noChangeAspect="1"/>
            </p:cNvPicPr>
            <p:nvPr/>
          </p:nvPicPr>
          <p:blipFill rotWithShape="1">
            <a:blip r:embed="rId2"/>
            <a:srcRect l="75861" b="55137"/>
            <a:stretch/>
          </p:blipFill>
          <p:spPr>
            <a:xfrm>
              <a:off x="323759" y="4083964"/>
              <a:ext cx="1334530" cy="1269356"/>
            </a:xfrm>
            <a:prstGeom prst="rect">
              <a:avLst/>
            </a:prstGeom>
          </p:spPr>
        </p:pic>
        <p:sp>
          <p:nvSpPr>
            <p:cNvPr id="13" name="文字方塊 12"/>
            <p:cNvSpPr txBox="1"/>
            <p:nvPr/>
          </p:nvSpPr>
          <p:spPr>
            <a:xfrm>
              <a:off x="642210" y="5353320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50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1887874" y="4401686"/>
            <a:ext cx="1099751" cy="1547594"/>
            <a:chOff x="1887874" y="4205836"/>
            <a:chExt cx="1099751" cy="1547594"/>
          </a:xfrm>
        </p:grpSpPr>
        <p:pic>
          <p:nvPicPr>
            <p:cNvPr id="15" name="圖片 14"/>
            <p:cNvPicPr>
              <a:picLocks noChangeAspect="1"/>
            </p:cNvPicPr>
            <p:nvPr/>
          </p:nvPicPr>
          <p:blipFill rotWithShape="1">
            <a:blip r:embed="rId2"/>
            <a:srcRect l="54404" t="5994" r="25703" b="57757"/>
            <a:stretch/>
          </p:blipFill>
          <p:spPr>
            <a:xfrm>
              <a:off x="1887874" y="4205836"/>
              <a:ext cx="1099751" cy="1025611"/>
            </a:xfrm>
            <a:prstGeom prst="rect">
              <a:avLst/>
            </a:prstGeom>
          </p:spPr>
        </p:pic>
        <p:sp>
          <p:nvSpPr>
            <p:cNvPr id="16" name="文字方塊 15"/>
            <p:cNvSpPr txBox="1"/>
            <p:nvPr/>
          </p:nvSpPr>
          <p:spPr>
            <a:xfrm>
              <a:off x="2088935" y="5353320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25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3217210" y="4522164"/>
            <a:ext cx="797012" cy="1427116"/>
            <a:chOff x="3217210" y="4326314"/>
            <a:chExt cx="797012" cy="1427116"/>
          </a:xfrm>
        </p:grpSpPr>
        <p:pic>
          <p:nvPicPr>
            <p:cNvPr id="17" name="圖片 16"/>
            <p:cNvPicPr>
              <a:picLocks noChangeAspect="1"/>
            </p:cNvPicPr>
            <p:nvPr/>
          </p:nvPicPr>
          <p:blipFill rotWithShape="1">
            <a:blip r:embed="rId2"/>
            <a:srcRect l="38200" t="10580" r="47384" b="61688"/>
            <a:stretch/>
          </p:blipFill>
          <p:spPr>
            <a:xfrm>
              <a:off x="3217210" y="4326314"/>
              <a:ext cx="797012" cy="784654"/>
            </a:xfrm>
            <a:prstGeom prst="rect">
              <a:avLst/>
            </a:prstGeom>
          </p:spPr>
        </p:pic>
        <p:sp>
          <p:nvSpPr>
            <p:cNvPr id="18" name="文字方塊 17"/>
            <p:cNvSpPr txBox="1"/>
            <p:nvPr/>
          </p:nvSpPr>
          <p:spPr>
            <a:xfrm>
              <a:off x="3266902" y="5353320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</a:p>
          </p:txBody>
        </p:sp>
      </p:grpSp>
      <p:grpSp>
        <p:nvGrpSpPr>
          <p:cNvPr id="41" name="群組 40"/>
          <p:cNvGrpSpPr/>
          <p:nvPr/>
        </p:nvGrpSpPr>
        <p:grpSpPr>
          <a:xfrm>
            <a:off x="4243807" y="4488182"/>
            <a:ext cx="925599" cy="1461098"/>
            <a:chOff x="4243807" y="4292332"/>
            <a:chExt cx="925599" cy="1461098"/>
          </a:xfrm>
        </p:grpSpPr>
        <p:pic>
          <p:nvPicPr>
            <p:cNvPr id="19" name="圖片 18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4243807" y="4292332"/>
              <a:ext cx="925599" cy="852617"/>
            </a:xfrm>
            <a:prstGeom prst="rect">
              <a:avLst/>
            </a:prstGeom>
          </p:spPr>
        </p:pic>
        <p:sp>
          <p:nvSpPr>
            <p:cNvPr id="20" name="文字方塊 19"/>
            <p:cNvSpPr txBox="1"/>
            <p:nvPr/>
          </p:nvSpPr>
          <p:spPr>
            <a:xfrm>
              <a:off x="4421912" y="5353320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5398991" y="4488182"/>
            <a:ext cx="925599" cy="1461098"/>
            <a:chOff x="5398991" y="4292332"/>
            <a:chExt cx="925599" cy="1461098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5398991" y="4292332"/>
              <a:ext cx="925599" cy="852617"/>
            </a:xfrm>
            <a:prstGeom prst="rect">
              <a:avLst/>
            </a:prstGeom>
          </p:spPr>
        </p:pic>
        <p:sp>
          <p:nvSpPr>
            <p:cNvPr id="21" name="文字方塊 20"/>
            <p:cNvSpPr txBox="1"/>
            <p:nvPr/>
          </p:nvSpPr>
          <p:spPr>
            <a:xfrm>
              <a:off x="5577096" y="5353320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2" name="圖片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028" y="4000090"/>
            <a:ext cx="2238375" cy="1828800"/>
          </a:xfrm>
          <a:prstGeom prst="rect">
            <a:avLst/>
          </a:prstGeom>
        </p:spPr>
      </p:pic>
      <p:grpSp>
        <p:nvGrpSpPr>
          <p:cNvPr id="33" name="群組 32"/>
          <p:cNvGrpSpPr/>
          <p:nvPr/>
        </p:nvGrpSpPr>
        <p:grpSpPr>
          <a:xfrm>
            <a:off x="1542771" y="1976746"/>
            <a:ext cx="925599" cy="1290415"/>
            <a:chOff x="1542771" y="1780896"/>
            <a:chExt cx="925599" cy="1290415"/>
          </a:xfrm>
        </p:grpSpPr>
        <p:pic>
          <p:nvPicPr>
            <p:cNvPr id="23" name="圖片 22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1542771" y="1780896"/>
              <a:ext cx="925599" cy="852617"/>
            </a:xfrm>
            <a:prstGeom prst="rect">
              <a:avLst/>
            </a:prstGeom>
          </p:spPr>
        </p:pic>
        <p:sp>
          <p:nvSpPr>
            <p:cNvPr id="24" name="文字方塊 23"/>
            <p:cNvSpPr txBox="1"/>
            <p:nvPr/>
          </p:nvSpPr>
          <p:spPr>
            <a:xfrm>
              <a:off x="1720876" y="2671201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2524825" y="1976746"/>
            <a:ext cx="925599" cy="1290415"/>
            <a:chOff x="2524825" y="1780896"/>
            <a:chExt cx="925599" cy="1290415"/>
          </a:xfrm>
        </p:grpSpPr>
        <p:pic>
          <p:nvPicPr>
            <p:cNvPr id="25" name="圖片 24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2524825" y="1780896"/>
              <a:ext cx="925599" cy="852617"/>
            </a:xfrm>
            <a:prstGeom prst="rect">
              <a:avLst/>
            </a:prstGeom>
          </p:spPr>
        </p:pic>
        <p:sp>
          <p:nvSpPr>
            <p:cNvPr id="26" name="文字方塊 25"/>
            <p:cNvSpPr txBox="1"/>
            <p:nvPr/>
          </p:nvSpPr>
          <p:spPr>
            <a:xfrm>
              <a:off x="2702930" y="2671201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3505717" y="1976746"/>
            <a:ext cx="925599" cy="1290415"/>
            <a:chOff x="3505717" y="1780896"/>
            <a:chExt cx="925599" cy="1290415"/>
          </a:xfrm>
        </p:grpSpPr>
        <p:pic>
          <p:nvPicPr>
            <p:cNvPr id="27" name="圖片 26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3505717" y="1780896"/>
              <a:ext cx="925599" cy="852617"/>
            </a:xfrm>
            <a:prstGeom prst="rect">
              <a:avLst/>
            </a:prstGeom>
          </p:spPr>
        </p:pic>
        <p:sp>
          <p:nvSpPr>
            <p:cNvPr id="28" name="文字方塊 27"/>
            <p:cNvSpPr txBox="1"/>
            <p:nvPr/>
          </p:nvSpPr>
          <p:spPr>
            <a:xfrm>
              <a:off x="3683822" y="2671201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5363917" y="1976746"/>
            <a:ext cx="925599" cy="1290415"/>
            <a:chOff x="5363917" y="1780896"/>
            <a:chExt cx="925599" cy="1290415"/>
          </a:xfrm>
        </p:grpSpPr>
        <p:pic>
          <p:nvPicPr>
            <p:cNvPr id="29" name="圖片 28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5363917" y="1780896"/>
              <a:ext cx="925599" cy="852617"/>
            </a:xfrm>
            <a:prstGeom prst="rect">
              <a:avLst/>
            </a:prstGeom>
          </p:spPr>
        </p:pic>
        <p:sp>
          <p:nvSpPr>
            <p:cNvPr id="30" name="文字方塊 29"/>
            <p:cNvSpPr txBox="1"/>
            <p:nvPr/>
          </p:nvSpPr>
          <p:spPr>
            <a:xfrm>
              <a:off x="5542022" y="2671201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" name="群組 36"/>
          <p:cNvGrpSpPr/>
          <p:nvPr/>
        </p:nvGrpSpPr>
        <p:grpSpPr>
          <a:xfrm>
            <a:off x="642209" y="3253355"/>
            <a:ext cx="5647306" cy="656507"/>
            <a:chOff x="642209" y="3057505"/>
            <a:chExt cx="5647306" cy="656507"/>
          </a:xfrm>
        </p:grpSpPr>
        <p:sp>
          <p:nvSpPr>
            <p:cNvPr id="9" name="文字方塊 8"/>
            <p:cNvSpPr txBox="1"/>
            <p:nvPr/>
          </p:nvSpPr>
          <p:spPr>
            <a:xfrm>
              <a:off x="3156903" y="3313902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87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 panose="05050102010706020507" pitchFamily="18" charset="2"/>
                </a:rPr>
                <a:t>個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右大括弧 30"/>
            <p:cNvSpPr/>
            <p:nvPr/>
          </p:nvSpPr>
          <p:spPr>
            <a:xfrm rot="5400000">
              <a:off x="3340312" y="359402"/>
              <a:ext cx="251099" cy="5647306"/>
            </a:xfrm>
            <a:prstGeom prst="rightBrace">
              <a:avLst>
                <a:gd name="adj1" fmla="val 30879"/>
                <a:gd name="adj2" fmla="val 50000"/>
              </a:avLst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32" name="文字方塊 31"/>
          <p:cNvSpPr txBox="1"/>
          <p:nvPr/>
        </p:nvSpPr>
        <p:spPr>
          <a:xfrm>
            <a:off x="3023721" y="1398186"/>
            <a:ext cx="311174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找錢金額為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0.87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美元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(87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5101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貪婪演算法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r="47160" b="55355"/>
          <a:stretch/>
        </p:blipFill>
        <p:spPr>
          <a:xfrm>
            <a:off x="1057661" y="1770862"/>
            <a:ext cx="2921216" cy="1263178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1312674" y="30153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</a:p>
        </p:txBody>
      </p:sp>
      <p:sp>
        <p:nvSpPr>
          <p:cNvPr id="9" name="文字方塊 8"/>
          <p:cNvSpPr txBox="1"/>
          <p:nvPr/>
        </p:nvSpPr>
        <p:spPr>
          <a:xfrm>
            <a:off x="2262086" y="3015345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236824" y="301534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582814" y="301534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6" name="群組 15"/>
          <p:cNvGrpSpPr/>
          <p:nvPr/>
        </p:nvGrpSpPr>
        <p:grpSpPr>
          <a:xfrm>
            <a:off x="4080798" y="1822805"/>
            <a:ext cx="1134783" cy="1592650"/>
            <a:chOff x="4080798" y="1735851"/>
            <a:chExt cx="1134783" cy="1592650"/>
          </a:xfrm>
        </p:grpSpPr>
        <p:sp>
          <p:nvSpPr>
            <p:cNvPr id="11" name="文字方塊 10"/>
            <p:cNvSpPr txBox="1"/>
            <p:nvPr/>
          </p:nvSpPr>
          <p:spPr>
            <a:xfrm>
              <a:off x="4308923" y="2928391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12</a:t>
              </a:r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3" name="圖片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0798" y="1735851"/>
              <a:ext cx="1134783" cy="1159319"/>
            </a:xfrm>
            <a:prstGeom prst="rect">
              <a:avLst/>
            </a:prstGeom>
          </p:spPr>
        </p:pic>
      </p:grpSp>
      <p:pic>
        <p:nvPicPr>
          <p:cNvPr id="14" name="圖片 13"/>
          <p:cNvPicPr>
            <a:picLocks noChangeAspect="1"/>
          </p:cNvPicPr>
          <p:nvPr/>
        </p:nvPicPr>
        <p:blipFill rotWithShape="1">
          <a:blip r:embed="rId2"/>
          <a:srcRect l="54665" b="55355"/>
          <a:stretch/>
        </p:blipFill>
        <p:spPr>
          <a:xfrm>
            <a:off x="5317502" y="1770862"/>
            <a:ext cx="2506361" cy="1263178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6859678" y="301534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50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1745482" y="3536330"/>
            <a:ext cx="1134783" cy="1592650"/>
            <a:chOff x="4080798" y="1735851"/>
            <a:chExt cx="1134783" cy="1592650"/>
          </a:xfrm>
        </p:grpSpPr>
        <p:sp>
          <p:nvSpPr>
            <p:cNvPr id="18" name="文字方塊 17"/>
            <p:cNvSpPr txBox="1"/>
            <p:nvPr/>
          </p:nvSpPr>
          <p:spPr>
            <a:xfrm>
              <a:off x="4308923" y="2928391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12</a:t>
              </a:r>
              <a:r>
                <a:rPr lang="zh-TW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pic>
          <p:nvPicPr>
            <p:cNvPr id="19" name="圖片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0798" y="1735851"/>
              <a:ext cx="1134783" cy="1159319"/>
            </a:xfrm>
            <a:prstGeom prst="rect">
              <a:avLst/>
            </a:prstGeom>
          </p:spPr>
        </p:pic>
      </p:grpSp>
      <p:grpSp>
        <p:nvGrpSpPr>
          <p:cNvPr id="28" name="群組 27"/>
          <p:cNvGrpSpPr/>
          <p:nvPr/>
        </p:nvGrpSpPr>
        <p:grpSpPr>
          <a:xfrm>
            <a:off x="2980735" y="3689680"/>
            <a:ext cx="925599" cy="1439300"/>
            <a:chOff x="2980735" y="3584183"/>
            <a:chExt cx="925599" cy="1439300"/>
          </a:xfrm>
        </p:grpSpPr>
        <p:pic>
          <p:nvPicPr>
            <p:cNvPr id="20" name="圖片 19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2980735" y="3584183"/>
              <a:ext cx="925599" cy="852617"/>
            </a:xfrm>
            <a:prstGeom prst="rect">
              <a:avLst/>
            </a:prstGeom>
          </p:spPr>
        </p:pic>
        <p:sp>
          <p:nvSpPr>
            <p:cNvPr id="21" name="文字方塊 20"/>
            <p:cNvSpPr txBox="1"/>
            <p:nvPr/>
          </p:nvSpPr>
          <p:spPr>
            <a:xfrm>
              <a:off x="3158840" y="4623373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4006804" y="3689680"/>
            <a:ext cx="925599" cy="1439300"/>
            <a:chOff x="4006804" y="3584183"/>
            <a:chExt cx="925599" cy="1439300"/>
          </a:xfrm>
        </p:grpSpPr>
        <p:pic>
          <p:nvPicPr>
            <p:cNvPr id="22" name="圖片 21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4006804" y="3584183"/>
              <a:ext cx="925599" cy="852617"/>
            </a:xfrm>
            <a:prstGeom prst="rect">
              <a:avLst/>
            </a:prstGeom>
          </p:spPr>
        </p:pic>
        <p:sp>
          <p:nvSpPr>
            <p:cNvPr id="23" name="文字方塊 22"/>
            <p:cNvSpPr txBox="1"/>
            <p:nvPr/>
          </p:nvSpPr>
          <p:spPr>
            <a:xfrm>
              <a:off x="4184909" y="4623373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9" name="群組 38"/>
          <p:cNvGrpSpPr/>
          <p:nvPr/>
        </p:nvGrpSpPr>
        <p:grpSpPr>
          <a:xfrm>
            <a:off x="5032873" y="3689680"/>
            <a:ext cx="925599" cy="1439300"/>
            <a:chOff x="5032873" y="3584183"/>
            <a:chExt cx="925599" cy="1439300"/>
          </a:xfrm>
        </p:grpSpPr>
        <p:pic>
          <p:nvPicPr>
            <p:cNvPr id="24" name="圖片 23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5032873" y="3584183"/>
              <a:ext cx="925599" cy="852617"/>
            </a:xfrm>
            <a:prstGeom prst="rect">
              <a:avLst/>
            </a:prstGeom>
          </p:spPr>
        </p:pic>
        <p:sp>
          <p:nvSpPr>
            <p:cNvPr id="25" name="文字方塊 24"/>
            <p:cNvSpPr txBox="1"/>
            <p:nvPr/>
          </p:nvSpPr>
          <p:spPr>
            <a:xfrm>
              <a:off x="5210978" y="4623373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6058942" y="3689680"/>
            <a:ext cx="925599" cy="1439300"/>
            <a:chOff x="6058942" y="3584183"/>
            <a:chExt cx="925599" cy="1439300"/>
          </a:xfrm>
        </p:grpSpPr>
        <p:pic>
          <p:nvPicPr>
            <p:cNvPr id="26" name="圖片 25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6058942" y="3584183"/>
              <a:ext cx="925599" cy="852617"/>
            </a:xfrm>
            <a:prstGeom prst="rect">
              <a:avLst/>
            </a:prstGeom>
          </p:spPr>
        </p:pic>
        <p:sp>
          <p:nvSpPr>
            <p:cNvPr id="27" name="文字方塊 26"/>
            <p:cNvSpPr txBox="1"/>
            <p:nvPr/>
          </p:nvSpPr>
          <p:spPr>
            <a:xfrm>
              <a:off x="6237047" y="4623373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9" name="文字方塊 28"/>
          <p:cNvSpPr txBox="1"/>
          <p:nvPr/>
        </p:nvSpPr>
        <p:spPr>
          <a:xfrm>
            <a:off x="3023721" y="1307833"/>
            <a:ext cx="3111749" cy="400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找錢金額為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0.16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美元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(16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37" name="群組 36"/>
          <p:cNvGrpSpPr/>
          <p:nvPr/>
        </p:nvGrpSpPr>
        <p:grpSpPr>
          <a:xfrm>
            <a:off x="2815951" y="5269298"/>
            <a:ext cx="3167383" cy="1328054"/>
            <a:chOff x="2043656" y="5163801"/>
            <a:chExt cx="3167383" cy="1328054"/>
          </a:xfrm>
        </p:grpSpPr>
        <p:pic>
          <p:nvPicPr>
            <p:cNvPr id="30" name="圖片 29"/>
            <p:cNvPicPr>
              <a:picLocks noChangeAspect="1"/>
            </p:cNvPicPr>
            <p:nvPr/>
          </p:nvPicPr>
          <p:blipFill rotWithShape="1">
            <a:blip r:embed="rId2"/>
            <a:srcRect l="37960" t="10780" r="47160" b="61924"/>
            <a:stretch/>
          </p:blipFill>
          <p:spPr>
            <a:xfrm>
              <a:off x="2043656" y="5237943"/>
              <a:ext cx="822637" cy="772297"/>
            </a:xfrm>
            <a:prstGeom prst="rect">
              <a:avLst/>
            </a:prstGeom>
          </p:spPr>
        </p:pic>
        <p:pic>
          <p:nvPicPr>
            <p:cNvPr id="31" name="圖片 30"/>
            <p:cNvPicPr>
              <a:picLocks noChangeAspect="1"/>
            </p:cNvPicPr>
            <p:nvPr/>
          </p:nvPicPr>
          <p:blipFill rotWithShape="1">
            <a:blip r:embed="rId2"/>
            <a:srcRect l="18233" t="5848" r="63997" b="61615"/>
            <a:stretch/>
          </p:blipFill>
          <p:spPr>
            <a:xfrm>
              <a:off x="3122837" y="5163801"/>
              <a:ext cx="982363" cy="920579"/>
            </a:xfrm>
            <a:prstGeom prst="rect">
              <a:avLst/>
            </a:prstGeom>
          </p:spPr>
        </p:pic>
        <p:pic>
          <p:nvPicPr>
            <p:cNvPr id="32" name="圖片 31"/>
            <p:cNvPicPr>
              <a:picLocks noChangeAspect="1"/>
            </p:cNvPicPr>
            <p:nvPr/>
          </p:nvPicPr>
          <p:blipFill rotWithShape="1">
            <a:blip r:embed="rId2"/>
            <a:srcRect t="8833" r="83258" b="61033"/>
            <a:stretch/>
          </p:blipFill>
          <p:spPr>
            <a:xfrm>
              <a:off x="4285440" y="5194139"/>
              <a:ext cx="925599" cy="852617"/>
            </a:xfrm>
            <a:prstGeom prst="rect">
              <a:avLst/>
            </a:prstGeom>
          </p:spPr>
        </p:pic>
        <p:sp>
          <p:nvSpPr>
            <p:cNvPr id="33" name="文字方塊 32"/>
            <p:cNvSpPr txBox="1"/>
            <p:nvPr/>
          </p:nvSpPr>
          <p:spPr>
            <a:xfrm>
              <a:off x="4505118" y="6091745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2118373" y="6091745"/>
              <a:ext cx="69762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10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3300942" y="6091745"/>
              <a:ext cx="56938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</a:t>
              </a:r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分</a:t>
              </a:r>
              <a:endPara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419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貪婪演算法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貪婪演算法不保證一定會得到最佳解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r>
              <a:rPr lang="en-US" altLang="zh-TW" dirty="0"/>
              <a:t>4.1</a:t>
            </a:r>
            <a:r>
              <a:rPr lang="zh-TW" altLang="en-US" dirty="0"/>
              <a:t> 最小生成樹</a:t>
            </a:r>
            <a:endParaRPr lang="en-US" altLang="zh-TW" dirty="0"/>
          </a:p>
          <a:p>
            <a:r>
              <a:rPr lang="en-US" altLang="zh-TW" dirty="0"/>
              <a:t>4.2 Dijkstra</a:t>
            </a:r>
            <a:r>
              <a:rPr lang="zh-TW" altLang="en-US" dirty="0"/>
              <a:t>演算法解單一起點最短路徑問題</a:t>
            </a:r>
            <a:r>
              <a:rPr lang="en-US" altLang="zh-TW" dirty="0"/>
              <a:t> </a:t>
            </a:r>
          </a:p>
          <a:p>
            <a:r>
              <a:rPr lang="en-US" altLang="zh-TW" dirty="0"/>
              <a:t>4.3</a:t>
            </a:r>
            <a:r>
              <a:rPr lang="zh-TW" altLang="en-US" dirty="0"/>
              <a:t> 排程</a:t>
            </a:r>
            <a:endParaRPr lang="en-US" altLang="zh-TW" dirty="0"/>
          </a:p>
          <a:p>
            <a:r>
              <a:rPr lang="en-US" altLang="zh-TW" dirty="0"/>
              <a:t>4.4</a:t>
            </a:r>
            <a:r>
              <a:rPr lang="zh-TW" altLang="en-US" dirty="0"/>
              <a:t> 霍夫曼編碼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4.5 </a:t>
            </a:r>
            <a:r>
              <a:rPr lang="zh-TW" altLang="en-US" dirty="0"/>
              <a:t>背包</a:t>
            </a:r>
            <a:r>
              <a:rPr lang="en-US" altLang="zh-TW" dirty="0"/>
              <a:t>(Knapsack)</a:t>
            </a:r>
            <a:r>
              <a:rPr lang="zh-TW" altLang="en-US" dirty="0"/>
              <a:t>問題</a:t>
            </a:r>
            <a:endParaRPr lang="en-US" altLang="zh-TW" dirty="0"/>
          </a:p>
          <a:p>
            <a:pPr lvl="1"/>
            <a:r>
              <a:rPr lang="en-US" altLang="zh-TW" dirty="0"/>
              <a:t>0-1</a:t>
            </a:r>
            <a:r>
              <a:rPr lang="zh-TW" altLang="en-US" dirty="0"/>
              <a:t>背包問題</a:t>
            </a:r>
            <a:endParaRPr lang="en-US" altLang="zh-TW" dirty="0"/>
          </a:p>
          <a:p>
            <a:pPr lvl="2"/>
            <a:r>
              <a:rPr lang="zh-TW" altLang="en-US" dirty="0"/>
              <a:t>貪婪演算法無法找到最佳解</a:t>
            </a:r>
            <a:endParaRPr lang="en-US" altLang="zh-TW" dirty="0"/>
          </a:p>
          <a:p>
            <a:pPr lvl="2"/>
            <a:r>
              <a:rPr lang="zh-TW" altLang="en-US" dirty="0"/>
              <a:t>採用動態規劃演算法</a:t>
            </a:r>
            <a:endParaRPr lang="en-US" altLang="zh-TW" dirty="0"/>
          </a:p>
          <a:p>
            <a:pPr lvl="1"/>
            <a:r>
              <a:rPr lang="en-US" altLang="zh-TW" dirty="0"/>
              <a:t>Fractional</a:t>
            </a:r>
            <a:r>
              <a:rPr lang="zh-TW" altLang="en-US" dirty="0"/>
              <a:t>背包問題</a:t>
            </a:r>
            <a:endParaRPr lang="en-US" altLang="zh-TW" dirty="0"/>
          </a:p>
          <a:p>
            <a:pPr lvl="2"/>
            <a:r>
              <a:rPr lang="zh-TW" altLang="en-US" dirty="0"/>
              <a:t>貪婪演算法可找到最佳解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185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最小生成樹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最少花費展開樹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加權圖形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可能的眾多展開樹之中，會有一棵展開樹的加權和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花費，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cost)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是最小的，稱為最少花費展開樹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(minimum cost spanning tree)</a:t>
            </a: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最少花費展開樹可能多於一棵 </a:t>
            </a: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80" name="群組 79"/>
          <p:cNvGrpSpPr/>
          <p:nvPr/>
        </p:nvGrpSpPr>
        <p:grpSpPr>
          <a:xfrm>
            <a:off x="3777589" y="2685114"/>
            <a:ext cx="1740864" cy="1422979"/>
            <a:chOff x="3777589" y="2685114"/>
            <a:chExt cx="1740864" cy="1422979"/>
          </a:xfrm>
        </p:grpSpPr>
        <p:grpSp>
          <p:nvGrpSpPr>
            <p:cNvPr id="7" name="群組 6"/>
            <p:cNvGrpSpPr/>
            <p:nvPr/>
          </p:nvGrpSpPr>
          <p:grpSpPr>
            <a:xfrm>
              <a:off x="4453319" y="2739306"/>
              <a:ext cx="300082" cy="369332"/>
              <a:chOff x="7119660" y="1677206"/>
              <a:chExt cx="300082" cy="369332"/>
            </a:xfrm>
          </p:grpSpPr>
          <p:sp>
            <p:nvSpPr>
              <p:cNvPr id="8" name="文字方塊 7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橢圓 8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0" name="群組 9"/>
            <p:cNvGrpSpPr/>
            <p:nvPr/>
          </p:nvGrpSpPr>
          <p:grpSpPr>
            <a:xfrm>
              <a:off x="4450734" y="3738761"/>
              <a:ext cx="300082" cy="369332"/>
              <a:chOff x="7210115" y="2674994"/>
              <a:chExt cx="300082" cy="369332"/>
            </a:xfrm>
          </p:grpSpPr>
          <p:sp>
            <p:nvSpPr>
              <p:cNvPr id="11" name="文字方塊 10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3" name="群組 12"/>
            <p:cNvGrpSpPr/>
            <p:nvPr/>
          </p:nvGrpSpPr>
          <p:grpSpPr>
            <a:xfrm>
              <a:off x="3777589" y="3261038"/>
              <a:ext cx="300082" cy="369332"/>
              <a:chOff x="7119660" y="1677206"/>
              <a:chExt cx="300082" cy="369332"/>
            </a:xfrm>
          </p:grpSpPr>
          <p:sp>
            <p:nvSpPr>
              <p:cNvPr id="14" name="文字方塊 13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橢圓 14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16" name="群組 15"/>
            <p:cNvGrpSpPr/>
            <p:nvPr/>
          </p:nvGrpSpPr>
          <p:grpSpPr>
            <a:xfrm>
              <a:off x="5123304" y="3261038"/>
              <a:ext cx="300082" cy="369332"/>
              <a:chOff x="7119660" y="1677206"/>
              <a:chExt cx="300082" cy="369332"/>
            </a:xfrm>
          </p:grpSpPr>
          <p:sp>
            <p:nvSpPr>
              <p:cNvPr id="17" name="文字方塊 16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" name="橢圓 17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19" name="直線接點 18"/>
            <p:cNvCxnSpPr>
              <a:stCxn id="9" idx="3"/>
              <a:endCxn id="15" idx="7"/>
            </p:cNvCxnSpPr>
            <p:nvPr/>
          </p:nvCxnSpPr>
          <p:spPr>
            <a:xfrm flipH="1">
              <a:off x="4035494" y="3043047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接點 19"/>
            <p:cNvCxnSpPr>
              <a:stCxn id="12" idx="1"/>
              <a:endCxn id="15" idx="5"/>
            </p:cNvCxnSpPr>
            <p:nvPr/>
          </p:nvCxnSpPr>
          <p:spPr>
            <a:xfrm flipH="1" flipV="1">
              <a:off x="4035494" y="3564779"/>
              <a:ext cx="469499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接點 20"/>
            <p:cNvCxnSpPr>
              <a:stCxn id="9" idx="5"/>
              <a:endCxn id="18" idx="1"/>
            </p:cNvCxnSpPr>
            <p:nvPr/>
          </p:nvCxnSpPr>
          <p:spPr>
            <a:xfrm>
              <a:off x="4711224" y="3043047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接點 21"/>
            <p:cNvCxnSpPr>
              <a:stCxn id="18" idx="3"/>
              <a:endCxn id="12" idx="7"/>
            </p:cNvCxnSpPr>
            <p:nvPr/>
          </p:nvCxnSpPr>
          <p:spPr>
            <a:xfrm flipH="1">
              <a:off x="4708639" y="3564779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接點 22"/>
            <p:cNvCxnSpPr>
              <a:stCxn id="9" idx="4"/>
              <a:endCxn id="12" idx="0"/>
            </p:cNvCxnSpPr>
            <p:nvPr/>
          </p:nvCxnSpPr>
          <p:spPr>
            <a:xfrm flipH="1">
              <a:off x="4606816" y="3085224"/>
              <a:ext cx="2585" cy="7114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接點 23"/>
            <p:cNvCxnSpPr>
              <a:stCxn id="18" idx="2"/>
              <a:endCxn id="15" idx="6"/>
            </p:cNvCxnSpPr>
            <p:nvPr/>
          </p:nvCxnSpPr>
          <p:spPr>
            <a:xfrm flipH="1">
              <a:off x="4077671" y="3462956"/>
              <a:ext cx="105771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5147839" y="2685114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4086784" y="29215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4834351" y="29215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4083525" y="361558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4831092" y="361558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文字方塊 77"/>
            <p:cNvSpPr txBox="1"/>
            <p:nvPr/>
          </p:nvSpPr>
          <p:spPr>
            <a:xfrm>
              <a:off x="4232493" y="31675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4552876" y="344883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4" name="群組 83"/>
          <p:cNvGrpSpPr/>
          <p:nvPr/>
        </p:nvGrpSpPr>
        <p:grpSpPr>
          <a:xfrm>
            <a:off x="1334217" y="4322623"/>
            <a:ext cx="1645797" cy="2184344"/>
            <a:chOff x="1334217" y="4322623"/>
            <a:chExt cx="1645797" cy="2184344"/>
          </a:xfrm>
        </p:grpSpPr>
        <p:grpSp>
          <p:nvGrpSpPr>
            <p:cNvPr id="26" name="群組 25"/>
            <p:cNvGrpSpPr/>
            <p:nvPr/>
          </p:nvGrpSpPr>
          <p:grpSpPr>
            <a:xfrm>
              <a:off x="2009947" y="4322623"/>
              <a:ext cx="300082" cy="369332"/>
              <a:chOff x="7119660" y="1677206"/>
              <a:chExt cx="300082" cy="369332"/>
            </a:xfrm>
          </p:grpSpPr>
          <p:sp>
            <p:nvSpPr>
              <p:cNvPr id="27" name="文字方塊 26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橢圓 27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29" name="群組 28"/>
            <p:cNvGrpSpPr/>
            <p:nvPr/>
          </p:nvGrpSpPr>
          <p:grpSpPr>
            <a:xfrm>
              <a:off x="2007362" y="5322078"/>
              <a:ext cx="300082" cy="369332"/>
              <a:chOff x="7210115" y="2674994"/>
              <a:chExt cx="300082" cy="369332"/>
            </a:xfrm>
          </p:grpSpPr>
          <p:sp>
            <p:nvSpPr>
              <p:cNvPr id="30" name="文字方塊 29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橢圓 30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2" name="群組 31"/>
            <p:cNvGrpSpPr/>
            <p:nvPr/>
          </p:nvGrpSpPr>
          <p:grpSpPr>
            <a:xfrm>
              <a:off x="1334217" y="4844355"/>
              <a:ext cx="300082" cy="369332"/>
              <a:chOff x="7119660" y="1677206"/>
              <a:chExt cx="300082" cy="369332"/>
            </a:xfrm>
          </p:grpSpPr>
          <p:sp>
            <p:nvSpPr>
              <p:cNvPr id="33" name="文字方塊 32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橢圓 33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35" name="群組 34"/>
            <p:cNvGrpSpPr/>
            <p:nvPr/>
          </p:nvGrpSpPr>
          <p:grpSpPr>
            <a:xfrm>
              <a:off x="2679932" y="4844355"/>
              <a:ext cx="300082" cy="369332"/>
              <a:chOff x="7119660" y="1677206"/>
              <a:chExt cx="300082" cy="369332"/>
            </a:xfrm>
          </p:grpSpPr>
          <p:sp>
            <p:nvSpPr>
              <p:cNvPr id="36" name="文字方塊 35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橢圓 36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38" name="直線接點 37"/>
            <p:cNvCxnSpPr>
              <a:stCxn id="31" idx="1"/>
              <a:endCxn id="34" idx="5"/>
            </p:cNvCxnSpPr>
            <p:nvPr/>
          </p:nvCxnSpPr>
          <p:spPr>
            <a:xfrm flipH="1" flipV="1">
              <a:off x="1592122" y="5148096"/>
              <a:ext cx="469499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>
              <a:stCxn id="28" idx="5"/>
              <a:endCxn id="37" idx="1"/>
            </p:cNvCxnSpPr>
            <p:nvPr/>
          </p:nvCxnSpPr>
          <p:spPr>
            <a:xfrm>
              <a:off x="2267852" y="4626364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接點 39"/>
            <p:cNvCxnSpPr>
              <a:stCxn id="37" idx="3"/>
              <a:endCxn id="31" idx="7"/>
            </p:cNvCxnSpPr>
            <p:nvPr/>
          </p:nvCxnSpPr>
          <p:spPr>
            <a:xfrm flipH="1">
              <a:off x="2265267" y="5148096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1952963" y="5705794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2399548" y="450294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1648722" y="519698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2396289" y="519698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1595199" y="6106857"/>
              <a:ext cx="11416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= 14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5" name="群組 84"/>
          <p:cNvGrpSpPr/>
          <p:nvPr/>
        </p:nvGrpSpPr>
        <p:grpSpPr>
          <a:xfrm>
            <a:off x="3790042" y="4323576"/>
            <a:ext cx="1645797" cy="2180523"/>
            <a:chOff x="3790042" y="4323576"/>
            <a:chExt cx="1645797" cy="2180523"/>
          </a:xfrm>
        </p:grpSpPr>
        <p:grpSp>
          <p:nvGrpSpPr>
            <p:cNvPr id="42" name="群組 41"/>
            <p:cNvGrpSpPr/>
            <p:nvPr/>
          </p:nvGrpSpPr>
          <p:grpSpPr>
            <a:xfrm>
              <a:off x="4465772" y="4323576"/>
              <a:ext cx="300082" cy="369332"/>
              <a:chOff x="7119660" y="1677206"/>
              <a:chExt cx="300082" cy="369332"/>
            </a:xfrm>
          </p:grpSpPr>
          <p:sp>
            <p:nvSpPr>
              <p:cNvPr id="43" name="文字方塊 42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橢圓 43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5" name="群組 44"/>
            <p:cNvGrpSpPr/>
            <p:nvPr/>
          </p:nvGrpSpPr>
          <p:grpSpPr>
            <a:xfrm>
              <a:off x="4463187" y="5323031"/>
              <a:ext cx="300082" cy="369332"/>
              <a:chOff x="7210115" y="2674994"/>
              <a:chExt cx="300082" cy="369332"/>
            </a:xfrm>
          </p:grpSpPr>
          <p:sp>
            <p:nvSpPr>
              <p:cNvPr id="46" name="文字方塊 45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7" name="橢圓 46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48" name="群組 47"/>
            <p:cNvGrpSpPr/>
            <p:nvPr/>
          </p:nvGrpSpPr>
          <p:grpSpPr>
            <a:xfrm>
              <a:off x="3790042" y="4845308"/>
              <a:ext cx="300082" cy="369332"/>
              <a:chOff x="7119660" y="1677206"/>
              <a:chExt cx="300082" cy="369332"/>
            </a:xfrm>
          </p:grpSpPr>
          <p:sp>
            <p:nvSpPr>
              <p:cNvPr id="49" name="文字方塊 48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橢圓 49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51" name="群組 50"/>
            <p:cNvGrpSpPr/>
            <p:nvPr/>
          </p:nvGrpSpPr>
          <p:grpSpPr>
            <a:xfrm>
              <a:off x="5135757" y="4845308"/>
              <a:ext cx="300082" cy="369332"/>
              <a:chOff x="7119660" y="1677206"/>
              <a:chExt cx="300082" cy="369332"/>
            </a:xfrm>
          </p:grpSpPr>
          <p:sp>
            <p:nvSpPr>
              <p:cNvPr id="52" name="文字方塊 51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3" name="橢圓 52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54" name="直線接點 53"/>
            <p:cNvCxnSpPr>
              <a:stCxn id="44" idx="3"/>
              <a:endCxn id="50" idx="7"/>
            </p:cNvCxnSpPr>
            <p:nvPr/>
          </p:nvCxnSpPr>
          <p:spPr>
            <a:xfrm flipH="1">
              <a:off x="4047947" y="4627317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線接點 54"/>
            <p:cNvCxnSpPr>
              <a:stCxn id="53" idx="3"/>
              <a:endCxn id="47" idx="7"/>
            </p:cNvCxnSpPr>
            <p:nvPr/>
          </p:nvCxnSpPr>
          <p:spPr>
            <a:xfrm flipH="1">
              <a:off x="4721092" y="5149049"/>
              <a:ext cx="468924" cy="274077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線接點 55"/>
            <p:cNvCxnSpPr>
              <a:stCxn id="53" idx="2"/>
              <a:endCxn id="50" idx="6"/>
            </p:cNvCxnSpPr>
            <p:nvPr/>
          </p:nvCxnSpPr>
          <p:spPr>
            <a:xfrm flipH="1">
              <a:off x="4090124" y="5047226"/>
              <a:ext cx="1057715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字方塊 56"/>
            <p:cNvSpPr txBox="1"/>
            <p:nvPr/>
          </p:nvSpPr>
          <p:spPr>
            <a:xfrm>
              <a:off x="4408788" y="5706747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4072978" y="451333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文字方塊 86"/>
            <p:cNvSpPr txBox="1"/>
            <p:nvPr/>
          </p:nvSpPr>
          <p:spPr>
            <a:xfrm>
              <a:off x="4817286" y="520737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文字方塊 87"/>
            <p:cNvSpPr txBox="1"/>
            <p:nvPr/>
          </p:nvSpPr>
          <p:spPr>
            <a:xfrm>
              <a:off x="4218687" y="4759377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4023533" y="6103989"/>
              <a:ext cx="11416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= 10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群組 94"/>
          <p:cNvGrpSpPr/>
          <p:nvPr/>
        </p:nvGrpSpPr>
        <p:grpSpPr>
          <a:xfrm>
            <a:off x="6280088" y="4320708"/>
            <a:ext cx="1645797" cy="2186259"/>
            <a:chOff x="6280088" y="4320708"/>
            <a:chExt cx="1645797" cy="2186259"/>
          </a:xfrm>
        </p:grpSpPr>
        <p:grpSp>
          <p:nvGrpSpPr>
            <p:cNvPr id="58" name="群組 57"/>
            <p:cNvGrpSpPr/>
            <p:nvPr/>
          </p:nvGrpSpPr>
          <p:grpSpPr>
            <a:xfrm>
              <a:off x="6955818" y="4320708"/>
              <a:ext cx="300082" cy="369332"/>
              <a:chOff x="7119660" y="1677206"/>
              <a:chExt cx="300082" cy="369332"/>
            </a:xfrm>
          </p:grpSpPr>
          <p:sp>
            <p:nvSpPr>
              <p:cNvPr id="59" name="文字方塊 58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0" name="橢圓 59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1" name="群組 60"/>
            <p:cNvGrpSpPr/>
            <p:nvPr/>
          </p:nvGrpSpPr>
          <p:grpSpPr>
            <a:xfrm>
              <a:off x="6953233" y="5320163"/>
              <a:ext cx="300082" cy="369332"/>
              <a:chOff x="7210115" y="2674994"/>
              <a:chExt cx="300082" cy="369332"/>
            </a:xfrm>
          </p:grpSpPr>
          <p:sp>
            <p:nvSpPr>
              <p:cNvPr id="62" name="文字方塊 61"/>
              <p:cNvSpPr txBox="1"/>
              <p:nvPr/>
            </p:nvSpPr>
            <p:spPr>
              <a:xfrm>
                <a:off x="7210115" y="2674994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3" name="橢圓 62"/>
              <p:cNvSpPr/>
              <p:nvPr/>
            </p:nvSpPr>
            <p:spPr>
              <a:xfrm>
                <a:off x="7222197" y="2732912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4" name="群組 63"/>
            <p:cNvGrpSpPr/>
            <p:nvPr/>
          </p:nvGrpSpPr>
          <p:grpSpPr>
            <a:xfrm>
              <a:off x="6280088" y="4842440"/>
              <a:ext cx="300082" cy="369332"/>
              <a:chOff x="7119660" y="1677206"/>
              <a:chExt cx="300082" cy="369332"/>
            </a:xfrm>
          </p:grpSpPr>
          <p:sp>
            <p:nvSpPr>
              <p:cNvPr id="65" name="文字方塊 64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6" name="橢圓 65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grpSp>
          <p:nvGrpSpPr>
            <p:cNvPr id="67" name="群組 66"/>
            <p:cNvGrpSpPr/>
            <p:nvPr/>
          </p:nvGrpSpPr>
          <p:grpSpPr>
            <a:xfrm>
              <a:off x="7625803" y="4842440"/>
              <a:ext cx="300082" cy="369332"/>
              <a:chOff x="7119660" y="1677206"/>
              <a:chExt cx="300082" cy="369332"/>
            </a:xfrm>
          </p:grpSpPr>
          <p:sp>
            <p:nvSpPr>
              <p:cNvPr id="68" name="文字方塊 67"/>
              <p:cNvSpPr txBox="1"/>
              <p:nvPr/>
            </p:nvSpPr>
            <p:spPr>
              <a:xfrm>
                <a:off x="7119660" y="167720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橢圓 68"/>
              <p:cNvSpPr/>
              <p:nvPr/>
            </p:nvSpPr>
            <p:spPr>
              <a:xfrm>
                <a:off x="7131742" y="1735124"/>
                <a:ext cx="288000" cy="288000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</p:grpSp>
        <p:cxnSp>
          <p:nvCxnSpPr>
            <p:cNvPr id="70" name="直線接點 69"/>
            <p:cNvCxnSpPr>
              <a:stCxn id="60" idx="3"/>
              <a:endCxn id="66" idx="7"/>
            </p:cNvCxnSpPr>
            <p:nvPr/>
          </p:nvCxnSpPr>
          <p:spPr>
            <a:xfrm flipH="1">
              <a:off x="6537993" y="4624449"/>
              <a:ext cx="472084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60" idx="5"/>
              <a:endCxn id="69" idx="1"/>
            </p:cNvCxnSpPr>
            <p:nvPr/>
          </p:nvCxnSpPr>
          <p:spPr>
            <a:xfrm>
              <a:off x="7213723" y="4624449"/>
              <a:ext cx="466339" cy="31808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接點 71"/>
            <p:cNvCxnSpPr>
              <a:stCxn id="60" idx="4"/>
              <a:endCxn id="63" idx="0"/>
            </p:cNvCxnSpPr>
            <p:nvPr/>
          </p:nvCxnSpPr>
          <p:spPr>
            <a:xfrm flipH="1">
              <a:off x="7109315" y="4666626"/>
              <a:ext cx="2585" cy="711455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文字方塊 72"/>
            <p:cNvSpPr txBox="1"/>
            <p:nvPr/>
          </p:nvSpPr>
          <p:spPr>
            <a:xfrm>
              <a:off x="6898834" y="5703879"/>
              <a:ext cx="426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6595239" y="45053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7342806" y="450537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7061331" y="503266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6541364" y="6106857"/>
              <a:ext cx="114165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cost = 10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3324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Prim</a:t>
            </a:r>
            <a:r>
              <a:rPr lang="zh-TW" altLang="en-US" dirty="0"/>
              <a:t> 演算法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逐一選擇適當的邊加入展開樹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選一個不在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中且最小的邊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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),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 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cxnSp>
        <p:nvCxnSpPr>
          <p:cNvPr id="8" name="直線接點 7"/>
          <p:cNvCxnSpPr/>
          <p:nvPr/>
        </p:nvCxnSpPr>
        <p:spPr>
          <a:xfrm flipH="1">
            <a:off x="2324216" y="2201576"/>
            <a:ext cx="69010" cy="14664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/>
          <p:cNvSpPr/>
          <p:nvPr/>
        </p:nvSpPr>
        <p:spPr>
          <a:xfrm>
            <a:off x="5646001" y="1242201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546133" y="1742550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流程圖: 決策 13"/>
          <p:cNvSpPr/>
          <p:nvPr/>
        </p:nvSpPr>
        <p:spPr>
          <a:xfrm>
            <a:off x="4546133" y="2927203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)| &lt;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– 1 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圓角矩形 17"/>
          <p:cNvSpPr/>
          <p:nvPr/>
        </p:nvSpPr>
        <p:spPr>
          <a:xfrm>
            <a:off x="5633061" y="6393586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9" name="直線單箭頭接點 18"/>
          <p:cNvCxnSpPr>
            <a:stCxn id="12" idx="2"/>
            <a:endCxn id="13" idx="0"/>
          </p:cNvCxnSpPr>
          <p:nvPr/>
        </p:nvCxnSpPr>
        <p:spPr>
          <a:xfrm>
            <a:off x="6068696" y="1561378"/>
            <a:ext cx="0" cy="18117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/>
          <p:cNvCxnSpPr>
            <a:stCxn id="46" idx="2"/>
            <a:endCxn id="14" idx="0"/>
          </p:cNvCxnSpPr>
          <p:nvPr/>
        </p:nvCxnSpPr>
        <p:spPr>
          <a:xfrm>
            <a:off x="6068696" y="2730245"/>
            <a:ext cx="0" cy="196958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/>
          <p:cNvCxnSpPr>
            <a:stCxn id="15" idx="2"/>
            <a:endCxn id="35" idx="0"/>
          </p:cNvCxnSpPr>
          <p:nvPr/>
        </p:nvCxnSpPr>
        <p:spPr>
          <a:xfrm>
            <a:off x="6068696" y="4994673"/>
            <a:ext cx="0" cy="224281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肘形接點 21"/>
          <p:cNvCxnSpPr>
            <a:stCxn id="50" idx="2"/>
            <a:endCxn id="14" idx="3"/>
          </p:cNvCxnSpPr>
          <p:nvPr/>
        </p:nvCxnSpPr>
        <p:spPr>
          <a:xfrm rot="5400000" flipH="1" flipV="1">
            <a:off x="5398707" y="4012702"/>
            <a:ext cx="2862540" cy="1522563"/>
          </a:xfrm>
          <a:prstGeom prst="bentConnector4">
            <a:avLst>
              <a:gd name="adj1" fmla="val -4370"/>
              <a:gd name="adj2" fmla="val 115014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群組 22"/>
          <p:cNvGrpSpPr/>
          <p:nvPr/>
        </p:nvGrpSpPr>
        <p:grpSpPr>
          <a:xfrm>
            <a:off x="6024367" y="3642773"/>
            <a:ext cx="441146" cy="400110"/>
            <a:chOff x="6024367" y="3642773"/>
            <a:chExt cx="441146" cy="400110"/>
          </a:xfrm>
        </p:grpSpPr>
        <p:cxnSp>
          <p:nvCxnSpPr>
            <p:cNvPr id="24" name="直線單箭頭接點 23"/>
            <p:cNvCxnSpPr>
              <a:stCxn id="14" idx="2"/>
              <a:endCxn id="15" idx="0"/>
            </p:cNvCxnSpPr>
            <p:nvPr/>
          </p:nvCxnSpPr>
          <p:spPr>
            <a:xfrm>
              <a:off x="6068696" y="3758225"/>
              <a:ext cx="0" cy="25015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字方塊 24"/>
            <p:cNvSpPr txBox="1"/>
            <p:nvPr/>
          </p:nvSpPr>
          <p:spPr>
            <a:xfrm>
              <a:off x="6024367" y="3642773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3950895" y="3241458"/>
            <a:ext cx="1682166" cy="3311716"/>
            <a:chOff x="3950895" y="3241458"/>
            <a:chExt cx="1682166" cy="3311716"/>
          </a:xfrm>
        </p:grpSpPr>
        <p:cxnSp>
          <p:nvCxnSpPr>
            <p:cNvPr id="30" name="肘形接點 29"/>
            <p:cNvCxnSpPr>
              <a:stCxn id="14" idx="1"/>
              <a:endCxn id="18" idx="1"/>
            </p:cNvCxnSpPr>
            <p:nvPr/>
          </p:nvCxnSpPr>
          <p:spPr>
            <a:xfrm rot="10800000" flipH="1" flipV="1">
              <a:off x="4546133" y="3342713"/>
              <a:ext cx="1086928" cy="3210461"/>
            </a:xfrm>
            <a:prstGeom prst="bentConnector3">
              <a:avLst>
                <a:gd name="adj1" fmla="val -21032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字方塊 30"/>
            <p:cNvSpPr txBox="1"/>
            <p:nvPr/>
          </p:nvSpPr>
          <p:spPr>
            <a:xfrm>
              <a:off x="3950895" y="32414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sp>
        <p:nvSpPr>
          <p:cNvPr id="35" name="矩形 34"/>
          <p:cNvSpPr/>
          <p:nvPr/>
        </p:nvSpPr>
        <p:spPr>
          <a:xfrm>
            <a:off x="4546133" y="5218954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3" name="直線單箭頭接點 42"/>
          <p:cNvCxnSpPr>
            <a:stCxn id="35" idx="2"/>
            <a:endCxn id="50" idx="0"/>
          </p:cNvCxnSpPr>
          <p:nvPr/>
        </p:nvCxnSpPr>
        <p:spPr>
          <a:xfrm>
            <a:off x="6068696" y="5607152"/>
            <a:ext cx="0" cy="209904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4546133" y="2342047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{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u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} </a:t>
            </a:r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任選</a:t>
            </a:r>
            <a:endParaRPr lang="zh-TW" altLang="en-US" sz="2000" b="1" dirty="0">
              <a:solidFill>
                <a:srgbClr val="C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4546133" y="5817056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55" name="直線單箭頭接點 54"/>
          <p:cNvCxnSpPr>
            <a:stCxn id="13" idx="2"/>
            <a:endCxn id="46" idx="0"/>
          </p:cNvCxnSpPr>
          <p:nvPr/>
        </p:nvCxnSpPr>
        <p:spPr>
          <a:xfrm>
            <a:off x="6068696" y="2130748"/>
            <a:ext cx="0" cy="21129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群組 6"/>
          <p:cNvGrpSpPr/>
          <p:nvPr/>
        </p:nvGrpSpPr>
        <p:grpSpPr>
          <a:xfrm>
            <a:off x="4546133" y="4008378"/>
            <a:ext cx="3045126" cy="986295"/>
            <a:chOff x="4546133" y="4008378"/>
            <a:chExt cx="3045126" cy="986295"/>
          </a:xfrm>
        </p:grpSpPr>
        <p:sp>
          <p:nvSpPr>
            <p:cNvPr id="15" name="矩形 14"/>
            <p:cNvSpPr/>
            <p:nvPr/>
          </p:nvSpPr>
          <p:spPr>
            <a:xfrm>
              <a:off x="4546133" y="4008378"/>
              <a:ext cx="3045126" cy="98629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選擇尚未選過的邊，且權重最小的邊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(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u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,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v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)</a:t>
              </a:r>
            </a:p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u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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V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(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T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),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v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  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V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(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T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)</a:t>
              </a:r>
              <a:endPara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cxnSp>
          <p:nvCxnSpPr>
            <p:cNvPr id="59" name="直線接點 58"/>
            <p:cNvCxnSpPr/>
            <p:nvPr/>
          </p:nvCxnSpPr>
          <p:spPr>
            <a:xfrm flipH="1">
              <a:off x="6393624" y="4773983"/>
              <a:ext cx="69010" cy="146649"/>
            </a:xfrm>
            <a:prstGeom prst="line">
              <a:avLst/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6102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8" grpId="0" animBg="1"/>
      <p:bldP spid="35" grpId="0" animBg="1"/>
      <p:bldP spid="46" grpId="0" animBg="1"/>
      <p:bldP spid="5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Prim</a:t>
            </a:r>
            <a:r>
              <a:rPr lang="zh-TW" altLang="en-US" dirty="0"/>
              <a:t> 演算法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逐一選擇適當的邊加入展開樹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選一個不在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中且最小的邊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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),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 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V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0" name="橢圓 29"/>
          <p:cNvSpPr/>
          <p:nvPr/>
        </p:nvSpPr>
        <p:spPr>
          <a:xfrm>
            <a:off x="671122" y="357673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1271515" y="302587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1271515" y="412835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/>
          <p:cNvSpPr/>
          <p:nvPr/>
        </p:nvSpPr>
        <p:spPr>
          <a:xfrm>
            <a:off x="1897559" y="358233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橢圓 37"/>
          <p:cNvSpPr/>
          <p:nvPr/>
        </p:nvSpPr>
        <p:spPr>
          <a:xfrm>
            <a:off x="2528674" y="3025876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2528674" y="4128355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直線接點 40"/>
          <p:cNvCxnSpPr>
            <a:stCxn id="32" idx="3"/>
            <a:endCxn id="30" idx="7"/>
          </p:cNvCxnSpPr>
          <p:nvPr/>
        </p:nvCxnSpPr>
        <p:spPr>
          <a:xfrm flipH="1">
            <a:off x="916945" y="3271699"/>
            <a:ext cx="396747" cy="3472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/>
          <p:cNvCxnSpPr>
            <a:stCxn id="36" idx="3"/>
            <a:endCxn id="34" idx="7"/>
          </p:cNvCxnSpPr>
          <p:nvPr/>
        </p:nvCxnSpPr>
        <p:spPr>
          <a:xfrm flipH="1">
            <a:off x="1517338" y="3828161"/>
            <a:ext cx="422398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線接點 42"/>
          <p:cNvCxnSpPr>
            <a:stCxn id="36" idx="1"/>
            <a:endCxn id="32" idx="5"/>
          </p:cNvCxnSpPr>
          <p:nvPr/>
        </p:nvCxnSpPr>
        <p:spPr>
          <a:xfrm flipH="1" flipV="1">
            <a:off x="1517338" y="3271699"/>
            <a:ext cx="422398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6" idx="7"/>
            <a:endCxn id="38" idx="3"/>
          </p:cNvCxnSpPr>
          <p:nvPr/>
        </p:nvCxnSpPr>
        <p:spPr>
          <a:xfrm flipV="1">
            <a:off x="2143382" y="3271699"/>
            <a:ext cx="427469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/>
          <p:cNvCxnSpPr>
            <a:stCxn id="36" idx="5"/>
            <a:endCxn id="40" idx="1"/>
          </p:cNvCxnSpPr>
          <p:nvPr/>
        </p:nvCxnSpPr>
        <p:spPr>
          <a:xfrm>
            <a:off x="2143382" y="3828161"/>
            <a:ext cx="427469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接點 45"/>
          <p:cNvCxnSpPr>
            <a:stCxn id="32" idx="6"/>
            <a:endCxn id="38" idx="2"/>
          </p:cNvCxnSpPr>
          <p:nvPr/>
        </p:nvCxnSpPr>
        <p:spPr>
          <a:xfrm>
            <a:off x="1559515" y="3169876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38" idx="4"/>
            <a:endCxn id="40" idx="0"/>
          </p:cNvCxnSpPr>
          <p:nvPr/>
        </p:nvCxnSpPr>
        <p:spPr>
          <a:xfrm>
            <a:off x="2672674" y="3313876"/>
            <a:ext cx="0" cy="8144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34" idx="1"/>
            <a:endCxn id="30" idx="5"/>
          </p:cNvCxnSpPr>
          <p:nvPr/>
        </p:nvCxnSpPr>
        <p:spPr>
          <a:xfrm flipH="1" flipV="1">
            <a:off x="916945" y="3822561"/>
            <a:ext cx="396747" cy="347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0" idx="2"/>
            <a:endCxn id="34" idx="6"/>
          </p:cNvCxnSpPr>
          <p:nvPr/>
        </p:nvCxnSpPr>
        <p:spPr>
          <a:xfrm flipH="1">
            <a:off x="1559515" y="4272355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1894053" y="287243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916945" y="316987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908319" y="389768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1885427" y="421443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2629724" y="35416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1642277" y="31668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1633651" y="38946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2143382" y="316616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2134756" y="38939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700530" y="3521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3704606" y="357387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2" name="橢圓 61"/>
          <p:cNvSpPr/>
          <p:nvPr/>
        </p:nvSpPr>
        <p:spPr>
          <a:xfrm>
            <a:off x="4304999" y="302300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4299970" y="4050317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橢圓 63"/>
          <p:cNvSpPr/>
          <p:nvPr/>
        </p:nvSpPr>
        <p:spPr>
          <a:xfrm>
            <a:off x="4304999" y="412548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5" name="文字方塊 64"/>
          <p:cNvSpPr txBox="1"/>
          <p:nvPr/>
        </p:nvSpPr>
        <p:spPr>
          <a:xfrm>
            <a:off x="4918911" y="352155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橢圓 65"/>
          <p:cNvSpPr/>
          <p:nvPr/>
        </p:nvSpPr>
        <p:spPr>
          <a:xfrm>
            <a:off x="4931043" y="357947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文字方塊 66"/>
          <p:cNvSpPr txBox="1"/>
          <p:nvPr/>
        </p:nvSpPr>
        <p:spPr>
          <a:xfrm>
            <a:off x="5562158" y="2956464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橢圓 67"/>
          <p:cNvSpPr/>
          <p:nvPr/>
        </p:nvSpPr>
        <p:spPr>
          <a:xfrm>
            <a:off x="5562158" y="3023008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9" name="文字方塊 68"/>
          <p:cNvSpPr txBox="1"/>
          <p:nvPr/>
        </p:nvSpPr>
        <p:spPr>
          <a:xfrm>
            <a:off x="5573453" y="4058943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橢圓 69"/>
          <p:cNvSpPr/>
          <p:nvPr/>
        </p:nvSpPr>
        <p:spPr>
          <a:xfrm>
            <a:off x="5562158" y="412548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7" name="群組 6"/>
          <p:cNvGrpSpPr/>
          <p:nvPr/>
        </p:nvGrpSpPr>
        <p:grpSpPr>
          <a:xfrm>
            <a:off x="3950429" y="3167008"/>
            <a:ext cx="396747" cy="449039"/>
            <a:chOff x="3950429" y="3167008"/>
            <a:chExt cx="396747" cy="449039"/>
          </a:xfrm>
        </p:grpSpPr>
        <p:cxnSp>
          <p:nvCxnSpPr>
            <p:cNvPr id="71" name="直線接點 70"/>
            <p:cNvCxnSpPr>
              <a:stCxn id="62" idx="3"/>
              <a:endCxn id="60" idx="7"/>
            </p:cNvCxnSpPr>
            <p:nvPr/>
          </p:nvCxnSpPr>
          <p:spPr>
            <a:xfrm flipH="1">
              <a:off x="3950429" y="3268831"/>
              <a:ext cx="396747" cy="34721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文字方塊 80"/>
            <p:cNvSpPr txBox="1"/>
            <p:nvPr/>
          </p:nvSpPr>
          <p:spPr>
            <a:xfrm>
              <a:off x="3950429" y="316700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群組 7"/>
          <p:cNvGrpSpPr/>
          <p:nvPr/>
        </p:nvGrpSpPr>
        <p:grpSpPr>
          <a:xfrm>
            <a:off x="3941803" y="3819693"/>
            <a:ext cx="405373" cy="444457"/>
            <a:chOff x="3941803" y="3819693"/>
            <a:chExt cx="405373" cy="444457"/>
          </a:xfrm>
        </p:grpSpPr>
        <p:cxnSp>
          <p:nvCxnSpPr>
            <p:cNvPr id="78" name="直線接點 77"/>
            <p:cNvCxnSpPr>
              <a:stCxn id="64" idx="1"/>
              <a:endCxn id="60" idx="5"/>
            </p:cNvCxnSpPr>
            <p:nvPr/>
          </p:nvCxnSpPr>
          <p:spPr>
            <a:xfrm flipH="1" flipV="1">
              <a:off x="3950429" y="3819693"/>
              <a:ext cx="396747" cy="347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文字方塊 81"/>
            <p:cNvSpPr txBox="1"/>
            <p:nvPr/>
          </p:nvSpPr>
          <p:spPr>
            <a:xfrm>
              <a:off x="3941803" y="389481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群組 9"/>
          <p:cNvGrpSpPr/>
          <p:nvPr/>
        </p:nvGrpSpPr>
        <p:grpSpPr>
          <a:xfrm>
            <a:off x="4592999" y="4211569"/>
            <a:ext cx="969159" cy="369332"/>
            <a:chOff x="4592999" y="4211569"/>
            <a:chExt cx="969159" cy="369332"/>
          </a:xfrm>
        </p:grpSpPr>
        <p:cxnSp>
          <p:nvCxnSpPr>
            <p:cNvPr id="79" name="直線接點 78"/>
            <p:cNvCxnSpPr>
              <a:stCxn id="70" idx="2"/>
              <a:endCxn id="64" idx="6"/>
            </p:cNvCxnSpPr>
            <p:nvPr/>
          </p:nvCxnSpPr>
          <p:spPr>
            <a:xfrm flipH="1">
              <a:off x="4592999" y="4269487"/>
              <a:ext cx="96915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文字方塊 82"/>
            <p:cNvSpPr txBox="1"/>
            <p:nvPr/>
          </p:nvSpPr>
          <p:spPr>
            <a:xfrm>
              <a:off x="4918911" y="421156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5663208" y="3311008"/>
            <a:ext cx="300082" cy="814479"/>
            <a:chOff x="5663208" y="3311008"/>
            <a:chExt cx="300082" cy="814479"/>
          </a:xfrm>
        </p:grpSpPr>
        <p:cxnSp>
          <p:nvCxnSpPr>
            <p:cNvPr id="77" name="直線接點 76"/>
            <p:cNvCxnSpPr>
              <a:stCxn id="68" idx="4"/>
              <a:endCxn id="70" idx="0"/>
            </p:cNvCxnSpPr>
            <p:nvPr/>
          </p:nvCxnSpPr>
          <p:spPr>
            <a:xfrm>
              <a:off x="5706158" y="3311008"/>
              <a:ext cx="0" cy="8144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文字方塊 83"/>
            <p:cNvSpPr txBox="1"/>
            <p:nvPr/>
          </p:nvSpPr>
          <p:spPr>
            <a:xfrm>
              <a:off x="5663208" y="353880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群組 8"/>
          <p:cNvGrpSpPr/>
          <p:nvPr/>
        </p:nvGrpSpPr>
        <p:grpSpPr>
          <a:xfrm>
            <a:off x="4550822" y="3825293"/>
            <a:ext cx="422398" cy="435783"/>
            <a:chOff x="4550822" y="3825293"/>
            <a:chExt cx="422398" cy="435783"/>
          </a:xfrm>
        </p:grpSpPr>
        <p:cxnSp>
          <p:nvCxnSpPr>
            <p:cNvPr id="72" name="直線接點 71"/>
            <p:cNvCxnSpPr>
              <a:stCxn id="66" idx="3"/>
              <a:endCxn id="64" idx="7"/>
            </p:cNvCxnSpPr>
            <p:nvPr/>
          </p:nvCxnSpPr>
          <p:spPr>
            <a:xfrm flipH="1">
              <a:off x="4550822" y="3825293"/>
              <a:ext cx="422398" cy="3423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文字方塊 85"/>
            <p:cNvSpPr txBox="1"/>
            <p:nvPr/>
          </p:nvSpPr>
          <p:spPr>
            <a:xfrm>
              <a:off x="4667135" y="38917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8" name="文字方塊 27"/>
          <p:cNvSpPr txBox="1"/>
          <p:nvPr/>
        </p:nvSpPr>
        <p:spPr>
          <a:xfrm>
            <a:off x="2998331" y="4772793"/>
            <a:ext cx="4365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                                                 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2997378" y="5172903"/>
            <a:ext cx="43652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{                                                 }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" name="文字方塊 2047"/>
          <p:cNvSpPr txBox="1"/>
          <p:nvPr/>
        </p:nvSpPr>
        <p:spPr>
          <a:xfrm>
            <a:off x="3890047" y="4795726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4541982" y="4795726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5167237" y="4790045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3948856" y="517276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4254361" y="51729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4592999" y="5161332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4891479" y="516995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字方塊 97"/>
          <p:cNvSpPr txBox="1"/>
          <p:nvPr/>
        </p:nvSpPr>
        <p:spPr>
          <a:xfrm>
            <a:off x="5806659" y="4787100"/>
            <a:ext cx="6960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字方塊 98"/>
          <p:cNvSpPr txBox="1"/>
          <p:nvPr/>
        </p:nvSpPr>
        <p:spPr>
          <a:xfrm>
            <a:off x="5218774" y="5178584"/>
            <a:ext cx="2696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文字方塊 100"/>
          <p:cNvSpPr txBox="1"/>
          <p:nvPr/>
        </p:nvSpPr>
        <p:spPr>
          <a:xfrm>
            <a:off x="6416078" y="4795726"/>
            <a:ext cx="68159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文字方塊 101"/>
          <p:cNvSpPr txBox="1"/>
          <p:nvPr/>
        </p:nvSpPr>
        <p:spPr>
          <a:xfrm>
            <a:off x="5463976" y="5178584"/>
            <a:ext cx="2984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4299970" y="2958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67046" y="35244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266486" y="29617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266486" y="4053185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1885427" y="352442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2528674" y="2959332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539969" y="4061811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直線接點 79"/>
          <p:cNvCxnSpPr/>
          <p:nvPr/>
        </p:nvCxnSpPr>
        <p:spPr>
          <a:xfrm flipH="1">
            <a:off x="2322026" y="2201576"/>
            <a:ext cx="69010" cy="14664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967" y="520415"/>
            <a:ext cx="2424768" cy="3496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81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3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54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67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8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8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8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5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101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2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17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118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9" dur="2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34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9933"/>
                                      </p:to>
                                    </p:animClr>
                                    <p:set>
                                      <p:cBhvr>
                                        <p:cTn id="13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1000"/>
                            </p:stCondLst>
                            <p:childTnLst>
                              <p:par>
                                <p:cTn id="1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  <p:bldP spid="60" grpId="0" animBg="1"/>
      <p:bldP spid="62" grpId="0" animBg="1"/>
      <p:bldP spid="63" grpId="0"/>
      <p:bldP spid="64" grpId="0" animBg="1"/>
      <p:bldP spid="65" grpId="0"/>
      <p:bldP spid="66" grpId="0" animBg="1"/>
      <p:bldP spid="67" grpId="0"/>
      <p:bldP spid="68" grpId="0" animBg="1"/>
      <p:bldP spid="69" grpId="0"/>
      <p:bldP spid="70" grpId="0" animBg="1"/>
      <p:bldP spid="28" grpId="0"/>
      <p:bldP spid="90" grpId="0"/>
      <p:bldP spid="2048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1" grpId="0"/>
      <p:bldP spid="102" grpId="0"/>
      <p:bldP spid="6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Prim</a:t>
            </a:r>
            <a:r>
              <a:rPr lang="zh-TW" altLang="en-US" dirty="0"/>
              <a:t> 演算法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(Prim</a:t>
            </a:r>
            <a:r>
              <a:rPr lang="zh-TW" altLang="en-US" dirty="0"/>
              <a:t>演算法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en-US" altLang="zh-TW" dirty="0">
                <a:solidFill>
                  <a:srgbClr val="C00000"/>
                </a:solidFill>
              </a:rPr>
              <a:t>repeat</a:t>
            </a:r>
            <a:r>
              <a:rPr lang="zh-TW" altLang="en-US" dirty="0"/>
              <a:t>迴圈中有兩個</a:t>
            </a:r>
            <a:r>
              <a:rPr lang="en-US" altLang="zh-TW" dirty="0">
                <a:solidFill>
                  <a:srgbClr val="C00000"/>
                </a:solidFill>
              </a:rPr>
              <a:t>for</a:t>
            </a:r>
            <a:r>
              <a:rPr lang="zh-TW" altLang="en-US" dirty="0"/>
              <a:t>迴圈，每個迴圈各執行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 – 1</a:t>
            </a:r>
            <a:r>
              <a:rPr lang="zh-TW" altLang="en-US" dirty="0"/>
              <a:t>次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：節點個數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endParaRPr lang="zh-TW" altLang="en-US" i="1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98046" y="2611829"/>
            <a:ext cx="8425055" cy="1567672"/>
            <a:chOff x="198046" y="2611829"/>
            <a:chExt cx="8425055" cy="1567672"/>
          </a:xfrm>
        </p:grpSpPr>
        <p:pic>
          <p:nvPicPr>
            <p:cNvPr id="10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321"/>
            <a:stretch/>
          </p:blipFill>
          <p:spPr bwMode="auto">
            <a:xfrm>
              <a:off x="547371" y="2611829"/>
              <a:ext cx="8075730" cy="1156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727"/>
            <a:stretch/>
          </p:blipFill>
          <p:spPr bwMode="auto">
            <a:xfrm>
              <a:off x="198046" y="3768048"/>
              <a:ext cx="8075730" cy="41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圓角矩形圖說文字 13"/>
          <p:cNvSpPr/>
          <p:nvPr/>
        </p:nvSpPr>
        <p:spPr>
          <a:xfrm>
            <a:off x="4127157" y="2658158"/>
            <a:ext cx="1241854" cy="463162"/>
          </a:xfrm>
          <a:prstGeom prst="wedgeRoundRectCallout">
            <a:avLst>
              <a:gd name="adj1" fmla="val -89564"/>
              <a:gd name="adj2" fmla="val 1347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4748084" y="4045958"/>
            <a:ext cx="1241854" cy="463162"/>
          </a:xfrm>
          <a:prstGeom prst="wedgeRoundRectCallout">
            <a:avLst>
              <a:gd name="adj1" fmla="val -99514"/>
              <a:gd name="adj2" fmla="val -667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705362" y="5244607"/>
                <a:ext cx="3759747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l-GR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362" y="5244607"/>
                <a:ext cx="3759747" cy="314766"/>
              </a:xfrm>
              <a:prstGeom prst="rect">
                <a:avLst/>
              </a:prstGeom>
              <a:blipFill rotWithShape="0">
                <a:blip r:embed="rId3"/>
                <a:stretch>
                  <a:fillRect l="-1135" r="-2107" b="-3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/>
          <p:cNvGrpSpPr/>
          <p:nvPr/>
        </p:nvGrpSpPr>
        <p:grpSpPr>
          <a:xfrm>
            <a:off x="3595048" y="5579995"/>
            <a:ext cx="2295006" cy="820405"/>
            <a:chOff x="3595048" y="5579995"/>
            <a:chExt cx="2295006" cy="820405"/>
          </a:xfrm>
        </p:grpSpPr>
        <p:cxnSp>
          <p:nvCxnSpPr>
            <p:cNvPr id="18" name="直線接點 17"/>
            <p:cNvCxnSpPr/>
            <p:nvPr/>
          </p:nvCxnSpPr>
          <p:spPr>
            <a:xfrm>
              <a:off x="3595048" y="5579995"/>
              <a:ext cx="1008000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圓角矩形圖說文字 18"/>
            <p:cNvSpPr/>
            <p:nvPr/>
          </p:nvSpPr>
          <p:spPr>
            <a:xfrm>
              <a:off x="4377381" y="5937238"/>
              <a:ext cx="1512673" cy="463162"/>
            </a:xfrm>
            <a:prstGeom prst="wedgeRoundRectCallout">
              <a:avLst>
                <a:gd name="adj1" fmla="val -69698"/>
                <a:gd name="adj2" fmla="val -11207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for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迴圈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69062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</a:t>
            </a:r>
            <a:r>
              <a:rPr lang="en-US" altLang="zh-TW" dirty="0"/>
              <a:t> </a:t>
            </a:r>
            <a:r>
              <a:rPr lang="zh-TW" altLang="en-US" dirty="0"/>
              <a:t>演算法 </a:t>
            </a:r>
            <a:r>
              <a:rPr lang="en-US" altLang="zh-TW" dirty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將所有邊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由小到大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排序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逐一將邊加入展開樹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會造成環路的邊就捨棄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直到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邊數為點數減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5646001" y="1242201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46133" y="1820184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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流程圖: 決策 8"/>
          <p:cNvSpPr/>
          <p:nvPr/>
        </p:nvSpPr>
        <p:spPr>
          <a:xfrm>
            <a:off x="4546133" y="2461399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|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)| &lt;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– 1 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46133" y="3559827"/>
            <a:ext cx="3045126" cy="672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選擇尚未選過的邊，且權重最小的邊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流程圖: 決策 10"/>
          <p:cNvSpPr/>
          <p:nvPr/>
        </p:nvSpPr>
        <p:spPr>
          <a:xfrm>
            <a:off x="4546133" y="4563347"/>
            <a:ext cx="3045126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加入會造成環路？</a:t>
            </a:r>
          </a:p>
        </p:txBody>
      </p:sp>
      <p:sp>
        <p:nvSpPr>
          <p:cNvPr id="12" name="矩形 11"/>
          <p:cNvSpPr/>
          <p:nvPr/>
        </p:nvSpPr>
        <p:spPr>
          <a:xfrm>
            <a:off x="4546133" y="5696292"/>
            <a:ext cx="3045126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加入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5633061" y="6393586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4" name="直線單箭頭接點 13"/>
          <p:cNvCxnSpPr>
            <a:stCxn id="7" idx="2"/>
            <a:endCxn id="8" idx="0"/>
          </p:cNvCxnSpPr>
          <p:nvPr/>
        </p:nvCxnSpPr>
        <p:spPr>
          <a:xfrm>
            <a:off x="6068696" y="1561378"/>
            <a:ext cx="0" cy="25880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單箭頭接點 16"/>
          <p:cNvCxnSpPr>
            <a:stCxn id="8" idx="2"/>
            <a:endCxn id="9" idx="0"/>
          </p:cNvCxnSpPr>
          <p:nvPr/>
        </p:nvCxnSpPr>
        <p:spPr>
          <a:xfrm>
            <a:off x="6068696" y="2208382"/>
            <a:ext cx="0" cy="253017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>
            <a:stCxn id="10" idx="2"/>
            <a:endCxn id="11" idx="0"/>
          </p:cNvCxnSpPr>
          <p:nvPr/>
        </p:nvCxnSpPr>
        <p:spPr>
          <a:xfrm>
            <a:off x="6068696" y="4232695"/>
            <a:ext cx="0" cy="330652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肘形接點 28"/>
          <p:cNvCxnSpPr>
            <a:stCxn id="12" idx="2"/>
            <a:endCxn id="9" idx="3"/>
          </p:cNvCxnSpPr>
          <p:nvPr/>
        </p:nvCxnSpPr>
        <p:spPr>
          <a:xfrm rot="5400000" flipH="1" flipV="1">
            <a:off x="5226187" y="3719418"/>
            <a:ext cx="3207580" cy="1522563"/>
          </a:xfrm>
          <a:prstGeom prst="bentConnector4">
            <a:avLst>
              <a:gd name="adj1" fmla="val -7127"/>
              <a:gd name="adj2" fmla="val 148442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群組 39"/>
          <p:cNvGrpSpPr/>
          <p:nvPr/>
        </p:nvGrpSpPr>
        <p:grpSpPr>
          <a:xfrm>
            <a:off x="6024367" y="3194221"/>
            <a:ext cx="441146" cy="400110"/>
            <a:chOff x="6024367" y="3194221"/>
            <a:chExt cx="441146" cy="400110"/>
          </a:xfrm>
        </p:grpSpPr>
        <p:cxnSp>
          <p:nvCxnSpPr>
            <p:cNvPr id="20" name="直線單箭頭接點 19"/>
            <p:cNvCxnSpPr>
              <a:stCxn id="9" idx="2"/>
              <a:endCxn id="10" idx="0"/>
            </p:cNvCxnSpPr>
            <p:nvPr/>
          </p:nvCxnSpPr>
          <p:spPr>
            <a:xfrm>
              <a:off x="6068696" y="3292421"/>
              <a:ext cx="0" cy="26740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文字方塊 38"/>
            <p:cNvSpPr txBox="1"/>
            <p:nvPr/>
          </p:nvSpPr>
          <p:spPr>
            <a:xfrm>
              <a:off x="6024367" y="3194221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7591259" y="4621878"/>
            <a:ext cx="759111" cy="400110"/>
            <a:chOff x="7591259" y="4621878"/>
            <a:chExt cx="759111" cy="400110"/>
          </a:xfrm>
        </p:grpSpPr>
        <p:cxnSp>
          <p:nvCxnSpPr>
            <p:cNvPr id="36" name="直線單箭頭接點 35"/>
            <p:cNvCxnSpPr>
              <a:stCxn id="11" idx="3"/>
            </p:cNvCxnSpPr>
            <p:nvPr/>
          </p:nvCxnSpPr>
          <p:spPr>
            <a:xfrm>
              <a:off x="7591259" y="4978858"/>
              <a:ext cx="759111" cy="0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字方塊 40"/>
            <p:cNvSpPr txBox="1"/>
            <p:nvPr/>
          </p:nvSpPr>
          <p:spPr>
            <a:xfrm>
              <a:off x="7750241" y="462187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  <a:endParaRPr lang="zh-TW" altLang="en-US" b="1" dirty="0"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44" name="群組 43"/>
          <p:cNvGrpSpPr/>
          <p:nvPr/>
        </p:nvGrpSpPr>
        <p:grpSpPr>
          <a:xfrm>
            <a:off x="3950895" y="2876909"/>
            <a:ext cx="1682166" cy="3676265"/>
            <a:chOff x="3950895" y="2876909"/>
            <a:chExt cx="1682166" cy="3676265"/>
          </a:xfrm>
        </p:grpSpPr>
        <p:cxnSp>
          <p:nvCxnSpPr>
            <p:cNvPr id="32" name="肘形接點 31"/>
            <p:cNvCxnSpPr>
              <a:stCxn id="9" idx="1"/>
              <a:endCxn id="13" idx="1"/>
            </p:cNvCxnSpPr>
            <p:nvPr/>
          </p:nvCxnSpPr>
          <p:spPr>
            <a:xfrm rot="10800000" flipH="1" flipV="1">
              <a:off x="4546133" y="2876909"/>
              <a:ext cx="1086928" cy="3676265"/>
            </a:xfrm>
            <a:prstGeom prst="bentConnector3">
              <a:avLst>
                <a:gd name="adj1" fmla="val -21032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字方塊 42"/>
            <p:cNvSpPr txBox="1"/>
            <p:nvPr/>
          </p:nvSpPr>
          <p:spPr>
            <a:xfrm>
              <a:off x="3950895" y="3241458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6012628" y="5343412"/>
            <a:ext cx="415498" cy="369332"/>
            <a:chOff x="6012628" y="5343412"/>
            <a:chExt cx="415498" cy="369332"/>
          </a:xfrm>
        </p:grpSpPr>
        <p:cxnSp>
          <p:nvCxnSpPr>
            <p:cNvPr id="26" name="直線單箭頭接點 25"/>
            <p:cNvCxnSpPr>
              <a:stCxn id="11" idx="2"/>
              <a:endCxn id="12" idx="0"/>
            </p:cNvCxnSpPr>
            <p:nvPr/>
          </p:nvCxnSpPr>
          <p:spPr>
            <a:xfrm>
              <a:off x="6068696" y="5394369"/>
              <a:ext cx="0" cy="301923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文字方塊 44"/>
            <p:cNvSpPr txBox="1"/>
            <p:nvPr/>
          </p:nvSpPr>
          <p:spPr>
            <a:xfrm>
              <a:off x="6012628" y="5343412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9276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</a:t>
            </a:r>
            <a:r>
              <a:rPr lang="en-US" altLang="zh-TW" dirty="0"/>
              <a:t> </a:t>
            </a:r>
            <a:r>
              <a:rPr lang="zh-TW" altLang="en-US" dirty="0"/>
              <a:t>演算法 </a:t>
            </a:r>
            <a:r>
              <a:rPr lang="en-US" altLang="zh-TW" dirty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將所有邊由小到大排序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逐一將邊加入展開樹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中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會造成環路的邊就捨棄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直到</a:t>
            </a:r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的邊數為點數減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44412" y="49643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248488" y="501665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843852" y="44017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848881" y="446579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843852" y="5493101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848881" y="556827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文字方塊 13"/>
          <p:cNvSpPr txBox="1"/>
          <p:nvPr/>
        </p:nvSpPr>
        <p:spPr>
          <a:xfrm>
            <a:off x="1462793" y="49643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橢圓 14"/>
          <p:cNvSpPr/>
          <p:nvPr/>
        </p:nvSpPr>
        <p:spPr>
          <a:xfrm>
            <a:off x="1474925" y="5022254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2106040" y="4399248"/>
            <a:ext cx="2872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橢圓 16"/>
          <p:cNvSpPr/>
          <p:nvPr/>
        </p:nvSpPr>
        <p:spPr>
          <a:xfrm>
            <a:off x="2106040" y="4465792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2117335" y="5501727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橢圓 18"/>
          <p:cNvSpPr/>
          <p:nvPr/>
        </p:nvSpPr>
        <p:spPr>
          <a:xfrm>
            <a:off x="2106040" y="5568271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1" idx="3"/>
            <a:endCxn id="9" idx="7"/>
          </p:cNvCxnSpPr>
          <p:nvPr/>
        </p:nvCxnSpPr>
        <p:spPr>
          <a:xfrm flipH="1">
            <a:off x="494311" y="4711615"/>
            <a:ext cx="396747" cy="3472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5" idx="3"/>
            <a:endCxn id="13" idx="7"/>
          </p:cNvCxnSpPr>
          <p:nvPr/>
        </p:nvCxnSpPr>
        <p:spPr>
          <a:xfrm flipH="1">
            <a:off x="1094704" y="5268077"/>
            <a:ext cx="422398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5" idx="1"/>
            <a:endCxn id="11" idx="5"/>
          </p:cNvCxnSpPr>
          <p:nvPr/>
        </p:nvCxnSpPr>
        <p:spPr>
          <a:xfrm flipH="1" flipV="1">
            <a:off x="1094704" y="4711615"/>
            <a:ext cx="422398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/>
          <p:cNvCxnSpPr>
            <a:stCxn id="15" idx="7"/>
            <a:endCxn id="17" idx="3"/>
          </p:cNvCxnSpPr>
          <p:nvPr/>
        </p:nvCxnSpPr>
        <p:spPr>
          <a:xfrm flipV="1">
            <a:off x="1720748" y="4711615"/>
            <a:ext cx="427469" cy="35281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15" idx="5"/>
            <a:endCxn id="19" idx="1"/>
          </p:cNvCxnSpPr>
          <p:nvPr/>
        </p:nvCxnSpPr>
        <p:spPr>
          <a:xfrm>
            <a:off x="1720748" y="5268077"/>
            <a:ext cx="427469" cy="3423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11" idx="6"/>
            <a:endCxn id="17" idx="2"/>
          </p:cNvCxnSpPr>
          <p:nvPr/>
        </p:nvCxnSpPr>
        <p:spPr>
          <a:xfrm>
            <a:off x="1136881" y="4609792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/>
          <p:cNvCxnSpPr>
            <a:stCxn id="17" idx="4"/>
            <a:endCxn id="19" idx="0"/>
          </p:cNvCxnSpPr>
          <p:nvPr/>
        </p:nvCxnSpPr>
        <p:spPr>
          <a:xfrm>
            <a:off x="2250040" y="4753792"/>
            <a:ext cx="0" cy="81447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接點 56"/>
          <p:cNvCxnSpPr>
            <a:stCxn id="13" idx="1"/>
            <a:endCxn id="9" idx="5"/>
          </p:cNvCxnSpPr>
          <p:nvPr/>
        </p:nvCxnSpPr>
        <p:spPr>
          <a:xfrm flipH="1" flipV="1">
            <a:off x="494311" y="5262477"/>
            <a:ext cx="396747" cy="34797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/>
          <p:cNvCxnSpPr>
            <a:stCxn id="19" idx="2"/>
            <a:endCxn id="13" idx="6"/>
          </p:cNvCxnSpPr>
          <p:nvPr/>
        </p:nvCxnSpPr>
        <p:spPr>
          <a:xfrm flipH="1">
            <a:off x="1136881" y="5712271"/>
            <a:ext cx="96915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字方塊 86"/>
          <p:cNvSpPr txBox="1"/>
          <p:nvPr/>
        </p:nvSpPr>
        <p:spPr>
          <a:xfrm>
            <a:off x="1471419" y="431234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494311" y="460979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485685" y="533760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1462793" y="56543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字方塊 91"/>
          <p:cNvSpPr txBox="1"/>
          <p:nvPr/>
        </p:nvSpPr>
        <p:spPr>
          <a:xfrm>
            <a:off x="2207090" y="49815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字方塊 92"/>
          <p:cNvSpPr txBox="1"/>
          <p:nvPr/>
        </p:nvSpPr>
        <p:spPr>
          <a:xfrm>
            <a:off x="1219643" y="46067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字方塊 93"/>
          <p:cNvSpPr txBox="1"/>
          <p:nvPr/>
        </p:nvSpPr>
        <p:spPr>
          <a:xfrm>
            <a:off x="1211017" y="53345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字方塊 94"/>
          <p:cNvSpPr txBox="1"/>
          <p:nvPr/>
        </p:nvSpPr>
        <p:spPr>
          <a:xfrm>
            <a:off x="1720748" y="46060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文字方塊 95"/>
          <p:cNvSpPr txBox="1"/>
          <p:nvPr/>
        </p:nvSpPr>
        <p:spPr>
          <a:xfrm>
            <a:off x="1712122" y="53338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1" name="群組 100"/>
          <p:cNvGrpSpPr/>
          <p:nvPr/>
        </p:nvGrpSpPr>
        <p:grpSpPr>
          <a:xfrm>
            <a:off x="3333367" y="4127462"/>
            <a:ext cx="1064374" cy="464674"/>
            <a:chOff x="3761703" y="3899002"/>
            <a:chExt cx="1064374" cy="464674"/>
          </a:xfrm>
        </p:grpSpPr>
        <p:sp>
          <p:nvSpPr>
            <p:cNvPr id="97" name="橢圓 96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8" name="橢圓 97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99" name="直線接點 98"/>
            <p:cNvCxnSpPr>
              <a:stCxn id="97" idx="6"/>
              <a:endCxn id="98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文字方塊 101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文字方塊 102"/>
            <p:cNvSpPr txBox="1"/>
            <p:nvPr/>
          </p:nvSpPr>
          <p:spPr>
            <a:xfrm>
              <a:off x="3761703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文字方塊 103"/>
            <p:cNvSpPr txBox="1"/>
            <p:nvPr/>
          </p:nvSpPr>
          <p:spPr>
            <a:xfrm>
              <a:off x="4525995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6" name="群組 105"/>
          <p:cNvGrpSpPr/>
          <p:nvPr/>
        </p:nvGrpSpPr>
        <p:grpSpPr>
          <a:xfrm>
            <a:off x="3341993" y="4574250"/>
            <a:ext cx="1060918" cy="464674"/>
            <a:chOff x="3761703" y="3899002"/>
            <a:chExt cx="1060918" cy="464674"/>
          </a:xfrm>
        </p:grpSpPr>
        <p:sp>
          <p:nvSpPr>
            <p:cNvPr id="107" name="橢圓 106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" name="橢圓 107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09" name="直線接點 108"/>
            <p:cNvCxnSpPr>
              <a:stCxn id="107" idx="6"/>
              <a:endCxn id="108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文字方塊 109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" name="文字方塊 110"/>
            <p:cNvSpPr txBox="1"/>
            <p:nvPr/>
          </p:nvSpPr>
          <p:spPr>
            <a:xfrm>
              <a:off x="3761703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2" name="文字方塊 111"/>
            <p:cNvSpPr txBox="1"/>
            <p:nvPr/>
          </p:nvSpPr>
          <p:spPr>
            <a:xfrm>
              <a:off x="4525995" y="399434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3350619" y="5003704"/>
            <a:ext cx="1060918" cy="464674"/>
            <a:chOff x="3761703" y="3899002"/>
            <a:chExt cx="1060918" cy="464674"/>
          </a:xfrm>
        </p:grpSpPr>
        <p:sp>
          <p:nvSpPr>
            <p:cNvPr id="121" name="橢圓 120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2" name="橢圓 121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23" name="直線接點 122"/>
            <p:cNvCxnSpPr>
              <a:stCxn id="121" idx="6"/>
              <a:endCxn id="122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字方塊 123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5" name="文字方塊 124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6" name="文字方塊 125"/>
            <p:cNvSpPr txBox="1"/>
            <p:nvPr/>
          </p:nvSpPr>
          <p:spPr>
            <a:xfrm>
              <a:off x="4525995" y="399434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7" name="群組 126"/>
          <p:cNvGrpSpPr/>
          <p:nvPr/>
        </p:nvGrpSpPr>
        <p:grpSpPr>
          <a:xfrm>
            <a:off x="3359245" y="5450492"/>
            <a:ext cx="1060918" cy="464674"/>
            <a:chOff x="3761703" y="3899002"/>
            <a:chExt cx="1060918" cy="464674"/>
          </a:xfrm>
        </p:grpSpPr>
        <p:sp>
          <p:nvSpPr>
            <p:cNvPr id="128" name="橢圓 127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9" name="橢圓 128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30" name="直線接點 129"/>
            <p:cNvCxnSpPr>
              <a:stCxn id="128" idx="6"/>
              <a:endCxn id="129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文字方塊 130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2" name="文字方塊 131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文字方塊 132"/>
            <p:cNvSpPr txBox="1"/>
            <p:nvPr/>
          </p:nvSpPr>
          <p:spPr>
            <a:xfrm>
              <a:off x="4525995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6719670" y="4970094"/>
            <a:ext cx="300082" cy="369332"/>
            <a:chOff x="6719670" y="4970094"/>
            <a:chExt cx="300082" cy="369332"/>
          </a:xfrm>
        </p:grpSpPr>
        <p:sp>
          <p:nvSpPr>
            <p:cNvPr id="134" name="文字方塊 133"/>
            <p:cNvSpPr txBox="1"/>
            <p:nvPr/>
          </p:nvSpPr>
          <p:spPr>
            <a:xfrm>
              <a:off x="6719670" y="49700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橢圓 134"/>
            <p:cNvSpPr/>
            <p:nvPr/>
          </p:nvSpPr>
          <p:spPr>
            <a:xfrm>
              <a:off x="6723746" y="502241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0" name="群組 29"/>
          <p:cNvGrpSpPr/>
          <p:nvPr/>
        </p:nvGrpSpPr>
        <p:grpSpPr>
          <a:xfrm>
            <a:off x="7319110" y="4407470"/>
            <a:ext cx="300082" cy="369332"/>
            <a:chOff x="7319110" y="4407470"/>
            <a:chExt cx="300082" cy="369332"/>
          </a:xfrm>
        </p:grpSpPr>
        <p:sp>
          <p:nvSpPr>
            <p:cNvPr id="136" name="文字方塊 135"/>
            <p:cNvSpPr txBox="1"/>
            <p:nvPr/>
          </p:nvSpPr>
          <p:spPr>
            <a:xfrm>
              <a:off x="7319110" y="440747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橢圓 136"/>
            <p:cNvSpPr/>
            <p:nvPr/>
          </p:nvSpPr>
          <p:spPr>
            <a:xfrm>
              <a:off x="7324139" y="447155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3" name="群組 32"/>
          <p:cNvGrpSpPr/>
          <p:nvPr/>
        </p:nvGrpSpPr>
        <p:grpSpPr>
          <a:xfrm>
            <a:off x="7319110" y="5498859"/>
            <a:ext cx="293029" cy="369332"/>
            <a:chOff x="7319110" y="5498859"/>
            <a:chExt cx="293029" cy="369332"/>
          </a:xfrm>
        </p:grpSpPr>
        <p:sp>
          <p:nvSpPr>
            <p:cNvPr id="138" name="文字方塊 137"/>
            <p:cNvSpPr txBox="1"/>
            <p:nvPr/>
          </p:nvSpPr>
          <p:spPr>
            <a:xfrm>
              <a:off x="7319110" y="5498859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橢圓 138"/>
            <p:cNvSpPr/>
            <p:nvPr/>
          </p:nvSpPr>
          <p:spPr>
            <a:xfrm>
              <a:off x="7324139" y="557402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7938051" y="4970094"/>
            <a:ext cx="300132" cy="369332"/>
            <a:chOff x="7938051" y="4970094"/>
            <a:chExt cx="300132" cy="369332"/>
          </a:xfrm>
        </p:grpSpPr>
        <p:sp>
          <p:nvSpPr>
            <p:cNvPr id="140" name="文字方塊 139"/>
            <p:cNvSpPr txBox="1"/>
            <p:nvPr/>
          </p:nvSpPr>
          <p:spPr>
            <a:xfrm>
              <a:off x="7938051" y="497009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1" name="橢圓 140"/>
            <p:cNvSpPr/>
            <p:nvPr/>
          </p:nvSpPr>
          <p:spPr>
            <a:xfrm>
              <a:off x="7950183" y="5028012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8581298" y="4405006"/>
            <a:ext cx="288000" cy="369332"/>
            <a:chOff x="8581298" y="4405006"/>
            <a:chExt cx="288000" cy="369332"/>
          </a:xfrm>
        </p:grpSpPr>
        <p:sp>
          <p:nvSpPr>
            <p:cNvPr id="142" name="文字方塊 141"/>
            <p:cNvSpPr txBox="1"/>
            <p:nvPr/>
          </p:nvSpPr>
          <p:spPr>
            <a:xfrm>
              <a:off x="8581298" y="4405006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" name="橢圓 142"/>
            <p:cNvSpPr/>
            <p:nvPr/>
          </p:nvSpPr>
          <p:spPr>
            <a:xfrm>
              <a:off x="8581298" y="447155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36" name="群組 35"/>
          <p:cNvGrpSpPr/>
          <p:nvPr/>
        </p:nvGrpSpPr>
        <p:grpSpPr>
          <a:xfrm>
            <a:off x="8581298" y="5507485"/>
            <a:ext cx="288000" cy="369332"/>
            <a:chOff x="8581298" y="5507485"/>
            <a:chExt cx="288000" cy="369332"/>
          </a:xfrm>
        </p:grpSpPr>
        <p:sp>
          <p:nvSpPr>
            <p:cNvPr id="144" name="文字方塊 143"/>
            <p:cNvSpPr txBox="1"/>
            <p:nvPr/>
          </p:nvSpPr>
          <p:spPr>
            <a:xfrm>
              <a:off x="8592593" y="5507485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5" name="橢圓 144"/>
            <p:cNvSpPr/>
            <p:nvPr/>
          </p:nvSpPr>
          <p:spPr>
            <a:xfrm>
              <a:off x="8581298" y="5574029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6969569" y="4615550"/>
            <a:ext cx="396747" cy="449039"/>
            <a:chOff x="6969569" y="4615550"/>
            <a:chExt cx="396747" cy="449039"/>
          </a:xfrm>
        </p:grpSpPr>
        <p:cxnSp>
          <p:nvCxnSpPr>
            <p:cNvPr id="146" name="直線接點 145"/>
            <p:cNvCxnSpPr>
              <a:stCxn id="137" idx="3"/>
              <a:endCxn id="135" idx="7"/>
            </p:cNvCxnSpPr>
            <p:nvPr/>
          </p:nvCxnSpPr>
          <p:spPr>
            <a:xfrm flipH="1">
              <a:off x="6969569" y="4717373"/>
              <a:ext cx="396747" cy="347216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文字方塊 155"/>
            <p:cNvSpPr txBox="1"/>
            <p:nvPr/>
          </p:nvSpPr>
          <p:spPr>
            <a:xfrm>
              <a:off x="6969569" y="461555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群組 19"/>
          <p:cNvGrpSpPr/>
          <p:nvPr/>
        </p:nvGrpSpPr>
        <p:grpSpPr>
          <a:xfrm>
            <a:off x="6960943" y="5268235"/>
            <a:ext cx="405373" cy="444457"/>
            <a:chOff x="6960943" y="5268235"/>
            <a:chExt cx="405373" cy="444457"/>
          </a:xfrm>
        </p:grpSpPr>
        <p:cxnSp>
          <p:nvCxnSpPr>
            <p:cNvPr id="153" name="直線接點 152"/>
            <p:cNvCxnSpPr>
              <a:stCxn id="139" idx="1"/>
              <a:endCxn id="135" idx="5"/>
            </p:cNvCxnSpPr>
            <p:nvPr/>
          </p:nvCxnSpPr>
          <p:spPr>
            <a:xfrm flipH="1" flipV="1">
              <a:off x="6969569" y="5268235"/>
              <a:ext cx="396747" cy="3479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字方塊 156"/>
            <p:cNvSpPr txBox="1"/>
            <p:nvPr/>
          </p:nvSpPr>
          <p:spPr>
            <a:xfrm>
              <a:off x="6960943" y="534336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5" name="群組 24"/>
          <p:cNvGrpSpPr/>
          <p:nvPr/>
        </p:nvGrpSpPr>
        <p:grpSpPr>
          <a:xfrm>
            <a:off x="7612139" y="5660111"/>
            <a:ext cx="969159" cy="369332"/>
            <a:chOff x="7612139" y="5660111"/>
            <a:chExt cx="969159" cy="369332"/>
          </a:xfrm>
        </p:grpSpPr>
        <p:cxnSp>
          <p:nvCxnSpPr>
            <p:cNvPr id="154" name="直線接點 153"/>
            <p:cNvCxnSpPr>
              <a:stCxn id="145" idx="2"/>
              <a:endCxn id="139" idx="6"/>
            </p:cNvCxnSpPr>
            <p:nvPr/>
          </p:nvCxnSpPr>
          <p:spPr>
            <a:xfrm flipH="1">
              <a:off x="7612139" y="5718029"/>
              <a:ext cx="969159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文字方塊 157"/>
            <p:cNvSpPr txBox="1"/>
            <p:nvPr/>
          </p:nvSpPr>
          <p:spPr>
            <a:xfrm>
              <a:off x="7938051" y="566011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8" name="群組 27"/>
          <p:cNvGrpSpPr/>
          <p:nvPr/>
        </p:nvGrpSpPr>
        <p:grpSpPr>
          <a:xfrm>
            <a:off x="8682348" y="4759550"/>
            <a:ext cx="300082" cy="814479"/>
            <a:chOff x="8682348" y="4759550"/>
            <a:chExt cx="300082" cy="814479"/>
          </a:xfrm>
        </p:grpSpPr>
        <p:cxnSp>
          <p:nvCxnSpPr>
            <p:cNvPr id="152" name="直線接點 151"/>
            <p:cNvCxnSpPr>
              <a:stCxn id="143" idx="4"/>
              <a:endCxn id="145" idx="0"/>
            </p:cNvCxnSpPr>
            <p:nvPr/>
          </p:nvCxnSpPr>
          <p:spPr>
            <a:xfrm>
              <a:off x="8725298" y="4759550"/>
              <a:ext cx="0" cy="814479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9" name="文字方塊 158"/>
            <p:cNvSpPr txBox="1"/>
            <p:nvPr/>
          </p:nvSpPr>
          <p:spPr>
            <a:xfrm>
              <a:off x="8682348" y="498734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7569962" y="5273835"/>
            <a:ext cx="422398" cy="435783"/>
            <a:chOff x="7569962" y="5273835"/>
            <a:chExt cx="422398" cy="435783"/>
          </a:xfrm>
        </p:grpSpPr>
        <p:cxnSp>
          <p:nvCxnSpPr>
            <p:cNvPr id="147" name="直線接點 146"/>
            <p:cNvCxnSpPr>
              <a:stCxn id="141" idx="3"/>
              <a:endCxn id="139" idx="7"/>
            </p:cNvCxnSpPr>
            <p:nvPr/>
          </p:nvCxnSpPr>
          <p:spPr>
            <a:xfrm flipH="1">
              <a:off x="7569962" y="5273835"/>
              <a:ext cx="422398" cy="3423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文字方塊 160"/>
            <p:cNvSpPr txBox="1"/>
            <p:nvPr/>
          </p:nvSpPr>
          <p:spPr>
            <a:xfrm>
              <a:off x="7686275" y="534028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9" name="群組 28"/>
          <p:cNvGrpSpPr/>
          <p:nvPr/>
        </p:nvGrpSpPr>
        <p:grpSpPr>
          <a:xfrm>
            <a:off x="8187380" y="5273835"/>
            <a:ext cx="436095" cy="435142"/>
            <a:chOff x="8187380" y="5273835"/>
            <a:chExt cx="436095" cy="435142"/>
          </a:xfrm>
        </p:grpSpPr>
        <p:cxnSp>
          <p:nvCxnSpPr>
            <p:cNvPr id="150" name="直線接點 149"/>
            <p:cNvCxnSpPr>
              <a:stCxn id="141" idx="5"/>
              <a:endCxn id="145" idx="1"/>
            </p:cNvCxnSpPr>
            <p:nvPr/>
          </p:nvCxnSpPr>
          <p:spPr>
            <a:xfrm>
              <a:off x="8196006" y="5273835"/>
              <a:ext cx="427469" cy="342371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字方塊 162"/>
            <p:cNvSpPr txBox="1"/>
            <p:nvPr/>
          </p:nvSpPr>
          <p:spPr>
            <a:xfrm>
              <a:off x="8187380" y="533964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4" name="群組 163"/>
          <p:cNvGrpSpPr/>
          <p:nvPr/>
        </p:nvGrpSpPr>
        <p:grpSpPr>
          <a:xfrm>
            <a:off x="4719346" y="3876026"/>
            <a:ext cx="1060918" cy="464674"/>
            <a:chOff x="3761703" y="3899002"/>
            <a:chExt cx="1060918" cy="464674"/>
          </a:xfrm>
        </p:grpSpPr>
        <p:sp>
          <p:nvSpPr>
            <p:cNvPr id="165" name="橢圓 164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6" name="橢圓 165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7" name="直線接點 166"/>
            <p:cNvCxnSpPr>
              <a:stCxn id="165" idx="6"/>
              <a:endCxn id="166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文字方塊 167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9" name="文字方塊 168"/>
            <p:cNvSpPr txBox="1"/>
            <p:nvPr/>
          </p:nvSpPr>
          <p:spPr>
            <a:xfrm>
              <a:off x="3761703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文字方塊 169"/>
            <p:cNvSpPr txBox="1"/>
            <p:nvPr/>
          </p:nvSpPr>
          <p:spPr>
            <a:xfrm>
              <a:off x="4525995" y="3994344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1" name="群組 170"/>
          <p:cNvGrpSpPr/>
          <p:nvPr/>
        </p:nvGrpSpPr>
        <p:grpSpPr>
          <a:xfrm>
            <a:off x="4727972" y="4322814"/>
            <a:ext cx="1064374" cy="464674"/>
            <a:chOff x="3761703" y="3899002"/>
            <a:chExt cx="1064374" cy="464674"/>
          </a:xfrm>
        </p:grpSpPr>
        <p:sp>
          <p:nvSpPr>
            <p:cNvPr id="172" name="橢圓 171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3" name="橢圓 172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74" name="直線接點 173"/>
            <p:cNvCxnSpPr>
              <a:stCxn id="172" idx="6"/>
              <a:endCxn id="173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5" name="文字方塊 174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6" name="文字方塊 175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7" name="文字方塊 176"/>
            <p:cNvSpPr txBox="1"/>
            <p:nvPr/>
          </p:nvSpPr>
          <p:spPr>
            <a:xfrm>
              <a:off x="4525995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8" name="群組 177"/>
          <p:cNvGrpSpPr/>
          <p:nvPr/>
        </p:nvGrpSpPr>
        <p:grpSpPr>
          <a:xfrm>
            <a:off x="4736598" y="4752268"/>
            <a:ext cx="1060918" cy="464674"/>
            <a:chOff x="3761703" y="3899002"/>
            <a:chExt cx="1060918" cy="464674"/>
          </a:xfrm>
        </p:grpSpPr>
        <p:sp>
          <p:nvSpPr>
            <p:cNvPr id="179" name="橢圓 178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0" name="橢圓 179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1" name="直線接點 180"/>
            <p:cNvCxnSpPr>
              <a:stCxn id="179" idx="6"/>
              <a:endCxn id="180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文字方塊 181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3" name="文字方塊 182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4" name="文字方塊 183"/>
            <p:cNvSpPr txBox="1"/>
            <p:nvPr/>
          </p:nvSpPr>
          <p:spPr>
            <a:xfrm>
              <a:off x="4525995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5" name="群組 184"/>
          <p:cNvGrpSpPr/>
          <p:nvPr/>
        </p:nvGrpSpPr>
        <p:grpSpPr>
          <a:xfrm>
            <a:off x="4745224" y="5199056"/>
            <a:ext cx="1064374" cy="464674"/>
            <a:chOff x="3761703" y="3899002"/>
            <a:chExt cx="1064374" cy="464674"/>
          </a:xfrm>
        </p:grpSpPr>
        <p:sp>
          <p:nvSpPr>
            <p:cNvPr id="186" name="橢圓 185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7" name="橢圓 186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88" name="直線接點 187"/>
            <p:cNvCxnSpPr>
              <a:stCxn id="186" idx="6"/>
              <a:endCxn id="187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文字方塊 188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0" name="文字方塊 189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1" name="文字方塊 190"/>
            <p:cNvSpPr txBox="1"/>
            <p:nvPr/>
          </p:nvSpPr>
          <p:spPr>
            <a:xfrm>
              <a:off x="4525995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2" name="群組 191"/>
          <p:cNvGrpSpPr/>
          <p:nvPr/>
        </p:nvGrpSpPr>
        <p:grpSpPr>
          <a:xfrm>
            <a:off x="4753850" y="5649812"/>
            <a:ext cx="1060918" cy="464674"/>
            <a:chOff x="3761703" y="3899002"/>
            <a:chExt cx="1060918" cy="464674"/>
          </a:xfrm>
        </p:grpSpPr>
        <p:sp>
          <p:nvSpPr>
            <p:cNvPr id="193" name="橢圓 192"/>
            <p:cNvSpPr/>
            <p:nvPr/>
          </p:nvSpPr>
          <p:spPr>
            <a:xfrm>
              <a:off x="3770329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4" name="橢圓 193"/>
            <p:cNvSpPr/>
            <p:nvPr/>
          </p:nvSpPr>
          <p:spPr>
            <a:xfrm>
              <a:off x="4534621" y="4057790"/>
              <a:ext cx="288000" cy="288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95" name="直線接點 194"/>
            <p:cNvCxnSpPr>
              <a:stCxn id="193" idx="6"/>
              <a:endCxn id="194" idx="2"/>
            </p:cNvCxnSpPr>
            <p:nvPr/>
          </p:nvCxnSpPr>
          <p:spPr>
            <a:xfrm>
              <a:off x="4058329" y="4201790"/>
              <a:ext cx="476292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6" name="文字方塊 195"/>
            <p:cNvSpPr txBox="1"/>
            <p:nvPr/>
          </p:nvSpPr>
          <p:spPr>
            <a:xfrm>
              <a:off x="4146434" y="389900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7" name="文字方塊 196"/>
            <p:cNvSpPr txBox="1"/>
            <p:nvPr/>
          </p:nvSpPr>
          <p:spPr>
            <a:xfrm>
              <a:off x="3761703" y="399434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8" name="文字方塊 197"/>
            <p:cNvSpPr txBox="1"/>
            <p:nvPr/>
          </p:nvSpPr>
          <p:spPr>
            <a:xfrm>
              <a:off x="4525995" y="3994344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b="1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9" name="十字形 198"/>
          <p:cNvSpPr>
            <a:spLocks noChangeAspect="1"/>
          </p:cNvSpPr>
          <p:nvPr/>
        </p:nvSpPr>
        <p:spPr>
          <a:xfrm rot="2700000">
            <a:off x="8271944" y="5309325"/>
            <a:ext cx="252000" cy="252000"/>
          </a:xfrm>
          <a:prstGeom prst="plus">
            <a:avLst>
              <a:gd name="adj" fmla="val 36182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37" name="圖片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193" y="633107"/>
            <a:ext cx="2839390" cy="355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199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5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5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7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81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9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22" presetClass="exit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3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21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500"/>
                            </p:stCondLst>
                            <p:childTnLst>
                              <p:par>
                                <p:cTn id="1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9" grpId="0" animBg="1"/>
      <p:bldP spid="19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Kruskal</a:t>
            </a:r>
            <a:r>
              <a:rPr lang="en-US" altLang="zh-TW" dirty="0"/>
              <a:t> </a:t>
            </a:r>
            <a:r>
              <a:rPr lang="zh-TW" altLang="en-US" dirty="0"/>
              <a:t>演算法 </a:t>
            </a:r>
            <a:r>
              <a:rPr lang="en-US" altLang="zh-TW" dirty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</a:t>
            </a:r>
            <a:r>
              <a:rPr lang="en-US" altLang="zh-TW" dirty="0" err="1"/>
              <a:t>Kruskal</a:t>
            </a:r>
            <a:r>
              <a:rPr lang="zh-TW" altLang="en-US" dirty="0"/>
              <a:t>演算法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zh-TW" altLang="en-US" dirty="0">
                <a:solidFill>
                  <a:srgbClr val="C00000"/>
                </a:solidFill>
              </a:rPr>
              <a:t>比較次數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：節點個數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zh-TW" altLang="en-US" dirty="0"/>
              <a:t>；邊個數</a:t>
            </a:r>
            <a:r>
              <a:rPr lang="en-US" altLang="zh-TW" i="1" dirty="0">
                <a:solidFill>
                  <a:srgbClr val="C00000"/>
                </a:solidFill>
              </a:rPr>
              <a:t>m</a:t>
            </a:r>
            <a:endParaRPr lang="zh-TW" altLang="en-US" i="1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8" t="18616" b="5179"/>
          <a:stretch/>
        </p:blipFill>
        <p:spPr bwMode="auto">
          <a:xfrm>
            <a:off x="1295003" y="2697464"/>
            <a:ext cx="6548748" cy="3682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圓角矩形圖說文字 7"/>
          <p:cNvSpPr/>
          <p:nvPr/>
        </p:nvSpPr>
        <p:spPr>
          <a:xfrm>
            <a:off x="6054811" y="1831835"/>
            <a:ext cx="1241854" cy="463162"/>
          </a:xfrm>
          <a:prstGeom prst="wedgeRoundRectCallout">
            <a:avLst>
              <a:gd name="adj1" fmla="val -89564"/>
              <a:gd name="adj2" fmla="val 1347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lg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6324590" y="3683939"/>
            <a:ext cx="2619932" cy="974557"/>
          </a:xfrm>
          <a:prstGeom prst="wedgeRoundRectCallout">
            <a:avLst>
              <a:gd name="adj1" fmla="val -96060"/>
              <a:gd name="adj2" fmla="val -4840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最差情況：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條邊都要被考慮過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lg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m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7658293" y="2405231"/>
            <a:ext cx="1142593" cy="463162"/>
          </a:xfrm>
          <a:prstGeom prst="wedgeRoundRectCallout">
            <a:avLst>
              <a:gd name="adj1" fmla="val -77430"/>
              <a:gd name="adj2" fmla="val 13336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zh-TW" altLang="en-US" sz="2000" b="1" i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4585236" y="5159276"/>
                <a:ext cx="3431837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𝑾</m:t>
                      </m:r>
                      <m:d>
                        <m:d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TW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𝐥𝐠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r>
                        <a:rPr lang="el-GR" altLang="zh-TW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𝚯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𝐥𝐠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236" y="5159276"/>
                <a:ext cx="3431837" cy="314766"/>
              </a:xfrm>
              <a:prstGeom prst="rect">
                <a:avLst/>
              </a:prstGeom>
              <a:blipFill rotWithShape="0">
                <a:blip r:embed="rId3"/>
                <a:stretch>
                  <a:fillRect l="-1066" r="-2309" b="-3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圓角矩形圖說文字 11"/>
              <p:cNvSpPr/>
              <p:nvPr/>
            </p:nvSpPr>
            <p:spPr>
              <a:xfrm>
                <a:off x="6235725" y="5894016"/>
                <a:ext cx="1608026" cy="593892"/>
              </a:xfrm>
              <a:prstGeom prst="wedgeRoundRectCallout">
                <a:avLst>
                  <a:gd name="adj1" fmla="val -53718"/>
                  <a:gd name="adj2" fmla="val -118630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2000" b="1" i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m</a:t>
                </a:r>
                <a:r>
                  <a:rPr lang="zh-TW" altLang="en-US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000" b="1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sz="2000" b="1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𝒏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𝟏</m:t>
                            </m:r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sz="2000" b="1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標楷體" panose="03000509000000000000" pitchFamily="65" charset="-120"/>
                                <a:cs typeface="Times New Roman" panose="020206030504050203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圓角矩形圖說文字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5725" y="5894016"/>
                <a:ext cx="1608026" cy="593892"/>
              </a:xfrm>
              <a:prstGeom prst="wedgeRoundRectCallout">
                <a:avLst>
                  <a:gd name="adj1" fmla="val -53718"/>
                  <a:gd name="adj2" fmla="val -118630"/>
                  <a:gd name="adj3" fmla="val 16667"/>
                </a:avLst>
              </a:prstGeom>
              <a:blipFill rotWithShape="0">
                <a:blip r:embed="rId4"/>
                <a:stretch>
                  <a:fillRect b="-5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803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Prim</a:t>
            </a:r>
            <a:r>
              <a:rPr lang="zh-TW" altLang="en-US" dirty="0"/>
              <a:t>與</a:t>
            </a:r>
            <a:r>
              <a:rPr lang="en-US" altLang="zh-TW" dirty="0" err="1"/>
              <a:t>Kruskal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TW" dirty="0">
                    <a:solidFill>
                      <a:srgbClr val="0000FF"/>
                    </a:solidFill>
                  </a:rPr>
                  <a:t>Prim</a:t>
                </a:r>
                <a:r>
                  <a:rPr lang="zh-TW" altLang="en-US" dirty="0"/>
                  <a:t>演算法：</a:t>
                </a:r>
                <a:endParaRPr lang="en-US" altLang="zh-TW" dirty="0"/>
              </a:p>
              <a:p>
                <a:pPr lvl="1"/>
                <a:r>
                  <a:rPr lang="en-US" altLang="zh-TW" i="1" dirty="0"/>
                  <a:t>T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 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en-US" altLang="zh-TW" dirty="0"/>
              </a:p>
              <a:p>
                <a:r>
                  <a:rPr lang="en-US" altLang="zh-TW" dirty="0" err="1">
                    <a:solidFill>
                      <a:srgbClr val="0000FF"/>
                    </a:solidFill>
                  </a:rPr>
                  <a:t>Kruskal</a:t>
                </a:r>
                <a:r>
                  <a:rPr lang="zh-TW" altLang="en-US" dirty="0"/>
                  <a:t>演算法：</a:t>
                </a:r>
                <a:endParaRPr lang="en-US" altLang="zh-TW" dirty="0"/>
              </a:p>
              <a:p>
                <a:pPr lvl="1"/>
                <a:r>
                  <a:rPr lang="en-US" altLang="zh-TW" i="1" dirty="0"/>
                  <a:t>W</a:t>
                </a:r>
                <a:r>
                  <a:rPr lang="en-US" altLang="zh-TW" dirty="0"/>
                  <a:t>(</a:t>
                </a:r>
                <a:r>
                  <a:rPr lang="en-US" altLang="zh-TW" i="1" dirty="0"/>
                  <a:t>m</a:t>
                </a:r>
                <a:r>
                  <a:rPr lang="en-US" altLang="zh-TW" dirty="0"/>
                  <a:t>, </a:t>
                </a:r>
                <a:r>
                  <a:rPr lang="en-US" altLang="zh-TW" i="1" dirty="0"/>
                  <a:t>n</a:t>
                </a:r>
                <a:r>
                  <a:rPr lang="en-US" altLang="zh-TW" dirty="0"/>
                  <a:t>) </a:t>
                </a:r>
                <a:r>
                  <a:rPr lang="en-US" altLang="zh-TW" dirty="0">
                    <a:sym typeface="Symbol" panose="05050102010706020507" pitchFamily="18" charset="2"/>
                  </a:rPr>
                  <a:t> 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m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lg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pPr lvl="1"/>
                <a:r>
                  <a:rPr lang="en-US" altLang="zh-TW" i="1" dirty="0">
                    <a:sym typeface="Symbol" panose="05050102010706020507" pitchFamily="18" charset="2"/>
                  </a:rPr>
                  <a:t>W</a:t>
                </a:r>
                <a:r>
                  <a:rPr lang="en-US" altLang="zh-TW" dirty="0">
                    <a:sym typeface="Symbol" panose="05050102010706020507" pitchFamily="18" charset="2"/>
                  </a:rPr>
                  <a:t>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m</a:t>
                </a:r>
                <a:r>
                  <a:rPr lang="en-US" altLang="zh-TW" dirty="0">
                    <a:sym typeface="Symbol" panose="05050102010706020507" pitchFamily="18" charset="2"/>
                  </a:rPr>
                  <a:t>,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  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dirty="0">
                    <a:sym typeface="Symbol" panose="05050102010706020507" pitchFamily="18" charset="2"/>
                  </a:rPr>
                  <a:t>lg 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</a:p>
              <a:p>
                <a:r>
                  <a:rPr lang="zh-TW" altLang="en-US" dirty="0"/>
                  <a:t>連通圖點數與邊數關係</a:t>
                </a:r>
                <a:endParaRPr lang="en-US" altLang="zh-TW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𝒎</m:t>
                    </m:r>
                    <m:r>
                      <a:rPr lang="en-US" altLang="zh-TW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box>
                      <m:boxPr>
                        <m:ctrlPr>
                          <a:rPr lang="en-US" altLang="zh-TW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endParaRPr lang="en-US" altLang="zh-TW" dirty="0"/>
              </a:p>
              <a:p>
                <a:endParaRPr lang="en-US" altLang="zh-TW" dirty="0"/>
              </a:p>
              <a:p>
                <a:r>
                  <a:rPr lang="zh-TW" altLang="en-US" dirty="0"/>
                  <a:t>邊數接近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en-US" altLang="zh-TW" dirty="0">
                    <a:solidFill>
                      <a:srgbClr val="C00000"/>
                    </a:solidFill>
                  </a:rPr>
                  <a:t> – 1</a:t>
                </a:r>
                <a:r>
                  <a:rPr lang="zh-TW" altLang="en-US" dirty="0"/>
                  <a:t>時</a:t>
                </a:r>
                <a:endParaRPr lang="en-US" altLang="zh-TW" dirty="0"/>
              </a:p>
              <a:p>
                <a:pPr lvl="1"/>
                <a:r>
                  <a:rPr lang="en-US" altLang="zh-TW" dirty="0" err="1"/>
                  <a:t>Kruskal</a:t>
                </a:r>
                <a:r>
                  <a:rPr lang="zh-TW" altLang="en-US" dirty="0"/>
                  <a:t>演算法時間複雜度：</a:t>
                </a:r>
                <a:r>
                  <a:rPr lang="en-US" altLang="zh-TW" dirty="0">
                    <a:sym typeface="Symbol" panose="05050102010706020507" pitchFamily="18" charset="2"/>
                  </a:rPr>
                  <a:t>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lg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en-US" altLang="zh-TW" dirty="0"/>
              </a:p>
              <a:p>
                <a:r>
                  <a:rPr lang="zh-TW" altLang="en-US" dirty="0"/>
                  <a:t>邊數接近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r>
                  <a:rPr lang="zh-TW" altLang="en-US" dirty="0"/>
                  <a:t>時</a:t>
                </a:r>
                <a:endParaRPr lang="en-US" altLang="zh-TW" dirty="0"/>
              </a:p>
              <a:p>
                <a:pPr lvl="1"/>
                <a:r>
                  <a:rPr lang="en-US" altLang="zh-TW" dirty="0" err="1"/>
                  <a:t>Kruskal</a:t>
                </a:r>
                <a:r>
                  <a:rPr lang="zh-TW" altLang="en-US" dirty="0"/>
                  <a:t>演算法時間複雜度：</a:t>
                </a:r>
                <a:r>
                  <a:rPr lang="en-US" altLang="zh-TW" dirty="0">
                    <a:sym typeface="Symbol" panose="05050102010706020507" pitchFamily="18" charset="2"/>
                  </a:rPr>
                  <a:t>(</a:t>
                </a:r>
                <a:r>
                  <a:rPr lang="en-US" altLang="zh-TW" i="1" dirty="0">
                    <a:sym typeface="Symbol" panose="05050102010706020507" pitchFamily="18" charset="2"/>
                  </a:rPr>
                  <a:t>n</a:t>
                </a:r>
                <a:r>
                  <a:rPr lang="en-US" altLang="zh-TW" baseline="30000" dirty="0">
                    <a:sym typeface="Symbol" panose="05050102010706020507" pitchFamily="18" charset="2"/>
                  </a:rPr>
                  <a:t>2</a:t>
                </a:r>
                <a:r>
                  <a:rPr lang="en-US" altLang="zh-TW" i="1" dirty="0">
                    <a:sym typeface="Symbol" panose="05050102010706020507" pitchFamily="18" charset="2"/>
                  </a:rPr>
                  <a:t> </a:t>
                </a:r>
                <a:r>
                  <a:rPr lang="en-US" altLang="zh-TW" dirty="0" err="1">
                    <a:sym typeface="Symbol" panose="05050102010706020507" pitchFamily="18" charset="2"/>
                  </a:rPr>
                  <a:t>lg</a:t>
                </a:r>
                <a:r>
                  <a:rPr lang="en-US" altLang="zh-TW" i="1" dirty="0" err="1">
                    <a:sym typeface="Symbol" panose="05050102010706020507" pitchFamily="18" charset="2"/>
                  </a:rPr>
                  <a:t>n</a:t>
                </a:r>
                <a:r>
                  <a:rPr lang="en-US" altLang="zh-TW" dirty="0">
                    <a:sym typeface="Symbol" panose="05050102010706020507" pitchFamily="18" charset="2"/>
                  </a:rPr>
                  <a:t>)</a:t>
                </a:r>
                <a:endParaRPr lang="en-US" altLang="zh-TW" dirty="0"/>
              </a:p>
              <a:p>
                <a:pPr lvl="1"/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414" t="-57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4380469" y="2972061"/>
                <a:ext cx="4417541" cy="750142"/>
              </a:xfrm>
              <a:prstGeom prst="rect">
                <a:avLst/>
              </a:prstGeom>
              <a:ln>
                <a:solidFill>
                  <a:srgbClr val="0000FF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邊數接近</a:t>
                </a:r>
                <a:r>
                  <a:rPr lang="en-US" altLang="zh-TW" sz="2000" b="1" i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n</a:t>
                </a:r>
                <a:r>
                  <a:rPr lang="en-US" altLang="zh-TW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– 1</a:t>
                </a:r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時</a:t>
                </a:r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選擇</a:t>
                </a:r>
                <a:r>
                  <a:rPr lang="en-US" altLang="zh-TW" sz="2000" b="1" dirty="0" err="1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Kruskal</a:t>
                </a:r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演算法</a:t>
                </a:r>
                <a:endPara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邊數接近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US" altLang="zh-TW" sz="2000" b="1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f>
                          <m:f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den>
                        </m:f>
                      </m:e>
                    </m:box>
                  </m:oMath>
                </a14:m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時</a:t>
                </a:r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選擇</a:t>
                </a:r>
                <a:r>
                  <a:rPr lang="en-US" altLang="zh-TW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Prim</a:t>
                </a:r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  <a:sym typeface="Symbol" panose="05050102010706020507" pitchFamily="18" charset="2"/>
                  </a:rPr>
                  <a:t>演算法</a:t>
                </a:r>
                <a:endPara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0469" y="2972061"/>
                <a:ext cx="4417541" cy="750142"/>
              </a:xfrm>
              <a:prstGeom prst="rect">
                <a:avLst/>
              </a:prstGeom>
              <a:blipFill rotWithShape="0">
                <a:blip r:embed="rId3"/>
                <a:stretch>
                  <a:fillRect l="-1377" t="-4800" r="-964" b="-8800"/>
                </a:stretch>
              </a:blipFill>
              <a:ln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86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</a:t>
            </a:r>
            <a:r>
              <a:rPr lang="zh-TW" altLang="en-US" dirty="0"/>
              <a:t>演算法 </a:t>
            </a:r>
            <a:r>
              <a:rPr lang="en-US" altLang="zh-TW" dirty="0"/>
              <a:t>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問題</a:t>
            </a:r>
            <a:r>
              <a:rPr lang="zh-TW" altLang="en-US" dirty="0"/>
              <a:t>：在一</a:t>
            </a:r>
            <a:r>
              <a:rPr lang="zh-TW" altLang="en-US" dirty="0">
                <a:solidFill>
                  <a:srgbClr val="C00000"/>
                </a:solidFill>
              </a:rPr>
              <a:t>有向</a:t>
            </a:r>
            <a:r>
              <a:rPr lang="zh-TW" altLang="en-US" dirty="0"/>
              <a:t>權重圖中，求出以</a:t>
            </a:r>
            <a:r>
              <a:rPr lang="en-US" altLang="zh-TW" i="1" dirty="0"/>
              <a:t>v</a:t>
            </a:r>
            <a:r>
              <a:rPr lang="en-US" altLang="zh-TW" baseline="-25000" dirty="0"/>
              <a:t>1</a:t>
            </a:r>
            <a:r>
              <a:rPr lang="zh-TW" altLang="en-US" dirty="0"/>
              <a:t>為起點至其他點的最短路徑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</a:t>
            </a:r>
            <a:r>
              <a:rPr lang="zh-TW" altLang="en-US" dirty="0"/>
              <a:t>：</a:t>
            </a:r>
            <a:r>
              <a:rPr lang="en-US" altLang="zh-TW" i="1" dirty="0"/>
              <a:t>n</a:t>
            </a:r>
            <a:r>
              <a:rPr lang="zh-TW" altLang="en-US" dirty="0"/>
              <a:t>個點的有向權重連通圖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輸出</a:t>
            </a:r>
            <a:r>
              <a:rPr lang="zh-TW" altLang="en-US" dirty="0"/>
              <a:t>：</a:t>
            </a:r>
            <a:r>
              <a:rPr lang="en-US" altLang="zh-TW" i="1" dirty="0"/>
              <a:t>v</a:t>
            </a:r>
            <a:r>
              <a:rPr lang="en-US" altLang="zh-TW" baseline="-25000" dirty="0"/>
              <a:t>1</a:t>
            </a:r>
            <a:r>
              <a:rPr lang="zh-TW" altLang="en-US" dirty="0"/>
              <a:t>至其他點的最短路徑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0" name="橢圓 9"/>
          <p:cNvSpPr/>
          <p:nvPr/>
        </p:nvSpPr>
        <p:spPr>
          <a:xfrm>
            <a:off x="3281925" y="373174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812657" y="485158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4441236" y="3009785"/>
            <a:ext cx="288000" cy="288000"/>
          </a:xfrm>
          <a:prstGeom prst="ellipse">
            <a:avLst/>
          </a:prstGeom>
          <a:solidFill>
            <a:srgbClr val="FFFFCC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C00000"/>
              </a:solidFill>
            </a:endParaRPr>
          </a:p>
        </p:txBody>
      </p:sp>
      <p:sp>
        <p:nvSpPr>
          <p:cNvPr id="16" name="橢圓 15"/>
          <p:cNvSpPr/>
          <p:nvPr/>
        </p:nvSpPr>
        <p:spPr>
          <a:xfrm>
            <a:off x="5639600" y="3731747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5069816" y="4851580"/>
            <a:ext cx="288000" cy="2880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文字方塊 27"/>
          <p:cNvSpPr txBox="1"/>
          <p:nvPr/>
        </p:nvSpPr>
        <p:spPr>
          <a:xfrm>
            <a:off x="3413969" y="428014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855502" y="31545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4452839" y="49544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4752921" y="36962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4052439" y="38335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5443328" y="431750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010169" y="315378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459939" y="425099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線單箭頭接點 46"/>
          <p:cNvCxnSpPr>
            <a:stCxn id="18" idx="2"/>
            <a:endCxn id="12" idx="6"/>
          </p:cNvCxnSpPr>
          <p:nvPr/>
        </p:nvCxnSpPr>
        <p:spPr>
          <a:xfrm flipH="1">
            <a:off x="4100657" y="4995580"/>
            <a:ext cx="9691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單箭頭接點 47"/>
          <p:cNvCxnSpPr>
            <a:stCxn id="18" idx="0"/>
            <a:endCxn id="16" idx="4"/>
          </p:cNvCxnSpPr>
          <p:nvPr/>
        </p:nvCxnSpPr>
        <p:spPr>
          <a:xfrm flipV="1">
            <a:off x="5213816" y="4019747"/>
            <a:ext cx="569784" cy="8318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/>
          <p:cNvCxnSpPr>
            <a:stCxn id="12" idx="7"/>
            <a:endCxn id="16" idx="3"/>
          </p:cNvCxnSpPr>
          <p:nvPr/>
        </p:nvCxnSpPr>
        <p:spPr>
          <a:xfrm flipV="1">
            <a:off x="4058480" y="3977570"/>
            <a:ext cx="1623297" cy="9161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單箭頭接點 53"/>
          <p:cNvCxnSpPr>
            <a:stCxn id="14" idx="4"/>
            <a:endCxn id="18" idx="1"/>
          </p:cNvCxnSpPr>
          <p:nvPr/>
        </p:nvCxnSpPr>
        <p:spPr>
          <a:xfrm>
            <a:off x="4585236" y="3297785"/>
            <a:ext cx="526757" cy="15959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14" idx="4"/>
            <a:endCxn id="12" idx="7"/>
          </p:cNvCxnSpPr>
          <p:nvPr/>
        </p:nvCxnSpPr>
        <p:spPr>
          <a:xfrm flipH="1">
            <a:off x="4058480" y="3297785"/>
            <a:ext cx="526756" cy="159597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單箭頭接點 59"/>
          <p:cNvCxnSpPr>
            <a:stCxn id="14" idx="5"/>
            <a:endCxn id="16" idx="1"/>
          </p:cNvCxnSpPr>
          <p:nvPr/>
        </p:nvCxnSpPr>
        <p:spPr>
          <a:xfrm>
            <a:off x="4687059" y="3255608"/>
            <a:ext cx="994718" cy="518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單箭頭接點 62"/>
          <p:cNvCxnSpPr>
            <a:stCxn id="14" idx="3"/>
            <a:endCxn id="10" idx="7"/>
          </p:cNvCxnSpPr>
          <p:nvPr/>
        </p:nvCxnSpPr>
        <p:spPr>
          <a:xfrm flipH="1">
            <a:off x="3527748" y="3255608"/>
            <a:ext cx="955665" cy="5183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單箭頭接點 65"/>
          <p:cNvCxnSpPr>
            <a:stCxn id="10" idx="4"/>
            <a:endCxn id="12" idx="0"/>
          </p:cNvCxnSpPr>
          <p:nvPr/>
        </p:nvCxnSpPr>
        <p:spPr>
          <a:xfrm>
            <a:off x="3425925" y="4019747"/>
            <a:ext cx="530732" cy="8318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字方塊 73"/>
          <p:cNvSpPr txBox="1"/>
          <p:nvPr/>
        </p:nvSpPr>
        <p:spPr>
          <a:xfrm>
            <a:off x="3244013" y="365041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文字方塊 74"/>
          <p:cNvSpPr txBox="1"/>
          <p:nvPr/>
        </p:nvSpPr>
        <p:spPr>
          <a:xfrm>
            <a:off x="5601499" y="3650415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字方塊 75"/>
          <p:cNvSpPr txBox="1"/>
          <p:nvPr/>
        </p:nvSpPr>
        <p:spPr>
          <a:xfrm>
            <a:off x="5028512" y="477793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3769417" y="477024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4403135" y="2926943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TW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712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CC"/>
                                      </p:to>
                                    </p:animClr>
                                    <p:set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CC"/>
                                      </p:to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CC"/>
                                      </p:to>
                                    </p:animClr>
                                    <p:set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3" presetClass="emph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71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2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C00000"/>
                                      </p:to>
                                    </p:animClr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CC"/>
                                      </p:to>
                                    </p:animClr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2" grpId="0"/>
      <p:bldP spid="36" grpId="0"/>
      <p:bldP spid="74" grpId="0"/>
      <p:bldP spid="75" grpId="0"/>
      <p:bldP spid="76" grpId="0"/>
      <p:bldP spid="7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Dijkstra</a:t>
            </a:r>
            <a:r>
              <a:rPr lang="zh-TW" altLang="en-US" dirty="0"/>
              <a:t>演算法 </a:t>
            </a:r>
            <a:r>
              <a:rPr lang="en-US" altLang="zh-TW" dirty="0"/>
              <a:t>(2/2)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所有情況的時間複雜度</a:t>
            </a:r>
            <a:r>
              <a:rPr lang="en-US" altLang="zh-TW" dirty="0"/>
              <a:t>(Dijkstra</a:t>
            </a:r>
            <a:r>
              <a:rPr lang="zh-TW" altLang="en-US" dirty="0"/>
              <a:t>演算法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</a:t>
            </a:r>
            <a:r>
              <a:rPr lang="en-US" altLang="zh-TW" dirty="0">
                <a:solidFill>
                  <a:srgbClr val="C00000"/>
                </a:solidFill>
              </a:rPr>
              <a:t>repeat</a:t>
            </a:r>
            <a:r>
              <a:rPr lang="zh-TW" altLang="en-US" dirty="0"/>
              <a:t>迴圈中有兩個</a:t>
            </a:r>
            <a:r>
              <a:rPr lang="en-US" altLang="zh-TW" dirty="0">
                <a:solidFill>
                  <a:srgbClr val="C00000"/>
                </a:solidFill>
              </a:rPr>
              <a:t>for</a:t>
            </a:r>
            <a:r>
              <a:rPr lang="zh-TW" altLang="en-US" dirty="0"/>
              <a:t>迴圈，每個迴圈各執行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r>
              <a:rPr lang="en-US" altLang="zh-TW" dirty="0">
                <a:solidFill>
                  <a:srgbClr val="C00000"/>
                </a:solidFill>
              </a:rPr>
              <a:t> – 1</a:t>
            </a:r>
            <a:r>
              <a:rPr lang="zh-TW" altLang="en-US" dirty="0"/>
              <a:t>次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：節點個數</a:t>
            </a:r>
            <a:r>
              <a:rPr lang="en-US" altLang="zh-TW" i="1" dirty="0">
                <a:solidFill>
                  <a:srgbClr val="C00000"/>
                </a:solidFill>
              </a:rPr>
              <a:t>n</a:t>
            </a:r>
            <a:endParaRPr lang="zh-TW" altLang="en-US" i="1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198046" y="2683837"/>
            <a:ext cx="8425055" cy="1567672"/>
            <a:chOff x="198046" y="2683837"/>
            <a:chExt cx="8425055" cy="1567672"/>
          </a:xfrm>
        </p:grpSpPr>
        <p:pic>
          <p:nvPicPr>
            <p:cNvPr id="10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8321"/>
            <a:stretch/>
          </p:blipFill>
          <p:spPr bwMode="auto">
            <a:xfrm>
              <a:off x="547371" y="2683837"/>
              <a:ext cx="8075730" cy="11562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8727"/>
            <a:stretch/>
          </p:blipFill>
          <p:spPr bwMode="auto">
            <a:xfrm>
              <a:off x="198046" y="3840056"/>
              <a:ext cx="8075730" cy="411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4" name="圓角矩形圖說文字 13"/>
          <p:cNvSpPr/>
          <p:nvPr/>
        </p:nvSpPr>
        <p:spPr>
          <a:xfrm>
            <a:off x="4127157" y="2730166"/>
            <a:ext cx="1241854" cy="463162"/>
          </a:xfrm>
          <a:prstGeom prst="wedgeRoundRectCallout">
            <a:avLst>
              <a:gd name="adj1" fmla="val -89564"/>
              <a:gd name="adj2" fmla="val 1347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5" name="圓角矩形圖說文字 14"/>
          <p:cNvSpPr/>
          <p:nvPr/>
        </p:nvSpPr>
        <p:spPr>
          <a:xfrm>
            <a:off x="4377381" y="4145285"/>
            <a:ext cx="1241854" cy="463162"/>
          </a:xfrm>
          <a:prstGeom prst="wedgeRoundRectCallout">
            <a:avLst>
              <a:gd name="adj1" fmla="val -99514"/>
              <a:gd name="adj2" fmla="val -6672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2705362" y="5244607"/>
                <a:ext cx="3759747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𝑻</m:t>
                      </m:r>
                      <m:d>
                        <m:d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)(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el-GR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𝜣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5362" y="5244607"/>
                <a:ext cx="3759747" cy="314766"/>
              </a:xfrm>
              <a:prstGeom prst="rect">
                <a:avLst/>
              </a:prstGeom>
              <a:blipFill rotWithShape="0">
                <a:blip r:embed="rId3"/>
                <a:stretch>
                  <a:fillRect l="-1135" r="-2107" b="-346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0" name="群組 19"/>
          <p:cNvGrpSpPr/>
          <p:nvPr/>
        </p:nvGrpSpPr>
        <p:grpSpPr>
          <a:xfrm>
            <a:off x="3595048" y="5579995"/>
            <a:ext cx="2295006" cy="820405"/>
            <a:chOff x="3595048" y="5579995"/>
            <a:chExt cx="2295006" cy="820405"/>
          </a:xfrm>
        </p:grpSpPr>
        <p:cxnSp>
          <p:nvCxnSpPr>
            <p:cNvPr id="18" name="直線接點 17"/>
            <p:cNvCxnSpPr/>
            <p:nvPr/>
          </p:nvCxnSpPr>
          <p:spPr>
            <a:xfrm>
              <a:off x="3595048" y="5579995"/>
              <a:ext cx="1008000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圓角矩形圖說文字 18"/>
            <p:cNvSpPr/>
            <p:nvPr/>
          </p:nvSpPr>
          <p:spPr>
            <a:xfrm>
              <a:off x="4377381" y="5937238"/>
              <a:ext cx="1512673" cy="463162"/>
            </a:xfrm>
            <a:prstGeom prst="wedgeRoundRectCallout">
              <a:avLst>
                <a:gd name="adj1" fmla="val -69698"/>
                <a:gd name="adj2" fmla="val -112078"/>
                <a:gd name="adj3" fmla="val 16667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for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迴圈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9241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排程 </a:t>
            </a:r>
            <a:r>
              <a:rPr lang="en-US" altLang="zh-TW" dirty="0"/>
              <a:t>(1/7)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髮型設計師工作排程</a:t>
            </a:r>
            <a:endParaRPr lang="en-US" altLang="zh-TW" dirty="0"/>
          </a:p>
          <a:p>
            <a:pPr lvl="1"/>
            <a:r>
              <a:rPr lang="zh-TW" altLang="en-US" dirty="0"/>
              <a:t>顧客</a:t>
            </a:r>
            <a:r>
              <a:rPr lang="en-US" altLang="zh-TW" dirty="0"/>
              <a:t>1</a:t>
            </a:r>
            <a:r>
              <a:rPr lang="zh-TW" altLang="en-US" dirty="0"/>
              <a:t>：剪髮</a:t>
            </a:r>
            <a:endParaRPr lang="en-US" altLang="zh-TW" dirty="0"/>
          </a:p>
          <a:p>
            <a:pPr lvl="1"/>
            <a:r>
              <a:rPr lang="zh-TW" altLang="en-US" dirty="0"/>
              <a:t>顧客</a:t>
            </a:r>
            <a:r>
              <a:rPr lang="en-US" altLang="zh-TW" dirty="0"/>
              <a:t>2</a:t>
            </a:r>
            <a:r>
              <a:rPr lang="zh-TW" altLang="en-US" dirty="0"/>
              <a:t>：洗髮</a:t>
            </a:r>
            <a:endParaRPr lang="en-US" altLang="zh-TW" dirty="0"/>
          </a:p>
          <a:p>
            <a:pPr lvl="1"/>
            <a:r>
              <a:rPr lang="zh-TW" altLang="en-US" dirty="0"/>
              <a:t>顧客</a:t>
            </a:r>
            <a:r>
              <a:rPr lang="en-US" altLang="zh-TW" dirty="0"/>
              <a:t>3</a:t>
            </a:r>
            <a:r>
              <a:rPr lang="zh-TW" altLang="en-US" dirty="0"/>
              <a:t>：燙髮</a:t>
            </a:r>
            <a:endParaRPr lang="en-US" altLang="zh-TW" dirty="0"/>
          </a:p>
          <a:p>
            <a:pPr lvl="1"/>
            <a:r>
              <a:rPr lang="zh-TW" altLang="en-US" dirty="0"/>
              <a:t>顧客</a:t>
            </a:r>
            <a:r>
              <a:rPr lang="en-US" altLang="zh-TW" dirty="0"/>
              <a:t>4</a:t>
            </a:r>
            <a:r>
              <a:rPr lang="zh-TW" altLang="en-US" dirty="0"/>
              <a:t>：染髮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3274541" y="1722608"/>
            <a:ext cx="593124" cy="203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3274541" y="2106794"/>
            <a:ext cx="1044000" cy="2038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3274541" y="2492842"/>
            <a:ext cx="1764000" cy="2038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3274541" y="2854375"/>
            <a:ext cx="864000" cy="203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827584" y="4022810"/>
            <a:ext cx="825868" cy="2484000"/>
            <a:chOff x="1655215" y="3869510"/>
            <a:chExt cx="825868" cy="2484000"/>
          </a:xfrm>
        </p:grpSpPr>
        <p:cxnSp>
          <p:nvCxnSpPr>
            <p:cNvPr id="13" name="直線接點 12"/>
            <p:cNvCxnSpPr/>
            <p:nvPr/>
          </p:nvCxnSpPr>
          <p:spPr>
            <a:xfrm>
              <a:off x="2481083" y="3869510"/>
              <a:ext cx="0" cy="24840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矩形 13"/>
            <p:cNvSpPr/>
            <p:nvPr/>
          </p:nvSpPr>
          <p:spPr>
            <a:xfrm>
              <a:off x="1655216" y="4287294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顧客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1655216" y="4687404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顧客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655216" y="5087514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顧客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1655215" y="5487624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顧客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4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矩形 17"/>
          <p:cNvSpPr/>
          <p:nvPr/>
        </p:nvSpPr>
        <p:spPr>
          <a:xfrm>
            <a:off x="3274541" y="3215908"/>
            <a:ext cx="864000" cy="2038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/>
          <p:cNvSpPr/>
          <p:nvPr/>
        </p:nvSpPr>
        <p:spPr>
          <a:xfrm>
            <a:off x="1653451" y="4544883"/>
            <a:ext cx="593124" cy="2038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1653451" y="4938815"/>
            <a:ext cx="593124" cy="2038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2246575" y="4938815"/>
            <a:ext cx="1044000" cy="2038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/>
          <p:cNvSpPr/>
          <p:nvPr/>
        </p:nvSpPr>
        <p:spPr>
          <a:xfrm>
            <a:off x="1653451" y="5355559"/>
            <a:ext cx="593124" cy="2038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 22"/>
          <p:cNvSpPr/>
          <p:nvPr/>
        </p:nvSpPr>
        <p:spPr>
          <a:xfrm>
            <a:off x="2246575" y="5355559"/>
            <a:ext cx="1044000" cy="2038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矩形 23"/>
          <p:cNvSpPr/>
          <p:nvPr/>
        </p:nvSpPr>
        <p:spPr>
          <a:xfrm>
            <a:off x="3290575" y="5355558"/>
            <a:ext cx="1764000" cy="203887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矩形 24"/>
          <p:cNvSpPr/>
          <p:nvPr/>
        </p:nvSpPr>
        <p:spPr>
          <a:xfrm>
            <a:off x="1653451" y="5745409"/>
            <a:ext cx="593124" cy="2038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矩形 25"/>
          <p:cNvSpPr/>
          <p:nvPr/>
        </p:nvSpPr>
        <p:spPr>
          <a:xfrm>
            <a:off x="2246575" y="5745409"/>
            <a:ext cx="1044000" cy="2038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/>
          <p:cNvSpPr/>
          <p:nvPr/>
        </p:nvSpPr>
        <p:spPr>
          <a:xfrm>
            <a:off x="3290575" y="5745408"/>
            <a:ext cx="1764000" cy="203887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矩形 27"/>
          <p:cNvSpPr/>
          <p:nvPr/>
        </p:nvSpPr>
        <p:spPr>
          <a:xfrm>
            <a:off x="5054575" y="5745407"/>
            <a:ext cx="864000" cy="203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圓角矩形圖說文字 28"/>
          <p:cNvSpPr/>
          <p:nvPr/>
        </p:nvSpPr>
        <p:spPr>
          <a:xfrm>
            <a:off x="5974765" y="4113394"/>
            <a:ext cx="2604279" cy="761977"/>
          </a:xfrm>
          <a:prstGeom prst="wedgeRoundRectCallout">
            <a:avLst>
              <a:gd name="adj1" fmla="val -70822"/>
              <a:gd name="adj2" fmla="val 15567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系統耗費時間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等待時間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+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服務時間</a:t>
            </a:r>
          </a:p>
        </p:txBody>
      </p:sp>
      <p:sp>
        <p:nvSpPr>
          <p:cNvPr id="30" name="圓角矩形圖說文字 29"/>
          <p:cNvSpPr/>
          <p:nvPr/>
        </p:nvSpPr>
        <p:spPr>
          <a:xfrm>
            <a:off x="5275192" y="2553548"/>
            <a:ext cx="1527204" cy="515557"/>
          </a:xfrm>
          <a:prstGeom prst="wedgeRoundRectCallout">
            <a:avLst>
              <a:gd name="adj1" fmla="val -116941"/>
              <a:gd name="adj2" fmla="val 9814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等待時間</a:t>
            </a:r>
          </a:p>
        </p:txBody>
      </p:sp>
    </p:spTree>
    <p:extLst>
      <p:ext uri="{BB962C8B-B14F-4D97-AF65-F5344CB8AC3E}">
        <p14:creationId xmlns:p14="http://schemas.microsoft.com/office/powerpoint/2010/main" val="346246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排程 </a:t>
            </a:r>
            <a:r>
              <a:rPr lang="en-US" altLang="zh-TW" dirty="0"/>
              <a:t>(2/7)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最小化</a:t>
            </a:r>
            <a:r>
              <a:rPr lang="zh-TW" altLang="en-US" dirty="0"/>
              <a:t>總系統耗費時間</a:t>
            </a:r>
            <a:endParaRPr lang="en-US" altLang="zh-TW" dirty="0"/>
          </a:p>
          <a:p>
            <a:r>
              <a:rPr lang="en-US" altLang="zh-TW" i="1" dirty="0"/>
              <a:t>t</a:t>
            </a:r>
            <a:r>
              <a:rPr lang="en-US" altLang="zh-TW" baseline="-25000" dirty="0"/>
              <a:t>1</a:t>
            </a:r>
            <a:r>
              <a:rPr lang="en-US" altLang="zh-TW" dirty="0"/>
              <a:t> = 5, </a:t>
            </a:r>
            <a:r>
              <a:rPr lang="en-US" altLang="zh-TW" i="1" dirty="0"/>
              <a:t>t</a:t>
            </a:r>
            <a:r>
              <a:rPr lang="en-US" altLang="zh-TW" baseline="-25000" dirty="0"/>
              <a:t>2</a:t>
            </a:r>
            <a:r>
              <a:rPr lang="en-US" altLang="zh-TW" dirty="0"/>
              <a:t> = 10, </a:t>
            </a:r>
            <a:r>
              <a:rPr lang="en-US" altLang="zh-TW" i="1" dirty="0"/>
              <a:t>t</a:t>
            </a:r>
            <a:r>
              <a:rPr lang="en-US" altLang="zh-TW" baseline="-25000" dirty="0"/>
              <a:t>3</a:t>
            </a:r>
            <a:r>
              <a:rPr lang="en-US" altLang="zh-TW" dirty="0"/>
              <a:t> = 4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315995" y="2446638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工作排程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1423396" y="2884291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2743509" y="2884291"/>
            <a:ext cx="3600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6765634" y="2884291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39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423396" y="3392531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2743509" y="3392531"/>
            <a:ext cx="3472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+ 4) + (((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+ 4)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765634" y="3392531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1423396" y="3900771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2743509" y="3900771"/>
            <a:ext cx="3857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((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(((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765634" y="3900771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1423396" y="4409011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3,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2743509" y="4409011"/>
            <a:ext cx="3857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((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+ 4) + (((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+ 4) 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765634" y="4409011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43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1423396" y="4920440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2743509" y="4920440"/>
            <a:ext cx="34724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+ ((4) 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(((4) 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765634" y="4920440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423396" y="5428680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743509" y="5428680"/>
            <a:ext cx="36006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 + ((4)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(((4) +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6765634" y="5428680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37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圓角矩形 25"/>
          <p:cNvSpPr/>
          <p:nvPr/>
        </p:nvSpPr>
        <p:spPr>
          <a:xfrm>
            <a:off x="6987030" y="4944411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5389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排程 </a:t>
            </a:r>
            <a:r>
              <a:rPr lang="en-US" altLang="zh-TW" dirty="0"/>
              <a:t>(3/7)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定理</a:t>
            </a:r>
            <a:r>
              <a:rPr lang="en-US" altLang="zh-TW" dirty="0">
                <a:solidFill>
                  <a:srgbClr val="0000FF"/>
                </a:solidFill>
              </a:rPr>
              <a:t>4.3</a:t>
            </a:r>
          </a:p>
          <a:p>
            <a:pPr lvl="1"/>
            <a:r>
              <a:rPr lang="zh-TW" altLang="en-US" dirty="0"/>
              <a:t>最小化總系統耗費時間的排程方式，其排程順序必定為根據每項工作之服務時間大小，以</a:t>
            </a:r>
            <a:r>
              <a:rPr lang="zh-TW" altLang="en-US" dirty="0">
                <a:solidFill>
                  <a:srgbClr val="C00000"/>
                </a:solidFill>
              </a:rPr>
              <a:t>非遞減</a:t>
            </a:r>
            <a:r>
              <a:rPr lang="zh-TW" altLang="en-US" dirty="0"/>
              <a:t>的方式排定。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2730256" y="2693157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30256" y="3093267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730256" y="3493377"/>
            <a:ext cx="82586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556122" y="2797446"/>
            <a:ext cx="593124" cy="203887"/>
          </a:xfrm>
          <a:prstGeom prst="rect">
            <a:avLst/>
          </a:prstGeom>
          <a:solidFill>
            <a:srgbClr val="0F6F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/>
          <p:cNvSpPr/>
          <p:nvPr/>
        </p:nvSpPr>
        <p:spPr>
          <a:xfrm>
            <a:off x="3556122" y="3191378"/>
            <a:ext cx="593124" cy="203887"/>
          </a:xfrm>
          <a:prstGeom prst="rect">
            <a:avLst/>
          </a:prstGeom>
          <a:solidFill>
            <a:srgbClr val="0F6F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/>
          <p:cNvSpPr/>
          <p:nvPr/>
        </p:nvSpPr>
        <p:spPr>
          <a:xfrm>
            <a:off x="5032122" y="3608121"/>
            <a:ext cx="1044000" cy="20388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/>
          <p:cNvSpPr/>
          <p:nvPr/>
        </p:nvSpPr>
        <p:spPr>
          <a:xfrm>
            <a:off x="3556122" y="3608122"/>
            <a:ext cx="593124" cy="203887"/>
          </a:xfrm>
          <a:prstGeom prst="rect">
            <a:avLst/>
          </a:prstGeom>
          <a:solidFill>
            <a:srgbClr val="0F6FC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4149246" y="3195863"/>
            <a:ext cx="864000" cy="203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4161945" y="3608121"/>
            <a:ext cx="864000" cy="203887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0" name="群組 9"/>
          <p:cNvGrpSpPr/>
          <p:nvPr/>
        </p:nvGrpSpPr>
        <p:grpSpPr>
          <a:xfrm>
            <a:off x="1348821" y="4293597"/>
            <a:ext cx="2282991" cy="800220"/>
            <a:chOff x="1348821" y="4244286"/>
            <a:chExt cx="2282991" cy="800220"/>
          </a:xfrm>
        </p:grpSpPr>
        <p:sp>
          <p:nvSpPr>
            <p:cNvPr id="24" name="矩形 23"/>
            <p:cNvSpPr/>
            <p:nvPr/>
          </p:nvSpPr>
          <p:spPr>
            <a:xfrm>
              <a:off x="1348821" y="4244286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工作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348821" y="4644396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工作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3038688" y="4332696"/>
              <a:ext cx="593124" cy="203887"/>
            </a:xfrm>
            <a:prstGeom prst="rect">
              <a:avLst/>
            </a:prstGeom>
            <a:solidFill>
              <a:srgbClr val="0F6F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2174687" y="4764987"/>
              <a:ext cx="864000" cy="20388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2174687" y="4330842"/>
              <a:ext cx="864000" cy="20388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5" name="群組 14"/>
          <p:cNvGrpSpPr/>
          <p:nvPr/>
        </p:nvGrpSpPr>
        <p:grpSpPr>
          <a:xfrm>
            <a:off x="1348821" y="5365084"/>
            <a:ext cx="2282990" cy="800220"/>
            <a:chOff x="1348821" y="5315773"/>
            <a:chExt cx="2282990" cy="800220"/>
          </a:xfrm>
        </p:grpSpPr>
        <p:sp>
          <p:nvSpPr>
            <p:cNvPr id="30" name="矩形 29"/>
            <p:cNvSpPr/>
            <p:nvPr/>
          </p:nvSpPr>
          <p:spPr>
            <a:xfrm>
              <a:off x="1348821" y="5315773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工作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1348821" y="5715883"/>
              <a:ext cx="82586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工作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174687" y="5420062"/>
              <a:ext cx="593124" cy="203887"/>
            </a:xfrm>
            <a:prstGeom prst="rect">
              <a:avLst/>
            </a:prstGeom>
            <a:solidFill>
              <a:srgbClr val="0F6F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矩形 32"/>
            <p:cNvSpPr/>
            <p:nvPr/>
          </p:nvSpPr>
          <p:spPr>
            <a:xfrm>
              <a:off x="2174687" y="5813994"/>
              <a:ext cx="593124" cy="203887"/>
            </a:xfrm>
            <a:prstGeom prst="rect">
              <a:avLst/>
            </a:prstGeom>
            <a:solidFill>
              <a:srgbClr val="0F6F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767811" y="5813993"/>
              <a:ext cx="864000" cy="20388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4727338" y="4606087"/>
            <a:ext cx="2321125" cy="208211"/>
            <a:chOff x="4727338" y="4556776"/>
            <a:chExt cx="2321125" cy="208211"/>
          </a:xfrm>
        </p:grpSpPr>
        <p:sp>
          <p:nvSpPr>
            <p:cNvPr id="35" name="矩形 34"/>
            <p:cNvSpPr/>
            <p:nvPr/>
          </p:nvSpPr>
          <p:spPr>
            <a:xfrm>
              <a:off x="4727338" y="4561100"/>
              <a:ext cx="864000" cy="20388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6455339" y="4556776"/>
              <a:ext cx="593124" cy="203887"/>
            </a:xfrm>
            <a:prstGeom prst="rect">
              <a:avLst/>
            </a:prstGeom>
            <a:solidFill>
              <a:srgbClr val="0F6F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5591338" y="4561100"/>
              <a:ext cx="864000" cy="20388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>
            <a:off x="4727338" y="5515424"/>
            <a:ext cx="2050247" cy="208213"/>
            <a:chOff x="4727338" y="5466113"/>
            <a:chExt cx="2050247" cy="208213"/>
          </a:xfrm>
        </p:grpSpPr>
        <p:sp>
          <p:nvSpPr>
            <p:cNvPr id="38" name="矩形 37"/>
            <p:cNvSpPr/>
            <p:nvPr/>
          </p:nvSpPr>
          <p:spPr>
            <a:xfrm>
              <a:off x="4727338" y="5470439"/>
              <a:ext cx="593124" cy="203887"/>
            </a:xfrm>
            <a:prstGeom prst="rect">
              <a:avLst/>
            </a:prstGeom>
            <a:solidFill>
              <a:srgbClr val="0F6F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矩形 38"/>
            <p:cNvSpPr/>
            <p:nvPr/>
          </p:nvSpPr>
          <p:spPr>
            <a:xfrm>
              <a:off x="5320461" y="5466114"/>
              <a:ext cx="593124" cy="203887"/>
            </a:xfrm>
            <a:prstGeom prst="rect">
              <a:avLst/>
            </a:prstGeom>
            <a:solidFill>
              <a:srgbClr val="0F6F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5913585" y="5466113"/>
              <a:ext cx="864000" cy="203887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2767811" y="5022179"/>
            <a:ext cx="277200" cy="434184"/>
            <a:chOff x="2242648" y="4972868"/>
            <a:chExt cx="277200" cy="434184"/>
          </a:xfrm>
        </p:grpSpPr>
        <p:cxnSp>
          <p:nvCxnSpPr>
            <p:cNvPr id="42" name="直線接點 41"/>
            <p:cNvCxnSpPr/>
            <p:nvPr/>
          </p:nvCxnSpPr>
          <p:spPr>
            <a:xfrm>
              <a:off x="2248237" y="4972868"/>
              <a:ext cx="0" cy="4320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線接點 42"/>
            <p:cNvCxnSpPr/>
            <p:nvPr/>
          </p:nvCxnSpPr>
          <p:spPr>
            <a:xfrm>
              <a:off x="2513524" y="4975052"/>
              <a:ext cx="0" cy="4320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單箭頭接點 44"/>
            <p:cNvCxnSpPr/>
            <p:nvPr/>
          </p:nvCxnSpPr>
          <p:spPr>
            <a:xfrm>
              <a:off x="2242648" y="5194581"/>
              <a:ext cx="277200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群組 46"/>
          <p:cNvGrpSpPr/>
          <p:nvPr/>
        </p:nvGrpSpPr>
        <p:grpSpPr>
          <a:xfrm>
            <a:off x="6777585" y="4972998"/>
            <a:ext cx="277200" cy="434184"/>
            <a:chOff x="2242648" y="4972868"/>
            <a:chExt cx="277200" cy="434184"/>
          </a:xfrm>
        </p:grpSpPr>
        <p:cxnSp>
          <p:nvCxnSpPr>
            <p:cNvPr id="48" name="直線接點 47"/>
            <p:cNvCxnSpPr/>
            <p:nvPr/>
          </p:nvCxnSpPr>
          <p:spPr>
            <a:xfrm>
              <a:off x="2248237" y="4972868"/>
              <a:ext cx="0" cy="4320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線接點 48"/>
            <p:cNvCxnSpPr/>
            <p:nvPr/>
          </p:nvCxnSpPr>
          <p:spPr>
            <a:xfrm>
              <a:off x="2513524" y="4975052"/>
              <a:ext cx="0" cy="43200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單箭頭接點 49"/>
            <p:cNvCxnSpPr/>
            <p:nvPr/>
          </p:nvCxnSpPr>
          <p:spPr>
            <a:xfrm>
              <a:off x="2242648" y="5194581"/>
              <a:ext cx="277200" cy="0"/>
            </a:xfrm>
            <a:prstGeom prst="straightConnector1">
              <a:avLst/>
            </a:prstGeom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3727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排程 </a:t>
            </a:r>
            <a:r>
              <a:rPr lang="en-US" altLang="zh-TW" dirty="0"/>
              <a:t>(4/7)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最小化</a:t>
            </a:r>
            <a:r>
              <a:rPr lang="zh-TW" altLang="en-US" dirty="0"/>
              <a:t>總系統耗費時間</a:t>
            </a:r>
            <a:endParaRPr lang="en-US" altLang="zh-TW" dirty="0"/>
          </a:p>
          <a:p>
            <a:pPr lvl="1"/>
            <a:r>
              <a:rPr lang="zh-TW" altLang="en-US" dirty="0"/>
              <a:t>以系統耗費時間角度</a:t>
            </a:r>
            <a:endParaRPr lang="en-US" altLang="zh-TW" dirty="0"/>
          </a:p>
          <a:p>
            <a:pPr lvl="1"/>
            <a:r>
              <a:rPr lang="zh-TW" altLang="en-US" dirty="0"/>
              <a:t>髮型設計師的工作時數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依照</a:t>
            </a:r>
            <a:r>
              <a:rPr lang="zh-TW" altLang="en-US" dirty="0">
                <a:solidFill>
                  <a:srgbClr val="0000FF"/>
                </a:solidFill>
              </a:rPr>
              <a:t>截止期限</a:t>
            </a:r>
            <a:r>
              <a:rPr lang="zh-TW" altLang="en-US" dirty="0"/>
              <a:t>來進行工作排程</a:t>
            </a:r>
            <a:endParaRPr lang="en-US" altLang="zh-TW" dirty="0"/>
          </a:p>
          <a:p>
            <a:pPr lvl="1"/>
            <a:r>
              <a:rPr lang="zh-TW" altLang="en-US" dirty="0"/>
              <a:t>假設每項工作</a:t>
            </a:r>
            <a:r>
              <a:rPr lang="zh-TW" altLang="en-US" dirty="0">
                <a:solidFill>
                  <a:srgbClr val="C00000"/>
                </a:solidFill>
              </a:rPr>
              <a:t>所需時間一樣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每項工作均有特定的截止時間及利潤</a:t>
            </a:r>
            <a:endParaRPr lang="en-US" altLang="zh-TW" dirty="0"/>
          </a:p>
          <a:p>
            <a:pPr lvl="1"/>
            <a:r>
              <a:rPr lang="zh-TW" altLang="en-US" dirty="0"/>
              <a:t>在截止期限以前或同時開始工作即可獲利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最大總利潤</a:t>
            </a:r>
            <a:r>
              <a:rPr lang="zh-TW" altLang="en-US" dirty="0"/>
              <a:t>的工作排程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068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排程 </a:t>
            </a:r>
            <a:r>
              <a:rPr lang="en-US" altLang="zh-TW" dirty="0"/>
              <a:t>(5/7)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</p:nvPr>
        </p:nvGraphicFramePr>
        <p:xfrm>
          <a:off x="954416" y="1384495"/>
          <a:ext cx="2771140" cy="1981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工作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截止期限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利潤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8" name="內容版面配置區 6"/>
          <p:cNvGraphicFramePr>
            <a:graphicFrameLocks/>
          </p:cNvGraphicFramePr>
          <p:nvPr/>
        </p:nvGraphicFramePr>
        <p:xfrm>
          <a:off x="4708807" y="1384495"/>
          <a:ext cx="3402965" cy="3566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62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62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工作排程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總利潤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圓角矩形 8"/>
          <p:cNvSpPr/>
          <p:nvPr/>
        </p:nvSpPr>
        <p:spPr>
          <a:xfrm>
            <a:off x="7513191" y="4179044"/>
            <a:ext cx="411210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1624596" y="5350942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及工作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：截止期限皆為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，選擇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利潤高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的工作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1624596" y="5765194"/>
            <a:ext cx="60837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工作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及工作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：截止期限皆為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，選擇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利潤高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的工作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001291" y="1781389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001290" y="2176647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001290" y="2570402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02257" y="2962902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001291" y="3363012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5003223" y="3759820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[3, 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5001291" y="4158581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 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5001290" y="4550843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[4, 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996010" y="1781389"/>
            <a:ext cx="13356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impossible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996009" y="2568996"/>
            <a:ext cx="13356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impossible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177949" y="2175193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30 + 25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6177949" y="2969283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35 + 30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177949" y="3363138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 + 35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170303" y="3757541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25 + 30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6168371" y="4156040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 + 30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177949" y="4550948"/>
            <a:ext cx="97174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 + 25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603673" y="1781389"/>
            <a:ext cx="2696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517912" y="2176192"/>
            <a:ext cx="441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603673" y="2571910"/>
            <a:ext cx="2696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517724" y="2969147"/>
            <a:ext cx="441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516758" y="3370480"/>
            <a:ext cx="441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7516757" y="4154921"/>
            <a:ext cx="441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7516757" y="3757541"/>
            <a:ext cx="441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7516757" y="4552412"/>
            <a:ext cx="44114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65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01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0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500"/>
                            </p:stCondLst>
                            <p:childTnLst>
                              <p:par>
                                <p:cTn id="9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6000"/>
                            </p:stCondLst>
                            <p:childTnLst>
                              <p:par>
                                <p:cTn id="9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500"/>
                            </p:stCondLst>
                            <p:childTnLst>
                              <p:par>
                                <p:cTn id="9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7000"/>
                            </p:stCondLst>
                            <p:childTnLst>
                              <p:par>
                                <p:cTn id="10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3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排程 </a:t>
            </a:r>
            <a:r>
              <a:rPr lang="en-US" altLang="zh-TW" dirty="0"/>
              <a:t>(6/7)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4263081" y="2015303"/>
          <a:ext cx="4565822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29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可行集合 </a:t>
                      </a:r>
                      <a:r>
                        <a:rPr lang="en-US" altLang="zh-TW" sz="2000" b="1" i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</a:t>
                      </a:r>
                      <a:endParaRPr lang="zh-TW" altLang="en-US" sz="2000" b="1" i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可行序列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7" name="內容版面配置區 6"/>
          <p:cNvGraphicFramePr>
            <a:graphicFrameLocks/>
          </p:cNvGraphicFramePr>
          <p:nvPr/>
        </p:nvGraphicFramePr>
        <p:xfrm>
          <a:off x="422942" y="2018517"/>
          <a:ext cx="2771140" cy="3169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54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工作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截止期限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利潤</a:t>
                      </a: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圓角矩形圖說文字 7"/>
          <p:cNvSpPr/>
          <p:nvPr/>
        </p:nvSpPr>
        <p:spPr>
          <a:xfrm>
            <a:off x="422942" y="5755397"/>
            <a:ext cx="2306585" cy="481915"/>
          </a:xfrm>
          <a:prstGeom prst="wedgeRoundRectCallout">
            <a:avLst>
              <a:gd name="adj1" fmla="val 53286"/>
              <a:gd name="adj2" fmla="val -1575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依照利潤高低排序</a:t>
            </a:r>
          </a:p>
        </p:txBody>
      </p:sp>
      <p:sp>
        <p:nvSpPr>
          <p:cNvPr id="11" name="文字方塊 10"/>
          <p:cNvSpPr txBox="1"/>
          <p:nvPr/>
        </p:nvSpPr>
        <p:spPr>
          <a:xfrm>
            <a:off x="5239266" y="2394751"/>
            <a:ext cx="396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7473780" y="2394751"/>
            <a:ext cx="3962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5195985" y="279486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430499" y="2794861"/>
            <a:ext cx="4828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5067744" y="3200153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7302258" y="3200153"/>
            <a:ext cx="7393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1]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4939503" y="3595081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2, 3]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7509045" y="359508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938675" y="3991053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2, 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7174017" y="3991053"/>
            <a:ext cx="9957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[2, 1, 4]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4810434" y="4388217"/>
            <a:ext cx="1252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2, 4, 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4810434" y="4788327"/>
            <a:ext cx="1252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2, 4, 6]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4810434" y="5167775"/>
            <a:ext cx="1252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 2, 4, 7]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7509044" y="438821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7509044" y="478832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509044" y="518843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22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排程 </a:t>
            </a:r>
            <a:r>
              <a:rPr lang="en-US" altLang="zh-TW" dirty="0"/>
              <a:t>(7/7)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最差情況時間複雜度</a:t>
            </a:r>
            <a:r>
              <a:rPr lang="en-US" altLang="zh-TW" dirty="0"/>
              <a:t>(</a:t>
            </a:r>
            <a:r>
              <a:rPr lang="zh-TW" altLang="en-US" dirty="0"/>
              <a:t>依照截止期限來進行工作排程</a:t>
            </a:r>
            <a:r>
              <a:rPr lang="en-US" altLang="zh-TW" dirty="0"/>
              <a:t>)</a:t>
            </a:r>
          </a:p>
          <a:p>
            <a:r>
              <a:rPr lang="zh-TW" altLang="en-US" dirty="0">
                <a:solidFill>
                  <a:srgbClr val="0000FF"/>
                </a:solidFill>
              </a:rPr>
              <a:t>基本運算</a:t>
            </a:r>
            <a:r>
              <a:rPr lang="zh-TW" altLang="en-US" dirty="0"/>
              <a:t>：排列工作順序時需要用到的比較運算</a:t>
            </a:r>
            <a:endParaRPr lang="en-US" altLang="zh-TW" dirty="0"/>
          </a:p>
          <a:p>
            <a:r>
              <a:rPr lang="zh-TW" altLang="en-US" dirty="0">
                <a:solidFill>
                  <a:srgbClr val="0000FF"/>
                </a:solidFill>
              </a:rPr>
              <a:t>輸入大小</a:t>
            </a:r>
            <a:r>
              <a:rPr lang="zh-TW" altLang="en-US" dirty="0"/>
              <a:t>：</a:t>
            </a:r>
            <a:r>
              <a:rPr lang="en-US" altLang="zh-TW" i="1" dirty="0"/>
              <a:t>n</a:t>
            </a:r>
            <a:r>
              <a:rPr lang="zh-TW" altLang="en-US" dirty="0"/>
              <a:t>個工作數目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27" t="51616" b="7465"/>
          <a:stretch/>
        </p:blipFill>
        <p:spPr bwMode="auto">
          <a:xfrm>
            <a:off x="1807111" y="2708933"/>
            <a:ext cx="5552475" cy="1699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圓角矩形圖說文字 7"/>
          <p:cNvSpPr/>
          <p:nvPr/>
        </p:nvSpPr>
        <p:spPr>
          <a:xfrm>
            <a:off x="7086600" y="2118888"/>
            <a:ext cx="1523990" cy="481915"/>
          </a:xfrm>
          <a:prstGeom prst="wedgeRoundRectCallout">
            <a:avLst>
              <a:gd name="adj1" fmla="val -93240"/>
              <a:gd name="adj2" fmla="val 1949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次比較</a:t>
            </a:r>
          </a:p>
        </p:txBody>
      </p:sp>
      <p:sp>
        <p:nvSpPr>
          <p:cNvPr id="9" name="圓角矩形圖說文字 8"/>
          <p:cNvSpPr/>
          <p:nvPr/>
        </p:nvSpPr>
        <p:spPr>
          <a:xfrm>
            <a:off x="4648190" y="4034202"/>
            <a:ext cx="1523990" cy="481915"/>
          </a:xfrm>
          <a:prstGeom prst="wedgeRoundRectCallout">
            <a:avLst>
              <a:gd name="adj1" fmla="val -108645"/>
              <a:gd name="adj2" fmla="val -1088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次比較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/>
              <p:cNvSpPr txBox="1"/>
              <p:nvPr/>
            </p:nvSpPr>
            <p:spPr>
              <a:xfrm>
                <a:off x="2511210" y="5129886"/>
                <a:ext cx="4144276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limLoc m:val="subSup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l-GR" altLang="zh-TW" sz="20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𝚯</m:t>
                          </m:r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e>
                            <m:sup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文字方塊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210" y="5129886"/>
                <a:ext cx="4144276" cy="60337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44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儲存空間有限</a:t>
            </a:r>
            <a:endParaRPr lang="en-US" altLang="zh-TW" dirty="0"/>
          </a:p>
          <a:p>
            <a:pPr lvl="1"/>
            <a:r>
              <a:rPr lang="zh-TW" altLang="en-US" dirty="0"/>
              <a:t>將檔案以</a:t>
            </a:r>
            <a:r>
              <a:rPr lang="zh-TW" altLang="en-US" dirty="0">
                <a:solidFill>
                  <a:srgbClr val="C00000"/>
                </a:solidFill>
              </a:rPr>
              <a:t>最有效率</a:t>
            </a:r>
            <a:r>
              <a:rPr lang="zh-TW" altLang="en-US" dirty="0"/>
              <a:t>的方式儲存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資料壓縮</a:t>
            </a:r>
            <a:endParaRPr lang="en-US" altLang="zh-TW" dirty="0"/>
          </a:p>
          <a:p>
            <a:pPr lvl="1"/>
            <a:r>
              <a:rPr lang="zh-TW" altLang="en-US" dirty="0"/>
              <a:t>找出一個最有效率的方式對資料檔案進行編碼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霍夫曼編碼</a:t>
            </a:r>
            <a:endParaRPr lang="en-US" altLang="zh-TW" dirty="0">
              <a:solidFill>
                <a:srgbClr val="C00000"/>
              </a:solidFill>
            </a:endParaRPr>
          </a:p>
          <a:p>
            <a:pPr lvl="2"/>
            <a:r>
              <a:rPr lang="zh-TW" altLang="en-US" dirty="0"/>
              <a:t>貪婪演算法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1538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(2/16)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二進位編碼 </a:t>
            </a:r>
            <a:r>
              <a:rPr lang="en-US" altLang="zh-TW" dirty="0"/>
              <a:t>binary code</a:t>
            </a:r>
          </a:p>
          <a:p>
            <a:pPr lvl="1"/>
            <a:r>
              <a:rPr lang="zh-TW" altLang="en-US" dirty="0"/>
              <a:t>每個字元有獨一無二的二進位字串，字碼 </a:t>
            </a:r>
            <a:r>
              <a:rPr lang="en-US" altLang="zh-TW" dirty="0" err="1"/>
              <a:t>codeword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1013255" y="2402603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固定長度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二進位碼</a:t>
            </a:r>
          </a:p>
        </p:txBody>
      </p:sp>
      <p:sp>
        <p:nvSpPr>
          <p:cNvPr id="8" name="文字方塊 7"/>
          <p:cNvSpPr txBox="1"/>
          <p:nvPr/>
        </p:nvSpPr>
        <p:spPr>
          <a:xfrm>
            <a:off x="5138352" y="2402603"/>
            <a:ext cx="24929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可變動長度</a:t>
            </a:r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二進位碼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687486" y="2802713"/>
          <a:ext cx="888047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/>
        </p:nvGraphicFramePr>
        <p:xfrm>
          <a:off x="5940823" y="2802713"/>
          <a:ext cx="888047" cy="11887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387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solidFill>
                          <a:schemeClr val="accent5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文字方塊 11"/>
          <p:cNvSpPr txBox="1"/>
          <p:nvPr/>
        </p:nvSpPr>
        <p:spPr>
          <a:xfrm>
            <a:off x="3763300" y="4298864"/>
            <a:ext cx="13821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0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bbb</a:t>
            </a:r>
            <a:r>
              <a:rPr lang="en-US" altLang="zh-TW" sz="2000" b="1" dirty="0" err="1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sz="2000" b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913355" y="4298864"/>
            <a:ext cx="24363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010101</a:t>
            </a:r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473122" y="4298864"/>
            <a:ext cx="18234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</a:t>
            </a:r>
            <a:r>
              <a:rPr lang="en-US" altLang="zh-TW" sz="2000" b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" name="群組 16"/>
          <p:cNvGrpSpPr/>
          <p:nvPr/>
        </p:nvGrpSpPr>
        <p:grpSpPr>
          <a:xfrm>
            <a:off x="5571254" y="4609006"/>
            <a:ext cx="1620000" cy="614016"/>
            <a:chOff x="5571254" y="4393549"/>
            <a:chExt cx="1620000" cy="614016"/>
          </a:xfrm>
        </p:grpSpPr>
        <p:sp>
          <p:nvSpPr>
            <p:cNvPr id="15" name="右大括弧 14"/>
            <p:cNvSpPr/>
            <p:nvPr/>
          </p:nvSpPr>
          <p:spPr>
            <a:xfrm rot="5400000">
              <a:off x="6260960" y="3703843"/>
              <a:ext cx="240588" cy="1620000"/>
            </a:xfrm>
            <a:prstGeom prst="rightBrace">
              <a:avLst>
                <a:gd name="adj1" fmla="val 42105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5903755" y="4607455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r>
                <a:rPr lang="zh-TW" altLang="en-US" sz="2000" b="1" dirty="0">
                  <a:solidFill>
                    <a:srgbClr val="C00000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位元</a:t>
              </a:r>
              <a:endParaRPr lang="zh-TW" altLang="en-US" sz="2000" b="1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群組 18"/>
          <p:cNvGrpSpPr/>
          <p:nvPr/>
        </p:nvGrpSpPr>
        <p:grpSpPr>
          <a:xfrm>
            <a:off x="987362" y="4612480"/>
            <a:ext cx="2256224" cy="616720"/>
            <a:chOff x="987362" y="4397023"/>
            <a:chExt cx="2256224" cy="616720"/>
          </a:xfrm>
        </p:grpSpPr>
        <p:sp>
          <p:nvSpPr>
            <p:cNvPr id="9" name="右大括弧 8"/>
            <p:cNvSpPr/>
            <p:nvPr/>
          </p:nvSpPr>
          <p:spPr>
            <a:xfrm rot="5400000">
              <a:off x="1995180" y="3389205"/>
              <a:ext cx="240588" cy="2256224"/>
            </a:xfrm>
            <a:prstGeom prst="rightBrace">
              <a:avLst>
                <a:gd name="adj1" fmla="val 42105"/>
                <a:gd name="adj2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1640168" y="4613633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18</a:t>
              </a:r>
              <a:r>
                <a:rPr lang="zh-TW" altLang="en-US" sz="2000" b="1" dirty="0">
                  <a:solidFill>
                    <a:srgbClr val="C00000"/>
                  </a:solidFill>
                  <a:latin typeface="標楷體" panose="03000509000000000000" pitchFamily="65" charset="-120"/>
                  <a:ea typeface="標楷體" panose="03000509000000000000" pitchFamily="65" charset="-120"/>
                  <a:cs typeface="Times New Roman" panose="02020603050405020304" pitchFamily="18" charset="0"/>
                </a:rPr>
                <a:t>位元</a:t>
              </a:r>
              <a:endParaRPr lang="zh-TW" altLang="en-US" sz="2000" b="1" dirty="0">
                <a:solidFill>
                  <a:schemeClr val="accent5">
                    <a:lumMod val="50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0511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/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(3/16)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前置碼</a:t>
            </a:r>
            <a:r>
              <a:rPr lang="en-US" altLang="zh-TW" dirty="0">
                <a:solidFill>
                  <a:srgbClr val="0000FF"/>
                </a:solidFill>
              </a:rPr>
              <a:t>(prefix code)</a:t>
            </a: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可變動長度</a:t>
            </a:r>
            <a:r>
              <a:rPr lang="zh-TW" altLang="en-US" dirty="0"/>
              <a:t>二進位碼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r>
              <a:rPr lang="zh-TW" altLang="en-US" dirty="0"/>
              <a:t>可用</a:t>
            </a:r>
            <a:r>
              <a:rPr lang="zh-TW" altLang="en-US" dirty="0">
                <a:solidFill>
                  <a:srgbClr val="C00000"/>
                </a:solidFill>
              </a:rPr>
              <a:t>二元樹</a:t>
            </a:r>
            <a:r>
              <a:rPr lang="zh-TW" altLang="en-US" dirty="0"/>
              <a:t>表示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grpSp>
        <p:nvGrpSpPr>
          <p:cNvPr id="24" name="群組 23"/>
          <p:cNvGrpSpPr/>
          <p:nvPr/>
        </p:nvGrpSpPr>
        <p:grpSpPr>
          <a:xfrm>
            <a:off x="2356011" y="2175610"/>
            <a:ext cx="1170996" cy="855250"/>
            <a:chOff x="2356011" y="2019828"/>
            <a:chExt cx="1170996" cy="855250"/>
          </a:xfrm>
        </p:grpSpPr>
        <p:sp>
          <p:nvSpPr>
            <p:cNvPr id="7" name="文字方塊 6"/>
            <p:cNvSpPr txBox="1"/>
            <p:nvPr/>
          </p:nvSpPr>
          <p:spPr>
            <a:xfrm>
              <a:off x="2356011" y="20198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2971790" y="201982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2356011" y="247496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971790" y="2474968"/>
              <a:ext cx="5552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011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2" name="直線接點 11"/>
          <p:cNvCxnSpPr/>
          <p:nvPr/>
        </p:nvCxnSpPr>
        <p:spPr>
          <a:xfrm>
            <a:off x="3033572" y="2499229"/>
            <a:ext cx="28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042185" y="2960548"/>
            <a:ext cx="288000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字方塊 13"/>
          <p:cNvSpPr txBox="1"/>
          <p:nvPr/>
        </p:nvSpPr>
        <p:spPr>
          <a:xfrm>
            <a:off x="3527007" y="263075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5" name="群組 24"/>
          <p:cNvGrpSpPr/>
          <p:nvPr/>
        </p:nvGrpSpPr>
        <p:grpSpPr>
          <a:xfrm>
            <a:off x="4615598" y="2175610"/>
            <a:ext cx="1056925" cy="1255360"/>
            <a:chOff x="4615598" y="2019828"/>
            <a:chExt cx="1056925" cy="1255360"/>
          </a:xfrm>
        </p:grpSpPr>
        <p:sp>
          <p:nvSpPr>
            <p:cNvPr id="15" name="文字方塊 14"/>
            <p:cNvSpPr txBox="1"/>
            <p:nvPr/>
          </p:nvSpPr>
          <p:spPr>
            <a:xfrm>
              <a:off x="4615598" y="201982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5231377" y="2019828"/>
              <a:ext cx="4411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615598" y="2474968"/>
              <a:ext cx="32733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231377" y="247496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文字方塊 21"/>
            <p:cNvSpPr txBox="1"/>
            <p:nvPr/>
          </p:nvSpPr>
          <p:spPr>
            <a:xfrm>
              <a:off x="4615598" y="2875078"/>
              <a:ext cx="29848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5231377" y="2875078"/>
              <a:ext cx="42697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3852737" y="4166070"/>
            <a:ext cx="1819786" cy="1783210"/>
            <a:chOff x="3852737" y="4010288"/>
            <a:chExt cx="1819786" cy="1783210"/>
          </a:xfrm>
        </p:grpSpPr>
        <p:sp>
          <p:nvSpPr>
            <p:cNvPr id="26" name="橢圓 25"/>
            <p:cNvSpPr/>
            <p:nvPr/>
          </p:nvSpPr>
          <p:spPr>
            <a:xfrm>
              <a:off x="4462981" y="4010288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橢圓 26"/>
            <p:cNvSpPr/>
            <p:nvPr/>
          </p:nvSpPr>
          <p:spPr>
            <a:xfrm>
              <a:off x="5024523" y="4665483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3852737" y="4665483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4700523" y="5469498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5348523" y="5469498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2" name="直線接點 31"/>
            <p:cNvCxnSpPr>
              <a:stCxn id="27" idx="3"/>
              <a:endCxn id="29" idx="0"/>
            </p:cNvCxnSpPr>
            <p:nvPr/>
          </p:nvCxnSpPr>
          <p:spPr>
            <a:xfrm flipH="1">
              <a:off x="4862523" y="4942034"/>
              <a:ext cx="209449" cy="52746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線接點 32"/>
            <p:cNvCxnSpPr>
              <a:stCxn id="27" idx="5"/>
              <a:endCxn id="30" idx="0"/>
            </p:cNvCxnSpPr>
            <p:nvPr/>
          </p:nvCxnSpPr>
          <p:spPr>
            <a:xfrm>
              <a:off x="5301074" y="4942034"/>
              <a:ext cx="209449" cy="52746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/>
            <p:cNvCxnSpPr>
              <a:stCxn id="26" idx="5"/>
              <a:endCxn id="27" idx="0"/>
            </p:cNvCxnSpPr>
            <p:nvPr/>
          </p:nvCxnSpPr>
          <p:spPr>
            <a:xfrm>
              <a:off x="4739532" y="4286839"/>
              <a:ext cx="446991" cy="3786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接點 38"/>
            <p:cNvCxnSpPr>
              <a:stCxn id="26" idx="3"/>
              <a:endCxn id="28" idx="0"/>
            </p:cNvCxnSpPr>
            <p:nvPr/>
          </p:nvCxnSpPr>
          <p:spPr>
            <a:xfrm flipH="1">
              <a:off x="4014737" y="4286839"/>
              <a:ext cx="495693" cy="378644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字方塊 41"/>
            <p:cNvSpPr txBox="1"/>
            <p:nvPr/>
          </p:nvSpPr>
          <p:spPr>
            <a:xfrm>
              <a:off x="4063439" y="416225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文字方塊 42"/>
            <p:cNvSpPr txBox="1"/>
            <p:nvPr/>
          </p:nvSpPr>
          <p:spPr>
            <a:xfrm>
              <a:off x="4885901" y="416225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4706070" y="497879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359617" y="4976978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2740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(4/16)</a:t>
            </a:r>
            <a:endParaRPr lang="zh-TW" altLang="en-US" dirty="0"/>
          </a:p>
        </p:txBody>
      </p:sp>
      <p:graphicFrame>
        <p:nvGraphicFramePr>
          <p:cNvPr id="7" name="內容版面配置區 6"/>
          <p:cNvGraphicFramePr>
            <a:graphicFrameLocks noGrp="1"/>
          </p:cNvGraphicFramePr>
          <p:nvPr>
            <p:ph idx="1"/>
          </p:nvPr>
        </p:nvGraphicFramePr>
        <p:xfrm>
          <a:off x="1584603" y="1371733"/>
          <a:ext cx="6001265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00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2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2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2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2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字元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頻率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固定長度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可變動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霍夫曼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000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001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011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11111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grpSp>
        <p:nvGrpSpPr>
          <p:cNvPr id="14" name="群組 13"/>
          <p:cNvGrpSpPr/>
          <p:nvPr/>
        </p:nvGrpSpPr>
        <p:grpSpPr>
          <a:xfrm>
            <a:off x="1037906" y="4528154"/>
            <a:ext cx="7220568" cy="1277110"/>
            <a:chOff x="374014" y="4361935"/>
            <a:chExt cx="7220568" cy="1277110"/>
          </a:xfrm>
        </p:grpSpPr>
        <p:sp>
          <p:nvSpPr>
            <p:cNvPr id="8" name="文字方塊 7"/>
            <p:cNvSpPr txBox="1"/>
            <p:nvPr/>
          </p:nvSpPr>
          <p:spPr>
            <a:xfrm>
              <a:off x="1584603" y="4361935"/>
              <a:ext cx="6009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 3 + 5  3 + 12  3 + 17  3 + 10  3 + 25  3 = 255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1584603" y="4800435"/>
              <a:ext cx="6009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 2 + 5  5 + 12  4 + 17  3 + 10  5 + 25  1 = 231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1584603" y="5238935"/>
              <a:ext cx="600997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16 </a:t>
              </a:r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 2 + 5  4 + 12  3 + 17  2 + 10  4 + 25  2 = 212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374014" y="4361935"/>
              <a:ext cx="1210589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固定長度</a:t>
              </a:r>
            </a:p>
          </p:txBody>
        </p:sp>
        <p:sp>
          <p:nvSpPr>
            <p:cNvPr id="12" name="矩形 11"/>
            <p:cNvSpPr/>
            <p:nvPr/>
          </p:nvSpPr>
          <p:spPr>
            <a:xfrm>
              <a:off x="502255" y="4800434"/>
              <a:ext cx="9541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可變動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502255" y="5238935"/>
              <a:ext cx="9541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霍夫曼</a:t>
              </a:r>
            </a:p>
          </p:txBody>
        </p:sp>
      </p:grpSp>
      <p:sp>
        <p:nvSpPr>
          <p:cNvPr id="15" name="圓角矩形 14"/>
          <p:cNvSpPr/>
          <p:nvPr/>
        </p:nvSpPr>
        <p:spPr>
          <a:xfrm>
            <a:off x="7698543" y="5440740"/>
            <a:ext cx="450738" cy="364524"/>
          </a:xfrm>
          <a:prstGeom prst="roundRect">
            <a:avLst>
              <a:gd name="adj" fmla="val 50000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22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(5/16)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7" name="內容版面配置區 6"/>
          <p:cNvGraphicFramePr>
            <a:graphicFrameLocks/>
          </p:cNvGraphicFramePr>
          <p:nvPr/>
        </p:nvGraphicFramePr>
        <p:xfrm>
          <a:off x="2536228" y="1306300"/>
          <a:ext cx="3788756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947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71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7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字元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頻率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可變動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霍夫曼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a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16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c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d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17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e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11111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1111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4" name="群組 93"/>
          <p:cNvGrpSpPr/>
          <p:nvPr/>
        </p:nvGrpSpPr>
        <p:grpSpPr>
          <a:xfrm>
            <a:off x="845825" y="3617526"/>
            <a:ext cx="2728681" cy="3088902"/>
            <a:chOff x="5569627" y="1217661"/>
            <a:chExt cx="2728681" cy="3088902"/>
          </a:xfrm>
        </p:grpSpPr>
        <p:sp>
          <p:nvSpPr>
            <p:cNvPr id="9" name="橢圓 8"/>
            <p:cNvSpPr/>
            <p:nvPr/>
          </p:nvSpPr>
          <p:spPr>
            <a:xfrm>
              <a:off x="5975985" y="1217661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6358352" y="1736932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5569627" y="1736932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7295418" y="3982563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7974308" y="3982563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4" name="直線接點 13"/>
            <p:cNvCxnSpPr>
              <a:stCxn id="45" idx="3"/>
              <a:endCxn id="12" idx="0"/>
            </p:cNvCxnSpPr>
            <p:nvPr/>
          </p:nvCxnSpPr>
          <p:spPr>
            <a:xfrm flipH="1">
              <a:off x="7457418" y="3679545"/>
              <a:ext cx="215627" cy="3030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/>
            <p:cNvCxnSpPr>
              <a:stCxn id="45" idx="5"/>
              <a:endCxn id="13" idx="0"/>
            </p:cNvCxnSpPr>
            <p:nvPr/>
          </p:nvCxnSpPr>
          <p:spPr>
            <a:xfrm>
              <a:off x="7902147" y="3679545"/>
              <a:ext cx="234161" cy="3030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接點 15"/>
            <p:cNvCxnSpPr>
              <a:stCxn id="9" idx="5"/>
              <a:endCxn id="10" idx="0"/>
            </p:cNvCxnSpPr>
            <p:nvPr/>
          </p:nvCxnSpPr>
          <p:spPr>
            <a:xfrm>
              <a:off x="6252536" y="1494212"/>
              <a:ext cx="267816" cy="24272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>
              <a:stCxn id="9" idx="3"/>
              <a:endCxn id="11" idx="0"/>
            </p:cNvCxnSpPr>
            <p:nvPr/>
          </p:nvCxnSpPr>
          <p:spPr>
            <a:xfrm flipH="1">
              <a:off x="5731627" y="1494212"/>
              <a:ext cx="291807" cy="24272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文字方塊 17"/>
            <p:cNvSpPr txBox="1"/>
            <p:nvPr/>
          </p:nvSpPr>
          <p:spPr>
            <a:xfrm>
              <a:off x="6045446" y="185506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6682352" y="183794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5657532" y="130649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文字方塊 20"/>
            <p:cNvSpPr txBox="1"/>
            <p:nvPr/>
          </p:nvSpPr>
          <p:spPr>
            <a:xfrm>
              <a:off x="6283886" y="129610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橢圓 28"/>
            <p:cNvSpPr/>
            <p:nvPr/>
          </p:nvSpPr>
          <p:spPr>
            <a:xfrm>
              <a:off x="6764710" y="2285499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 29"/>
            <p:cNvSpPr/>
            <p:nvPr/>
          </p:nvSpPr>
          <p:spPr>
            <a:xfrm>
              <a:off x="5975985" y="2285499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直線接點 30"/>
            <p:cNvCxnSpPr>
              <a:stCxn id="10" idx="3"/>
              <a:endCxn id="30" idx="0"/>
            </p:cNvCxnSpPr>
            <p:nvPr/>
          </p:nvCxnSpPr>
          <p:spPr>
            <a:xfrm flipH="1">
              <a:off x="6137985" y="2013483"/>
              <a:ext cx="267816" cy="27201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線接點 33"/>
            <p:cNvCxnSpPr>
              <a:stCxn id="10" idx="5"/>
              <a:endCxn id="29" idx="0"/>
            </p:cNvCxnSpPr>
            <p:nvPr/>
          </p:nvCxnSpPr>
          <p:spPr>
            <a:xfrm>
              <a:off x="6634903" y="2013483"/>
              <a:ext cx="291807" cy="272016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橢圓 36"/>
            <p:cNvSpPr/>
            <p:nvPr/>
          </p:nvSpPr>
          <p:spPr>
            <a:xfrm>
              <a:off x="7194526" y="2839400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6405801" y="2839400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9" name="直線接點 38"/>
            <p:cNvCxnSpPr>
              <a:stCxn id="29" idx="3"/>
              <a:endCxn id="38" idx="0"/>
            </p:cNvCxnSpPr>
            <p:nvPr/>
          </p:nvCxnSpPr>
          <p:spPr>
            <a:xfrm flipH="1">
              <a:off x="6567801" y="2562050"/>
              <a:ext cx="244358" cy="2773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/>
            <p:cNvCxnSpPr>
              <a:stCxn id="29" idx="5"/>
              <a:endCxn id="37" idx="0"/>
            </p:cNvCxnSpPr>
            <p:nvPr/>
          </p:nvCxnSpPr>
          <p:spPr>
            <a:xfrm>
              <a:off x="7041261" y="2562050"/>
              <a:ext cx="315265" cy="2773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橢圓 44"/>
            <p:cNvSpPr/>
            <p:nvPr/>
          </p:nvSpPr>
          <p:spPr>
            <a:xfrm>
              <a:off x="7625596" y="3402994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6836871" y="3402994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7" name="直線接點 46"/>
            <p:cNvCxnSpPr>
              <a:stCxn id="37" idx="3"/>
              <a:endCxn id="46" idx="0"/>
            </p:cNvCxnSpPr>
            <p:nvPr/>
          </p:nvCxnSpPr>
          <p:spPr>
            <a:xfrm flipH="1">
              <a:off x="6998871" y="3115951"/>
              <a:ext cx="243104" cy="28704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/>
            <p:cNvCxnSpPr>
              <a:stCxn id="37" idx="5"/>
              <a:endCxn id="45" idx="0"/>
            </p:cNvCxnSpPr>
            <p:nvPr/>
          </p:nvCxnSpPr>
          <p:spPr>
            <a:xfrm>
              <a:off x="7471077" y="3115951"/>
              <a:ext cx="316519" cy="28704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字方塊 52"/>
            <p:cNvSpPr txBox="1"/>
            <p:nvPr/>
          </p:nvSpPr>
          <p:spPr>
            <a:xfrm>
              <a:off x="6451804" y="238650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文字方塊 53"/>
            <p:cNvSpPr txBox="1"/>
            <p:nvPr/>
          </p:nvSpPr>
          <p:spPr>
            <a:xfrm>
              <a:off x="7088710" y="236938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6884808" y="294737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7521714" y="29302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7314624" y="357639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7951530" y="3559271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5" name="群組 94"/>
          <p:cNvGrpSpPr/>
          <p:nvPr/>
        </p:nvGrpSpPr>
        <p:grpSpPr>
          <a:xfrm>
            <a:off x="5525362" y="4067553"/>
            <a:ext cx="3094193" cy="2614370"/>
            <a:chOff x="4253390" y="3796269"/>
            <a:chExt cx="3094193" cy="2614370"/>
          </a:xfrm>
        </p:grpSpPr>
        <p:sp>
          <p:nvSpPr>
            <p:cNvPr id="59" name="矩形 58"/>
            <p:cNvSpPr/>
            <p:nvPr/>
          </p:nvSpPr>
          <p:spPr>
            <a:xfrm>
              <a:off x="6344693" y="6086639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7023583" y="6086639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1" name="直線接點 60"/>
            <p:cNvCxnSpPr>
              <a:stCxn id="68" idx="3"/>
              <a:endCxn id="59" idx="0"/>
            </p:cNvCxnSpPr>
            <p:nvPr/>
          </p:nvCxnSpPr>
          <p:spPr>
            <a:xfrm flipH="1">
              <a:off x="6506693" y="5783621"/>
              <a:ext cx="215627" cy="3030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線接點 61"/>
            <p:cNvCxnSpPr>
              <a:stCxn id="68" idx="5"/>
              <a:endCxn id="60" idx="0"/>
            </p:cNvCxnSpPr>
            <p:nvPr/>
          </p:nvCxnSpPr>
          <p:spPr>
            <a:xfrm>
              <a:off x="6951422" y="5783621"/>
              <a:ext cx="234161" cy="3030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橢圓 62"/>
            <p:cNvSpPr/>
            <p:nvPr/>
          </p:nvSpPr>
          <p:spPr>
            <a:xfrm>
              <a:off x="5813985" y="4389575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6243801" y="4943476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5" name="矩形 64"/>
            <p:cNvSpPr/>
            <p:nvPr/>
          </p:nvSpPr>
          <p:spPr>
            <a:xfrm>
              <a:off x="5455076" y="4943476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6" name="直線接點 65"/>
            <p:cNvCxnSpPr>
              <a:stCxn id="63" idx="3"/>
              <a:endCxn id="65" idx="0"/>
            </p:cNvCxnSpPr>
            <p:nvPr/>
          </p:nvCxnSpPr>
          <p:spPr>
            <a:xfrm flipH="1">
              <a:off x="5617076" y="4666126"/>
              <a:ext cx="244358" cy="2773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63" idx="5"/>
              <a:endCxn id="64" idx="0"/>
            </p:cNvCxnSpPr>
            <p:nvPr/>
          </p:nvCxnSpPr>
          <p:spPr>
            <a:xfrm>
              <a:off x="6090536" y="4666126"/>
              <a:ext cx="315265" cy="27735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橢圓 67"/>
            <p:cNvSpPr/>
            <p:nvPr/>
          </p:nvSpPr>
          <p:spPr>
            <a:xfrm>
              <a:off x="6674871" y="5507070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9" name="矩形 68"/>
            <p:cNvSpPr/>
            <p:nvPr/>
          </p:nvSpPr>
          <p:spPr>
            <a:xfrm>
              <a:off x="5886146" y="5507070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0" name="直線接點 69"/>
            <p:cNvCxnSpPr>
              <a:stCxn id="64" idx="3"/>
              <a:endCxn id="69" idx="0"/>
            </p:cNvCxnSpPr>
            <p:nvPr/>
          </p:nvCxnSpPr>
          <p:spPr>
            <a:xfrm flipH="1">
              <a:off x="6048146" y="5220027"/>
              <a:ext cx="243104" cy="28704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線接點 70"/>
            <p:cNvCxnSpPr>
              <a:stCxn id="64" idx="5"/>
              <a:endCxn id="68" idx="0"/>
            </p:cNvCxnSpPr>
            <p:nvPr/>
          </p:nvCxnSpPr>
          <p:spPr>
            <a:xfrm>
              <a:off x="6520352" y="5220027"/>
              <a:ext cx="316519" cy="287043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字方塊 71"/>
            <p:cNvSpPr txBox="1"/>
            <p:nvPr/>
          </p:nvSpPr>
          <p:spPr>
            <a:xfrm>
              <a:off x="5501079" y="449058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6137985" y="447346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5934083" y="5051446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6570989" y="5034323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6363899" y="568047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7000805" y="566334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4253390" y="4943476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4932280" y="4943476"/>
              <a:ext cx="324000" cy="324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80" name="直線接點 79"/>
            <p:cNvCxnSpPr>
              <a:stCxn id="82" idx="3"/>
              <a:endCxn id="78" idx="0"/>
            </p:cNvCxnSpPr>
            <p:nvPr/>
          </p:nvCxnSpPr>
          <p:spPr>
            <a:xfrm flipH="1">
              <a:off x="4415390" y="4640458"/>
              <a:ext cx="215627" cy="3030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線接點 80"/>
            <p:cNvCxnSpPr>
              <a:stCxn id="82" idx="5"/>
              <a:endCxn id="79" idx="0"/>
            </p:cNvCxnSpPr>
            <p:nvPr/>
          </p:nvCxnSpPr>
          <p:spPr>
            <a:xfrm>
              <a:off x="4860119" y="4640458"/>
              <a:ext cx="234161" cy="303018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橢圓 81"/>
            <p:cNvSpPr/>
            <p:nvPr/>
          </p:nvSpPr>
          <p:spPr>
            <a:xfrm>
              <a:off x="4583568" y="4363907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4272596" y="453730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4909502" y="4520184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橢圓 84"/>
            <p:cNvSpPr/>
            <p:nvPr/>
          </p:nvSpPr>
          <p:spPr>
            <a:xfrm>
              <a:off x="5177712" y="3796269"/>
              <a:ext cx="324000" cy="3240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6" name="直線接點 85"/>
            <p:cNvCxnSpPr>
              <a:stCxn id="85" idx="3"/>
              <a:endCxn id="82" idx="0"/>
            </p:cNvCxnSpPr>
            <p:nvPr/>
          </p:nvCxnSpPr>
          <p:spPr>
            <a:xfrm flipH="1">
              <a:off x="4745568" y="4072820"/>
              <a:ext cx="479593" cy="291087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線接點 88"/>
            <p:cNvCxnSpPr>
              <a:stCxn id="85" idx="5"/>
              <a:endCxn id="63" idx="0"/>
            </p:cNvCxnSpPr>
            <p:nvPr/>
          </p:nvCxnSpPr>
          <p:spPr>
            <a:xfrm>
              <a:off x="5454263" y="4072820"/>
              <a:ext cx="521722" cy="31675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文字方塊 91"/>
            <p:cNvSpPr txBox="1"/>
            <p:nvPr/>
          </p:nvSpPr>
          <p:spPr>
            <a:xfrm>
              <a:off x="4756148" y="3899867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5564624" y="3865520"/>
              <a:ext cx="3129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8276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(6/16)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內部路徑長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internal path length</a:t>
            </a: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樹根至每個內部節點的路徑長度總和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外部路徑長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external path length</a:t>
            </a:r>
          </a:p>
          <a:p>
            <a:pPr marL="685800" lvl="2">
              <a:spcBef>
                <a:spcPts val="1000"/>
              </a:spcBef>
            </a:pP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樹根至每個外部節點的路徑長度總和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28600" lvl="1">
              <a:spcBef>
                <a:spcPts val="1000"/>
              </a:spcBef>
            </a:pP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加權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(weight)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外部路徑長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每個外部節點均賦予一個數值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加權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WE: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樹根至每個外部節點的路徑長度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該節點的加權之總和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619323" y="41457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5778536" y="36250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6470267" y="363087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7156527" y="36250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5763323" y="3913088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6120747" y="307874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496283" y="307874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796286" y="254966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7300527" y="3366748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6264747" y="3366748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5922536" y="3366748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6940286" y="2837661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6264747" y="2837661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6773223" y="249629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090825" y="302083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7470405" y="3021072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5759515" y="356963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6452477" y="356717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146288" y="3564571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588253" y="4096436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917454" y="248065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7917454" y="302083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7917454" y="353757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7917454" y="40643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628913" y="219041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C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路徑長</a:t>
            </a:r>
          </a:p>
        </p:txBody>
      </p:sp>
      <p:grpSp>
        <p:nvGrpSpPr>
          <p:cNvPr id="47" name="群組 46"/>
          <p:cNvGrpSpPr/>
          <p:nvPr/>
        </p:nvGrpSpPr>
        <p:grpSpPr>
          <a:xfrm>
            <a:off x="1544128" y="3391130"/>
            <a:ext cx="3414717" cy="611092"/>
            <a:chOff x="1544128" y="3258928"/>
            <a:chExt cx="3414717" cy="611092"/>
          </a:xfrm>
        </p:grpSpPr>
        <p:sp>
          <p:nvSpPr>
            <p:cNvPr id="36" name="文字方塊 35"/>
            <p:cNvSpPr txBox="1"/>
            <p:nvPr/>
          </p:nvSpPr>
          <p:spPr>
            <a:xfrm>
              <a:off x="1544128" y="3469910"/>
              <a:ext cx="341471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內部路徑長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 0 + 1 + 1 +2 = 4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45" name="群組 44"/>
            <p:cNvGrpSpPr/>
            <p:nvPr/>
          </p:nvGrpSpPr>
          <p:grpSpPr>
            <a:xfrm>
              <a:off x="3075797" y="3258928"/>
              <a:ext cx="1479462" cy="369332"/>
              <a:chOff x="3075797" y="3258928"/>
              <a:chExt cx="1479462" cy="369332"/>
            </a:xfrm>
          </p:grpSpPr>
          <p:sp>
            <p:nvSpPr>
              <p:cNvPr id="38" name="文字方塊 37"/>
              <p:cNvSpPr txBox="1"/>
              <p:nvPr/>
            </p:nvSpPr>
            <p:spPr>
              <a:xfrm>
                <a:off x="3075797" y="325892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3474327" y="325892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3854959" y="3258928"/>
                <a:ext cx="351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文字方塊 40"/>
              <p:cNvSpPr txBox="1"/>
              <p:nvPr/>
            </p:nvSpPr>
            <p:spPr>
              <a:xfrm>
                <a:off x="4203881" y="3258928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8" name="群組 47"/>
          <p:cNvGrpSpPr/>
          <p:nvPr/>
        </p:nvGrpSpPr>
        <p:grpSpPr>
          <a:xfrm>
            <a:off x="1544128" y="4064396"/>
            <a:ext cx="3076483" cy="585215"/>
            <a:chOff x="1544128" y="3932194"/>
            <a:chExt cx="3076483" cy="585215"/>
          </a:xfrm>
        </p:grpSpPr>
        <p:sp>
          <p:nvSpPr>
            <p:cNvPr id="37" name="文字方塊 36"/>
            <p:cNvSpPr txBox="1"/>
            <p:nvPr/>
          </p:nvSpPr>
          <p:spPr>
            <a:xfrm>
              <a:off x="1544128" y="4117299"/>
              <a:ext cx="30764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外部路徑長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 2 + 2 + 3 = 7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46" name="群組 45"/>
            <p:cNvGrpSpPr/>
            <p:nvPr/>
          </p:nvGrpSpPr>
          <p:grpSpPr>
            <a:xfrm>
              <a:off x="3075797" y="3932194"/>
              <a:ext cx="1146757" cy="369332"/>
              <a:chOff x="3075797" y="3932194"/>
              <a:chExt cx="1146757" cy="369332"/>
            </a:xfrm>
          </p:grpSpPr>
          <p:sp>
            <p:nvSpPr>
              <p:cNvPr id="42" name="文字方塊 41"/>
              <p:cNvSpPr txBox="1"/>
              <p:nvPr/>
            </p:nvSpPr>
            <p:spPr>
              <a:xfrm>
                <a:off x="3075797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3487151" y="3932194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文字方塊 43"/>
              <p:cNvSpPr txBox="1"/>
              <p:nvPr/>
            </p:nvSpPr>
            <p:spPr>
              <a:xfrm>
                <a:off x="3858351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0" name="文字方塊 49"/>
          <p:cNvSpPr txBox="1"/>
          <p:nvPr/>
        </p:nvSpPr>
        <p:spPr>
          <a:xfrm>
            <a:off x="6698001" y="358158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5857626" y="410506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394830" y="35645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群組 52"/>
          <p:cNvGrpSpPr/>
          <p:nvPr/>
        </p:nvGrpSpPr>
        <p:grpSpPr>
          <a:xfrm>
            <a:off x="5148721" y="4571977"/>
            <a:ext cx="3542958" cy="585215"/>
            <a:chOff x="1544128" y="3932194"/>
            <a:chExt cx="3542958" cy="585215"/>
          </a:xfrm>
        </p:grpSpPr>
        <p:sp>
          <p:nvSpPr>
            <p:cNvPr id="54" name="文字方塊 53"/>
            <p:cNvSpPr txBox="1"/>
            <p:nvPr/>
          </p:nvSpPr>
          <p:spPr>
            <a:xfrm>
              <a:off x="1544128" y="4117299"/>
              <a:ext cx="354295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 =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+ 3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57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55" name="群組 54"/>
            <p:cNvGrpSpPr/>
            <p:nvPr/>
          </p:nvGrpSpPr>
          <p:grpSpPr>
            <a:xfrm>
              <a:off x="2428847" y="3932194"/>
              <a:ext cx="1923097" cy="369332"/>
              <a:chOff x="2428847" y="3932194"/>
              <a:chExt cx="1923097" cy="369332"/>
            </a:xfrm>
          </p:grpSpPr>
          <p:sp>
            <p:nvSpPr>
              <p:cNvPr id="56" name="文字方塊 55"/>
              <p:cNvSpPr txBox="1"/>
              <p:nvPr/>
            </p:nvSpPr>
            <p:spPr>
              <a:xfrm>
                <a:off x="2428847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7" name="文字方塊 56"/>
              <p:cNvSpPr txBox="1"/>
              <p:nvPr/>
            </p:nvSpPr>
            <p:spPr>
              <a:xfrm>
                <a:off x="3228371" y="3932194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8" name="文字方塊 57"/>
              <p:cNvSpPr txBox="1"/>
              <p:nvPr/>
            </p:nvSpPr>
            <p:spPr>
              <a:xfrm>
                <a:off x="3987741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/>
              <p:cNvSpPr txBox="1"/>
              <p:nvPr/>
            </p:nvSpPr>
            <p:spPr>
              <a:xfrm>
                <a:off x="887661" y="6141202"/>
                <a:ext cx="38543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TW" altLang="en-US" sz="2000" b="0" i="0" smtClean="0">
                        <a:solidFill>
                          <a:srgbClr val="C00000"/>
                        </a:solidFill>
                        <a:latin typeface="標楷體" panose="03000509000000000000" pitchFamily="65" charset="-120"/>
                        <a:ea typeface="標楷體" panose="03000509000000000000" pitchFamily="65" charset="-120"/>
                      </a:rPr>
                      <m:t>位元數</m:t>
                    </m:r>
                  </m:oMath>
                </a14:m>
                <a:r>
                  <a:rPr lang="en-US" altLang="zh-TW" sz="2000" b="1" dirty="0">
                    <a:solidFill>
                      <a:srgbClr val="C00000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 </a:t>
                </a:r>
                <a:r>
                  <a:rPr lang="en-US" altLang="zh-TW" sz="2000" b="1" dirty="0">
                    <a:solidFill>
                      <a:srgbClr val="C00000"/>
                    </a:solidFill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b>
                          <m:sSubPr>
                            <m:ctrlPr>
                              <a:rPr lang="zh-TW" altLang="en-US" sz="2000" b="0" i="0">
                                <a:solidFill>
                                  <a:srgbClr val="C00000"/>
                                </a:solidFill>
                                <a:latin typeface="標楷體" panose="03000509000000000000" pitchFamily="65" charset="-120"/>
                                <a:ea typeface="標楷體" panose="03000509000000000000" pitchFamily="65" charset="-12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zh-TW" altLang="en-US" sz="2000" b="0" i="0">
                                <a:solidFill>
                                  <a:srgbClr val="C00000"/>
                                </a:solidFill>
                                <a:latin typeface="標楷體" panose="03000509000000000000" pitchFamily="65" charset="-120"/>
                                <a:ea typeface="標楷體" panose="03000509000000000000" pitchFamily="65" charset="-120"/>
                              </a:rPr>
                              <m:t>頻率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TW" sz="20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zh-TW" altLang="en-US" sz="2000" b="0" i="0">
                                <a:solidFill>
                                  <a:srgbClr val="C00000"/>
                                </a:solidFill>
                                <a:latin typeface="標楷體" panose="03000509000000000000" pitchFamily="65" charset="-120"/>
                                <a:ea typeface="標楷體" panose="03000509000000000000" pitchFamily="65" charset="-12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zh-TW" altLang="en-US" sz="2000" b="0" i="0">
                                <a:solidFill>
                                  <a:srgbClr val="C00000"/>
                                </a:solidFill>
                                <a:latin typeface="標楷體" panose="03000509000000000000" pitchFamily="65" charset="-120"/>
                                <a:ea typeface="標楷體" panose="03000509000000000000" pitchFamily="65" charset="-120"/>
                              </a:rPr>
                              <m:t>深度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𝒗</m:t>
                            </m:r>
                          </m:e>
                          <m:sub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r>
                          <a:rPr lang="en-US" altLang="zh-TW" sz="20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zh-TW" alt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文字方塊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661" y="6141202"/>
                <a:ext cx="3854325" cy="307777"/>
              </a:xfrm>
              <a:prstGeom prst="rect">
                <a:avLst/>
              </a:prstGeom>
              <a:blipFill rotWithShape="0">
                <a:blip r:embed="rId2"/>
                <a:stretch>
                  <a:fillRect l="-3006" t="-172549" r="-2373" b="-25098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786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(7/16)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WE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最小的二元樹稱為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Huffman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最佳二元樹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grpSp>
        <p:nvGrpSpPr>
          <p:cNvPr id="58" name="群組 57"/>
          <p:cNvGrpSpPr/>
          <p:nvPr/>
        </p:nvGrpSpPr>
        <p:grpSpPr>
          <a:xfrm>
            <a:off x="429453" y="1620000"/>
            <a:ext cx="2458021" cy="1718195"/>
            <a:chOff x="825205" y="1750356"/>
            <a:chExt cx="2458021" cy="1718195"/>
          </a:xfrm>
        </p:grpSpPr>
        <p:sp>
          <p:nvSpPr>
            <p:cNvPr id="8" name="橢圓 7"/>
            <p:cNvSpPr/>
            <p:nvPr/>
          </p:nvSpPr>
          <p:spPr>
            <a:xfrm>
              <a:off x="844226" y="28947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9" name="橢圓 8"/>
            <p:cNvSpPr/>
            <p:nvPr/>
          </p:nvSpPr>
          <p:spPr>
            <a:xfrm>
              <a:off x="1535957" y="29005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2" name="橢圓 11"/>
            <p:cNvSpPr/>
            <p:nvPr/>
          </p:nvSpPr>
          <p:spPr>
            <a:xfrm>
              <a:off x="1186437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3" name="橢圓 12"/>
            <p:cNvSpPr/>
            <p:nvPr/>
          </p:nvSpPr>
          <p:spPr>
            <a:xfrm>
              <a:off x="2561973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橢圓 13"/>
            <p:cNvSpPr/>
            <p:nvPr/>
          </p:nvSpPr>
          <p:spPr>
            <a:xfrm>
              <a:off x="1861976" y="18193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6" name="直線接點 15"/>
            <p:cNvCxnSpPr>
              <a:stCxn id="12" idx="4"/>
              <a:endCxn id="9" idx="0"/>
            </p:cNvCxnSpPr>
            <p:nvPr/>
          </p:nvCxnSpPr>
          <p:spPr>
            <a:xfrm>
              <a:off x="1330437" y="2636451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接點 16"/>
            <p:cNvCxnSpPr>
              <a:stCxn id="12" idx="4"/>
              <a:endCxn id="8" idx="0"/>
            </p:cNvCxnSpPr>
            <p:nvPr/>
          </p:nvCxnSpPr>
          <p:spPr>
            <a:xfrm flipH="1">
              <a:off x="988226" y="2636451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/>
            <p:cNvCxnSpPr>
              <a:stCxn id="14" idx="4"/>
              <a:endCxn id="13" idx="0"/>
            </p:cNvCxnSpPr>
            <p:nvPr/>
          </p:nvCxnSpPr>
          <p:spPr>
            <a:xfrm>
              <a:off x="2005976" y="2107364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接點 18"/>
            <p:cNvCxnSpPr>
              <a:stCxn id="14" idx="4"/>
              <a:endCxn id="12" idx="0"/>
            </p:cNvCxnSpPr>
            <p:nvPr/>
          </p:nvCxnSpPr>
          <p:spPr>
            <a:xfrm flipH="1">
              <a:off x="1330437" y="2107364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字方塊 21"/>
            <p:cNvSpPr txBox="1"/>
            <p:nvPr/>
          </p:nvSpPr>
          <p:spPr>
            <a:xfrm>
              <a:off x="2536095" y="2290775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字方塊 22"/>
            <p:cNvSpPr txBox="1"/>
            <p:nvPr/>
          </p:nvSpPr>
          <p:spPr>
            <a:xfrm>
              <a:off x="825205" y="283933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文字方塊 23"/>
            <p:cNvSpPr txBox="1"/>
            <p:nvPr/>
          </p:nvSpPr>
          <p:spPr>
            <a:xfrm>
              <a:off x="1518167" y="283687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2983144" y="17503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文字方塊 27"/>
            <p:cNvSpPr txBox="1"/>
            <p:nvPr/>
          </p:nvSpPr>
          <p:spPr>
            <a:xfrm>
              <a:off x="2983144" y="22905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2983144" y="280728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832144" y="3089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文字方塊 31"/>
            <p:cNvSpPr txBox="1"/>
            <p:nvPr/>
          </p:nvSpPr>
          <p:spPr>
            <a:xfrm>
              <a:off x="2573184" y="25514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1529916" y="30992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4" name="群組 33"/>
          <p:cNvGrpSpPr/>
          <p:nvPr/>
        </p:nvGrpSpPr>
        <p:grpSpPr>
          <a:xfrm>
            <a:off x="2628000" y="3618659"/>
            <a:ext cx="3671198" cy="585215"/>
            <a:chOff x="1544128" y="3932194"/>
            <a:chExt cx="3671198" cy="585215"/>
          </a:xfrm>
        </p:grpSpPr>
        <p:sp>
          <p:nvSpPr>
            <p:cNvPr id="35" name="文字方塊 34"/>
            <p:cNvSpPr txBox="1"/>
            <p:nvPr/>
          </p:nvSpPr>
          <p:spPr>
            <a:xfrm>
              <a:off x="1544128" y="4117299"/>
              <a:ext cx="367119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1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+ 1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39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36" name="群組 35"/>
            <p:cNvGrpSpPr/>
            <p:nvPr/>
          </p:nvGrpSpPr>
          <p:grpSpPr>
            <a:xfrm>
              <a:off x="2428847" y="3932194"/>
              <a:ext cx="1923097" cy="369332"/>
              <a:chOff x="2428847" y="3932194"/>
              <a:chExt cx="1923097" cy="369332"/>
            </a:xfrm>
          </p:grpSpPr>
          <p:sp>
            <p:nvSpPr>
              <p:cNvPr id="37" name="文字方塊 36"/>
              <p:cNvSpPr txBox="1"/>
              <p:nvPr/>
            </p:nvSpPr>
            <p:spPr>
              <a:xfrm>
                <a:off x="2428847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字方塊 37"/>
              <p:cNvSpPr txBox="1"/>
              <p:nvPr/>
            </p:nvSpPr>
            <p:spPr>
              <a:xfrm>
                <a:off x="3221959" y="3932194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文字方塊 38"/>
              <p:cNvSpPr txBox="1"/>
              <p:nvPr/>
            </p:nvSpPr>
            <p:spPr>
              <a:xfrm>
                <a:off x="3987741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9" name="群組 58"/>
          <p:cNvGrpSpPr/>
          <p:nvPr/>
        </p:nvGrpSpPr>
        <p:grpSpPr>
          <a:xfrm>
            <a:off x="3381591" y="1620000"/>
            <a:ext cx="2458021" cy="1718195"/>
            <a:chOff x="825205" y="1750356"/>
            <a:chExt cx="2458021" cy="1718195"/>
          </a:xfrm>
        </p:grpSpPr>
        <p:sp>
          <p:nvSpPr>
            <p:cNvPr id="60" name="橢圓 59"/>
            <p:cNvSpPr/>
            <p:nvPr/>
          </p:nvSpPr>
          <p:spPr>
            <a:xfrm>
              <a:off x="844226" y="28947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1" name="橢圓 60"/>
            <p:cNvSpPr/>
            <p:nvPr/>
          </p:nvSpPr>
          <p:spPr>
            <a:xfrm>
              <a:off x="1535957" y="29005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橢圓 61"/>
            <p:cNvSpPr/>
            <p:nvPr/>
          </p:nvSpPr>
          <p:spPr>
            <a:xfrm>
              <a:off x="1186437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橢圓 62"/>
            <p:cNvSpPr/>
            <p:nvPr/>
          </p:nvSpPr>
          <p:spPr>
            <a:xfrm>
              <a:off x="2561973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4" name="橢圓 63"/>
            <p:cNvSpPr/>
            <p:nvPr/>
          </p:nvSpPr>
          <p:spPr>
            <a:xfrm>
              <a:off x="1861976" y="18193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65" name="直線接點 64"/>
            <p:cNvCxnSpPr>
              <a:stCxn id="62" idx="4"/>
              <a:endCxn id="61" idx="0"/>
            </p:cNvCxnSpPr>
            <p:nvPr/>
          </p:nvCxnSpPr>
          <p:spPr>
            <a:xfrm>
              <a:off x="1330437" y="2636451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接點 65"/>
            <p:cNvCxnSpPr>
              <a:stCxn id="62" idx="4"/>
              <a:endCxn id="60" idx="0"/>
            </p:cNvCxnSpPr>
            <p:nvPr/>
          </p:nvCxnSpPr>
          <p:spPr>
            <a:xfrm flipH="1">
              <a:off x="988226" y="2636451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線接點 66"/>
            <p:cNvCxnSpPr>
              <a:stCxn id="64" idx="4"/>
              <a:endCxn id="63" idx="0"/>
            </p:cNvCxnSpPr>
            <p:nvPr/>
          </p:nvCxnSpPr>
          <p:spPr>
            <a:xfrm>
              <a:off x="2005976" y="2107364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線接點 67"/>
            <p:cNvCxnSpPr>
              <a:stCxn id="64" idx="4"/>
              <a:endCxn id="62" idx="0"/>
            </p:cNvCxnSpPr>
            <p:nvPr/>
          </p:nvCxnSpPr>
          <p:spPr>
            <a:xfrm flipH="1">
              <a:off x="1330437" y="2107364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字方塊 68"/>
            <p:cNvSpPr txBox="1"/>
            <p:nvPr/>
          </p:nvSpPr>
          <p:spPr>
            <a:xfrm>
              <a:off x="2536095" y="2290775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文字方塊 69"/>
            <p:cNvSpPr txBox="1"/>
            <p:nvPr/>
          </p:nvSpPr>
          <p:spPr>
            <a:xfrm>
              <a:off x="825205" y="283933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518167" y="283687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文字方塊 71"/>
            <p:cNvSpPr txBox="1"/>
            <p:nvPr/>
          </p:nvSpPr>
          <p:spPr>
            <a:xfrm>
              <a:off x="2983144" y="17503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2983144" y="22905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2983144" y="280728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文字方塊 74"/>
            <p:cNvSpPr txBox="1"/>
            <p:nvPr/>
          </p:nvSpPr>
          <p:spPr>
            <a:xfrm>
              <a:off x="832144" y="3089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文字方塊 75"/>
            <p:cNvSpPr txBox="1"/>
            <p:nvPr/>
          </p:nvSpPr>
          <p:spPr>
            <a:xfrm>
              <a:off x="2573184" y="25514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文字方塊 76"/>
            <p:cNvSpPr txBox="1"/>
            <p:nvPr/>
          </p:nvSpPr>
          <p:spPr>
            <a:xfrm>
              <a:off x="1529916" y="30992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8" name="群組 77"/>
          <p:cNvGrpSpPr/>
          <p:nvPr/>
        </p:nvGrpSpPr>
        <p:grpSpPr>
          <a:xfrm>
            <a:off x="6328660" y="1620000"/>
            <a:ext cx="2458021" cy="1718195"/>
            <a:chOff x="825205" y="1750356"/>
            <a:chExt cx="2458021" cy="1718195"/>
          </a:xfrm>
        </p:grpSpPr>
        <p:sp>
          <p:nvSpPr>
            <p:cNvPr id="79" name="橢圓 78"/>
            <p:cNvSpPr/>
            <p:nvPr/>
          </p:nvSpPr>
          <p:spPr>
            <a:xfrm>
              <a:off x="844226" y="289479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0" name="橢圓 79"/>
            <p:cNvSpPr/>
            <p:nvPr/>
          </p:nvSpPr>
          <p:spPr>
            <a:xfrm>
              <a:off x="1535957" y="2900576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橢圓 80"/>
            <p:cNvSpPr/>
            <p:nvPr/>
          </p:nvSpPr>
          <p:spPr>
            <a:xfrm>
              <a:off x="1186437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2" name="橢圓 81"/>
            <p:cNvSpPr/>
            <p:nvPr/>
          </p:nvSpPr>
          <p:spPr>
            <a:xfrm>
              <a:off x="2561973" y="2348451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3" name="橢圓 82"/>
            <p:cNvSpPr/>
            <p:nvPr/>
          </p:nvSpPr>
          <p:spPr>
            <a:xfrm>
              <a:off x="1861976" y="181936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84" name="直線接點 83"/>
            <p:cNvCxnSpPr>
              <a:stCxn id="81" idx="4"/>
              <a:endCxn id="80" idx="0"/>
            </p:cNvCxnSpPr>
            <p:nvPr/>
          </p:nvCxnSpPr>
          <p:spPr>
            <a:xfrm>
              <a:off x="1330437" y="2636451"/>
              <a:ext cx="349520" cy="264125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線接點 84"/>
            <p:cNvCxnSpPr>
              <a:stCxn id="81" idx="4"/>
              <a:endCxn id="79" idx="0"/>
            </p:cNvCxnSpPr>
            <p:nvPr/>
          </p:nvCxnSpPr>
          <p:spPr>
            <a:xfrm flipH="1">
              <a:off x="988226" y="2636451"/>
              <a:ext cx="342211" cy="25834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線接點 85"/>
            <p:cNvCxnSpPr>
              <a:stCxn id="83" idx="4"/>
              <a:endCxn id="82" idx="0"/>
            </p:cNvCxnSpPr>
            <p:nvPr/>
          </p:nvCxnSpPr>
          <p:spPr>
            <a:xfrm>
              <a:off x="2005976" y="2107364"/>
              <a:ext cx="699997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線接點 86"/>
            <p:cNvCxnSpPr>
              <a:stCxn id="83" idx="4"/>
              <a:endCxn id="81" idx="0"/>
            </p:cNvCxnSpPr>
            <p:nvPr/>
          </p:nvCxnSpPr>
          <p:spPr>
            <a:xfrm flipH="1">
              <a:off x="1330437" y="2107364"/>
              <a:ext cx="675539" cy="241087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文字方塊 87"/>
            <p:cNvSpPr txBox="1"/>
            <p:nvPr/>
          </p:nvSpPr>
          <p:spPr>
            <a:xfrm>
              <a:off x="2536095" y="2290775"/>
              <a:ext cx="351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文字方塊 88"/>
            <p:cNvSpPr txBox="1"/>
            <p:nvPr/>
          </p:nvSpPr>
          <p:spPr>
            <a:xfrm>
              <a:off x="825205" y="2839337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文字方塊 89"/>
            <p:cNvSpPr txBox="1"/>
            <p:nvPr/>
          </p:nvSpPr>
          <p:spPr>
            <a:xfrm>
              <a:off x="1518167" y="2836873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文字方塊 90"/>
            <p:cNvSpPr txBox="1"/>
            <p:nvPr/>
          </p:nvSpPr>
          <p:spPr>
            <a:xfrm>
              <a:off x="2983144" y="175035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文字方塊 91"/>
            <p:cNvSpPr txBox="1"/>
            <p:nvPr/>
          </p:nvSpPr>
          <p:spPr>
            <a:xfrm>
              <a:off x="2983144" y="22905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文字方塊 92"/>
            <p:cNvSpPr txBox="1"/>
            <p:nvPr/>
          </p:nvSpPr>
          <p:spPr>
            <a:xfrm>
              <a:off x="2983144" y="280728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文字方塊 93"/>
            <p:cNvSpPr txBox="1"/>
            <p:nvPr/>
          </p:nvSpPr>
          <p:spPr>
            <a:xfrm>
              <a:off x="832144" y="308980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文字方塊 94"/>
            <p:cNvSpPr txBox="1"/>
            <p:nvPr/>
          </p:nvSpPr>
          <p:spPr>
            <a:xfrm>
              <a:off x="2573184" y="255142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文字方塊 95"/>
            <p:cNvSpPr txBox="1"/>
            <p:nvPr/>
          </p:nvSpPr>
          <p:spPr>
            <a:xfrm>
              <a:off x="1529916" y="3099219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7" name="群組 96"/>
          <p:cNvGrpSpPr/>
          <p:nvPr/>
        </p:nvGrpSpPr>
        <p:grpSpPr>
          <a:xfrm>
            <a:off x="2628000" y="4203874"/>
            <a:ext cx="3627916" cy="585215"/>
            <a:chOff x="1544128" y="3932194"/>
            <a:chExt cx="3627916" cy="585215"/>
          </a:xfrm>
        </p:grpSpPr>
        <p:sp>
          <p:nvSpPr>
            <p:cNvPr id="98" name="文字方塊 97"/>
            <p:cNvSpPr txBox="1"/>
            <p:nvPr/>
          </p:nvSpPr>
          <p:spPr>
            <a:xfrm>
              <a:off x="1544128" y="4117299"/>
              <a:ext cx="3627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1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40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99" name="群組 98"/>
            <p:cNvGrpSpPr/>
            <p:nvPr/>
          </p:nvGrpSpPr>
          <p:grpSpPr>
            <a:xfrm>
              <a:off x="2428847" y="3932194"/>
              <a:ext cx="1923097" cy="369332"/>
              <a:chOff x="2428847" y="3932194"/>
              <a:chExt cx="1923097" cy="369332"/>
            </a:xfrm>
          </p:grpSpPr>
          <p:sp>
            <p:nvSpPr>
              <p:cNvPr id="100" name="文字方塊 99"/>
              <p:cNvSpPr txBox="1"/>
              <p:nvPr/>
            </p:nvSpPr>
            <p:spPr>
              <a:xfrm>
                <a:off x="2428847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1" name="文字方塊 100"/>
              <p:cNvSpPr txBox="1"/>
              <p:nvPr/>
            </p:nvSpPr>
            <p:spPr>
              <a:xfrm>
                <a:off x="3221959" y="3932194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" name="文字方塊 101"/>
              <p:cNvSpPr txBox="1"/>
              <p:nvPr/>
            </p:nvSpPr>
            <p:spPr>
              <a:xfrm>
                <a:off x="3987741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03" name="群組 102"/>
          <p:cNvGrpSpPr/>
          <p:nvPr/>
        </p:nvGrpSpPr>
        <p:grpSpPr>
          <a:xfrm>
            <a:off x="2628000" y="4789089"/>
            <a:ext cx="3627916" cy="585215"/>
            <a:chOff x="1544128" y="3932194"/>
            <a:chExt cx="3627916" cy="585215"/>
          </a:xfrm>
        </p:grpSpPr>
        <p:sp>
          <p:nvSpPr>
            <p:cNvPr id="104" name="文字方塊 103"/>
            <p:cNvSpPr txBox="1"/>
            <p:nvPr/>
          </p:nvSpPr>
          <p:spPr>
            <a:xfrm>
              <a:off x="1544128" y="4117299"/>
              <a:ext cx="362791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WE</a:t>
              </a:r>
              <a:r>
                <a:rPr lang="en-US" altLang="zh-TW" sz="2000" b="1" baseline="-25000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3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8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+ 1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7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+ 2 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  <a:sym typeface="Symbol"/>
                </a:rPr>
                <a:t> 9</a:t>
              </a:r>
              <a:r>
                <a: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= 41</a:t>
              </a:r>
              <a:endPara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  <p:grpSp>
          <p:nvGrpSpPr>
            <p:cNvPr id="105" name="群組 104"/>
            <p:cNvGrpSpPr/>
            <p:nvPr/>
          </p:nvGrpSpPr>
          <p:grpSpPr>
            <a:xfrm>
              <a:off x="2428847" y="3932194"/>
              <a:ext cx="1923097" cy="369332"/>
              <a:chOff x="2428847" y="3932194"/>
              <a:chExt cx="1923097" cy="369332"/>
            </a:xfrm>
          </p:grpSpPr>
          <p:sp>
            <p:nvSpPr>
              <p:cNvPr id="106" name="文字方塊 105"/>
              <p:cNvSpPr txBox="1"/>
              <p:nvPr/>
            </p:nvSpPr>
            <p:spPr>
              <a:xfrm>
                <a:off x="2428847" y="3932194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7" name="文字方塊 106"/>
              <p:cNvSpPr txBox="1"/>
              <p:nvPr/>
            </p:nvSpPr>
            <p:spPr>
              <a:xfrm>
                <a:off x="3221959" y="3932194"/>
                <a:ext cx="33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文字方塊 107"/>
              <p:cNvSpPr txBox="1"/>
              <p:nvPr/>
            </p:nvSpPr>
            <p:spPr>
              <a:xfrm>
                <a:off x="3987741" y="3932194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672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(8/16)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4239963" y="1242201"/>
            <a:ext cx="845390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開始</a:t>
            </a:r>
            <a:endParaRPr lang="zh-TW" altLang="en-US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536210" y="1820184"/>
            <a:ext cx="4261448" cy="3881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將樹葉依照加權由小至大排列</a:t>
            </a:r>
          </a:p>
        </p:txBody>
      </p:sp>
      <p:sp>
        <p:nvSpPr>
          <p:cNvPr id="9" name="流程圖: 決策 8"/>
          <p:cNvSpPr/>
          <p:nvPr/>
        </p:nvSpPr>
        <p:spPr>
          <a:xfrm>
            <a:off x="2536210" y="2616667"/>
            <a:ext cx="4261448" cy="831022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串列只有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個元素？</a:t>
            </a:r>
          </a:p>
        </p:txBody>
      </p:sp>
      <p:sp>
        <p:nvSpPr>
          <p:cNvPr id="10" name="矩形 9"/>
          <p:cNvSpPr/>
          <p:nvPr/>
        </p:nvSpPr>
        <p:spPr>
          <a:xfrm>
            <a:off x="2536210" y="3844485"/>
            <a:ext cx="4261448" cy="6728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從串列取出加權最小的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個子樹生成新子樹，加權為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個子樹之加權和</a:t>
            </a:r>
          </a:p>
        </p:txBody>
      </p:sp>
      <p:sp>
        <p:nvSpPr>
          <p:cNvPr id="12" name="矩形 11"/>
          <p:cNvSpPr/>
          <p:nvPr/>
        </p:nvSpPr>
        <p:spPr>
          <a:xfrm>
            <a:off x="2536210" y="4960189"/>
            <a:ext cx="4261448" cy="11243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將新子樹樹根插入串列適當位置，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使串列仍然維持由小到大</a:t>
            </a:r>
            <a:endParaRPr lang="zh-TW" altLang="en-US" sz="2000" b="1" i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圓角矩形 12"/>
          <p:cNvSpPr/>
          <p:nvPr/>
        </p:nvSpPr>
        <p:spPr>
          <a:xfrm>
            <a:off x="4241522" y="6393586"/>
            <a:ext cx="871269" cy="319177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結束</a:t>
            </a:r>
          </a:p>
        </p:txBody>
      </p:sp>
      <p:cxnSp>
        <p:nvCxnSpPr>
          <p:cNvPr id="14" name="直線單箭頭接點 13"/>
          <p:cNvCxnSpPr>
            <a:stCxn id="7" idx="2"/>
            <a:endCxn id="8" idx="0"/>
          </p:cNvCxnSpPr>
          <p:nvPr/>
        </p:nvCxnSpPr>
        <p:spPr>
          <a:xfrm>
            <a:off x="4662658" y="1561378"/>
            <a:ext cx="4276" cy="25880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/>
          <p:cNvCxnSpPr>
            <a:stCxn id="8" idx="2"/>
            <a:endCxn id="9" idx="0"/>
          </p:cNvCxnSpPr>
          <p:nvPr/>
        </p:nvCxnSpPr>
        <p:spPr>
          <a:xfrm>
            <a:off x="4666934" y="2208382"/>
            <a:ext cx="0" cy="408285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單箭頭接點 15"/>
          <p:cNvCxnSpPr>
            <a:stCxn id="10" idx="2"/>
            <a:endCxn id="12" idx="0"/>
          </p:cNvCxnSpPr>
          <p:nvPr/>
        </p:nvCxnSpPr>
        <p:spPr>
          <a:xfrm>
            <a:off x="4666934" y="4517353"/>
            <a:ext cx="0" cy="442836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肘形接點 16"/>
          <p:cNvCxnSpPr>
            <a:stCxn id="12" idx="2"/>
            <a:endCxn id="9" idx="3"/>
          </p:cNvCxnSpPr>
          <p:nvPr/>
        </p:nvCxnSpPr>
        <p:spPr>
          <a:xfrm rot="5400000" flipH="1" flipV="1">
            <a:off x="4206140" y="3492972"/>
            <a:ext cx="3052312" cy="2130724"/>
          </a:xfrm>
          <a:prstGeom prst="bentConnector4">
            <a:avLst>
              <a:gd name="adj1" fmla="val -7489"/>
              <a:gd name="adj2" fmla="val 110729"/>
            </a:avLst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群組 17"/>
          <p:cNvGrpSpPr/>
          <p:nvPr/>
        </p:nvGrpSpPr>
        <p:grpSpPr>
          <a:xfrm>
            <a:off x="4641056" y="3447689"/>
            <a:ext cx="415498" cy="396796"/>
            <a:chOff x="5529534" y="3447689"/>
            <a:chExt cx="415498" cy="396796"/>
          </a:xfrm>
        </p:grpSpPr>
        <p:cxnSp>
          <p:nvCxnSpPr>
            <p:cNvPr id="19" name="直線單箭頭接點 18"/>
            <p:cNvCxnSpPr>
              <a:stCxn id="9" idx="2"/>
              <a:endCxn id="10" idx="0"/>
            </p:cNvCxnSpPr>
            <p:nvPr/>
          </p:nvCxnSpPr>
          <p:spPr>
            <a:xfrm>
              <a:off x="5546786" y="3447689"/>
              <a:ext cx="0" cy="396796"/>
            </a:xfrm>
            <a:prstGeom prst="straightConnector1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字方塊 19"/>
            <p:cNvSpPr txBox="1"/>
            <p:nvPr/>
          </p:nvSpPr>
          <p:spPr>
            <a:xfrm>
              <a:off x="5529534" y="3449275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否</a:t>
              </a:r>
            </a:p>
          </p:txBody>
        </p:sp>
      </p:grpSp>
      <p:grpSp>
        <p:nvGrpSpPr>
          <p:cNvPr id="24" name="群組 23"/>
          <p:cNvGrpSpPr/>
          <p:nvPr/>
        </p:nvGrpSpPr>
        <p:grpSpPr>
          <a:xfrm>
            <a:off x="1897850" y="3032177"/>
            <a:ext cx="2335046" cy="3520997"/>
            <a:chOff x="2786328" y="3032177"/>
            <a:chExt cx="2335046" cy="3520997"/>
          </a:xfrm>
        </p:grpSpPr>
        <p:cxnSp>
          <p:nvCxnSpPr>
            <p:cNvPr id="25" name="肘形接點 24"/>
            <p:cNvCxnSpPr>
              <a:stCxn id="9" idx="1"/>
              <a:endCxn id="13" idx="1"/>
            </p:cNvCxnSpPr>
            <p:nvPr/>
          </p:nvCxnSpPr>
          <p:spPr>
            <a:xfrm rot="10800000" flipH="1" flipV="1">
              <a:off x="3416062" y="3032177"/>
              <a:ext cx="1705312" cy="3520997"/>
            </a:xfrm>
            <a:prstGeom prst="bentConnector3">
              <a:avLst>
                <a:gd name="adj1" fmla="val -13405"/>
              </a:avLst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字方塊 25"/>
            <p:cNvSpPr txBox="1"/>
            <p:nvPr/>
          </p:nvSpPr>
          <p:spPr>
            <a:xfrm>
              <a:off x="2786328" y="3194221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latin typeface="標楷體" panose="03000509000000000000" pitchFamily="65" charset="-120"/>
                  <a:ea typeface="標楷體" panose="03000509000000000000" pitchFamily="65" charset="-120"/>
                </a:rPr>
                <a:t>是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1861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(9/16)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假設有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個樹葉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A, B, C, D, E, F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，加權分別為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15, 8, 30, 27, 5, 15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1101033" y="4698717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758822" y="4698717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595801" y="4966972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288763" y="4968147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916844" y="4361425"/>
            <a:ext cx="364203" cy="369332"/>
            <a:chOff x="916844" y="4361425"/>
            <a:chExt cx="364203" cy="369332"/>
          </a:xfrm>
        </p:grpSpPr>
        <p:sp>
          <p:nvSpPr>
            <p:cNvPr id="27" name="橢圓 26"/>
            <p:cNvSpPr/>
            <p:nvPr/>
          </p:nvSpPr>
          <p:spPr>
            <a:xfrm>
              <a:off x="957033" y="44107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916844" y="4361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9" name="群組 48"/>
          <p:cNvGrpSpPr/>
          <p:nvPr/>
        </p:nvGrpSpPr>
        <p:grpSpPr>
          <a:xfrm>
            <a:off x="1948267" y="4966972"/>
            <a:ext cx="415499" cy="628421"/>
            <a:chOff x="545032" y="4780839"/>
            <a:chExt cx="415499" cy="628421"/>
          </a:xfrm>
        </p:grpSpPr>
        <p:sp>
          <p:nvSpPr>
            <p:cNvPr id="50" name="橢圓 49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545032" y="50399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3" name="群組 52"/>
          <p:cNvGrpSpPr/>
          <p:nvPr/>
        </p:nvGrpSpPr>
        <p:grpSpPr>
          <a:xfrm>
            <a:off x="2646039" y="4966972"/>
            <a:ext cx="415499" cy="631678"/>
            <a:chOff x="1242804" y="4778375"/>
            <a:chExt cx="415499" cy="631678"/>
          </a:xfrm>
        </p:grpSpPr>
        <p:sp>
          <p:nvSpPr>
            <p:cNvPr id="54" name="橢圓 53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1301587" y="477837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3414759" y="4966972"/>
            <a:ext cx="415499" cy="628421"/>
            <a:chOff x="545032" y="4780839"/>
            <a:chExt cx="415499" cy="628421"/>
          </a:xfrm>
        </p:grpSpPr>
        <p:sp>
          <p:nvSpPr>
            <p:cNvPr id="58" name="橢圓 57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545032" y="50399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4112531" y="4966972"/>
            <a:ext cx="415499" cy="631678"/>
            <a:chOff x="1242804" y="4778375"/>
            <a:chExt cx="415499" cy="631678"/>
          </a:xfrm>
        </p:grpSpPr>
        <p:sp>
          <p:nvSpPr>
            <p:cNvPr id="62" name="橢圓 61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文字方塊 64"/>
          <p:cNvSpPr txBox="1"/>
          <p:nvPr/>
        </p:nvSpPr>
        <p:spPr>
          <a:xfrm>
            <a:off x="602740" y="436142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491706" y="4966972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圓角矩形 66"/>
          <p:cNvSpPr/>
          <p:nvPr/>
        </p:nvSpPr>
        <p:spPr>
          <a:xfrm>
            <a:off x="1187286" y="4968147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631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48" grpId="0" animBg="1"/>
      <p:bldP spid="67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橢圓 26"/>
          <p:cNvSpPr/>
          <p:nvPr/>
        </p:nvSpPr>
        <p:spPr>
          <a:xfrm>
            <a:off x="957033" y="44107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/>
          <p:cNvSpPr txBox="1"/>
          <p:nvPr/>
        </p:nvSpPr>
        <p:spPr>
          <a:xfrm>
            <a:off x="916844" y="4361425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2018057" y="439272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1999036" y="4337274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(10/16)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個樹葉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A, B, C, D, E, F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，加權分別為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15, 8, 30, 27, 5, 15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1101033" y="4698717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758822" y="4698717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595801" y="4966972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288763" y="4968147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1948267" y="459636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3" name="群組 52"/>
          <p:cNvGrpSpPr/>
          <p:nvPr/>
        </p:nvGrpSpPr>
        <p:grpSpPr>
          <a:xfrm>
            <a:off x="2646039" y="4337274"/>
            <a:ext cx="415499" cy="631678"/>
            <a:chOff x="1242804" y="4778375"/>
            <a:chExt cx="415499" cy="631678"/>
          </a:xfrm>
        </p:grpSpPr>
        <p:sp>
          <p:nvSpPr>
            <p:cNvPr id="54" name="橢圓 53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5" name="文字方塊 54"/>
            <p:cNvSpPr txBox="1"/>
            <p:nvPr/>
          </p:nvSpPr>
          <p:spPr>
            <a:xfrm>
              <a:off x="1301587" y="4778375"/>
              <a:ext cx="3257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文字方塊 55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7" name="群組 56"/>
          <p:cNvGrpSpPr/>
          <p:nvPr/>
        </p:nvGrpSpPr>
        <p:grpSpPr>
          <a:xfrm>
            <a:off x="3414759" y="4337274"/>
            <a:ext cx="415499" cy="628421"/>
            <a:chOff x="545032" y="4780839"/>
            <a:chExt cx="415499" cy="628421"/>
          </a:xfrm>
        </p:grpSpPr>
        <p:sp>
          <p:nvSpPr>
            <p:cNvPr id="58" name="橢圓 57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文字方塊 59"/>
            <p:cNvSpPr txBox="1"/>
            <p:nvPr/>
          </p:nvSpPr>
          <p:spPr>
            <a:xfrm>
              <a:off x="545032" y="5039928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27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群組 60"/>
          <p:cNvGrpSpPr/>
          <p:nvPr/>
        </p:nvGrpSpPr>
        <p:grpSpPr>
          <a:xfrm>
            <a:off x="4112531" y="4337274"/>
            <a:ext cx="415499" cy="631678"/>
            <a:chOff x="1242804" y="4778375"/>
            <a:chExt cx="415499" cy="631678"/>
          </a:xfrm>
        </p:grpSpPr>
        <p:sp>
          <p:nvSpPr>
            <p:cNvPr id="62" name="橢圓 61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5" name="文字方塊 64"/>
          <p:cNvSpPr txBox="1"/>
          <p:nvPr/>
        </p:nvSpPr>
        <p:spPr>
          <a:xfrm>
            <a:off x="602740" y="436142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圓角矩形 47"/>
          <p:cNvSpPr/>
          <p:nvPr/>
        </p:nvSpPr>
        <p:spPr>
          <a:xfrm>
            <a:off x="543463" y="4332841"/>
            <a:ext cx="1113930" cy="1262552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7" name="圓角矩形 66"/>
          <p:cNvSpPr/>
          <p:nvPr/>
        </p:nvSpPr>
        <p:spPr>
          <a:xfrm>
            <a:off x="1892749" y="4332842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3" name="群組 12"/>
          <p:cNvGrpSpPr/>
          <p:nvPr/>
        </p:nvGrpSpPr>
        <p:grpSpPr>
          <a:xfrm>
            <a:off x="1449578" y="3449191"/>
            <a:ext cx="364203" cy="369332"/>
            <a:chOff x="1449578" y="3449191"/>
            <a:chExt cx="364203" cy="369332"/>
          </a:xfrm>
        </p:grpSpPr>
        <p:sp>
          <p:nvSpPr>
            <p:cNvPr id="43" name="橢圓 42"/>
            <p:cNvSpPr/>
            <p:nvPr/>
          </p:nvSpPr>
          <p:spPr>
            <a:xfrm>
              <a:off x="1482406" y="350426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1449578" y="3449191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H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66" name="文字方塊 65"/>
          <p:cNvSpPr txBox="1"/>
          <p:nvPr/>
        </p:nvSpPr>
        <p:spPr>
          <a:xfrm>
            <a:off x="1117961" y="344388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接點 68"/>
          <p:cNvCxnSpPr>
            <a:stCxn id="43" idx="4"/>
            <a:endCxn id="27" idx="0"/>
          </p:cNvCxnSpPr>
          <p:nvPr/>
        </p:nvCxnSpPr>
        <p:spPr>
          <a:xfrm flipH="1">
            <a:off x="1101033" y="3792268"/>
            <a:ext cx="525373" cy="6184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3" idx="4"/>
            <a:endCxn id="50" idx="0"/>
          </p:cNvCxnSpPr>
          <p:nvPr/>
        </p:nvCxnSpPr>
        <p:spPr>
          <a:xfrm>
            <a:off x="1626406" y="3792268"/>
            <a:ext cx="535651" cy="60046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783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67" grpId="0" animBg="1"/>
      <p:bldP spid="6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橢圓 53"/>
          <p:cNvSpPr/>
          <p:nvPr/>
        </p:nvSpPr>
        <p:spPr>
          <a:xfrm>
            <a:off x="1260935" y="351795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1255969" y="3454249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2035696" y="35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2016675" y="3454249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(11/16)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個樹葉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A, B, C, D, E, F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，加權分別為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15, 8, 30, 27, 5, 15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字方塊 55"/>
          <p:cNvSpPr txBox="1"/>
          <p:nvPr/>
        </p:nvSpPr>
        <p:spPr>
          <a:xfrm>
            <a:off x="1197186" y="371659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1965906" y="371333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1" name="群組 60"/>
          <p:cNvGrpSpPr/>
          <p:nvPr/>
        </p:nvGrpSpPr>
        <p:grpSpPr>
          <a:xfrm>
            <a:off x="3509026" y="3454249"/>
            <a:ext cx="415499" cy="631678"/>
            <a:chOff x="1242804" y="4778375"/>
            <a:chExt cx="415499" cy="631678"/>
          </a:xfrm>
        </p:grpSpPr>
        <p:sp>
          <p:nvSpPr>
            <p:cNvPr id="62" name="橢圓 61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文字方塊 63"/>
            <p:cNvSpPr txBox="1"/>
            <p:nvPr/>
          </p:nvSpPr>
          <p:spPr>
            <a:xfrm>
              <a:off x="1242804" y="5040721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30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群組 6"/>
          <p:cNvGrpSpPr/>
          <p:nvPr/>
        </p:nvGrpSpPr>
        <p:grpSpPr>
          <a:xfrm>
            <a:off x="1993213" y="3443886"/>
            <a:ext cx="1767965" cy="2155939"/>
            <a:chOff x="595801" y="3443886"/>
            <a:chExt cx="1767965" cy="2155939"/>
          </a:xfrm>
        </p:grpSpPr>
        <p:sp>
          <p:nvSpPr>
            <p:cNvPr id="27" name="橢圓 26"/>
            <p:cNvSpPr/>
            <p:nvPr/>
          </p:nvSpPr>
          <p:spPr>
            <a:xfrm>
              <a:off x="957033" y="44107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916844" y="4361425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橢圓 49"/>
            <p:cNvSpPr/>
            <p:nvPr/>
          </p:nvSpPr>
          <p:spPr>
            <a:xfrm>
              <a:off x="2018057" y="439272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1999036" y="4337274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0" name="直線接點 29"/>
            <p:cNvCxnSpPr>
              <a:stCxn id="27" idx="4"/>
              <a:endCxn id="26" idx="0"/>
            </p:cNvCxnSpPr>
            <p:nvPr/>
          </p:nvCxnSpPr>
          <p:spPr>
            <a:xfrm>
              <a:off x="1101033" y="4698717"/>
              <a:ext cx="349520" cy="333133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/>
            <p:cNvCxnSpPr>
              <a:stCxn id="27" idx="4"/>
              <a:endCxn id="25" idx="0"/>
            </p:cNvCxnSpPr>
            <p:nvPr/>
          </p:nvCxnSpPr>
          <p:spPr>
            <a:xfrm flipH="1">
              <a:off x="758822" y="4698717"/>
              <a:ext cx="342211" cy="32370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6" name="群組 45"/>
            <p:cNvGrpSpPr/>
            <p:nvPr/>
          </p:nvGrpSpPr>
          <p:grpSpPr>
            <a:xfrm>
              <a:off x="595801" y="4966972"/>
              <a:ext cx="351378" cy="628421"/>
              <a:chOff x="595801" y="4780839"/>
              <a:chExt cx="351378" cy="628421"/>
            </a:xfrm>
          </p:grpSpPr>
          <p:sp>
            <p:nvSpPr>
              <p:cNvPr id="25" name="橢圓 24"/>
              <p:cNvSpPr/>
              <p:nvPr/>
            </p:nvSpPr>
            <p:spPr>
              <a:xfrm>
                <a:off x="614822" y="483629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5" name="文字方塊 34"/>
              <p:cNvSpPr txBox="1"/>
              <p:nvPr/>
            </p:nvSpPr>
            <p:spPr>
              <a:xfrm>
                <a:off x="595801" y="4780839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文字方塊 39"/>
              <p:cNvSpPr txBox="1"/>
              <p:nvPr/>
            </p:nvSpPr>
            <p:spPr>
              <a:xfrm>
                <a:off x="602740" y="5039928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47" name="群組 46"/>
            <p:cNvGrpSpPr/>
            <p:nvPr/>
          </p:nvGrpSpPr>
          <p:grpSpPr>
            <a:xfrm>
              <a:off x="1288763" y="4968147"/>
              <a:ext cx="351378" cy="631678"/>
              <a:chOff x="1288763" y="4778375"/>
              <a:chExt cx="351378" cy="631678"/>
            </a:xfrm>
          </p:grpSpPr>
          <p:sp>
            <p:nvSpPr>
              <p:cNvPr id="26" name="橢圓 25"/>
              <p:cNvSpPr/>
              <p:nvPr/>
            </p:nvSpPr>
            <p:spPr>
              <a:xfrm>
                <a:off x="1306553" y="48420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6" name="文字方塊 35"/>
              <p:cNvSpPr txBox="1"/>
              <p:nvPr/>
            </p:nvSpPr>
            <p:spPr>
              <a:xfrm>
                <a:off x="1288763" y="4778375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文字方塊 41"/>
              <p:cNvSpPr txBox="1"/>
              <p:nvPr/>
            </p:nvSpPr>
            <p:spPr>
              <a:xfrm>
                <a:off x="1300512" y="5040721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2" name="文字方塊 51"/>
            <p:cNvSpPr txBox="1"/>
            <p:nvPr/>
          </p:nvSpPr>
          <p:spPr>
            <a:xfrm>
              <a:off x="1948267" y="459636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文字方塊 64"/>
            <p:cNvSpPr txBox="1"/>
            <p:nvPr/>
          </p:nvSpPr>
          <p:spPr>
            <a:xfrm>
              <a:off x="602740" y="436142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13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群組 12"/>
            <p:cNvGrpSpPr/>
            <p:nvPr/>
          </p:nvGrpSpPr>
          <p:grpSpPr>
            <a:xfrm>
              <a:off x="1449578" y="3449191"/>
              <a:ext cx="364203" cy="369332"/>
              <a:chOff x="1449578" y="3449191"/>
              <a:chExt cx="364203" cy="369332"/>
            </a:xfrm>
          </p:grpSpPr>
          <p:sp>
            <p:nvSpPr>
              <p:cNvPr id="43" name="橢圓 42"/>
              <p:cNvSpPr/>
              <p:nvPr/>
            </p:nvSpPr>
            <p:spPr>
              <a:xfrm>
                <a:off x="1482406" y="350426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5" name="文字方塊 44"/>
              <p:cNvSpPr txBox="1"/>
              <p:nvPr/>
            </p:nvSpPr>
            <p:spPr>
              <a:xfrm>
                <a:off x="1449578" y="3449191"/>
                <a:ext cx="3642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6" name="文字方塊 65"/>
            <p:cNvSpPr txBox="1"/>
            <p:nvPr/>
          </p:nvSpPr>
          <p:spPr>
            <a:xfrm>
              <a:off x="1117961" y="3443886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9" name="直線接點 68"/>
            <p:cNvCxnSpPr>
              <a:stCxn id="43" idx="4"/>
              <a:endCxn id="27" idx="0"/>
            </p:cNvCxnSpPr>
            <p:nvPr/>
          </p:nvCxnSpPr>
          <p:spPr>
            <a:xfrm flipH="1">
              <a:off x="1101033" y="3792268"/>
              <a:ext cx="525373" cy="618449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線接點 69"/>
            <p:cNvCxnSpPr>
              <a:stCxn id="43" idx="4"/>
              <a:endCxn id="50" idx="0"/>
            </p:cNvCxnSpPr>
            <p:nvPr/>
          </p:nvCxnSpPr>
          <p:spPr>
            <a:xfrm>
              <a:off x="1626406" y="3792268"/>
              <a:ext cx="535651" cy="600460"/>
            </a:xfrm>
            <a:prstGeom prst="line">
              <a:avLst/>
            </a:prstGeom>
            <a:ln w="28575"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/>
          <p:cNvGrpSpPr/>
          <p:nvPr/>
        </p:nvGrpSpPr>
        <p:grpSpPr>
          <a:xfrm>
            <a:off x="1676434" y="2580106"/>
            <a:ext cx="295116" cy="369332"/>
            <a:chOff x="1676434" y="2580106"/>
            <a:chExt cx="295116" cy="369332"/>
          </a:xfrm>
        </p:grpSpPr>
        <p:sp>
          <p:nvSpPr>
            <p:cNvPr id="68" name="橢圓 67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697116" y="2580106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2" name="文字方塊 71"/>
          <p:cNvSpPr txBox="1"/>
          <p:nvPr/>
        </p:nvSpPr>
        <p:spPr>
          <a:xfrm>
            <a:off x="1307495" y="259451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線接點 72"/>
          <p:cNvCxnSpPr>
            <a:stCxn id="68" idx="4"/>
            <a:endCxn id="58" idx="0"/>
          </p:cNvCxnSpPr>
          <p:nvPr/>
        </p:nvCxnSpPr>
        <p:spPr>
          <a:xfrm>
            <a:off x="1820434" y="2931809"/>
            <a:ext cx="359262" cy="5778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68" idx="4"/>
            <a:endCxn id="54" idx="0"/>
          </p:cNvCxnSpPr>
          <p:nvPr/>
        </p:nvCxnSpPr>
        <p:spPr>
          <a:xfrm flipH="1">
            <a:off x="1404935" y="2931809"/>
            <a:ext cx="415499" cy="58614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/>
          <p:cNvSpPr/>
          <p:nvPr/>
        </p:nvSpPr>
        <p:spPr>
          <a:xfrm>
            <a:off x="1911845" y="3443856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圓角矩形 75"/>
          <p:cNvSpPr/>
          <p:nvPr/>
        </p:nvSpPr>
        <p:spPr>
          <a:xfrm>
            <a:off x="1149901" y="3451019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522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75" grpId="0" animBg="1"/>
      <p:bldP spid="7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橢圓 61"/>
          <p:cNvSpPr/>
          <p:nvPr/>
        </p:nvSpPr>
        <p:spPr>
          <a:xfrm>
            <a:off x="2712856" y="319056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1666233" y="317688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2695066" y="3126865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1633405" y="3121807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橢圓 53"/>
          <p:cNvSpPr/>
          <p:nvPr/>
        </p:nvSpPr>
        <p:spPr>
          <a:xfrm>
            <a:off x="3529573" y="407001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3524607" y="4006313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4304334" y="406176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4285313" y="400631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(12/16)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個樹葉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A, B, C, D, E, F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，加權分別為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15, 8, 30, 27, 5, 15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6" name="文字方塊 55"/>
          <p:cNvSpPr txBox="1"/>
          <p:nvPr/>
        </p:nvSpPr>
        <p:spPr>
          <a:xfrm>
            <a:off x="3465824" y="426865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4234544" y="426540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2649107" y="33892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1140860" y="408333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/>
          <p:cNvSpPr txBox="1"/>
          <p:nvPr/>
        </p:nvSpPr>
        <p:spPr>
          <a:xfrm>
            <a:off x="1100671" y="4034041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2201884" y="406534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2182863" y="400989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1284860" y="4371333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942649" y="4371333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779628" y="4639588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1472590" y="4640763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2132094" y="426897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86567" y="40340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1301788" y="311650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接點 68"/>
          <p:cNvCxnSpPr>
            <a:stCxn id="43" idx="4"/>
            <a:endCxn id="27" idx="0"/>
          </p:cNvCxnSpPr>
          <p:nvPr/>
        </p:nvCxnSpPr>
        <p:spPr>
          <a:xfrm flipH="1">
            <a:off x="1284860" y="3464884"/>
            <a:ext cx="525373" cy="6184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3" idx="4"/>
            <a:endCxn id="50" idx="0"/>
          </p:cNvCxnSpPr>
          <p:nvPr/>
        </p:nvCxnSpPr>
        <p:spPr>
          <a:xfrm>
            <a:off x="1810233" y="3464884"/>
            <a:ext cx="535651" cy="60046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群組 14"/>
          <p:cNvGrpSpPr/>
          <p:nvPr/>
        </p:nvGrpSpPr>
        <p:grpSpPr>
          <a:xfrm>
            <a:off x="3945072" y="3132170"/>
            <a:ext cx="295116" cy="369332"/>
            <a:chOff x="1676434" y="2580106"/>
            <a:chExt cx="295116" cy="369332"/>
          </a:xfrm>
        </p:grpSpPr>
        <p:sp>
          <p:nvSpPr>
            <p:cNvPr id="68" name="橢圓 67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1" name="文字方塊 70"/>
            <p:cNvSpPr txBox="1"/>
            <p:nvPr/>
          </p:nvSpPr>
          <p:spPr>
            <a:xfrm>
              <a:off x="1697116" y="2580106"/>
              <a:ext cx="27443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2" name="文字方塊 71"/>
          <p:cNvSpPr txBox="1"/>
          <p:nvPr/>
        </p:nvSpPr>
        <p:spPr>
          <a:xfrm>
            <a:off x="3576133" y="314658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線接點 72"/>
          <p:cNvCxnSpPr>
            <a:stCxn id="68" idx="4"/>
            <a:endCxn id="58" idx="0"/>
          </p:cNvCxnSpPr>
          <p:nvPr/>
        </p:nvCxnSpPr>
        <p:spPr>
          <a:xfrm>
            <a:off x="4089072" y="3483873"/>
            <a:ext cx="359262" cy="5778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68" idx="4"/>
            <a:endCxn id="54" idx="0"/>
          </p:cNvCxnSpPr>
          <p:nvPr/>
        </p:nvCxnSpPr>
        <p:spPr>
          <a:xfrm flipH="1">
            <a:off x="3673573" y="3483873"/>
            <a:ext cx="415499" cy="58614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/>
          <p:cNvSpPr/>
          <p:nvPr/>
        </p:nvSpPr>
        <p:spPr>
          <a:xfrm>
            <a:off x="762376" y="3072784"/>
            <a:ext cx="1767965" cy="2195225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圓角矩形 75"/>
          <p:cNvSpPr/>
          <p:nvPr/>
        </p:nvSpPr>
        <p:spPr>
          <a:xfrm>
            <a:off x="2603249" y="3116502"/>
            <a:ext cx="526533" cy="632853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9" name="群組 48"/>
          <p:cNvGrpSpPr/>
          <p:nvPr/>
        </p:nvGrpSpPr>
        <p:grpSpPr>
          <a:xfrm>
            <a:off x="2192227" y="2214895"/>
            <a:ext cx="307941" cy="369332"/>
            <a:chOff x="1676434" y="2580106"/>
            <a:chExt cx="307941" cy="369332"/>
          </a:xfrm>
        </p:grpSpPr>
        <p:sp>
          <p:nvSpPr>
            <p:cNvPr id="53" name="橢圓 52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7" name="文字方塊 56"/>
            <p:cNvSpPr txBox="1"/>
            <p:nvPr/>
          </p:nvSpPr>
          <p:spPr>
            <a:xfrm>
              <a:off x="1684292" y="2580106"/>
              <a:ext cx="3000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67" name="直線接點 66"/>
          <p:cNvCxnSpPr>
            <a:stCxn id="53" idx="4"/>
            <a:endCxn id="62" idx="0"/>
          </p:cNvCxnSpPr>
          <p:nvPr/>
        </p:nvCxnSpPr>
        <p:spPr>
          <a:xfrm>
            <a:off x="2336227" y="2566598"/>
            <a:ext cx="520629" cy="6239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53" idx="4"/>
            <a:endCxn id="43" idx="0"/>
          </p:cNvCxnSpPr>
          <p:nvPr/>
        </p:nvCxnSpPr>
        <p:spPr>
          <a:xfrm flipH="1">
            <a:off x="1810233" y="2566598"/>
            <a:ext cx="525994" cy="6102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1820889" y="221660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84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橢圓 67"/>
          <p:cNvSpPr/>
          <p:nvPr/>
        </p:nvSpPr>
        <p:spPr>
          <a:xfrm>
            <a:off x="1871394" y="31127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4284767" y="311804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1" name="文字方塊 70"/>
          <p:cNvSpPr txBox="1"/>
          <p:nvPr/>
        </p:nvSpPr>
        <p:spPr>
          <a:xfrm>
            <a:off x="1892076" y="3049033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4292625" y="3054338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(13/16)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個樹葉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A, B, C, D, E, F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，加權分別為</a:t>
            </a:r>
            <a:r>
              <a:rPr lang="en-US" altLang="zh-TW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15, 8, 30, 27, 5, 15</a:t>
            </a:r>
            <a:r>
              <a:rPr lang="zh-TW" altLang="en-US" sz="2000" b="1" dirty="0">
                <a:solidFill>
                  <a:prstClr val="black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6566" y="1717035"/>
            <a:ext cx="3319492" cy="36261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" name="橢圓 53"/>
          <p:cNvSpPr/>
          <p:nvPr/>
        </p:nvSpPr>
        <p:spPr>
          <a:xfrm>
            <a:off x="1455895" y="398687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5" name="文字方塊 54"/>
          <p:cNvSpPr txBox="1"/>
          <p:nvPr/>
        </p:nvSpPr>
        <p:spPr>
          <a:xfrm>
            <a:off x="1450929" y="3923176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橢圓 57"/>
          <p:cNvSpPr/>
          <p:nvPr/>
        </p:nvSpPr>
        <p:spPr>
          <a:xfrm>
            <a:off x="2230656" y="3978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9" name="文字方塊 58"/>
          <p:cNvSpPr txBox="1"/>
          <p:nvPr/>
        </p:nvSpPr>
        <p:spPr>
          <a:xfrm>
            <a:off x="2211635" y="3923176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1392146" y="418552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160866" y="418226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1502455" y="306344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3" name="直線接點 72"/>
          <p:cNvCxnSpPr>
            <a:stCxn id="68" idx="4"/>
            <a:endCxn id="58" idx="0"/>
          </p:cNvCxnSpPr>
          <p:nvPr/>
        </p:nvCxnSpPr>
        <p:spPr>
          <a:xfrm>
            <a:off x="2015394" y="3400736"/>
            <a:ext cx="359262" cy="5778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線接點 73"/>
          <p:cNvCxnSpPr>
            <a:stCxn id="68" idx="4"/>
            <a:endCxn id="54" idx="0"/>
          </p:cNvCxnSpPr>
          <p:nvPr/>
        </p:nvCxnSpPr>
        <p:spPr>
          <a:xfrm flipH="1">
            <a:off x="1599895" y="3400736"/>
            <a:ext cx="415499" cy="58614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橢圓 61"/>
          <p:cNvSpPr/>
          <p:nvPr/>
        </p:nvSpPr>
        <p:spPr>
          <a:xfrm>
            <a:off x="4805396" y="403001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3758773" y="401632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/>
          <p:cNvSpPr txBox="1"/>
          <p:nvPr/>
        </p:nvSpPr>
        <p:spPr>
          <a:xfrm>
            <a:off x="4787606" y="3966308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3725945" y="396125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4741647" y="42286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233400" y="49227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文字方塊 43"/>
          <p:cNvSpPr txBox="1"/>
          <p:nvPr/>
        </p:nvSpPr>
        <p:spPr>
          <a:xfrm>
            <a:off x="3193211" y="4873484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4294424" y="490478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4275403" y="4849333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0" name="直線接點 29"/>
          <p:cNvCxnSpPr>
            <a:stCxn id="27" idx="4"/>
            <a:endCxn id="26" idx="0"/>
          </p:cNvCxnSpPr>
          <p:nvPr/>
        </p:nvCxnSpPr>
        <p:spPr>
          <a:xfrm>
            <a:off x="3377400" y="5210776"/>
            <a:ext cx="349520" cy="333133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/>
          <p:cNvCxnSpPr>
            <a:stCxn id="27" idx="4"/>
            <a:endCxn id="25" idx="0"/>
          </p:cNvCxnSpPr>
          <p:nvPr/>
        </p:nvCxnSpPr>
        <p:spPr>
          <a:xfrm flipH="1">
            <a:off x="3035189" y="5210776"/>
            <a:ext cx="342211" cy="32370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群組 45"/>
          <p:cNvGrpSpPr/>
          <p:nvPr/>
        </p:nvGrpSpPr>
        <p:grpSpPr>
          <a:xfrm>
            <a:off x="2872168" y="5479031"/>
            <a:ext cx="351378" cy="628421"/>
            <a:chOff x="595801" y="4780839"/>
            <a:chExt cx="351378" cy="628421"/>
          </a:xfrm>
        </p:grpSpPr>
        <p:sp>
          <p:nvSpPr>
            <p:cNvPr id="25" name="橢圓 24"/>
            <p:cNvSpPr/>
            <p:nvPr/>
          </p:nvSpPr>
          <p:spPr>
            <a:xfrm>
              <a:off x="614822" y="4836293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5" name="文字方塊 34"/>
            <p:cNvSpPr txBox="1"/>
            <p:nvPr/>
          </p:nvSpPr>
          <p:spPr>
            <a:xfrm>
              <a:off x="595801" y="4780839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602740" y="503992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7" name="群組 46"/>
          <p:cNvGrpSpPr/>
          <p:nvPr/>
        </p:nvGrpSpPr>
        <p:grpSpPr>
          <a:xfrm>
            <a:off x="3565130" y="5480206"/>
            <a:ext cx="351378" cy="631678"/>
            <a:chOff x="1288763" y="4778375"/>
            <a:chExt cx="351378" cy="631678"/>
          </a:xfrm>
        </p:grpSpPr>
        <p:sp>
          <p:nvSpPr>
            <p:cNvPr id="26" name="橢圓 25"/>
            <p:cNvSpPr/>
            <p:nvPr/>
          </p:nvSpPr>
          <p:spPr>
            <a:xfrm>
              <a:off x="1306553" y="4842078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1288763" y="4778375"/>
              <a:ext cx="3513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文字方塊 41"/>
            <p:cNvSpPr txBox="1"/>
            <p:nvPr/>
          </p:nvSpPr>
          <p:spPr>
            <a:xfrm>
              <a:off x="1300512" y="5040721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lang="zh-TW" altLang="en-US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2" name="文字方塊 51"/>
          <p:cNvSpPr txBox="1"/>
          <p:nvPr/>
        </p:nvSpPr>
        <p:spPr>
          <a:xfrm>
            <a:off x="4224634" y="510842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2879107" y="487348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3394328" y="395594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直線接點 68"/>
          <p:cNvCxnSpPr>
            <a:stCxn id="43" idx="4"/>
            <a:endCxn id="27" idx="0"/>
          </p:cNvCxnSpPr>
          <p:nvPr/>
        </p:nvCxnSpPr>
        <p:spPr>
          <a:xfrm flipH="1">
            <a:off x="3377400" y="4304327"/>
            <a:ext cx="525373" cy="618449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線接點 69"/>
          <p:cNvCxnSpPr>
            <a:stCxn id="43" idx="4"/>
            <a:endCxn id="50" idx="0"/>
          </p:cNvCxnSpPr>
          <p:nvPr/>
        </p:nvCxnSpPr>
        <p:spPr>
          <a:xfrm>
            <a:off x="3902773" y="4304327"/>
            <a:ext cx="535651" cy="60046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圓角矩形 74"/>
          <p:cNvSpPr/>
          <p:nvPr/>
        </p:nvSpPr>
        <p:spPr>
          <a:xfrm>
            <a:off x="2854916" y="3063445"/>
            <a:ext cx="2381318" cy="304400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圓角矩形 75"/>
          <p:cNvSpPr/>
          <p:nvPr/>
        </p:nvSpPr>
        <p:spPr>
          <a:xfrm>
            <a:off x="1336628" y="3054339"/>
            <a:ext cx="1239737" cy="144761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7" name="直線接點 66"/>
          <p:cNvCxnSpPr>
            <a:stCxn id="53" idx="4"/>
            <a:endCxn id="62" idx="0"/>
          </p:cNvCxnSpPr>
          <p:nvPr/>
        </p:nvCxnSpPr>
        <p:spPr>
          <a:xfrm>
            <a:off x="4428767" y="3406041"/>
            <a:ext cx="520629" cy="6239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線接點 76"/>
          <p:cNvCxnSpPr>
            <a:stCxn id="53" idx="4"/>
            <a:endCxn id="43" idx="0"/>
          </p:cNvCxnSpPr>
          <p:nvPr/>
        </p:nvCxnSpPr>
        <p:spPr>
          <a:xfrm flipH="1">
            <a:off x="3902773" y="3406041"/>
            <a:ext cx="525994" cy="610286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字方塊 77"/>
          <p:cNvSpPr txBox="1"/>
          <p:nvPr/>
        </p:nvSpPr>
        <p:spPr>
          <a:xfrm>
            <a:off x="3913429" y="305604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9" name="群組 78"/>
          <p:cNvGrpSpPr/>
          <p:nvPr/>
        </p:nvGrpSpPr>
        <p:grpSpPr>
          <a:xfrm>
            <a:off x="3001166" y="2304286"/>
            <a:ext cx="364203" cy="369332"/>
            <a:chOff x="1652232" y="2580106"/>
            <a:chExt cx="364203" cy="369332"/>
          </a:xfrm>
        </p:grpSpPr>
        <p:sp>
          <p:nvSpPr>
            <p:cNvPr id="80" name="橢圓 79"/>
            <p:cNvSpPr/>
            <p:nvPr/>
          </p:nvSpPr>
          <p:spPr>
            <a:xfrm>
              <a:off x="1676434" y="2643809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1652232" y="2580106"/>
              <a:ext cx="3642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82" name="直線接點 81"/>
          <p:cNvCxnSpPr>
            <a:stCxn id="80" idx="4"/>
            <a:endCxn id="53" idx="0"/>
          </p:cNvCxnSpPr>
          <p:nvPr/>
        </p:nvCxnSpPr>
        <p:spPr>
          <a:xfrm>
            <a:off x="3169368" y="2655989"/>
            <a:ext cx="1259399" cy="46205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>
            <a:stCxn id="80" idx="4"/>
            <a:endCxn id="68" idx="0"/>
          </p:cNvCxnSpPr>
          <p:nvPr/>
        </p:nvCxnSpPr>
        <p:spPr>
          <a:xfrm flipH="1">
            <a:off x="2015394" y="2655989"/>
            <a:ext cx="1153974" cy="45674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文字方塊 83"/>
          <p:cNvSpPr txBox="1"/>
          <p:nvPr/>
        </p:nvSpPr>
        <p:spPr>
          <a:xfrm>
            <a:off x="2560359" y="2314050"/>
            <a:ext cx="530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90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8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(14/16)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資料的壓縮與編碼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二進制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數字來表示文章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編碼後的密文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越短越好</a:t>
            </a:r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假設加權為字母出現的百分比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grpSp>
        <p:nvGrpSpPr>
          <p:cNvPr id="66" name="群組 65"/>
          <p:cNvGrpSpPr/>
          <p:nvPr/>
        </p:nvGrpSpPr>
        <p:grpSpPr>
          <a:xfrm>
            <a:off x="4686349" y="1918163"/>
            <a:ext cx="3765000" cy="3747216"/>
            <a:chOff x="4686349" y="1918163"/>
            <a:chExt cx="3765000" cy="3747216"/>
          </a:xfrm>
        </p:grpSpPr>
        <p:grpSp>
          <p:nvGrpSpPr>
            <p:cNvPr id="35" name="群組 34"/>
            <p:cNvGrpSpPr/>
            <p:nvPr/>
          </p:nvGrpSpPr>
          <p:grpSpPr>
            <a:xfrm>
              <a:off x="6850919" y="5033701"/>
              <a:ext cx="351378" cy="631678"/>
              <a:chOff x="1288763" y="4778375"/>
              <a:chExt cx="351378" cy="631678"/>
            </a:xfrm>
          </p:grpSpPr>
          <p:sp>
            <p:nvSpPr>
              <p:cNvPr id="36" name="橢圓 35"/>
              <p:cNvSpPr/>
              <p:nvPr/>
            </p:nvSpPr>
            <p:spPr>
              <a:xfrm>
                <a:off x="1306553" y="48420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文字方塊 36"/>
              <p:cNvSpPr txBox="1"/>
              <p:nvPr/>
            </p:nvSpPr>
            <p:spPr>
              <a:xfrm>
                <a:off x="1288763" y="4778375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文字方塊 37"/>
              <p:cNvSpPr txBox="1"/>
              <p:nvPr/>
            </p:nvSpPr>
            <p:spPr>
              <a:xfrm>
                <a:off x="1300512" y="5040721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65" name="群組 64"/>
            <p:cNvGrpSpPr/>
            <p:nvPr/>
          </p:nvGrpSpPr>
          <p:grpSpPr>
            <a:xfrm>
              <a:off x="4686349" y="1918163"/>
              <a:ext cx="3765000" cy="3739463"/>
              <a:chOff x="4686349" y="1918163"/>
              <a:chExt cx="3765000" cy="3739463"/>
            </a:xfrm>
          </p:grpSpPr>
          <p:sp>
            <p:nvSpPr>
              <p:cNvPr id="7" name="橢圓 6"/>
              <p:cNvSpPr/>
              <p:nvPr/>
            </p:nvSpPr>
            <p:spPr>
              <a:xfrm>
                <a:off x="5165597" y="266291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8" name="橢圓 7"/>
              <p:cNvSpPr/>
              <p:nvPr/>
            </p:nvSpPr>
            <p:spPr>
              <a:xfrm>
                <a:off x="7578970" y="266821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/>
              <p:cNvSpPr/>
              <p:nvPr/>
            </p:nvSpPr>
            <p:spPr>
              <a:xfrm>
                <a:off x="4750098" y="353705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文字方塊 11"/>
              <p:cNvSpPr txBox="1"/>
              <p:nvPr/>
            </p:nvSpPr>
            <p:spPr>
              <a:xfrm>
                <a:off x="4745132" y="3473350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" name="橢圓 12"/>
              <p:cNvSpPr/>
              <p:nvPr/>
            </p:nvSpPr>
            <p:spPr>
              <a:xfrm>
                <a:off x="5524859" y="352880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文字方塊 13"/>
              <p:cNvSpPr txBox="1"/>
              <p:nvPr/>
            </p:nvSpPr>
            <p:spPr>
              <a:xfrm>
                <a:off x="5505838" y="3473350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4686349" y="37356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5455069" y="3732439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直線接點 17"/>
              <p:cNvCxnSpPr>
                <a:stCxn id="7" idx="4"/>
                <a:endCxn id="13" idx="0"/>
              </p:cNvCxnSpPr>
              <p:nvPr/>
            </p:nvCxnSpPr>
            <p:spPr>
              <a:xfrm>
                <a:off x="5309597" y="2950910"/>
                <a:ext cx="359262" cy="577894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>
                <a:stCxn id="7" idx="4"/>
                <a:endCxn id="11" idx="0"/>
              </p:cNvCxnSpPr>
              <p:nvPr/>
            </p:nvCxnSpPr>
            <p:spPr>
              <a:xfrm flipH="1">
                <a:off x="4894098" y="2950910"/>
                <a:ext cx="415499" cy="58614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橢圓 19"/>
              <p:cNvSpPr/>
              <p:nvPr/>
            </p:nvSpPr>
            <p:spPr>
              <a:xfrm>
                <a:off x="8099599" y="358018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7052976" y="356650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8081809" y="3516482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文字方塊 23"/>
              <p:cNvSpPr txBox="1"/>
              <p:nvPr/>
            </p:nvSpPr>
            <p:spPr>
              <a:xfrm>
                <a:off x="8035850" y="37788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6527603" y="447295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7" name="橢圓 26"/>
              <p:cNvSpPr/>
              <p:nvPr/>
            </p:nvSpPr>
            <p:spPr>
              <a:xfrm>
                <a:off x="7588627" y="44549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8" name="文字方塊 27"/>
              <p:cNvSpPr txBox="1"/>
              <p:nvPr/>
            </p:nvSpPr>
            <p:spPr>
              <a:xfrm>
                <a:off x="7569606" y="4399507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9" name="直線接點 28"/>
              <p:cNvCxnSpPr>
                <a:stCxn id="25" idx="4"/>
              </p:cNvCxnSpPr>
              <p:nvPr/>
            </p:nvCxnSpPr>
            <p:spPr>
              <a:xfrm>
                <a:off x="6671603" y="4760950"/>
                <a:ext cx="349520" cy="33313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接點 29"/>
              <p:cNvCxnSpPr>
                <a:stCxn id="25" idx="4"/>
                <a:endCxn id="32" idx="0"/>
              </p:cNvCxnSpPr>
              <p:nvPr/>
            </p:nvCxnSpPr>
            <p:spPr>
              <a:xfrm flipH="1">
                <a:off x="6329392" y="4760950"/>
                <a:ext cx="342211" cy="32370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群組 30"/>
              <p:cNvGrpSpPr/>
              <p:nvPr/>
            </p:nvGrpSpPr>
            <p:grpSpPr>
              <a:xfrm>
                <a:off x="6166371" y="5029205"/>
                <a:ext cx="351378" cy="628421"/>
                <a:chOff x="595801" y="4780839"/>
                <a:chExt cx="351378" cy="628421"/>
              </a:xfrm>
            </p:grpSpPr>
            <p:sp>
              <p:nvSpPr>
                <p:cNvPr id="32" name="橢圓 31"/>
                <p:cNvSpPr/>
                <p:nvPr/>
              </p:nvSpPr>
              <p:spPr>
                <a:xfrm>
                  <a:off x="614822" y="4836293"/>
                  <a:ext cx="288000" cy="288000"/>
                </a:xfrm>
                <a:prstGeom prst="ellipse">
                  <a:avLst/>
                </a:prstGeom>
                <a:solidFill>
                  <a:srgbClr val="E8F0FC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3" name="文字方塊 32"/>
                <p:cNvSpPr txBox="1"/>
                <p:nvPr/>
              </p:nvSpPr>
              <p:spPr>
                <a:xfrm>
                  <a:off x="595801" y="4780839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zh-TW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4" name="文字方塊 33"/>
                <p:cNvSpPr txBox="1"/>
                <p:nvPr/>
              </p:nvSpPr>
              <p:spPr>
                <a:xfrm>
                  <a:off x="602740" y="503992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zh-TW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9" name="文字方塊 38"/>
              <p:cNvSpPr txBox="1"/>
              <p:nvPr/>
            </p:nvSpPr>
            <p:spPr>
              <a:xfrm>
                <a:off x="7518837" y="46585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42" name="直線接點 41"/>
              <p:cNvCxnSpPr>
                <a:stCxn id="21" idx="4"/>
                <a:endCxn id="25" idx="0"/>
              </p:cNvCxnSpPr>
              <p:nvPr/>
            </p:nvCxnSpPr>
            <p:spPr>
              <a:xfrm flipH="1">
                <a:off x="6671603" y="3854501"/>
                <a:ext cx="525373" cy="61844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線接點 42"/>
              <p:cNvCxnSpPr>
                <a:stCxn id="21" idx="4"/>
                <a:endCxn id="27" idx="0"/>
              </p:cNvCxnSpPr>
              <p:nvPr/>
            </p:nvCxnSpPr>
            <p:spPr>
              <a:xfrm>
                <a:off x="7196976" y="3854501"/>
                <a:ext cx="535651" cy="60046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線接點 45"/>
              <p:cNvCxnSpPr>
                <a:stCxn id="8" idx="4"/>
                <a:endCxn id="20" idx="0"/>
              </p:cNvCxnSpPr>
              <p:nvPr/>
            </p:nvCxnSpPr>
            <p:spPr>
              <a:xfrm>
                <a:off x="7722970" y="2956215"/>
                <a:ext cx="520629" cy="62397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接點 46"/>
              <p:cNvCxnSpPr>
                <a:stCxn id="8" idx="4"/>
                <a:endCxn id="21" idx="0"/>
              </p:cNvCxnSpPr>
              <p:nvPr/>
            </p:nvCxnSpPr>
            <p:spPr>
              <a:xfrm flipH="1">
                <a:off x="7196976" y="2956215"/>
                <a:ext cx="525994" cy="610286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橢圓 49"/>
              <p:cNvSpPr/>
              <p:nvPr/>
            </p:nvSpPr>
            <p:spPr>
              <a:xfrm>
                <a:off x="6319571" y="191816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52" name="直線接點 51"/>
              <p:cNvCxnSpPr>
                <a:stCxn id="50" idx="4"/>
                <a:endCxn id="8" idx="0"/>
              </p:cNvCxnSpPr>
              <p:nvPr/>
            </p:nvCxnSpPr>
            <p:spPr>
              <a:xfrm>
                <a:off x="6463571" y="2206163"/>
                <a:ext cx="1259399" cy="462052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/>
              <p:cNvCxnSpPr>
                <a:stCxn id="50" idx="4"/>
                <a:endCxn id="7" idx="0"/>
              </p:cNvCxnSpPr>
              <p:nvPr/>
            </p:nvCxnSpPr>
            <p:spPr>
              <a:xfrm flipH="1">
                <a:off x="5309597" y="2206163"/>
                <a:ext cx="1153974" cy="456747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5" name="文字方塊 54"/>
          <p:cNvSpPr txBox="1"/>
          <p:nvPr/>
        </p:nvSpPr>
        <p:spPr>
          <a:xfrm>
            <a:off x="5662487" y="21630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4856889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7220203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670444" y="39462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264359" y="46789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454652" y="301631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6989129" y="21371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6784248" y="46646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7443756" y="3937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920196" y="30024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1518249" y="3963494"/>
            <a:ext cx="191270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01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024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6" grpId="0"/>
      <p:bldP spid="57" grpId="0"/>
      <p:bldP spid="58" grpId="0"/>
      <p:bldP spid="59" grpId="0"/>
      <p:bldP spid="60" grpId="0"/>
      <p:bldP spid="61" grpId="0"/>
      <p:bldP spid="62" grpId="0"/>
      <p:bldP spid="63" grpId="0"/>
      <p:bldP spid="6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(15/16)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假設文章的字母數為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1000</a:t>
            </a:r>
          </a:p>
          <a:p>
            <a:pPr lvl="1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出現的次數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15% = 150</a:t>
            </a:r>
          </a:p>
          <a:p>
            <a:pPr lvl="1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出現的次數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8% = 80</a:t>
            </a:r>
          </a:p>
          <a:p>
            <a:pPr lvl="1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出現的次數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30% = 300</a:t>
            </a:r>
          </a:p>
          <a:p>
            <a:pPr lvl="1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出現的次數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27% = 270</a:t>
            </a:r>
          </a:p>
          <a:p>
            <a:pPr lvl="1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出現的次數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5% = 50</a:t>
            </a:r>
          </a:p>
          <a:p>
            <a:pPr lvl="1"/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出現的次數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15% = 150</a:t>
            </a:r>
          </a:p>
          <a:p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/>
            </a:endParaRPr>
          </a:p>
          <a:p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  <a:sym typeface="Symbol"/>
            </a:endParaRPr>
          </a:p>
          <a:p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/>
            </a:endParaRPr>
          </a:p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未經過編碼，需要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3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個位元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來表示這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6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個字母。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Symbol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共需要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1000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3 = 3000 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個位元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7" name="文字方塊 6"/>
          <p:cNvSpPr txBox="1"/>
          <p:nvPr/>
        </p:nvSpPr>
        <p:spPr>
          <a:xfrm>
            <a:off x="5460520" y="1433763"/>
            <a:ext cx="3058851" cy="1938992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1001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11    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01    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1000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的編碼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 00     (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個位元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460520" y="3525155"/>
            <a:ext cx="3207929" cy="101566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150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3 + 80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4 + 300  2 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+ 270  2 + 50  4 + 150  2</a:t>
            </a:r>
          </a:p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= 2410</a:t>
            </a:r>
            <a:endParaRPr lang="zh-TW" altLang="en-US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/>
              <p:cNvSpPr txBox="1"/>
              <p:nvPr/>
            </p:nvSpPr>
            <p:spPr>
              <a:xfrm>
                <a:off x="5460520" y="5390946"/>
                <a:ext cx="3528082" cy="1091646"/>
              </a:xfrm>
              <a:prstGeom prst="rect">
                <a:avLst/>
              </a:prstGeom>
              <a:noFill/>
              <a:ln w="28575">
                <a:solidFill>
                  <a:srgbClr val="C00000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TW" altLang="en-US" sz="2000" b="1" dirty="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壓縮率</a:t>
                </a:r>
                <a:endParaRPr lang="en-US" altLang="zh-TW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altLang="zh-TW" sz="2000" b="1" i="0" dirty="0" smtClean="0">
                              <a:latin typeface="Cambria Math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0" dirty="0" smtClean="0">
                              <a:latin typeface="Cambria Math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TW" sz="2000" b="1" i="0" dirty="0" smtClean="0">
                              <a:latin typeface="Cambria Math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altLang="zh-TW" sz="2000" b="1" i="1" dirty="0" smtClean="0"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1" i="1" dirty="0" smtClean="0"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𝟐𝟒𝟏𝟎</m:t>
                              </m:r>
                            </m:num>
                            <m:den>
                              <m:r>
                                <a:rPr lang="en-US" altLang="zh-TW" sz="2000" b="1" i="1" dirty="0" smtClean="0"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𝟑𝟎𝟎𝟎</m:t>
                              </m:r>
                            </m:den>
                          </m:f>
                        </m:e>
                      </m:d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×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𝟏𝟎𝟎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% ≈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𝟐𝟎</m:t>
                      </m:r>
                      <m:r>
                        <a:rPr lang="en-US" altLang="zh-TW" sz="2000" b="1" i="1" dirty="0" smtClean="0">
                          <a:latin typeface="Cambria Math"/>
                          <a:ea typeface="Cambria Math"/>
                          <a:cs typeface="Times New Roman" panose="02020603050405020304" pitchFamily="18" charset="0"/>
                        </a:rPr>
                        <m:t>%</m:t>
                      </m:r>
                    </m:oMath>
                  </m:oMathPara>
                </a14:m>
                <a:endParaRPr lang="zh-TW" altLang="en-US" sz="2000" b="1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文字方塊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520" y="5390946"/>
                <a:ext cx="3528082" cy="1091646"/>
              </a:xfrm>
              <a:prstGeom prst="rect">
                <a:avLst/>
              </a:prstGeom>
              <a:blipFill rotWithShape="1">
                <a:blip r:embed="rId2"/>
                <a:stretch>
                  <a:fillRect l="-1541" t="-1630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0695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霍夫曼編碼 </a:t>
            </a:r>
            <a:r>
              <a:rPr lang="en-US" altLang="zh-TW" dirty="0"/>
              <a:t>(16/16)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解碼 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01100010100</a:t>
            </a: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從樹根出發，直到碰到樹葉</a:t>
            </a:r>
            <a:endParaRPr lang="en-US" altLang="zh-TW" sz="2000" b="1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/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完成一個字母解碼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grpSp>
        <p:nvGrpSpPr>
          <p:cNvPr id="7" name="群組 6"/>
          <p:cNvGrpSpPr/>
          <p:nvPr/>
        </p:nvGrpSpPr>
        <p:grpSpPr>
          <a:xfrm>
            <a:off x="4686349" y="1918163"/>
            <a:ext cx="3765000" cy="3747216"/>
            <a:chOff x="4686349" y="1918163"/>
            <a:chExt cx="3765000" cy="3747216"/>
          </a:xfrm>
        </p:grpSpPr>
        <p:grpSp>
          <p:nvGrpSpPr>
            <p:cNvPr id="8" name="群組 7"/>
            <p:cNvGrpSpPr/>
            <p:nvPr/>
          </p:nvGrpSpPr>
          <p:grpSpPr>
            <a:xfrm>
              <a:off x="6850919" y="5033701"/>
              <a:ext cx="351378" cy="631678"/>
              <a:chOff x="1288763" y="4778375"/>
              <a:chExt cx="351378" cy="631678"/>
            </a:xfrm>
          </p:grpSpPr>
          <p:sp>
            <p:nvSpPr>
              <p:cNvPr id="41" name="橢圓 40"/>
              <p:cNvSpPr/>
              <p:nvPr/>
            </p:nvSpPr>
            <p:spPr>
              <a:xfrm>
                <a:off x="1306553" y="4842078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2" name="文字方塊 41"/>
              <p:cNvSpPr txBox="1"/>
              <p:nvPr/>
            </p:nvSpPr>
            <p:spPr>
              <a:xfrm>
                <a:off x="1288763" y="4778375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3" name="文字方塊 42"/>
              <p:cNvSpPr txBox="1"/>
              <p:nvPr/>
            </p:nvSpPr>
            <p:spPr>
              <a:xfrm>
                <a:off x="1300512" y="5040721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9" name="群組 8"/>
            <p:cNvGrpSpPr/>
            <p:nvPr/>
          </p:nvGrpSpPr>
          <p:grpSpPr>
            <a:xfrm>
              <a:off x="4686349" y="1918163"/>
              <a:ext cx="3765000" cy="3739463"/>
              <a:chOff x="4686349" y="1918163"/>
              <a:chExt cx="3765000" cy="3739463"/>
            </a:xfrm>
          </p:grpSpPr>
          <p:sp>
            <p:nvSpPr>
              <p:cNvPr id="10" name="橢圓 9"/>
              <p:cNvSpPr/>
              <p:nvPr/>
            </p:nvSpPr>
            <p:spPr>
              <a:xfrm>
                <a:off x="5165597" y="266291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1" name="橢圓 10"/>
              <p:cNvSpPr/>
              <p:nvPr/>
            </p:nvSpPr>
            <p:spPr>
              <a:xfrm>
                <a:off x="7578970" y="266821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2" name="橢圓 11"/>
              <p:cNvSpPr/>
              <p:nvPr/>
            </p:nvSpPr>
            <p:spPr>
              <a:xfrm>
                <a:off x="4750098" y="353705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文字方塊 12"/>
              <p:cNvSpPr txBox="1"/>
              <p:nvPr/>
            </p:nvSpPr>
            <p:spPr>
              <a:xfrm>
                <a:off x="4745132" y="3473350"/>
                <a:ext cx="3257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橢圓 13"/>
              <p:cNvSpPr/>
              <p:nvPr/>
            </p:nvSpPr>
            <p:spPr>
              <a:xfrm>
                <a:off x="5524859" y="3528804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5505838" y="3473350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文字方塊 15"/>
              <p:cNvSpPr txBox="1"/>
              <p:nvPr/>
            </p:nvSpPr>
            <p:spPr>
              <a:xfrm>
                <a:off x="4686349" y="37356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文字方塊 16"/>
              <p:cNvSpPr txBox="1"/>
              <p:nvPr/>
            </p:nvSpPr>
            <p:spPr>
              <a:xfrm>
                <a:off x="5455069" y="3732439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27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8" name="直線接點 17"/>
              <p:cNvCxnSpPr>
                <a:stCxn id="10" idx="4"/>
                <a:endCxn id="14" idx="0"/>
              </p:cNvCxnSpPr>
              <p:nvPr/>
            </p:nvCxnSpPr>
            <p:spPr>
              <a:xfrm>
                <a:off x="5309597" y="2950910"/>
                <a:ext cx="359262" cy="577894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/>
              <p:cNvCxnSpPr>
                <a:stCxn id="10" idx="4"/>
                <a:endCxn id="12" idx="0"/>
              </p:cNvCxnSpPr>
              <p:nvPr/>
            </p:nvCxnSpPr>
            <p:spPr>
              <a:xfrm flipH="1">
                <a:off x="4894098" y="2950910"/>
                <a:ext cx="415499" cy="58614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橢圓 19"/>
              <p:cNvSpPr/>
              <p:nvPr/>
            </p:nvSpPr>
            <p:spPr>
              <a:xfrm>
                <a:off x="8099599" y="3580185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橢圓 20"/>
              <p:cNvSpPr/>
              <p:nvPr/>
            </p:nvSpPr>
            <p:spPr>
              <a:xfrm>
                <a:off x="7052976" y="356650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8081809" y="3516482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文字方塊 22"/>
              <p:cNvSpPr txBox="1"/>
              <p:nvPr/>
            </p:nvSpPr>
            <p:spPr>
              <a:xfrm>
                <a:off x="8035850" y="3778828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30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橢圓 23"/>
              <p:cNvSpPr/>
              <p:nvPr/>
            </p:nvSpPr>
            <p:spPr>
              <a:xfrm>
                <a:off x="6527603" y="4472950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橢圓 24"/>
              <p:cNvSpPr/>
              <p:nvPr/>
            </p:nvSpPr>
            <p:spPr>
              <a:xfrm>
                <a:off x="7588627" y="4454961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7569606" y="4399507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lang="zh-TW" alt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7" name="直線接點 26"/>
              <p:cNvCxnSpPr>
                <a:stCxn id="24" idx="4"/>
              </p:cNvCxnSpPr>
              <p:nvPr/>
            </p:nvCxnSpPr>
            <p:spPr>
              <a:xfrm>
                <a:off x="6671603" y="4760950"/>
                <a:ext cx="349520" cy="333133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接點 27"/>
              <p:cNvCxnSpPr>
                <a:stCxn id="24" idx="4"/>
                <a:endCxn id="38" idx="0"/>
              </p:cNvCxnSpPr>
              <p:nvPr/>
            </p:nvCxnSpPr>
            <p:spPr>
              <a:xfrm flipH="1">
                <a:off x="6329392" y="4760950"/>
                <a:ext cx="342211" cy="32370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9" name="群組 28"/>
              <p:cNvGrpSpPr/>
              <p:nvPr/>
            </p:nvGrpSpPr>
            <p:grpSpPr>
              <a:xfrm>
                <a:off x="6166371" y="5029205"/>
                <a:ext cx="351378" cy="628421"/>
                <a:chOff x="595801" y="4780839"/>
                <a:chExt cx="351378" cy="628421"/>
              </a:xfrm>
            </p:grpSpPr>
            <p:sp>
              <p:nvSpPr>
                <p:cNvPr id="38" name="橢圓 37"/>
                <p:cNvSpPr/>
                <p:nvPr/>
              </p:nvSpPr>
              <p:spPr>
                <a:xfrm>
                  <a:off x="614822" y="4836293"/>
                  <a:ext cx="288000" cy="288000"/>
                </a:xfrm>
                <a:prstGeom prst="ellipse">
                  <a:avLst/>
                </a:prstGeom>
                <a:solidFill>
                  <a:srgbClr val="E8F0FC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39" name="文字方塊 38"/>
                <p:cNvSpPr txBox="1"/>
                <p:nvPr/>
              </p:nvSpPr>
              <p:spPr>
                <a:xfrm>
                  <a:off x="595801" y="4780839"/>
                  <a:ext cx="35137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</a:t>
                  </a:r>
                  <a:endParaRPr lang="zh-TW" alt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文字方塊 39"/>
                <p:cNvSpPr txBox="1"/>
                <p:nvPr/>
              </p:nvSpPr>
              <p:spPr>
                <a:xfrm>
                  <a:off x="602740" y="5039928"/>
                  <a:ext cx="3000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TW" b="1" dirty="0">
                      <a:solidFill>
                        <a:srgbClr val="0000FF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5</a:t>
                  </a:r>
                  <a:endParaRPr lang="zh-TW" altLang="en-US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30" name="文字方塊 29"/>
              <p:cNvSpPr txBox="1"/>
              <p:nvPr/>
            </p:nvSpPr>
            <p:spPr>
              <a:xfrm>
                <a:off x="7518837" y="4658596"/>
                <a:ext cx="4154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TW" b="1" dirty="0">
                    <a:solidFill>
                      <a:srgbClr val="0000FF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15</a:t>
                </a:r>
                <a:endParaRPr lang="zh-TW" altLang="en-US" b="1" dirty="0">
                  <a:solidFill>
                    <a:srgbClr val="00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1" name="直線接點 30"/>
              <p:cNvCxnSpPr>
                <a:stCxn id="21" idx="4"/>
                <a:endCxn id="24" idx="0"/>
              </p:cNvCxnSpPr>
              <p:nvPr/>
            </p:nvCxnSpPr>
            <p:spPr>
              <a:xfrm flipH="1">
                <a:off x="6671603" y="3854501"/>
                <a:ext cx="525373" cy="618449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接點 31"/>
              <p:cNvCxnSpPr>
                <a:stCxn id="21" idx="4"/>
                <a:endCxn id="25" idx="0"/>
              </p:cNvCxnSpPr>
              <p:nvPr/>
            </p:nvCxnSpPr>
            <p:spPr>
              <a:xfrm>
                <a:off x="7196976" y="3854501"/>
                <a:ext cx="535651" cy="60046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接點 32"/>
              <p:cNvCxnSpPr>
                <a:stCxn id="11" idx="4"/>
                <a:endCxn id="20" idx="0"/>
              </p:cNvCxnSpPr>
              <p:nvPr/>
            </p:nvCxnSpPr>
            <p:spPr>
              <a:xfrm>
                <a:off x="7722970" y="2956215"/>
                <a:ext cx="520629" cy="623970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接點 33"/>
              <p:cNvCxnSpPr>
                <a:stCxn id="11" idx="4"/>
                <a:endCxn id="21" idx="0"/>
              </p:cNvCxnSpPr>
              <p:nvPr/>
            </p:nvCxnSpPr>
            <p:spPr>
              <a:xfrm flipH="1">
                <a:off x="7196976" y="2956215"/>
                <a:ext cx="525994" cy="610286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橢圓 34"/>
              <p:cNvSpPr/>
              <p:nvPr/>
            </p:nvSpPr>
            <p:spPr>
              <a:xfrm>
                <a:off x="6319571" y="1918163"/>
                <a:ext cx="288000" cy="288000"/>
              </a:xfrm>
              <a:prstGeom prst="ellipse">
                <a:avLst/>
              </a:prstGeom>
              <a:solidFill>
                <a:srgbClr val="E8F0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36" name="直線接點 35"/>
              <p:cNvCxnSpPr>
                <a:stCxn id="35" idx="4"/>
                <a:endCxn id="11" idx="0"/>
              </p:cNvCxnSpPr>
              <p:nvPr/>
            </p:nvCxnSpPr>
            <p:spPr>
              <a:xfrm>
                <a:off x="6463571" y="2206163"/>
                <a:ext cx="1259399" cy="462052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接點 36"/>
              <p:cNvCxnSpPr>
                <a:stCxn id="35" idx="4"/>
                <a:endCxn id="10" idx="0"/>
              </p:cNvCxnSpPr>
              <p:nvPr/>
            </p:nvCxnSpPr>
            <p:spPr>
              <a:xfrm flipH="1">
                <a:off x="5309597" y="2206163"/>
                <a:ext cx="1153974" cy="456747"/>
              </a:xfrm>
              <a:prstGeom prst="line">
                <a:avLst/>
              </a:prstGeom>
              <a:ln w="28575"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字方塊 43"/>
          <p:cNvSpPr txBox="1"/>
          <p:nvPr/>
        </p:nvSpPr>
        <p:spPr>
          <a:xfrm>
            <a:off x="5662487" y="21630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4856889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7220203" y="302493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文字方塊 46"/>
          <p:cNvSpPr txBox="1"/>
          <p:nvPr/>
        </p:nvSpPr>
        <p:spPr>
          <a:xfrm>
            <a:off x="6670444" y="394624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6264359" y="467896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5454652" y="3016310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字方塊 49"/>
          <p:cNvSpPr txBox="1"/>
          <p:nvPr/>
        </p:nvSpPr>
        <p:spPr>
          <a:xfrm>
            <a:off x="6989129" y="213715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6784248" y="466465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7443756" y="3937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字方塊 52"/>
          <p:cNvSpPr txBox="1"/>
          <p:nvPr/>
        </p:nvSpPr>
        <p:spPr>
          <a:xfrm>
            <a:off x="7920196" y="30024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字方塊 53"/>
          <p:cNvSpPr txBox="1"/>
          <p:nvPr/>
        </p:nvSpPr>
        <p:spPr>
          <a:xfrm>
            <a:off x="366716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666798" y="3731682"/>
            <a:ext cx="3000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966881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1266963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1867127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1567045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2167209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467291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字方塊 61"/>
          <p:cNvSpPr txBox="1"/>
          <p:nvPr/>
        </p:nvSpPr>
        <p:spPr>
          <a:xfrm>
            <a:off x="2767373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文字方塊 62"/>
          <p:cNvSpPr txBox="1"/>
          <p:nvPr/>
        </p:nvSpPr>
        <p:spPr>
          <a:xfrm>
            <a:off x="3067455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3367537" y="373168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直線接點 65"/>
          <p:cNvCxnSpPr/>
          <p:nvPr/>
        </p:nvCxnSpPr>
        <p:spPr>
          <a:xfrm>
            <a:off x="366716" y="4068000"/>
            <a:ext cx="600165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491108" y="410400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直線接點 67"/>
          <p:cNvCxnSpPr/>
          <p:nvPr/>
        </p:nvCxnSpPr>
        <p:spPr>
          <a:xfrm>
            <a:off x="966881" y="4068000"/>
            <a:ext cx="1200328" cy="0"/>
          </a:xfrm>
          <a:prstGeom prst="line">
            <a:avLst/>
          </a:prstGeom>
          <a:ln w="2857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字方塊 70"/>
          <p:cNvSpPr txBox="1"/>
          <p:nvPr/>
        </p:nvSpPr>
        <p:spPr>
          <a:xfrm>
            <a:off x="1387956" y="410400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2" name="直線接點 71"/>
          <p:cNvCxnSpPr/>
          <p:nvPr/>
        </p:nvCxnSpPr>
        <p:spPr>
          <a:xfrm>
            <a:off x="2167209" y="4068000"/>
            <a:ext cx="90024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字方塊 74"/>
          <p:cNvSpPr txBox="1"/>
          <p:nvPr/>
        </p:nvSpPr>
        <p:spPr>
          <a:xfrm>
            <a:off x="2441642" y="4104000"/>
            <a:ext cx="35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6" name="直線接點 75"/>
          <p:cNvCxnSpPr/>
          <p:nvPr/>
        </p:nvCxnSpPr>
        <p:spPr>
          <a:xfrm>
            <a:off x="3067455" y="4068000"/>
            <a:ext cx="600164" cy="0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字方塊 78"/>
          <p:cNvSpPr txBox="1"/>
          <p:nvPr/>
        </p:nvSpPr>
        <p:spPr>
          <a:xfrm>
            <a:off x="3204672" y="4104000"/>
            <a:ext cx="325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56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  <p:bldP spid="71" grpId="0"/>
      <p:bldP spid="75" grpId="0"/>
      <p:bldP spid="79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貪婪演算法與動態規劃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都是解</a:t>
            </a:r>
            <a:r>
              <a:rPr lang="zh-TW" altLang="en-US" dirty="0">
                <a:solidFill>
                  <a:srgbClr val="0000FF"/>
                </a:solidFill>
              </a:rPr>
              <a:t>最佳化問題</a:t>
            </a:r>
            <a:r>
              <a:rPr lang="zh-TW" altLang="en-US" dirty="0"/>
              <a:t>的方法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單一起點最短路徑演算法</a:t>
            </a:r>
            <a:r>
              <a:rPr lang="en-US" altLang="zh-TW" dirty="0"/>
              <a:t>(single source shortest path)</a:t>
            </a:r>
          </a:p>
          <a:p>
            <a:pPr lvl="1"/>
            <a:r>
              <a:rPr lang="zh-TW" altLang="en-US" dirty="0"/>
              <a:t>演算法</a:t>
            </a:r>
            <a:r>
              <a:rPr lang="en-US" altLang="zh-TW" dirty="0"/>
              <a:t>3.3</a:t>
            </a:r>
            <a:r>
              <a:rPr lang="zh-TW" altLang="en-US" dirty="0"/>
              <a:t> </a:t>
            </a:r>
            <a:r>
              <a:rPr lang="en-US" altLang="zh-TW" dirty="0" err="1"/>
              <a:t>Folyd</a:t>
            </a:r>
            <a:r>
              <a:rPr lang="zh-TW" altLang="en-US" dirty="0"/>
              <a:t>演算法 </a:t>
            </a:r>
            <a:r>
              <a:rPr lang="zh-TW" altLang="en-US" dirty="0">
                <a:sym typeface="Symbol" panose="05050102010706020507" pitchFamily="18" charset="2"/>
              </a:rPr>
              <a:t> 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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3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lvl="2"/>
            <a:r>
              <a:rPr lang="zh-TW" altLang="en-US" dirty="0">
                <a:sym typeface="Symbol" panose="05050102010706020507" pitchFamily="18" charset="2"/>
              </a:rPr>
              <a:t>採用</a:t>
            </a:r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動態規劃</a:t>
            </a:r>
            <a:endParaRPr lang="en-US" altLang="zh-TW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ym typeface="Symbol" panose="05050102010706020507" pitchFamily="18" charset="2"/>
              </a:rPr>
              <a:t>演算法</a:t>
            </a:r>
            <a:r>
              <a:rPr lang="en-US" altLang="zh-TW" dirty="0">
                <a:sym typeface="Symbol" panose="05050102010706020507" pitchFamily="18" charset="2"/>
              </a:rPr>
              <a:t>4.3 Dijkstra</a:t>
            </a:r>
            <a:r>
              <a:rPr lang="zh-TW" altLang="en-US" dirty="0">
                <a:sym typeface="Symbol" panose="05050102010706020507" pitchFamily="18" charset="2"/>
              </a:rPr>
              <a:t>演算法  </a:t>
            </a:r>
            <a:r>
              <a:rPr lang="zh-TW" altLang="en-US" dirty="0">
                <a:solidFill>
                  <a:srgbClr val="0000FF"/>
                </a:solidFill>
                <a:sym typeface="Symbol" panose="05050102010706020507" pitchFamily="18" charset="2"/>
              </a:rPr>
              <a:t>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(</a:t>
            </a:r>
            <a:r>
              <a:rPr lang="en-US" altLang="zh-TW" i="1" dirty="0">
                <a:solidFill>
                  <a:srgbClr val="0000FF"/>
                </a:solidFill>
                <a:sym typeface="Symbol" panose="05050102010706020507" pitchFamily="18" charset="2"/>
              </a:rPr>
              <a:t>n</a:t>
            </a:r>
            <a:r>
              <a:rPr lang="en-US" altLang="zh-TW" baseline="30000" dirty="0">
                <a:solidFill>
                  <a:srgbClr val="0000FF"/>
                </a:solidFill>
                <a:sym typeface="Symbol" panose="05050102010706020507" pitchFamily="18" charset="2"/>
              </a:rPr>
              <a:t>2</a:t>
            </a:r>
            <a:r>
              <a:rPr lang="en-US" altLang="zh-TW" dirty="0">
                <a:solidFill>
                  <a:srgbClr val="0000FF"/>
                </a:solidFill>
                <a:sym typeface="Symbol" panose="05050102010706020507" pitchFamily="18" charset="2"/>
              </a:rPr>
              <a:t>)</a:t>
            </a:r>
          </a:p>
          <a:p>
            <a:pPr lvl="2"/>
            <a:r>
              <a:rPr lang="zh-TW" altLang="en-US" dirty="0">
                <a:sym typeface="Symbol" panose="05050102010706020507" pitchFamily="18" charset="2"/>
              </a:rPr>
              <a:t>採用</a:t>
            </a:r>
            <a:r>
              <a:rPr lang="zh-TW" altLang="en-US" dirty="0">
                <a:solidFill>
                  <a:srgbClr val="C00000"/>
                </a:solidFill>
                <a:sym typeface="Symbol" panose="05050102010706020507" pitchFamily="18" charset="2"/>
              </a:rPr>
              <a:t>貪婪演算法</a:t>
            </a:r>
            <a:endParaRPr lang="en-US" altLang="zh-TW" dirty="0">
              <a:solidFill>
                <a:srgbClr val="C00000"/>
              </a:solidFill>
              <a:sym typeface="Symbol" panose="05050102010706020507" pitchFamily="18" charset="2"/>
            </a:endParaRPr>
          </a:p>
          <a:p>
            <a:pPr lvl="1"/>
            <a:r>
              <a:rPr lang="zh-TW" altLang="en-US" dirty="0">
                <a:sym typeface="Symbol" panose="05050102010706020507" pitchFamily="18" charset="2"/>
              </a:rPr>
              <a:t>貪婪演算法簡單且有效率</a:t>
            </a:r>
            <a:endParaRPr lang="en-US" altLang="zh-TW" dirty="0">
              <a:sym typeface="Symbol" panose="05050102010706020507" pitchFamily="18" charset="2"/>
            </a:endParaRPr>
          </a:p>
          <a:p>
            <a:endParaRPr lang="en-US" altLang="zh-TW" dirty="0">
              <a:sym typeface="Symbol" panose="05050102010706020507" pitchFamily="18" charset="2"/>
            </a:endParaRPr>
          </a:p>
          <a:p>
            <a:r>
              <a:rPr lang="zh-TW" altLang="en-US" dirty="0">
                <a:sym typeface="Symbol" panose="05050102010706020507" pitchFamily="18" charset="2"/>
              </a:rPr>
              <a:t>貪婪演算法較難得知是否可以得到最佳解</a:t>
            </a:r>
            <a:endParaRPr lang="en-US" altLang="zh-TW" dirty="0">
              <a:sym typeface="Symbol" panose="05050102010706020507" pitchFamily="18" charset="2"/>
            </a:endParaRPr>
          </a:p>
          <a:p>
            <a:r>
              <a:rPr lang="zh-TW" altLang="en-US" dirty="0"/>
              <a:t>動態規劃僅需判斷是否符合最佳化原則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67771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背包問題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</a:rPr>
              <a:t>0-1</a:t>
            </a:r>
            <a:r>
              <a:rPr lang="zh-TW" altLang="en-US" dirty="0">
                <a:solidFill>
                  <a:srgbClr val="0000FF"/>
                </a:solidFill>
              </a:rPr>
              <a:t>背包問題 </a:t>
            </a:r>
            <a:r>
              <a:rPr lang="en-US" altLang="zh-TW" dirty="0">
                <a:solidFill>
                  <a:srgbClr val="0000FF"/>
                </a:solidFill>
              </a:rPr>
              <a:t>(0-1 Knapsack Problem)</a:t>
            </a:r>
          </a:p>
          <a:p>
            <a:pPr lvl="1"/>
            <a:r>
              <a:rPr lang="zh-TW" altLang="en-US" dirty="0"/>
              <a:t>物品只有</a:t>
            </a:r>
            <a:r>
              <a:rPr lang="zh-TW" altLang="en-US" dirty="0">
                <a:solidFill>
                  <a:srgbClr val="C00000"/>
                </a:solidFill>
              </a:rPr>
              <a:t>拿與不拿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金磚、銀磚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0000FF"/>
                </a:solidFill>
              </a:rPr>
              <a:t>Fractional</a:t>
            </a:r>
            <a:r>
              <a:rPr lang="zh-TW" altLang="en-US" dirty="0">
                <a:solidFill>
                  <a:srgbClr val="0000FF"/>
                </a:solidFill>
              </a:rPr>
              <a:t>背包問題 </a:t>
            </a:r>
            <a:r>
              <a:rPr lang="en-US" altLang="zh-TW" dirty="0">
                <a:solidFill>
                  <a:srgbClr val="0000FF"/>
                </a:solidFill>
              </a:rPr>
              <a:t>(Fractional Knapsack Problem)</a:t>
            </a:r>
          </a:p>
          <a:p>
            <a:pPr lvl="1"/>
            <a:r>
              <a:rPr lang="zh-TW" altLang="en-US" dirty="0"/>
              <a:t>物品</a:t>
            </a:r>
            <a:r>
              <a:rPr lang="zh-TW" altLang="en-US" dirty="0">
                <a:solidFill>
                  <a:srgbClr val="C00000"/>
                </a:solidFill>
              </a:rPr>
              <a:t>可以切割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zh-TW" altLang="en-US" dirty="0"/>
              <a:t>金粉、銀粉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0270" y="3429000"/>
            <a:ext cx="3255238" cy="2815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8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1758" y="2187376"/>
            <a:ext cx="3255238" cy="2815152"/>
          </a:xfrm>
          <a:prstGeom prst="rect">
            <a:avLst/>
          </a:prstGeom>
        </p:spPr>
      </p:pic>
      <p:sp>
        <p:nvSpPr>
          <p:cNvPr id="8" name="圓角矩形圖說文字 7"/>
          <p:cNvSpPr/>
          <p:nvPr/>
        </p:nvSpPr>
        <p:spPr>
          <a:xfrm>
            <a:off x="4916389" y="1651396"/>
            <a:ext cx="2561214" cy="481915"/>
          </a:xfrm>
          <a:prstGeom prst="wedgeRoundRectCallout">
            <a:avLst>
              <a:gd name="adj1" fmla="val -53082"/>
              <a:gd name="adj2" fmla="val 20524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最大載重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15KG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圓角矩形圖說文字 8"/>
          <p:cNvSpPr/>
          <p:nvPr/>
        </p:nvSpPr>
        <p:spPr>
          <a:xfrm>
            <a:off x="685799" y="1173456"/>
            <a:ext cx="2075936" cy="955879"/>
          </a:xfrm>
          <a:prstGeom prst="wedgeRoundRectCallout">
            <a:avLst>
              <a:gd name="adj1" fmla="val 80646"/>
              <a:gd name="adj2" fmla="val 7103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12KG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圓角矩形圖說文字 9"/>
          <p:cNvSpPr/>
          <p:nvPr/>
        </p:nvSpPr>
        <p:spPr>
          <a:xfrm>
            <a:off x="448961" y="2332931"/>
            <a:ext cx="2075936" cy="955879"/>
          </a:xfrm>
          <a:prstGeom prst="wedgeRoundRectCallout">
            <a:avLst>
              <a:gd name="adj1" fmla="val 76181"/>
              <a:gd name="adj2" fmla="val 619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圓角矩形圖說文字 10"/>
          <p:cNvSpPr/>
          <p:nvPr/>
        </p:nvSpPr>
        <p:spPr>
          <a:xfrm>
            <a:off x="895854" y="3696293"/>
            <a:ext cx="2075936" cy="955879"/>
          </a:xfrm>
          <a:prstGeom prst="wedgeRoundRectCallout">
            <a:avLst>
              <a:gd name="adj1" fmla="val 99098"/>
              <a:gd name="adj2" fmla="val 535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4KG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圓角矩形圖說文字 11"/>
          <p:cNvSpPr/>
          <p:nvPr/>
        </p:nvSpPr>
        <p:spPr>
          <a:xfrm>
            <a:off x="6324590" y="4046649"/>
            <a:ext cx="2075936" cy="955879"/>
          </a:xfrm>
          <a:prstGeom prst="wedgeRoundRectCallout">
            <a:avLst>
              <a:gd name="adj1" fmla="val -65783"/>
              <a:gd name="adj2" fmla="val -427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1KG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圓角矩形圖說文字 12"/>
          <p:cNvSpPr/>
          <p:nvPr/>
        </p:nvSpPr>
        <p:spPr>
          <a:xfrm>
            <a:off x="6489347" y="2875205"/>
            <a:ext cx="2075936" cy="955879"/>
          </a:xfrm>
          <a:prstGeom prst="wedgeRoundRectCallout">
            <a:avLst>
              <a:gd name="adj1" fmla="val -65783"/>
              <a:gd name="adj2" fmla="val -4272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寶物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2KG</a:t>
            </a: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 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/>
              <p:cNvSpPr txBox="1"/>
              <p:nvPr/>
            </p:nvSpPr>
            <p:spPr>
              <a:xfrm>
                <a:off x="1936417" y="5786079"/>
                <a:ext cx="71154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⊆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6" name="文字方塊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6417" y="5786079"/>
                <a:ext cx="711541" cy="307777"/>
              </a:xfrm>
              <a:prstGeom prst="rect">
                <a:avLst/>
              </a:prstGeom>
              <a:blipFill rotWithShape="0">
                <a:blip r:embed="rId3"/>
                <a:stretch>
                  <a:fillRect l="-8621" r="-7759" b="-588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/>
              <p:cNvSpPr txBox="1"/>
              <p:nvPr/>
            </p:nvSpPr>
            <p:spPr>
              <a:xfrm>
                <a:off x="343928" y="5002528"/>
                <a:ext cx="343113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5" name="文字方塊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928" y="5002528"/>
                <a:ext cx="3431132" cy="307777"/>
              </a:xfrm>
              <a:prstGeom prst="rect">
                <a:avLst/>
              </a:prstGeom>
              <a:blipFill rotWithShape="0">
                <a:blip r:embed="rId4"/>
                <a:stretch>
                  <a:fillRect l="-355" b="-1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/>
              <p:cNvSpPr txBox="1"/>
              <p:nvPr/>
            </p:nvSpPr>
            <p:spPr>
              <a:xfrm>
                <a:off x="3481951" y="5581188"/>
                <a:ext cx="1700850" cy="78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𝑾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7" name="文字方塊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1951" y="5581188"/>
                <a:ext cx="1700850" cy="78470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/>
              <p:cNvSpPr txBox="1"/>
              <p:nvPr/>
            </p:nvSpPr>
            <p:spPr>
              <a:xfrm>
                <a:off x="6087167" y="5547616"/>
                <a:ext cx="1071062" cy="784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nary>
                        <m:naryPr>
                          <m:chr m:val="∑"/>
                          <m:supHide m:val="on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𝒊𝒕𝒆𝒎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𝑨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18" name="文字方塊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7167" y="5547616"/>
                <a:ext cx="1071062" cy="78470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圓角矩形圖說文字 18"/>
          <p:cNvSpPr/>
          <p:nvPr/>
        </p:nvSpPr>
        <p:spPr>
          <a:xfrm>
            <a:off x="2338984" y="6270487"/>
            <a:ext cx="899525" cy="481915"/>
          </a:xfrm>
          <a:prstGeom prst="wedgeRoundRectCallout">
            <a:avLst>
              <a:gd name="adj1" fmla="val 89096"/>
              <a:gd name="adj2" fmla="val -1088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限制</a:t>
            </a:r>
          </a:p>
        </p:txBody>
      </p:sp>
      <p:sp>
        <p:nvSpPr>
          <p:cNvPr id="20" name="圓角矩形圖說文字 19"/>
          <p:cNvSpPr/>
          <p:nvPr/>
        </p:nvSpPr>
        <p:spPr>
          <a:xfrm>
            <a:off x="7488359" y="6270487"/>
            <a:ext cx="1023983" cy="481915"/>
          </a:xfrm>
          <a:prstGeom prst="wedgeRoundRectCallout">
            <a:avLst>
              <a:gd name="adj1" fmla="val -80556"/>
              <a:gd name="adj2" fmla="val -1075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最大值</a:t>
            </a:r>
          </a:p>
        </p:txBody>
      </p:sp>
    </p:spTree>
    <p:extLst>
      <p:ext uri="{BB962C8B-B14F-4D97-AF65-F5344CB8AC3E}">
        <p14:creationId xmlns:p14="http://schemas.microsoft.com/office/powerpoint/2010/main" val="2617268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5" grpId="0"/>
      <p:bldP spid="17" grpId="0"/>
      <p:bldP spid="18" grpId="0"/>
      <p:bldP spid="19" grpId="0" animBg="1"/>
      <p:bldP spid="2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暴力法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713599" y="1247044"/>
            <a:ext cx="1272746" cy="1513703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817615" y="2050238"/>
          <a:ext cx="6096000" cy="4228756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62596">
                <a:tc>
                  <a:txBody>
                    <a:bodyPr/>
                    <a:lstStyle/>
                    <a:p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總價值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l="5288" t="3942" r="65103" b="73892"/>
          <a:stretch/>
        </p:blipFill>
        <p:spPr>
          <a:xfrm>
            <a:off x="848508" y="2068772"/>
            <a:ext cx="963827" cy="6240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2014151" y="2167625"/>
            <a:ext cx="679621" cy="42630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2938834" y="2119177"/>
            <a:ext cx="803189" cy="52320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045317" y="2142912"/>
            <a:ext cx="667265" cy="45102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4929813" y="2093484"/>
            <a:ext cx="933018" cy="574589"/>
          </a:xfrm>
          <a:prstGeom prst="rect">
            <a:avLst/>
          </a:prstGeom>
        </p:spPr>
      </p:pic>
      <p:sp>
        <p:nvSpPr>
          <p:cNvPr id="14" name="文字方塊 13"/>
          <p:cNvSpPr txBox="1"/>
          <p:nvPr/>
        </p:nvSpPr>
        <p:spPr>
          <a:xfrm>
            <a:off x="1147518" y="2753440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2171058" y="312277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3157525" y="3570256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4210553" y="3939588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18" name="文字方塊 17"/>
          <p:cNvSpPr txBox="1"/>
          <p:nvPr/>
        </p:nvSpPr>
        <p:spPr>
          <a:xfrm>
            <a:off x="5213419" y="4363937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19" name="文字方塊 18"/>
          <p:cNvSpPr txBox="1"/>
          <p:nvPr/>
        </p:nvSpPr>
        <p:spPr>
          <a:xfrm>
            <a:off x="6242601" y="2692788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4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242601" y="3122772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204930" y="355608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267318" y="395384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6252219" y="4330424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2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1147266" y="4777889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2171058" y="4777889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1147266" y="5159109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27" name="文字方塊 26"/>
          <p:cNvSpPr txBox="1"/>
          <p:nvPr/>
        </p:nvSpPr>
        <p:spPr>
          <a:xfrm>
            <a:off x="2171058" y="5176182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28" name="文字方塊 27"/>
          <p:cNvSpPr txBox="1"/>
          <p:nvPr/>
        </p:nvSpPr>
        <p:spPr>
          <a:xfrm>
            <a:off x="5213419" y="5136799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29" name="文字方塊 28"/>
          <p:cNvSpPr txBox="1"/>
          <p:nvPr/>
        </p:nvSpPr>
        <p:spPr>
          <a:xfrm>
            <a:off x="2171058" y="5939988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30" name="文字方塊 29"/>
          <p:cNvSpPr txBox="1"/>
          <p:nvPr/>
        </p:nvSpPr>
        <p:spPr>
          <a:xfrm>
            <a:off x="3157525" y="593862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31" name="文字方塊 30"/>
          <p:cNvSpPr txBox="1"/>
          <p:nvPr/>
        </p:nvSpPr>
        <p:spPr>
          <a:xfrm>
            <a:off x="4161897" y="593862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32" name="文字方塊 31"/>
          <p:cNvSpPr txBox="1"/>
          <p:nvPr/>
        </p:nvSpPr>
        <p:spPr>
          <a:xfrm>
            <a:off x="5166269" y="5938623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ym typeface="Wingdings" panose="05000000000000000000" pitchFamily="2" charset="2"/>
              </a:rPr>
              <a:t></a:t>
            </a:r>
            <a:endParaRPr lang="zh-TW" altLang="en-US" dirty="0"/>
          </a:p>
        </p:txBody>
      </p:sp>
      <p:sp>
        <p:nvSpPr>
          <p:cNvPr id="33" name="文字方塊 32"/>
          <p:cNvSpPr txBox="1"/>
          <p:nvPr/>
        </p:nvSpPr>
        <p:spPr>
          <a:xfrm>
            <a:off x="6253340" y="472807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6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6252219" y="512141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8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6178481" y="590784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15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圓角矩形圖說文字 35"/>
          <p:cNvSpPr/>
          <p:nvPr/>
        </p:nvSpPr>
        <p:spPr>
          <a:xfrm>
            <a:off x="4971246" y="641833"/>
            <a:ext cx="3884737" cy="481915"/>
          </a:xfrm>
          <a:prstGeom prst="wedgeRoundRectCallout">
            <a:avLst>
              <a:gd name="adj1" fmla="val -61779"/>
              <a:gd name="adj2" fmla="val 25139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每件物品只有拿或不拿兩種選擇</a:t>
            </a:r>
          </a:p>
        </p:txBody>
      </p:sp>
      <p:grpSp>
        <p:nvGrpSpPr>
          <p:cNvPr id="37" name="群組 36"/>
          <p:cNvGrpSpPr/>
          <p:nvPr/>
        </p:nvGrpSpPr>
        <p:grpSpPr>
          <a:xfrm>
            <a:off x="7003209" y="2692788"/>
            <a:ext cx="1163572" cy="3600000"/>
            <a:chOff x="7213150" y="3122977"/>
            <a:chExt cx="1163572" cy="3600000"/>
          </a:xfrm>
        </p:grpSpPr>
        <p:sp>
          <p:nvSpPr>
            <p:cNvPr id="38" name="右大括弧 37"/>
            <p:cNvSpPr/>
            <p:nvPr/>
          </p:nvSpPr>
          <p:spPr>
            <a:xfrm>
              <a:off x="7213150" y="3122977"/>
              <a:ext cx="262688" cy="3600000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9" name="文字方塊 38"/>
            <p:cNvSpPr txBox="1"/>
            <p:nvPr/>
          </p:nvSpPr>
          <p:spPr>
            <a:xfrm>
              <a:off x="7469101" y="4721665"/>
              <a:ext cx="90762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2</a:t>
              </a:r>
              <a:r>
                <a:rPr lang="en-US" altLang="zh-TW" sz="2000" b="1" baseline="30000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5 </a:t>
              </a:r>
              <a:r>
                <a:rPr lang="en-US" altLang="zh-TW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= 32</a:t>
              </a:r>
              <a:endPara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40" name="文字方塊 39"/>
          <p:cNvSpPr txBox="1"/>
          <p:nvPr/>
        </p:nvSpPr>
        <p:spPr>
          <a:xfrm>
            <a:off x="6203198" y="542959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…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477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6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70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7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80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90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 animBg="1"/>
      <p:bldP spid="4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貪婪演算法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價值高</a:t>
            </a:r>
            <a:r>
              <a:rPr lang="zh-TW" altLang="en-US" dirty="0"/>
              <a:t>的先拿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l="5288" t="3942" r="65103" b="73892"/>
          <a:stretch/>
        </p:blipFill>
        <p:spPr>
          <a:xfrm>
            <a:off x="3333120" y="2063577"/>
            <a:ext cx="963827" cy="6240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4459100" y="2162431"/>
            <a:ext cx="679621" cy="42630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2387057" y="2117976"/>
            <a:ext cx="803189" cy="52320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6521172" y="2147011"/>
            <a:ext cx="667265" cy="45102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355882" y="2085228"/>
            <a:ext cx="933018" cy="574589"/>
          </a:xfrm>
          <a:prstGeom prst="rect">
            <a:avLst/>
          </a:prstGeom>
        </p:spPr>
      </p:pic>
      <p:pic>
        <p:nvPicPr>
          <p:cNvPr id="39" name="圖片 38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2971790" y="3168300"/>
            <a:ext cx="803189" cy="523204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3992140" y="3194118"/>
            <a:ext cx="679621" cy="426309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6054212" y="3178698"/>
            <a:ext cx="667265" cy="451022"/>
          </a:xfrm>
          <a:prstGeom prst="rect">
            <a:avLst/>
          </a:prstGeom>
        </p:spPr>
      </p:pic>
      <p:pic>
        <p:nvPicPr>
          <p:cNvPr id="42" name="圖片 41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4888922" y="3116915"/>
            <a:ext cx="933018" cy="574589"/>
          </a:xfrm>
          <a:prstGeom prst="rect">
            <a:avLst/>
          </a:prstGeom>
        </p:spPr>
      </p:pic>
      <p:grpSp>
        <p:nvGrpSpPr>
          <p:cNvPr id="53" name="群組 52"/>
          <p:cNvGrpSpPr/>
          <p:nvPr/>
        </p:nvGrpSpPr>
        <p:grpSpPr>
          <a:xfrm>
            <a:off x="2469104" y="4593548"/>
            <a:ext cx="811960" cy="553998"/>
            <a:chOff x="2286010" y="4758642"/>
            <a:chExt cx="811960" cy="553998"/>
          </a:xfrm>
        </p:grpSpPr>
        <p:sp>
          <p:nvSpPr>
            <p:cNvPr id="43" name="立方體 42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2434624" y="4758642"/>
              <a:ext cx="5164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12kg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$10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3934266" y="4428454"/>
            <a:ext cx="1047625" cy="714768"/>
            <a:chOff x="3751172" y="4593548"/>
            <a:chExt cx="1047625" cy="714768"/>
          </a:xfrm>
        </p:grpSpPr>
        <p:sp>
          <p:nvSpPr>
            <p:cNvPr id="44" name="立方體 43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907432" y="5031317"/>
              <a:ext cx="335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$9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5635093" y="4607966"/>
            <a:ext cx="1047625" cy="526928"/>
            <a:chOff x="5451999" y="4773060"/>
            <a:chExt cx="1047625" cy="526928"/>
          </a:xfrm>
        </p:grpSpPr>
        <p:sp>
          <p:nvSpPr>
            <p:cNvPr id="45" name="立方體 44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5729910" y="4776360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5736123" y="5022989"/>
              <a:ext cx="335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$9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2" name="圖片 51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713599" y="1112107"/>
            <a:ext cx="1272746" cy="1513703"/>
          </a:xfrm>
          <a:prstGeom prst="rect">
            <a:avLst/>
          </a:prstGeom>
        </p:spPr>
      </p:pic>
      <p:grpSp>
        <p:nvGrpSpPr>
          <p:cNvPr id="56" name="群組 55"/>
          <p:cNvGrpSpPr/>
          <p:nvPr/>
        </p:nvGrpSpPr>
        <p:grpSpPr>
          <a:xfrm>
            <a:off x="1648261" y="5715953"/>
            <a:ext cx="811960" cy="553998"/>
            <a:chOff x="2286010" y="4758642"/>
            <a:chExt cx="811960" cy="553998"/>
          </a:xfrm>
        </p:grpSpPr>
        <p:sp>
          <p:nvSpPr>
            <p:cNvPr id="57" name="立方體 56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2434624" y="4758642"/>
              <a:ext cx="5164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12kg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$10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4888922" y="5610315"/>
            <a:ext cx="1047625" cy="714768"/>
            <a:chOff x="3751172" y="4593548"/>
            <a:chExt cx="1047625" cy="714768"/>
          </a:xfrm>
        </p:grpSpPr>
        <p:sp>
          <p:nvSpPr>
            <p:cNvPr id="61" name="立方體 60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3907432" y="5031317"/>
              <a:ext cx="335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$9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群組 63"/>
          <p:cNvGrpSpPr/>
          <p:nvPr/>
        </p:nvGrpSpPr>
        <p:grpSpPr>
          <a:xfrm>
            <a:off x="6589749" y="5789827"/>
            <a:ext cx="1047625" cy="526928"/>
            <a:chOff x="5451999" y="4773060"/>
            <a:chExt cx="1047625" cy="526928"/>
          </a:xfrm>
        </p:grpSpPr>
        <p:sp>
          <p:nvSpPr>
            <p:cNvPr id="65" name="立方體 64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5729910" y="4776360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5736123" y="5022989"/>
              <a:ext cx="335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$9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68" name="文字方塊 67"/>
          <p:cNvSpPr txBox="1"/>
          <p:nvPr/>
        </p:nvSpPr>
        <p:spPr>
          <a:xfrm>
            <a:off x="2565319" y="5809324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890232" y="5734299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$18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圓角矩形圖說文字 69"/>
          <p:cNvSpPr/>
          <p:nvPr/>
        </p:nvSpPr>
        <p:spPr>
          <a:xfrm>
            <a:off x="319215" y="3509559"/>
            <a:ext cx="2067842" cy="384626"/>
          </a:xfrm>
          <a:prstGeom prst="wedgeRoundRectCallout">
            <a:avLst>
              <a:gd name="adj1" fmla="val 64518"/>
              <a:gd name="adj2" fmla="val 22378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價值高、重量重</a:t>
            </a:r>
          </a:p>
        </p:txBody>
      </p:sp>
    </p:spTree>
    <p:extLst>
      <p:ext uri="{BB962C8B-B14F-4D97-AF65-F5344CB8AC3E}">
        <p14:creationId xmlns:p14="http://schemas.microsoft.com/office/powerpoint/2010/main" val="3331911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貪婪演算法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重量輕</a:t>
            </a:r>
            <a:r>
              <a:rPr lang="zh-TW" altLang="en-US" dirty="0"/>
              <a:t>的先拿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l="5288" t="3942" r="65103" b="73892"/>
          <a:stretch/>
        </p:blipFill>
        <p:spPr>
          <a:xfrm>
            <a:off x="6166918" y="2119360"/>
            <a:ext cx="963827" cy="6240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2378763" y="2213364"/>
            <a:ext cx="679621" cy="42630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5161749" y="2162431"/>
            <a:ext cx="803189" cy="52320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3247635" y="2200549"/>
            <a:ext cx="667265" cy="45102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4104151" y="2136739"/>
            <a:ext cx="933018" cy="574589"/>
          </a:xfrm>
          <a:prstGeom prst="rect">
            <a:avLst/>
          </a:prstGeom>
        </p:spPr>
      </p:pic>
      <p:pic>
        <p:nvPicPr>
          <p:cNvPr id="39" name="圖片 38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5785290" y="3066163"/>
            <a:ext cx="803189" cy="523204"/>
          </a:xfrm>
          <a:prstGeom prst="rect">
            <a:avLst/>
          </a:prstGeom>
        </p:spPr>
      </p:pic>
      <p:pic>
        <p:nvPicPr>
          <p:cNvPr id="40" name="圖片 39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2818338" y="3114612"/>
            <a:ext cx="679621" cy="426309"/>
          </a:xfrm>
          <a:prstGeom prst="rect">
            <a:avLst/>
          </a:prstGeom>
        </p:spPr>
      </p:pic>
      <p:pic>
        <p:nvPicPr>
          <p:cNvPr id="41" name="圖片 40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3726975" y="3102255"/>
            <a:ext cx="667265" cy="451022"/>
          </a:xfrm>
          <a:prstGeom prst="rect">
            <a:avLst/>
          </a:prstGeom>
        </p:spPr>
      </p:pic>
      <p:pic>
        <p:nvPicPr>
          <p:cNvPr id="42" name="圖片 41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4623256" y="3040471"/>
            <a:ext cx="933018" cy="574589"/>
          </a:xfrm>
          <a:prstGeom prst="rect">
            <a:avLst/>
          </a:prstGeom>
        </p:spPr>
      </p:pic>
      <p:grpSp>
        <p:nvGrpSpPr>
          <p:cNvPr id="53" name="群組 52"/>
          <p:cNvGrpSpPr/>
          <p:nvPr/>
        </p:nvGrpSpPr>
        <p:grpSpPr>
          <a:xfrm>
            <a:off x="2469104" y="4593548"/>
            <a:ext cx="811960" cy="553998"/>
            <a:chOff x="2286010" y="4758642"/>
            <a:chExt cx="811960" cy="553998"/>
          </a:xfrm>
        </p:grpSpPr>
        <p:sp>
          <p:nvSpPr>
            <p:cNvPr id="43" name="立方體 42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2434624" y="4758642"/>
              <a:ext cx="5164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12kg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$10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3934266" y="4428454"/>
            <a:ext cx="1047625" cy="714768"/>
            <a:chOff x="3751172" y="4593548"/>
            <a:chExt cx="1047625" cy="714768"/>
          </a:xfrm>
        </p:grpSpPr>
        <p:sp>
          <p:nvSpPr>
            <p:cNvPr id="44" name="立方體 43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7" name="文字方塊 46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0" name="文字方塊 49"/>
            <p:cNvSpPr txBox="1"/>
            <p:nvPr/>
          </p:nvSpPr>
          <p:spPr>
            <a:xfrm>
              <a:off x="3907432" y="5031317"/>
              <a:ext cx="33374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$4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群組 54"/>
          <p:cNvGrpSpPr/>
          <p:nvPr/>
        </p:nvGrpSpPr>
        <p:grpSpPr>
          <a:xfrm>
            <a:off x="5635093" y="4607966"/>
            <a:ext cx="1047625" cy="526928"/>
            <a:chOff x="5451999" y="4773060"/>
            <a:chExt cx="1047625" cy="526928"/>
          </a:xfrm>
        </p:grpSpPr>
        <p:sp>
          <p:nvSpPr>
            <p:cNvPr id="45" name="立方體 44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5729910" y="4776360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5736123" y="5022989"/>
              <a:ext cx="32733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$2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52" name="圖片 51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713599" y="1112107"/>
            <a:ext cx="1272746" cy="1513703"/>
          </a:xfrm>
          <a:prstGeom prst="rect">
            <a:avLst/>
          </a:prstGeom>
        </p:spPr>
      </p:pic>
      <p:grpSp>
        <p:nvGrpSpPr>
          <p:cNvPr id="56" name="群組 55"/>
          <p:cNvGrpSpPr/>
          <p:nvPr/>
        </p:nvGrpSpPr>
        <p:grpSpPr>
          <a:xfrm>
            <a:off x="1648261" y="5715953"/>
            <a:ext cx="811960" cy="553998"/>
            <a:chOff x="2286010" y="4758642"/>
            <a:chExt cx="811960" cy="553998"/>
          </a:xfrm>
        </p:grpSpPr>
        <p:sp>
          <p:nvSpPr>
            <p:cNvPr id="57" name="立方體 56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8" name="文字方塊 57"/>
            <p:cNvSpPr txBox="1"/>
            <p:nvPr/>
          </p:nvSpPr>
          <p:spPr>
            <a:xfrm>
              <a:off x="2434624" y="4758642"/>
              <a:ext cx="5164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12kg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59" name="文字方塊 58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$10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60" name="群組 59"/>
          <p:cNvGrpSpPr/>
          <p:nvPr/>
        </p:nvGrpSpPr>
        <p:grpSpPr>
          <a:xfrm>
            <a:off x="4888922" y="5610315"/>
            <a:ext cx="1047625" cy="714768"/>
            <a:chOff x="3751172" y="4593548"/>
            <a:chExt cx="1047625" cy="714768"/>
          </a:xfrm>
        </p:grpSpPr>
        <p:sp>
          <p:nvSpPr>
            <p:cNvPr id="61" name="立方體 60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2" name="文字方塊 61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3" name="文字方塊 62"/>
            <p:cNvSpPr txBox="1"/>
            <p:nvPr/>
          </p:nvSpPr>
          <p:spPr>
            <a:xfrm>
              <a:off x="3907432" y="5031317"/>
              <a:ext cx="335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$4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群組 63"/>
          <p:cNvGrpSpPr/>
          <p:nvPr/>
        </p:nvGrpSpPr>
        <p:grpSpPr>
          <a:xfrm>
            <a:off x="6589749" y="5789827"/>
            <a:ext cx="1047625" cy="526928"/>
            <a:chOff x="5451999" y="4773060"/>
            <a:chExt cx="1047625" cy="526928"/>
          </a:xfrm>
        </p:grpSpPr>
        <p:sp>
          <p:nvSpPr>
            <p:cNvPr id="65" name="立方體 64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66" name="文字方塊 65"/>
            <p:cNvSpPr txBox="1"/>
            <p:nvPr/>
          </p:nvSpPr>
          <p:spPr>
            <a:xfrm>
              <a:off x="5729910" y="4776360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7kg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67" name="文字方塊 66"/>
            <p:cNvSpPr txBox="1"/>
            <p:nvPr/>
          </p:nvSpPr>
          <p:spPr>
            <a:xfrm>
              <a:off x="5736123" y="5022989"/>
              <a:ext cx="33534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$2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68" name="文字方塊 67"/>
          <p:cNvSpPr txBox="1"/>
          <p:nvPr/>
        </p:nvSpPr>
        <p:spPr>
          <a:xfrm>
            <a:off x="2565319" y="5809324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7890232" y="573429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$6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圓角矩形圖說文字 69"/>
          <p:cNvSpPr/>
          <p:nvPr/>
        </p:nvSpPr>
        <p:spPr>
          <a:xfrm>
            <a:off x="6682718" y="3589367"/>
            <a:ext cx="2067842" cy="384626"/>
          </a:xfrm>
          <a:prstGeom prst="wedgeRoundRectCallout">
            <a:avLst>
              <a:gd name="adj1" fmla="val -68740"/>
              <a:gd name="adj2" fmla="val 20611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重量輕、價值低</a:t>
            </a:r>
          </a:p>
        </p:txBody>
      </p:sp>
    </p:spTree>
    <p:extLst>
      <p:ext uri="{BB962C8B-B14F-4D97-AF65-F5344CB8AC3E}">
        <p14:creationId xmlns:p14="http://schemas.microsoft.com/office/powerpoint/2010/main" val="1763456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/>
      <p:bldP spid="7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00FF"/>
                </a:solidFill>
              </a:rPr>
              <a:t>貪婪演算法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>
                <a:solidFill>
                  <a:srgbClr val="C00000"/>
                </a:solidFill>
              </a:rPr>
              <a:t>每一單位重量有最大價值</a:t>
            </a:r>
            <a:r>
              <a:rPr lang="zh-TW" altLang="en-US" dirty="0"/>
              <a:t>的先拿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713599" y="1112107"/>
            <a:ext cx="1272746" cy="1513703"/>
          </a:xfrm>
          <a:prstGeom prst="rect">
            <a:avLst/>
          </a:prstGeom>
        </p:spPr>
      </p:pic>
      <p:grpSp>
        <p:nvGrpSpPr>
          <p:cNvPr id="57" name="群組 56"/>
          <p:cNvGrpSpPr/>
          <p:nvPr/>
        </p:nvGrpSpPr>
        <p:grpSpPr>
          <a:xfrm>
            <a:off x="3026956" y="2223411"/>
            <a:ext cx="679621" cy="897741"/>
            <a:chOff x="3026956" y="2223411"/>
            <a:chExt cx="679621" cy="897741"/>
          </a:xfrm>
        </p:grpSpPr>
        <p:pic>
          <p:nvPicPr>
            <p:cNvPr id="8" name="圖片 7"/>
            <p:cNvPicPr>
              <a:picLocks noChangeAspect="1"/>
            </p:cNvPicPr>
            <p:nvPr/>
          </p:nvPicPr>
          <p:blipFill rotWithShape="1">
            <a:blip r:embed="rId2"/>
            <a:srcRect l="1303" t="43227" r="77819" b="41630"/>
            <a:stretch/>
          </p:blipFill>
          <p:spPr>
            <a:xfrm>
              <a:off x="3026956" y="2223411"/>
              <a:ext cx="679621" cy="42630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/>
                <p:cNvSpPr txBox="1"/>
                <p:nvPr/>
              </p:nvSpPr>
              <p:spPr>
                <a:xfrm>
                  <a:off x="3155971" y="2753423"/>
                  <a:ext cx="421590" cy="3677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4" name="文字方塊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55971" y="2753423"/>
                  <a:ext cx="421590" cy="36772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l="-8696" t="-1667" r="-10145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8" name="群組 57"/>
          <p:cNvGrpSpPr/>
          <p:nvPr/>
        </p:nvGrpSpPr>
        <p:grpSpPr>
          <a:xfrm>
            <a:off x="3895828" y="2210596"/>
            <a:ext cx="667265" cy="910555"/>
            <a:chOff x="3895828" y="2210596"/>
            <a:chExt cx="667265" cy="910555"/>
          </a:xfrm>
        </p:grpSpPr>
        <p:pic>
          <p:nvPicPr>
            <p:cNvPr id="10" name="圖片 9"/>
            <p:cNvPicPr>
              <a:picLocks noChangeAspect="1"/>
            </p:cNvPicPr>
            <p:nvPr/>
          </p:nvPicPr>
          <p:blipFill rotWithShape="1">
            <a:blip r:embed="rId2"/>
            <a:srcRect l="76273" t="54639" r="3229" b="29340"/>
            <a:stretch/>
          </p:blipFill>
          <p:spPr>
            <a:xfrm>
              <a:off x="3895828" y="2210596"/>
              <a:ext cx="667265" cy="45102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/>
                <p:cNvSpPr txBox="1"/>
                <p:nvPr/>
              </p:nvSpPr>
              <p:spPr>
                <a:xfrm>
                  <a:off x="4018665" y="2753422"/>
                  <a:ext cx="421590" cy="3677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5" name="文字方塊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8665" y="2753422"/>
                  <a:ext cx="421590" cy="36772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8696" t="-1667" r="-10145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群組 58"/>
          <p:cNvGrpSpPr/>
          <p:nvPr/>
        </p:nvGrpSpPr>
        <p:grpSpPr>
          <a:xfrm>
            <a:off x="4752344" y="2146786"/>
            <a:ext cx="933018" cy="974364"/>
            <a:chOff x="4752344" y="2146786"/>
            <a:chExt cx="933018" cy="974364"/>
          </a:xfrm>
        </p:grpSpPr>
        <p:pic>
          <p:nvPicPr>
            <p:cNvPr id="11" name="圖片 10"/>
            <p:cNvPicPr>
              <a:picLocks noChangeAspect="1"/>
            </p:cNvPicPr>
            <p:nvPr/>
          </p:nvPicPr>
          <p:blipFill rotWithShape="1">
            <a:blip r:embed="rId2"/>
            <a:srcRect l="71338" t="16672" b="62918"/>
            <a:stretch/>
          </p:blipFill>
          <p:spPr>
            <a:xfrm>
              <a:off x="4752344" y="2146786"/>
              <a:ext cx="933018" cy="57458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/>
                <p:cNvSpPr txBox="1"/>
                <p:nvPr/>
              </p:nvSpPr>
              <p:spPr>
                <a:xfrm>
                  <a:off x="5006775" y="2753421"/>
                  <a:ext cx="421590" cy="3677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6" name="文字方塊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6775" y="2753421"/>
                  <a:ext cx="421590" cy="36772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8696" t="-1667" r="-10145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群組 12"/>
          <p:cNvGrpSpPr/>
          <p:nvPr/>
        </p:nvGrpSpPr>
        <p:grpSpPr>
          <a:xfrm>
            <a:off x="2045842" y="2170930"/>
            <a:ext cx="803189" cy="948672"/>
            <a:chOff x="2045842" y="2170930"/>
            <a:chExt cx="803189" cy="948672"/>
          </a:xfrm>
        </p:grpSpPr>
        <p:pic>
          <p:nvPicPr>
            <p:cNvPr id="9" name="圖片 8"/>
            <p:cNvPicPr>
              <a:picLocks noChangeAspect="1"/>
            </p:cNvPicPr>
            <p:nvPr/>
          </p:nvPicPr>
          <p:blipFill rotWithShape="1">
            <a:blip r:embed="rId2"/>
            <a:srcRect l="33947" t="81415" r="41379"/>
            <a:stretch/>
          </p:blipFill>
          <p:spPr>
            <a:xfrm>
              <a:off x="2045842" y="2170930"/>
              <a:ext cx="803189" cy="523204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字方塊 16"/>
                <p:cNvSpPr txBox="1"/>
                <p:nvPr/>
              </p:nvSpPr>
              <p:spPr>
                <a:xfrm>
                  <a:off x="2109531" y="2751873"/>
                  <a:ext cx="684483" cy="3677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𝟓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7" name="文字方塊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9531" y="2751873"/>
                  <a:ext cx="684483" cy="36772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5357" r="-7143"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群組 59"/>
          <p:cNvGrpSpPr/>
          <p:nvPr/>
        </p:nvGrpSpPr>
        <p:grpSpPr>
          <a:xfrm>
            <a:off x="5821805" y="2127857"/>
            <a:ext cx="963827" cy="990909"/>
            <a:chOff x="5821805" y="2127857"/>
            <a:chExt cx="963827" cy="990909"/>
          </a:xfrm>
        </p:grpSpPr>
        <p:pic>
          <p:nvPicPr>
            <p:cNvPr id="7" name="圖片 6"/>
            <p:cNvPicPr>
              <a:picLocks noChangeAspect="1"/>
            </p:cNvPicPr>
            <p:nvPr/>
          </p:nvPicPr>
          <p:blipFill rotWithShape="1">
            <a:blip r:embed="rId2"/>
            <a:srcRect l="5288" t="3942" r="65103" b="73892"/>
            <a:stretch/>
          </p:blipFill>
          <p:spPr>
            <a:xfrm>
              <a:off x="5821805" y="2127857"/>
              <a:ext cx="963827" cy="62401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字方塊 17"/>
                <p:cNvSpPr txBox="1"/>
                <p:nvPr/>
              </p:nvSpPr>
              <p:spPr>
                <a:xfrm>
                  <a:off x="5963182" y="2751871"/>
                  <a:ext cx="684483" cy="36689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𝟑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18" name="文字方塊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63182" y="2751871"/>
                  <a:ext cx="684483" cy="36689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5357" r="-6250"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1" name="群組 60"/>
          <p:cNvGrpSpPr/>
          <p:nvPr/>
        </p:nvGrpSpPr>
        <p:grpSpPr>
          <a:xfrm>
            <a:off x="2469104" y="4593548"/>
            <a:ext cx="811960" cy="1000443"/>
            <a:chOff x="2469104" y="4593548"/>
            <a:chExt cx="811960" cy="1000443"/>
          </a:xfrm>
        </p:grpSpPr>
        <p:grpSp>
          <p:nvGrpSpPr>
            <p:cNvPr id="19" name="群組 18"/>
            <p:cNvGrpSpPr/>
            <p:nvPr/>
          </p:nvGrpSpPr>
          <p:grpSpPr>
            <a:xfrm>
              <a:off x="2469104" y="4593548"/>
              <a:ext cx="811960" cy="553998"/>
              <a:chOff x="2286010" y="4758642"/>
              <a:chExt cx="811960" cy="553998"/>
            </a:xfrm>
          </p:grpSpPr>
          <p:sp>
            <p:nvSpPr>
              <p:cNvPr id="20" name="立方體 19"/>
              <p:cNvSpPr/>
              <p:nvPr/>
            </p:nvSpPr>
            <p:spPr>
              <a:xfrm>
                <a:off x="2286010" y="4773060"/>
                <a:ext cx="811960" cy="525162"/>
              </a:xfrm>
              <a:prstGeom prst="cube">
                <a:avLst>
                  <a:gd name="adj" fmla="val 493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1" name="文字方塊 20"/>
              <p:cNvSpPr txBox="1"/>
              <p:nvPr/>
            </p:nvSpPr>
            <p:spPr>
              <a:xfrm>
                <a:off x="2471692" y="4758642"/>
                <a:ext cx="4315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rgbClr val="0000FF"/>
                    </a:solidFill>
                  </a:rPr>
                  <a:t>2kg</a:t>
                </a:r>
                <a:endParaRPr lang="zh-TW" altLang="en-US" sz="12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22" name="文字方塊 21"/>
              <p:cNvSpPr txBox="1"/>
              <p:nvPr/>
            </p:nvSpPr>
            <p:spPr>
              <a:xfrm>
                <a:off x="2387057" y="5035641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rgbClr val="0000FF"/>
                    </a:solidFill>
                  </a:rPr>
                  <a:t>$20</a:t>
                </a:r>
                <a:endParaRPr lang="zh-TW" altLang="en-US" sz="1200" dirty="0">
                  <a:solidFill>
                    <a:srgbClr val="0000FF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字方塊 30"/>
                <p:cNvSpPr txBox="1"/>
                <p:nvPr/>
              </p:nvSpPr>
              <p:spPr>
                <a:xfrm>
                  <a:off x="2552078" y="5226262"/>
                  <a:ext cx="646011" cy="3677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31" name="文字方塊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2078" y="5226262"/>
                  <a:ext cx="646011" cy="36772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5660" r="-5660"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2" name="群組 61"/>
          <p:cNvGrpSpPr/>
          <p:nvPr/>
        </p:nvGrpSpPr>
        <p:grpSpPr>
          <a:xfrm>
            <a:off x="3934266" y="4428454"/>
            <a:ext cx="1047625" cy="1168529"/>
            <a:chOff x="3934266" y="4428454"/>
            <a:chExt cx="1047625" cy="1168529"/>
          </a:xfrm>
        </p:grpSpPr>
        <p:grpSp>
          <p:nvGrpSpPr>
            <p:cNvPr id="23" name="群組 22"/>
            <p:cNvGrpSpPr/>
            <p:nvPr/>
          </p:nvGrpSpPr>
          <p:grpSpPr>
            <a:xfrm>
              <a:off x="3934266" y="4428454"/>
              <a:ext cx="1047625" cy="714768"/>
              <a:chOff x="3751172" y="4593548"/>
              <a:chExt cx="1047625" cy="714768"/>
            </a:xfrm>
          </p:grpSpPr>
          <p:sp>
            <p:nvSpPr>
              <p:cNvPr id="24" name="立方體 23"/>
              <p:cNvSpPr/>
              <p:nvPr/>
            </p:nvSpPr>
            <p:spPr>
              <a:xfrm>
                <a:off x="3751172" y="4593548"/>
                <a:ext cx="1047625" cy="704674"/>
              </a:xfrm>
              <a:prstGeom prst="cube">
                <a:avLst>
                  <a:gd name="adj" fmla="val 60698"/>
                </a:avLst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5" name="文字方塊 24"/>
              <p:cNvSpPr txBox="1"/>
              <p:nvPr/>
            </p:nvSpPr>
            <p:spPr>
              <a:xfrm>
                <a:off x="4029083" y="4673933"/>
                <a:ext cx="4187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5kg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文字方塊 25"/>
              <p:cNvSpPr txBox="1"/>
              <p:nvPr/>
            </p:nvSpPr>
            <p:spPr>
              <a:xfrm>
                <a:off x="3858008" y="5031317"/>
                <a:ext cx="4058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$30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字方塊 31"/>
                <p:cNvSpPr txBox="1"/>
                <p:nvPr/>
              </p:nvSpPr>
              <p:spPr>
                <a:xfrm>
                  <a:off x="3977142" y="5226369"/>
                  <a:ext cx="533799" cy="3706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32" name="文字方塊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142" y="5226369"/>
                  <a:ext cx="533799" cy="370614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l="-6818" r="-6818" b="-16393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3" name="群組 62"/>
          <p:cNvGrpSpPr/>
          <p:nvPr/>
        </p:nvGrpSpPr>
        <p:grpSpPr>
          <a:xfrm>
            <a:off x="5635093" y="4607966"/>
            <a:ext cx="1047625" cy="987467"/>
            <a:chOff x="5635093" y="4607966"/>
            <a:chExt cx="1047625" cy="987467"/>
          </a:xfrm>
        </p:grpSpPr>
        <p:grpSp>
          <p:nvGrpSpPr>
            <p:cNvPr id="27" name="群組 26"/>
            <p:cNvGrpSpPr/>
            <p:nvPr/>
          </p:nvGrpSpPr>
          <p:grpSpPr>
            <a:xfrm>
              <a:off x="5635093" y="4607966"/>
              <a:ext cx="1047625" cy="526928"/>
              <a:chOff x="5451999" y="4773060"/>
              <a:chExt cx="1047625" cy="526928"/>
            </a:xfrm>
          </p:grpSpPr>
          <p:sp>
            <p:nvSpPr>
              <p:cNvPr id="28" name="立方體 27"/>
              <p:cNvSpPr/>
              <p:nvPr/>
            </p:nvSpPr>
            <p:spPr>
              <a:xfrm>
                <a:off x="5451999" y="4773060"/>
                <a:ext cx="1047625" cy="525162"/>
              </a:xfrm>
              <a:prstGeom prst="cube">
                <a:avLst>
                  <a:gd name="adj" fmla="val 48933"/>
                </a:avLst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29" name="文字方塊 28"/>
              <p:cNvSpPr txBox="1"/>
              <p:nvPr/>
            </p:nvSpPr>
            <p:spPr>
              <a:xfrm>
                <a:off x="5729910" y="4776360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10kg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文字方塊 29"/>
              <p:cNvSpPr txBox="1"/>
              <p:nvPr/>
            </p:nvSpPr>
            <p:spPr>
              <a:xfrm>
                <a:off x="5668165" y="5022989"/>
                <a:ext cx="4187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$80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文字方塊 32"/>
                <p:cNvSpPr txBox="1"/>
                <p:nvPr/>
              </p:nvSpPr>
              <p:spPr>
                <a:xfrm>
                  <a:off x="5774496" y="5224819"/>
                  <a:ext cx="533799" cy="3706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33" name="文字方塊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4496" y="5224819"/>
                  <a:ext cx="533799" cy="370614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 l="-6818" t="-1639" r="-6818"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群組 33"/>
          <p:cNvGrpSpPr/>
          <p:nvPr/>
        </p:nvGrpSpPr>
        <p:grpSpPr>
          <a:xfrm>
            <a:off x="1206655" y="5813410"/>
            <a:ext cx="811960" cy="553998"/>
            <a:chOff x="2286010" y="4758642"/>
            <a:chExt cx="811960" cy="553998"/>
          </a:xfrm>
        </p:grpSpPr>
        <p:sp>
          <p:nvSpPr>
            <p:cNvPr id="35" name="立方體 34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6" name="文字方塊 35"/>
            <p:cNvSpPr txBox="1"/>
            <p:nvPr/>
          </p:nvSpPr>
          <p:spPr>
            <a:xfrm>
              <a:off x="2471692" y="4758642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$20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38" name="群組 37"/>
          <p:cNvGrpSpPr/>
          <p:nvPr/>
        </p:nvGrpSpPr>
        <p:grpSpPr>
          <a:xfrm>
            <a:off x="2119662" y="5827828"/>
            <a:ext cx="1047625" cy="526928"/>
            <a:chOff x="5451999" y="4773060"/>
            <a:chExt cx="1047625" cy="526928"/>
          </a:xfrm>
        </p:grpSpPr>
        <p:sp>
          <p:nvSpPr>
            <p:cNvPr id="39" name="立方體 38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0" name="文字方塊 39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1" name="文字方塊 40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2" name="群組 41"/>
          <p:cNvGrpSpPr/>
          <p:nvPr/>
        </p:nvGrpSpPr>
        <p:grpSpPr>
          <a:xfrm>
            <a:off x="5526228" y="5722749"/>
            <a:ext cx="1047625" cy="714768"/>
            <a:chOff x="3751172" y="4593548"/>
            <a:chExt cx="1047625" cy="714768"/>
          </a:xfrm>
        </p:grpSpPr>
        <p:sp>
          <p:nvSpPr>
            <p:cNvPr id="43" name="立方體 42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5kg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3858008" y="5031317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$30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6527707" y="5903180"/>
            <a:ext cx="1047625" cy="526928"/>
            <a:chOff x="5451999" y="4773060"/>
            <a:chExt cx="1047625" cy="526928"/>
          </a:xfrm>
        </p:grpSpPr>
        <p:sp>
          <p:nvSpPr>
            <p:cNvPr id="47" name="立方體 46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文字方塊 47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文字方塊 48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0" name="文字方塊 49"/>
          <p:cNvSpPr txBox="1"/>
          <p:nvPr/>
        </p:nvSpPr>
        <p:spPr>
          <a:xfrm>
            <a:off x="3285999" y="5726041"/>
            <a:ext cx="712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12kg</a:t>
            </a:r>
          </a:p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文字方塊 50"/>
          <p:cNvSpPr txBox="1"/>
          <p:nvPr/>
        </p:nvSpPr>
        <p:spPr>
          <a:xfrm>
            <a:off x="7713599" y="5648860"/>
            <a:ext cx="712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15kg</a:t>
            </a:r>
          </a:p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$110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圓角矩形圖說文字 51"/>
          <p:cNvSpPr/>
          <p:nvPr/>
        </p:nvSpPr>
        <p:spPr>
          <a:xfrm>
            <a:off x="152260" y="4748502"/>
            <a:ext cx="2067842" cy="384626"/>
          </a:xfrm>
          <a:prstGeom prst="wedgeRoundRectCallout">
            <a:avLst>
              <a:gd name="adj1" fmla="val 55255"/>
              <a:gd name="adj2" fmla="val 1788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浪費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3kg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的空間</a:t>
            </a:r>
          </a:p>
        </p:txBody>
      </p:sp>
      <p:pic>
        <p:nvPicPr>
          <p:cNvPr id="55" name="圖片 54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570163" y="3388442"/>
            <a:ext cx="667265" cy="451022"/>
          </a:xfrm>
          <a:prstGeom prst="rect">
            <a:avLst/>
          </a:prstGeom>
        </p:spPr>
      </p:pic>
      <p:pic>
        <p:nvPicPr>
          <p:cNvPr id="56" name="圖片 55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426679" y="3324632"/>
            <a:ext cx="933018" cy="574589"/>
          </a:xfrm>
          <a:prstGeom prst="rect">
            <a:avLst/>
          </a:prstGeom>
        </p:spPr>
      </p:pic>
      <p:pic>
        <p:nvPicPr>
          <p:cNvPr id="65" name="圖片 64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3668602" y="3415343"/>
            <a:ext cx="679621" cy="426309"/>
          </a:xfrm>
          <a:prstGeom prst="rect">
            <a:avLst/>
          </a:prstGeom>
        </p:spPr>
      </p:pic>
      <p:pic>
        <p:nvPicPr>
          <p:cNvPr id="70" name="圖片 69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2643474" y="3353404"/>
            <a:ext cx="803189" cy="5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168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Fractional</a:t>
            </a:r>
            <a:r>
              <a:rPr lang="zh-TW" altLang="en-US" dirty="0"/>
              <a:t>背包問題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C00000"/>
                </a:solidFill>
              </a:rPr>
              <a:t>貪婪演算法無法解</a:t>
            </a:r>
            <a:r>
              <a:rPr lang="en-US" altLang="zh-TW" dirty="0">
                <a:solidFill>
                  <a:srgbClr val="C00000"/>
                </a:solidFill>
              </a:rPr>
              <a:t>0-1</a:t>
            </a:r>
            <a:r>
              <a:rPr lang="zh-TW" altLang="en-US" dirty="0">
                <a:solidFill>
                  <a:srgbClr val="C00000"/>
                </a:solidFill>
              </a:rPr>
              <a:t>背包問題</a:t>
            </a:r>
            <a:endParaRPr lang="en-US" altLang="zh-TW" dirty="0">
              <a:solidFill>
                <a:srgbClr val="C00000"/>
              </a:solidFill>
            </a:endParaRPr>
          </a:p>
          <a:p>
            <a:endParaRPr lang="en-US" altLang="zh-TW" dirty="0"/>
          </a:p>
          <a:p>
            <a:r>
              <a:rPr lang="zh-TW" altLang="en-US" dirty="0"/>
              <a:t>貪婪演算法可以解</a:t>
            </a:r>
            <a:r>
              <a:rPr lang="en-US" altLang="zh-TW" dirty="0"/>
              <a:t>Fractional</a:t>
            </a:r>
            <a:r>
              <a:rPr lang="zh-TW" altLang="en-US" dirty="0"/>
              <a:t>背包問題</a:t>
            </a:r>
            <a:endParaRPr lang="en-US" altLang="zh-TW" dirty="0"/>
          </a:p>
          <a:p>
            <a:pPr lvl="1"/>
            <a:r>
              <a:rPr lang="zh-TW" altLang="en-US" dirty="0"/>
              <a:t>物品可以</a:t>
            </a:r>
            <a:r>
              <a:rPr lang="zh-TW" altLang="en-US" dirty="0">
                <a:solidFill>
                  <a:srgbClr val="C00000"/>
                </a:solidFill>
              </a:rPr>
              <a:t>切割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3"/>
          <a:srcRect l="30152" t="23264" r="30750" b="22967"/>
          <a:stretch/>
        </p:blipFill>
        <p:spPr>
          <a:xfrm>
            <a:off x="7713599" y="1112107"/>
            <a:ext cx="1272746" cy="1513703"/>
          </a:xfrm>
          <a:prstGeom prst="rect">
            <a:avLst/>
          </a:prstGeom>
        </p:spPr>
      </p:pic>
      <p:grpSp>
        <p:nvGrpSpPr>
          <p:cNvPr id="42" name="群組 41"/>
          <p:cNvGrpSpPr/>
          <p:nvPr/>
        </p:nvGrpSpPr>
        <p:grpSpPr>
          <a:xfrm>
            <a:off x="2469104" y="3052146"/>
            <a:ext cx="811960" cy="1000443"/>
            <a:chOff x="2469104" y="2869783"/>
            <a:chExt cx="811960" cy="1000443"/>
          </a:xfrm>
        </p:grpSpPr>
        <p:grpSp>
          <p:nvGrpSpPr>
            <p:cNvPr id="8" name="群組 7"/>
            <p:cNvGrpSpPr/>
            <p:nvPr/>
          </p:nvGrpSpPr>
          <p:grpSpPr>
            <a:xfrm>
              <a:off x="2469104" y="2869783"/>
              <a:ext cx="811960" cy="553998"/>
              <a:chOff x="2286010" y="4758642"/>
              <a:chExt cx="811960" cy="553998"/>
            </a:xfrm>
          </p:grpSpPr>
          <p:sp>
            <p:nvSpPr>
              <p:cNvPr id="9" name="立方體 8"/>
              <p:cNvSpPr/>
              <p:nvPr/>
            </p:nvSpPr>
            <p:spPr>
              <a:xfrm>
                <a:off x="2286010" y="4773060"/>
                <a:ext cx="811960" cy="525162"/>
              </a:xfrm>
              <a:prstGeom prst="cube">
                <a:avLst>
                  <a:gd name="adj" fmla="val 4930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文字方塊 9"/>
              <p:cNvSpPr txBox="1"/>
              <p:nvPr/>
            </p:nvSpPr>
            <p:spPr>
              <a:xfrm>
                <a:off x="2471692" y="4758642"/>
                <a:ext cx="4315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rgbClr val="0000FF"/>
                    </a:solidFill>
                  </a:rPr>
                  <a:t>2kg</a:t>
                </a:r>
                <a:endParaRPr lang="zh-TW" altLang="en-US" sz="1200" dirty="0">
                  <a:solidFill>
                    <a:srgbClr val="0000FF"/>
                  </a:solidFill>
                </a:endParaRPr>
              </a:p>
            </p:txBody>
          </p:sp>
          <p:sp>
            <p:nvSpPr>
              <p:cNvPr id="11" name="文字方塊 10"/>
              <p:cNvSpPr txBox="1"/>
              <p:nvPr/>
            </p:nvSpPr>
            <p:spPr>
              <a:xfrm>
                <a:off x="2387057" y="5035641"/>
                <a:ext cx="4395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rgbClr val="0000FF"/>
                    </a:solidFill>
                  </a:rPr>
                  <a:t>$20</a:t>
                </a:r>
                <a:endParaRPr lang="zh-TW" altLang="en-US" sz="1200" dirty="0">
                  <a:solidFill>
                    <a:srgbClr val="0000FF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字方塊 19"/>
                <p:cNvSpPr txBox="1"/>
                <p:nvPr/>
              </p:nvSpPr>
              <p:spPr>
                <a:xfrm>
                  <a:off x="2552078" y="3502497"/>
                  <a:ext cx="646011" cy="3677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𝟏𝟎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20" name="文字方塊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2078" y="3502497"/>
                  <a:ext cx="646011" cy="36772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l="-5660" t="-1667" r="-5660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群組 43"/>
          <p:cNvGrpSpPr/>
          <p:nvPr/>
        </p:nvGrpSpPr>
        <p:grpSpPr>
          <a:xfrm>
            <a:off x="3934266" y="2887052"/>
            <a:ext cx="1047625" cy="1168529"/>
            <a:chOff x="3934266" y="2704689"/>
            <a:chExt cx="1047625" cy="1168529"/>
          </a:xfrm>
        </p:grpSpPr>
        <p:grpSp>
          <p:nvGrpSpPr>
            <p:cNvPr id="12" name="群組 11"/>
            <p:cNvGrpSpPr/>
            <p:nvPr/>
          </p:nvGrpSpPr>
          <p:grpSpPr>
            <a:xfrm>
              <a:off x="3934266" y="2704689"/>
              <a:ext cx="1047625" cy="714768"/>
              <a:chOff x="3751172" y="4593548"/>
              <a:chExt cx="1047625" cy="714768"/>
            </a:xfrm>
          </p:grpSpPr>
          <p:sp>
            <p:nvSpPr>
              <p:cNvPr id="13" name="立方體 12"/>
              <p:cNvSpPr/>
              <p:nvPr/>
            </p:nvSpPr>
            <p:spPr>
              <a:xfrm>
                <a:off x="3751172" y="4593548"/>
                <a:ext cx="1047625" cy="704674"/>
              </a:xfrm>
              <a:prstGeom prst="cube">
                <a:avLst>
                  <a:gd name="adj" fmla="val 60698"/>
                </a:avLst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4" name="文字方塊 13"/>
              <p:cNvSpPr txBox="1"/>
              <p:nvPr/>
            </p:nvSpPr>
            <p:spPr>
              <a:xfrm>
                <a:off x="4029083" y="4673933"/>
                <a:ext cx="4187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5kg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文字方塊 14"/>
              <p:cNvSpPr txBox="1"/>
              <p:nvPr/>
            </p:nvSpPr>
            <p:spPr>
              <a:xfrm>
                <a:off x="3858008" y="5031317"/>
                <a:ext cx="40588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$30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/>
                <p:cNvSpPr txBox="1"/>
                <p:nvPr/>
              </p:nvSpPr>
              <p:spPr>
                <a:xfrm>
                  <a:off x="3977142" y="3502604"/>
                  <a:ext cx="533799" cy="3706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𝟑𝟎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𝟔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21" name="文字方塊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7142" y="3502604"/>
                  <a:ext cx="533799" cy="370614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l="-6818" t="-1667" r="-6818" b="-1666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5" name="群組 44"/>
          <p:cNvGrpSpPr/>
          <p:nvPr/>
        </p:nvGrpSpPr>
        <p:grpSpPr>
          <a:xfrm>
            <a:off x="5635093" y="3066564"/>
            <a:ext cx="1047625" cy="987467"/>
            <a:chOff x="5635093" y="2884201"/>
            <a:chExt cx="1047625" cy="987467"/>
          </a:xfrm>
        </p:grpSpPr>
        <p:grpSp>
          <p:nvGrpSpPr>
            <p:cNvPr id="16" name="群組 15"/>
            <p:cNvGrpSpPr/>
            <p:nvPr/>
          </p:nvGrpSpPr>
          <p:grpSpPr>
            <a:xfrm>
              <a:off x="5635093" y="2884201"/>
              <a:ext cx="1047625" cy="526928"/>
              <a:chOff x="5451999" y="4773060"/>
              <a:chExt cx="1047625" cy="526928"/>
            </a:xfrm>
          </p:grpSpPr>
          <p:sp>
            <p:nvSpPr>
              <p:cNvPr id="17" name="立方體 16"/>
              <p:cNvSpPr/>
              <p:nvPr/>
            </p:nvSpPr>
            <p:spPr>
              <a:xfrm>
                <a:off x="5451999" y="4773060"/>
                <a:ext cx="1047625" cy="525162"/>
              </a:xfrm>
              <a:prstGeom prst="cube">
                <a:avLst>
                  <a:gd name="adj" fmla="val 48933"/>
                </a:avLst>
              </a:prstGeom>
              <a:solidFill>
                <a:srgbClr val="7030A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8" name="文字方塊 17"/>
              <p:cNvSpPr txBox="1"/>
              <p:nvPr/>
            </p:nvSpPr>
            <p:spPr>
              <a:xfrm>
                <a:off x="5729910" y="4776360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10kg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文字方塊 18"/>
              <p:cNvSpPr txBox="1"/>
              <p:nvPr/>
            </p:nvSpPr>
            <p:spPr>
              <a:xfrm>
                <a:off x="5668165" y="5022989"/>
                <a:ext cx="41870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200" dirty="0">
                    <a:solidFill>
                      <a:schemeClr val="bg1"/>
                    </a:solidFill>
                  </a:rPr>
                  <a:t>$80</a:t>
                </a:r>
                <a:endParaRPr lang="zh-TW" altLang="en-US" sz="12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/>
                <p:cNvSpPr txBox="1"/>
                <p:nvPr/>
              </p:nvSpPr>
              <p:spPr>
                <a:xfrm>
                  <a:off x="5774496" y="3501054"/>
                  <a:ext cx="533799" cy="37061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𝟖𝟎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latin typeface="Cambria Math" panose="02040503050406030204" pitchFamily="18" charset="0"/>
                              </a:rPr>
                              <m:t>𝟖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/>
                </a:p>
              </p:txBody>
            </p:sp>
          </mc:Choice>
          <mc:Fallback xmlns="">
            <p:sp>
              <p:nvSpPr>
                <p:cNvPr id="22" name="文字方塊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74496" y="3501054"/>
                  <a:ext cx="533799" cy="370614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l="-6818" r="-6818" b="-1475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群組 22"/>
          <p:cNvGrpSpPr/>
          <p:nvPr/>
        </p:nvGrpSpPr>
        <p:grpSpPr>
          <a:xfrm>
            <a:off x="1206655" y="4272008"/>
            <a:ext cx="811960" cy="553998"/>
            <a:chOff x="2286010" y="4758642"/>
            <a:chExt cx="811960" cy="553998"/>
          </a:xfrm>
        </p:grpSpPr>
        <p:sp>
          <p:nvSpPr>
            <p:cNvPr id="24" name="立方體 23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2471692" y="4758642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$20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27" name="群組 26"/>
          <p:cNvGrpSpPr/>
          <p:nvPr/>
        </p:nvGrpSpPr>
        <p:grpSpPr>
          <a:xfrm>
            <a:off x="2119662" y="4286426"/>
            <a:ext cx="1047625" cy="526928"/>
            <a:chOff x="5451999" y="4773060"/>
            <a:chExt cx="1047625" cy="526928"/>
          </a:xfrm>
        </p:grpSpPr>
        <p:sp>
          <p:nvSpPr>
            <p:cNvPr id="28" name="立方體 27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0" name="文字方塊 29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" name="群組 30"/>
          <p:cNvGrpSpPr/>
          <p:nvPr/>
        </p:nvGrpSpPr>
        <p:grpSpPr>
          <a:xfrm>
            <a:off x="5526228" y="4181347"/>
            <a:ext cx="1047625" cy="714768"/>
            <a:chOff x="3751172" y="4593548"/>
            <a:chExt cx="1047625" cy="714768"/>
          </a:xfrm>
        </p:grpSpPr>
        <p:sp>
          <p:nvSpPr>
            <p:cNvPr id="32" name="立方體 31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3" name="文字方塊 32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5kg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文字方塊 33"/>
            <p:cNvSpPr txBox="1"/>
            <p:nvPr/>
          </p:nvSpPr>
          <p:spPr>
            <a:xfrm>
              <a:off x="3858008" y="5031317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$30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5" name="群組 34"/>
          <p:cNvGrpSpPr/>
          <p:nvPr/>
        </p:nvGrpSpPr>
        <p:grpSpPr>
          <a:xfrm>
            <a:off x="6527707" y="4361778"/>
            <a:ext cx="1047625" cy="526928"/>
            <a:chOff x="5451999" y="4773060"/>
            <a:chExt cx="1047625" cy="526928"/>
          </a:xfrm>
        </p:grpSpPr>
        <p:sp>
          <p:nvSpPr>
            <p:cNvPr id="36" name="立方體 35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7" name="文字方塊 36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8" name="文字方塊 37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文字方塊 38"/>
          <p:cNvSpPr txBox="1"/>
          <p:nvPr/>
        </p:nvSpPr>
        <p:spPr>
          <a:xfrm>
            <a:off x="3285999" y="4184639"/>
            <a:ext cx="712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12kg</a:t>
            </a:r>
          </a:p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$100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7713599" y="4107458"/>
            <a:ext cx="71205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15kg</a:t>
            </a:r>
          </a:p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$110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圓角矩形圖說文字 40"/>
          <p:cNvSpPr/>
          <p:nvPr/>
        </p:nvSpPr>
        <p:spPr>
          <a:xfrm>
            <a:off x="152260" y="3207100"/>
            <a:ext cx="2067842" cy="384626"/>
          </a:xfrm>
          <a:prstGeom prst="wedgeRoundRectCallout">
            <a:avLst>
              <a:gd name="adj1" fmla="val 55255"/>
              <a:gd name="adj2" fmla="val 1788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浪費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3kg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的空間</a:t>
            </a:r>
          </a:p>
        </p:txBody>
      </p:sp>
      <p:grpSp>
        <p:nvGrpSpPr>
          <p:cNvPr id="46" name="群組 45"/>
          <p:cNvGrpSpPr/>
          <p:nvPr/>
        </p:nvGrpSpPr>
        <p:grpSpPr>
          <a:xfrm>
            <a:off x="1307473" y="4922825"/>
            <a:ext cx="1501765" cy="1275663"/>
            <a:chOff x="1307473" y="4740462"/>
            <a:chExt cx="1501765" cy="1275663"/>
          </a:xfrm>
        </p:grpSpPr>
        <p:grpSp>
          <p:nvGrpSpPr>
            <p:cNvPr id="54" name="群組 53"/>
            <p:cNvGrpSpPr/>
            <p:nvPr/>
          </p:nvGrpSpPr>
          <p:grpSpPr>
            <a:xfrm>
              <a:off x="1649254" y="4740462"/>
              <a:ext cx="1159984" cy="823621"/>
              <a:chOff x="1494802" y="5035379"/>
              <a:chExt cx="1159984" cy="823621"/>
            </a:xfrm>
          </p:grpSpPr>
          <p:sp>
            <p:nvSpPr>
              <p:cNvPr id="43" name="立方體 42"/>
              <p:cNvSpPr/>
              <p:nvPr/>
            </p:nvSpPr>
            <p:spPr>
              <a:xfrm>
                <a:off x="1494802" y="5154326"/>
                <a:ext cx="1047625" cy="704674"/>
              </a:xfrm>
              <a:prstGeom prst="cube">
                <a:avLst>
                  <a:gd name="adj" fmla="val 60698"/>
                </a:avLst>
              </a:prstGeom>
              <a:solidFill>
                <a:schemeClr val="accent5">
                  <a:lumMod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cxnSp>
            <p:nvCxnSpPr>
              <p:cNvPr id="47" name="直線接點 46"/>
              <p:cNvCxnSpPr/>
              <p:nvPr/>
            </p:nvCxnSpPr>
            <p:spPr>
              <a:xfrm>
                <a:off x="1662096" y="5417784"/>
                <a:ext cx="619902" cy="0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/>
              <p:cNvCxnSpPr/>
              <p:nvPr/>
            </p:nvCxnSpPr>
            <p:spPr>
              <a:xfrm>
                <a:off x="2281998" y="5423962"/>
                <a:ext cx="0" cy="276951"/>
              </a:xfrm>
              <a:prstGeom prst="line">
                <a:avLst/>
              </a:prstGeom>
              <a:ln w="1905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群組 52"/>
              <p:cNvGrpSpPr/>
              <p:nvPr/>
            </p:nvGrpSpPr>
            <p:grpSpPr>
              <a:xfrm>
                <a:off x="1544595" y="5035379"/>
                <a:ext cx="1110191" cy="714536"/>
                <a:chOff x="1544595" y="5035379"/>
                <a:chExt cx="1110191" cy="714536"/>
              </a:xfrm>
            </p:grpSpPr>
            <p:sp>
              <p:nvSpPr>
                <p:cNvPr id="51" name="矩形 50"/>
                <p:cNvSpPr/>
                <p:nvPr/>
              </p:nvSpPr>
              <p:spPr>
                <a:xfrm>
                  <a:off x="1544595" y="5035379"/>
                  <a:ext cx="1110191" cy="37004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52" name="矩形 51"/>
                <p:cNvSpPr/>
                <p:nvPr/>
              </p:nvSpPr>
              <p:spPr>
                <a:xfrm>
                  <a:off x="2291311" y="5379866"/>
                  <a:ext cx="344942" cy="370049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字方塊 54"/>
                <p:cNvSpPr txBox="1"/>
                <p:nvPr/>
              </p:nvSpPr>
              <p:spPr>
                <a:xfrm>
                  <a:off x="1307473" y="5640958"/>
                  <a:ext cx="1391457" cy="37516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box>
                          <m:boxPr>
                            <m:ctrlP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f>
                              <m:fPr>
                                <m:ctrlPr>
                                  <a:rPr lang="en-US" altLang="zh-TW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𝟏𝟓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𝟏𝟐</m:t>
                                </m:r>
                              </m:num>
                              <m:den>
                                <m:r>
                                  <a:rPr lang="en-US" altLang="zh-TW" sz="2000" b="1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den>
                            </m:f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TW" sz="20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𝟏𝟖</m:t>
                            </m:r>
                          </m:e>
                        </m:box>
                      </m:oMath>
                    </m:oMathPara>
                  </a14:m>
                  <a:endParaRPr lang="zh-TW" altLang="en-US" sz="2000" b="1" dirty="0">
                    <a:solidFill>
                      <a:srgbClr val="C00000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文字方塊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07473" y="5640958"/>
                  <a:ext cx="1391457" cy="375167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l="-1310" t="-1613" r="-1310" b="-1612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6" name="文字方塊 55"/>
          <p:cNvSpPr txBox="1"/>
          <p:nvPr/>
        </p:nvSpPr>
        <p:spPr>
          <a:xfrm>
            <a:off x="3003502" y="5601434"/>
            <a:ext cx="21868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12kg + 3kg = 15kg</a:t>
            </a:r>
          </a:p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$100 + $18 = $118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24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0" grpId="0"/>
      <p:bldP spid="41" grpId="0" animBg="1"/>
      <p:bldP spid="5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(1/8)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符合最佳化原則？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1269550" y="1902939"/>
            <a:ext cx="1272746" cy="1513703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 rotWithShape="1">
          <a:blip r:embed="rId2"/>
          <a:srcRect l="5288" t="3942" r="65103" b="73892"/>
          <a:stretch/>
        </p:blipFill>
        <p:spPr>
          <a:xfrm>
            <a:off x="6878308" y="2350279"/>
            <a:ext cx="963827" cy="624016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4083459" y="2445833"/>
            <a:ext cx="679621" cy="426309"/>
          </a:xfrm>
          <a:prstGeom prst="rect">
            <a:avLst/>
          </a:prstGeom>
        </p:spPr>
      </p:pic>
      <p:pic>
        <p:nvPicPr>
          <p:cNvPr id="10" name="圖片 9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3102345" y="2393352"/>
            <a:ext cx="803189" cy="523204"/>
          </a:xfrm>
          <a:prstGeom prst="rect">
            <a:avLst/>
          </a:prstGeom>
        </p:spPr>
      </p:pic>
      <p:pic>
        <p:nvPicPr>
          <p:cNvPr id="11" name="圖片 10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952331" y="2433018"/>
            <a:ext cx="667265" cy="451022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808847" y="2369208"/>
            <a:ext cx="933018" cy="574589"/>
          </a:xfrm>
          <a:prstGeom prst="rect">
            <a:avLst/>
          </a:prstGeom>
        </p:spPr>
      </p:pic>
      <p:sp>
        <p:nvSpPr>
          <p:cNvPr id="15" name="文字方塊 14"/>
          <p:cNvSpPr txBox="1"/>
          <p:nvPr/>
        </p:nvSpPr>
        <p:spPr>
          <a:xfrm>
            <a:off x="4493837" y="1809841"/>
            <a:ext cx="2151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為最佳解的集合</a:t>
            </a:r>
          </a:p>
        </p:txBody>
      </p:sp>
      <p:grpSp>
        <p:nvGrpSpPr>
          <p:cNvPr id="13" name="群組 12"/>
          <p:cNvGrpSpPr/>
          <p:nvPr/>
        </p:nvGrpSpPr>
        <p:grpSpPr>
          <a:xfrm>
            <a:off x="3102345" y="2943797"/>
            <a:ext cx="4739790" cy="655271"/>
            <a:chOff x="3102345" y="2943797"/>
            <a:chExt cx="4739790" cy="655271"/>
          </a:xfrm>
        </p:grpSpPr>
        <p:sp>
          <p:nvSpPr>
            <p:cNvPr id="14" name="右大括弧 13"/>
            <p:cNvSpPr/>
            <p:nvPr/>
          </p:nvSpPr>
          <p:spPr>
            <a:xfrm rot="5400000">
              <a:off x="5340896" y="705246"/>
              <a:ext cx="262688" cy="4739790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923852" y="3198958"/>
              <a:ext cx="10967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個物品</a:t>
              </a:r>
              <a:endParaRPr lang="zh-TW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8" name="文字方塊 17"/>
          <p:cNvSpPr txBox="1"/>
          <p:nvPr/>
        </p:nvSpPr>
        <p:spPr>
          <a:xfrm>
            <a:off x="868440" y="5200086"/>
            <a:ext cx="14318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包含</a:t>
            </a:r>
            <a:r>
              <a:rPr lang="en-US" altLang="zh-TW" sz="2000" b="1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868440" y="3897935"/>
            <a:ext cx="16738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不包含</a:t>
            </a:r>
            <a:r>
              <a:rPr lang="en-US" altLang="zh-TW" sz="2000" b="1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item</a:t>
            </a:r>
            <a:r>
              <a:rPr lang="en-US" altLang="zh-TW" sz="2000" b="1" i="1" baseline="-250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4083459" y="3895674"/>
            <a:ext cx="679621" cy="426309"/>
          </a:xfrm>
          <a:prstGeom prst="rect">
            <a:avLst/>
          </a:prstGeom>
        </p:spPr>
      </p:pic>
      <p:pic>
        <p:nvPicPr>
          <p:cNvPr id="21" name="圖片 20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3102345" y="3843193"/>
            <a:ext cx="803189" cy="523204"/>
          </a:xfrm>
          <a:prstGeom prst="rect">
            <a:avLst/>
          </a:prstGeom>
        </p:spPr>
      </p:pic>
      <p:pic>
        <p:nvPicPr>
          <p:cNvPr id="22" name="圖片 21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952331" y="3882859"/>
            <a:ext cx="667265" cy="451022"/>
          </a:xfrm>
          <a:prstGeom prst="rect">
            <a:avLst/>
          </a:prstGeom>
        </p:spPr>
      </p:pic>
      <p:pic>
        <p:nvPicPr>
          <p:cNvPr id="23" name="圖片 22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808847" y="3819049"/>
            <a:ext cx="933018" cy="574589"/>
          </a:xfrm>
          <a:prstGeom prst="rect">
            <a:avLst/>
          </a:prstGeom>
        </p:spPr>
      </p:pic>
      <p:grpSp>
        <p:nvGrpSpPr>
          <p:cNvPr id="16" name="群組 15"/>
          <p:cNvGrpSpPr/>
          <p:nvPr/>
        </p:nvGrpSpPr>
        <p:grpSpPr>
          <a:xfrm>
            <a:off x="3102345" y="4393638"/>
            <a:ext cx="3595017" cy="650715"/>
            <a:chOff x="3102345" y="4393638"/>
            <a:chExt cx="3595017" cy="650715"/>
          </a:xfrm>
        </p:grpSpPr>
        <p:sp>
          <p:nvSpPr>
            <p:cNvPr id="24" name="右大括弧 23"/>
            <p:cNvSpPr/>
            <p:nvPr/>
          </p:nvSpPr>
          <p:spPr>
            <a:xfrm rot="5400000">
              <a:off x="4768510" y="2727473"/>
              <a:ext cx="262688" cy="3595017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5" name="文字方塊 24"/>
            <p:cNvSpPr txBox="1"/>
            <p:nvPr/>
          </p:nvSpPr>
          <p:spPr>
            <a:xfrm>
              <a:off x="4157597" y="4644243"/>
              <a:ext cx="14814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– 1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個物品</a:t>
              </a:r>
              <a:endParaRPr lang="zh-TW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26" name="圖片 25"/>
          <p:cNvPicPr>
            <a:picLocks noChangeAspect="1"/>
          </p:cNvPicPr>
          <p:nvPr/>
        </p:nvPicPr>
        <p:blipFill rotWithShape="1">
          <a:blip r:embed="rId2"/>
          <a:srcRect l="1303" t="43227" r="77819" b="41630"/>
          <a:stretch/>
        </p:blipFill>
        <p:spPr>
          <a:xfrm>
            <a:off x="4083459" y="5240688"/>
            <a:ext cx="679621" cy="426309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 rotWithShape="1">
          <a:blip r:embed="rId2"/>
          <a:srcRect l="33947" t="81415" r="41379"/>
          <a:stretch/>
        </p:blipFill>
        <p:spPr>
          <a:xfrm>
            <a:off x="3102345" y="5188207"/>
            <a:ext cx="803189" cy="523204"/>
          </a:xfrm>
          <a:prstGeom prst="rect">
            <a:avLst/>
          </a:prstGeom>
        </p:spPr>
      </p:pic>
      <p:pic>
        <p:nvPicPr>
          <p:cNvPr id="28" name="圖片 27"/>
          <p:cNvPicPr>
            <a:picLocks noChangeAspect="1"/>
          </p:cNvPicPr>
          <p:nvPr/>
        </p:nvPicPr>
        <p:blipFill rotWithShape="1">
          <a:blip r:embed="rId2"/>
          <a:srcRect l="76273" t="54639" r="3229" b="29340"/>
          <a:stretch/>
        </p:blipFill>
        <p:spPr>
          <a:xfrm>
            <a:off x="4952331" y="5227873"/>
            <a:ext cx="667265" cy="451022"/>
          </a:xfrm>
          <a:prstGeom prst="rect">
            <a:avLst/>
          </a:prstGeom>
        </p:spPr>
      </p:pic>
      <p:pic>
        <p:nvPicPr>
          <p:cNvPr id="29" name="圖片 28"/>
          <p:cNvPicPr>
            <a:picLocks noChangeAspect="1"/>
          </p:cNvPicPr>
          <p:nvPr/>
        </p:nvPicPr>
        <p:blipFill rotWithShape="1">
          <a:blip r:embed="rId2"/>
          <a:srcRect l="71338" t="16672" b="62918"/>
          <a:stretch/>
        </p:blipFill>
        <p:spPr>
          <a:xfrm>
            <a:off x="5808847" y="5164063"/>
            <a:ext cx="933018" cy="574589"/>
          </a:xfrm>
          <a:prstGeom prst="rect">
            <a:avLst/>
          </a:prstGeom>
        </p:spPr>
      </p:pic>
      <p:grpSp>
        <p:nvGrpSpPr>
          <p:cNvPr id="37" name="群組 36"/>
          <p:cNvGrpSpPr/>
          <p:nvPr/>
        </p:nvGrpSpPr>
        <p:grpSpPr>
          <a:xfrm>
            <a:off x="3102345" y="5738652"/>
            <a:ext cx="3595017" cy="650715"/>
            <a:chOff x="3102345" y="5738652"/>
            <a:chExt cx="3595017" cy="650715"/>
          </a:xfrm>
        </p:grpSpPr>
        <p:sp>
          <p:nvSpPr>
            <p:cNvPr id="30" name="右大括弧 29"/>
            <p:cNvSpPr/>
            <p:nvPr/>
          </p:nvSpPr>
          <p:spPr>
            <a:xfrm rot="5400000">
              <a:off x="4768510" y="4072487"/>
              <a:ext cx="262688" cy="3595017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/>
            <p:cNvSpPr txBox="1"/>
            <p:nvPr/>
          </p:nvSpPr>
          <p:spPr>
            <a:xfrm>
              <a:off x="4157597" y="5989257"/>
              <a:ext cx="14814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en-US" altLang="zh-TW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– 1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個物品</a:t>
              </a:r>
              <a:endParaRPr lang="zh-TW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32" name="圖片 31"/>
          <p:cNvPicPr>
            <a:picLocks noChangeAspect="1"/>
          </p:cNvPicPr>
          <p:nvPr/>
        </p:nvPicPr>
        <p:blipFill rotWithShape="1">
          <a:blip r:embed="rId2"/>
          <a:srcRect l="5288" t="3942" r="65103" b="73892"/>
          <a:stretch/>
        </p:blipFill>
        <p:spPr>
          <a:xfrm>
            <a:off x="6931116" y="5121175"/>
            <a:ext cx="963827" cy="624016"/>
          </a:xfrm>
          <a:prstGeom prst="rect">
            <a:avLst/>
          </a:prstGeom>
        </p:spPr>
      </p:pic>
      <p:sp>
        <p:nvSpPr>
          <p:cNvPr id="33" name="文字方塊 32"/>
          <p:cNvSpPr txBox="1"/>
          <p:nvPr/>
        </p:nvSpPr>
        <p:spPr>
          <a:xfrm>
            <a:off x="5639093" y="6001340"/>
            <a:ext cx="9348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7187647" y="5745191"/>
            <a:ext cx="4507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en-US" altLang="zh-TW" sz="20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000" b="1" i="1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i="1" baseline="-25000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TW" altLang="en-US" sz="2000" b="1" i="1" baseline="-250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959830" y="4258008"/>
                <a:ext cx="161313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830" y="4258008"/>
                <a:ext cx="1613134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271404" y="5734385"/>
                <a:ext cx="285148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  <m:sub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altLang="zh-TW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TW" sz="2000" b="1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b="1" i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  <m:sub>
                              <m:r>
                                <a:rPr lang="en-US" altLang="zh-TW" sz="2000" b="1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404" y="5734385"/>
                <a:ext cx="2851486" cy="400110"/>
              </a:xfrm>
              <a:prstGeom prst="rect">
                <a:avLst/>
              </a:prstGeom>
              <a:blipFill rotWithShape="0">
                <a:blip r:embed="rId4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5711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000"/>
                            </p:stCondLst>
                            <p:childTnLst>
                              <p:par>
                                <p:cTn id="8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19" grpId="0"/>
      <p:bldP spid="33" grpId="0"/>
      <p:bldP spid="34" grpId="0"/>
      <p:bldP spid="35" grpId="0"/>
      <p:bldP spid="3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(2/8)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641457" y="3090649"/>
          <a:ext cx="6982664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72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041978" y="1356155"/>
                <a:ext cx="7212424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𝒘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1356155"/>
                <a:ext cx="7212424" cy="686535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72093" y="3867673"/>
            <a:ext cx="601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4kg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664948" y="38923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39669" y="38923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414395" y="38923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39690" y="3892385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群組 14"/>
          <p:cNvGrpSpPr/>
          <p:nvPr/>
        </p:nvGrpSpPr>
        <p:grpSpPr>
          <a:xfrm>
            <a:off x="7680863" y="3416651"/>
            <a:ext cx="1332286" cy="2541506"/>
            <a:chOff x="7213150" y="4181470"/>
            <a:chExt cx="1332286" cy="2541506"/>
          </a:xfrm>
        </p:grpSpPr>
        <p:sp>
          <p:nvSpPr>
            <p:cNvPr id="16" name="右大括弧 15"/>
            <p:cNvSpPr/>
            <p:nvPr/>
          </p:nvSpPr>
          <p:spPr>
            <a:xfrm>
              <a:off x="7213150" y="4181470"/>
              <a:ext cx="262688" cy="2541506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7448662" y="5246828"/>
              <a:ext cx="109677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</a:t>
              </a:r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項物品</a:t>
              </a:r>
            </a:p>
          </p:txBody>
        </p:sp>
      </p:grpSp>
      <p:grpSp>
        <p:nvGrpSpPr>
          <p:cNvPr id="21" name="群組 20"/>
          <p:cNvGrpSpPr/>
          <p:nvPr/>
        </p:nvGrpSpPr>
        <p:grpSpPr>
          <a:xfrm>
            <a:off x="1466863" y="5958158"/>
            <a:ext cx="6213999" cy="650715"/>
            <a:chOff x="1466863" y="5958158"/>
            <a:chExt cx="6213999" cy="650715"/>
          </a:xfrm>
        </p:grpSpPr>
        <p:sp>
          <p:nvSpPr>
            <p:cNvPr id="18" name="右大括弧 17"/>
            <p:cNvSpPr/>
            <p:nvPr/>
          </p:nvSpPr>
          <p:spPr>
            <a:xfrm rot="5400000">
              <a:off x="4442519" y="2982502"/>
              <a:ext cx="262688" cy="6213999"/>
            </a:xfrm>
            <a:prstGeom prst="rightBrace">
              <a:avLst>
                <a:gd name="adj1" fmla="val 57725"/>
                <a:gd name="adj2" fmla="val 50000"/>
              </a:avLst>
            </a:prstGeom>
            <a:ln w="19050">
              <a:solidFill>
                <a:srgbClr val="00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3462678" y="6208763"/>
              <a:ext cx="220765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sz="2000" b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背包可容納重量</a:t>
              </a:r>
              <a:r>
                <a:rPr lang="en-US" altLang="zh-TW" sz="2000" b="1" i="1" dirty="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W</a:t>
              </a:r>
              <a:endParaRPr lang="zh-TW" altLang="en-US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圓角矩形圖說文字 19"/>
          <p:cNvSpPr/>
          <p:nvPr/>
        </p:nvSpPr>
        <p:spPr>
          <a:xfrm>
            <a:off x="6882454" y="2211865"/>
            <a:ext cx="2067842" cy="711833"/>
          </a:xfrm>
          <a:prstGeom prst="wedgeRoundRectCallout">
            <a:avLst>
              <a:gd name="adj1" fmla="val -64258"/>
              <a:gd name="adj2" fmla="val 129861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計算的項目數量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 panose="05050102010706020507" pitchFamily="18" charset="2"/>
              </a:rPr>
              <a:t>(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nW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-26755" y="5447276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kg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109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3" grpId="0"/>
      <p:bldP spid="11" grpId="0"/>
      <p:bldP spid="12" grpId="0"/>
      <p:bldP spid="13" grpId="0"/>
      <p:bldP spid="14" grpId="0"/>
      <p:bldP spid="20" grpId="0" animBg="1"/>
      <p:bldP spid="2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(3/8)</a:t>
            </a:r>
            <a:endParaRPr lang="zh-TW" altLang="en-US" dirty="0"/>
          </a:p>
        </p:txBody>
      </p:sp>
      <p:graphicFrame>
        <p:nvGraphicFramePr>
          <p:cNvPr id="10" name="內容版面配置區 9"/>
          <p:cNvGraphicFramePr>
            <a:graphicFrameLocks noGrp="1"/>
          </p:cNvGraphicFramePr>
          <p:nvPr>
            <p:ph idx="1"/>
          </p:nvPr>
        </p:nvGraphicFramePr>
        <p:xfrm>
          <a:off x="641457" y="3090649"/>
          <a:ext cx="6982664" cy="27736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728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7283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i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sz="2000" b="1" i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字方塊 2"/>
          <p:cNvSpPr txBox="1"/>
          <p:nvPr/>
        </p:nvSpPr>
        <p:spPr>
          <a:xfrm>
            <a:off x="72093" y="3867673"/>
            <a:ext cx="6014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4kg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2664948" y="38923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3539669" y="38923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4414395" y="389238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239690" y="3892385"/>
            <a:ext cx="4122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baseline="-25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圓角矩形 20"/>
          <p:cNvSpPr/>
          <p:nvPr/>
        </p:nvSpPr>
        <p:spPr>
          <a:xfrm>
            <a:off x="7000102" y="5480223"/>
            <a:ext cx="413952" cy="384106"/>
          </a:xfrm>
          <a:prstGeom prst="roundRect">
            <a:avLst>
              <a:gd name="adj" fmla="val 50000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圓角矩形圖說文字 21"/>
          <p:cNvSpPr/>
          <p:nvPr/>
        </p:nvSpPr>
        <p:spPr>
          <a:xfrm>
            <a:off x="7762172" y="5980376"/>
            <a:ext cx="1128728" cy="461868"/>
          </a:xfrm>
          <a:prstGeom prst="wedgeRoundRectCallout">
            <a:avLst>
              <a:gd name="adj1" fmla="val -76848"/>
              <a:gd name="adj2" fmla="val -10289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3" name="圓角矩形 22"/>
          <p:cNvSpPr/>
          <p:nvPr/>
        </p:nvSpPr>
        <p:spPr>
          <a:xfrm>
            <a:off x="7000102" y="5077116"/>
            <a:ext cx="413952" cy="38410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圓角矩形 23"/>
          <p:cNvSpPr/>
          <p:nvPr/>
        </p:nvSpPr>
        <p:spPr>
          <a:xfrm>
            <a:off x="5245868" y="5083761"/>
            <a:ext cx="413952" cy="384106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-26755" y="5447276"/>
            <a:ext cx="7216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000" b="1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kg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圓角矩形圖說文字 25"/>
          <p:cNvSpPr/>
          <p:nvPr/>
        </p:nvSpPr>
        <p:spPr>
          <a:xfrm>
            <a:off x="7552956" y="4092440"/>
            <a:ext cx="1478754" cy="461868"/>
          </a:xfrm>
          <a:prstGeom prst="wedgeRoundRectCallout">
            <a:avLst>
              <a:gd name="adj1" fmla="val -68074"/>
              <a:gd name="adj2" fmla="val 15661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7" name="圓角矩形圖說文字 26"/>
          <p:cNvSpPr/>
          <p:nvPr/>
        </p:nvSpPr>
        <p:spPr>
          <a:xfrm>
            <a:off x="2720585" y="4267783"/>
            <a:ext cx="1973942" cy="461868"/>
          </a:xfrm>
          <a:prstGeom prst="wedgeRoundRectCallout">
            <a:avLst>
              <a:gd name="adj1" fmla="val 77157"/>
              <a:gd name="adj2" fmla="val 13253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1][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 – </a:t>
            </a:r>
            <a:r>
              <a:rPr lang="en-US" altLang="zh-TW" sz="2000" b="1" i="1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en-US" altLang="zh-TW" sz="2000" b="1" i="1" baseline="-25000" dirty="0" err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28" name="文字方塊 27"/>
          <p:cNvSpPr txBox="1"/>
          <p:nvPr/>
        </p:nvSpPr>
        <p:spPr>
          <a:xfrm>
            <a:off x="6161725" y="5455511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5289979" y="5453687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4390922" y="5447120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3519176" y="544529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6161725" y="5045186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664230" y="5456272"/>
            <a:ext cx="325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487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6" grpId="0" animBg="1"/>
      <p:bldP spid="27" grpId="0" animBg="1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(4/8)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671282" y="2322580"/>
            <a:ext cx="1272746" cy="1513703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2469104" y="3055125"/>
            <a:ext cx="811960" cy="553998"/>
            <a:chOff x="2286010" y="4758642"/>
            <a:chExt cx="811960" cy="553998"/>
          </a:xfrm>
        </p:grpSpPr>
        <p:sp>
          <p:nvSpPr>
            <p:cNvPr id="9" name="立方體 8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471692" y="4758642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$20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934266" y="2890031"/>
            <a:ext cx="1047625" cy="714768"/>
            <a:chOff x="3751172" y="4593548"/>
            <a:chExt cx="1047625" cy="714768"/>
          </a:xfrm>
        </p:grpSpPr>
        <p:sp>
          <p:nvSpPr>
            <p:cNvPr id="13" name="立方體 12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5kg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858008" y="5031317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$30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635093" y="3069543"/>
            <a:ext cx="1047625" cy="526928"/>
            <a:chOff x="5451999" y="4773060"/>
            <a:chExt cx="1047625" cy="526928"/>
          </a:xfrm>
        </p:grpSpPr>
        <p:sp>
          <p:nvSpPr>
            <p:cNvPr id="17" name="立方體 16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/>
          <p:cNvSpPr txBox="1"/>
          <p:nvPr/>
        </p:nvSpPr>
        <p:spPr>
          <a:xfrm>
            <a:off x="455049" y="4176584"/>
            <a:ext cx="2193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[3][15]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860768" y="4042163"/>
            <a:ext cx="4758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– 1][15]                                  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[2][15]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– 1][15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[2][15 – 10]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177223" y="5090211"/>
            <a:ext cx="4758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– 1][15]                                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[1][15]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– 1][15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[1][15 – 5]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173608" y="5802909"/>
            <a:ext cx="427552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– 1][5]                              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[1][5]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 – 1][5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[1][5 – 5]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[1][0]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725562" y="6131689"/>
            <a:ext cx="5229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6725562" y="5798097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6725562" y="5392460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6725562" y="5085399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向右箭號 30"/>
          <p:cNvSpPr/>
          <p:nvPr/>
        </p:nvSpPr>
        <p:spPr>
          <a:xfrm>
            <a:off x="2970671" y="4199667"/>
            <a:ext cx="560535" cy="4173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向右箭號 31"/>
          <p:cNvSpPr/>
          <p:nvPr/>
        </p:nvSpPr>
        <p:spPr>
          <a:xfrm>
            <a:off x="1201596" y="5594214"/>
            <a:ext cx="560535" cy="4173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460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 animBg="1"/>
      <p:bldP spid="3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(5/8)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671282" y="2322580"/>
            <a:ext cx="1272746" cy="1513703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2469104" y="3055125"/>
            <a:ext cx="811960" cy="553998"/>
            <a:chOff x="2286010" y="4758642"/>
            <a:chExt cx="811960" cy="553998"/>
          </a:xfrm>
        </p:grpSpPr>
        <p:sp>
          <p:nvSpPr>
            <p:cNvPr id="9" name="立方體 8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471692" y="4758642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$20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934266" y="2890031"/>
            <a:ext cx="1047625" cy="714768"/>
            <a:chOff x="3751172" y="4593548"/>
            <a:chExt cx="1047625" cy="714768"/>
          </a:xfrm>
        </p:grpSpPr>
        <p:sp>
          <p:nvSpPr>
            <p:cNvPr id="13" name="立方體 12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5kg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858008" y="5031317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$30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635093" y="3069543"/>
            <a:ext cx="1047625" cy="526928"/>
            <a:chOff x="5451999" y="4773060"/>
            <a:chExt cx="1047625" cy="526928"/>
          </a:xfrm>
        </p:grpSpPr>
        <p:sp>
          <p:nvSpPr>
            <p:cNvPr id="17" name="立方體 16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>
            <a:off x="332899" y="2663241"/>
            <a:ext cx="1596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[1][15] = 20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[1][10] = 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32899" y="3258548"/>
            <a:ext cx="14686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[1][5] = 20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[1][0]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7084912" y="5761125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080748" y="4994248"/>
            <a:ext cx="6511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50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432390" y="4862435"/>
                <a:ext cx="664835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𝟏𝟓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𝟑𝟎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𝟏𝟓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𝟏𝟓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𝟏𝟓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2390" y="4862435"/>
                <a:ext cx="6648358" cy="68653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/>
              <p:cNvSpPr txBox="1"/>
              <p:nvPr/>
            </p:nvSpPr>
            <p:spPr>
              <a:xfrm>
                <a:off x="419979" y="5687251"/>
                <a:ext cx="601837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𝟑𝟎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𝟓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𝟓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2" name="文字方塊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979" y="5687251"/>
                <a:ext cx="6018378" cy="68653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/>
          <p:cNvSpPr txBox="1"/>
          <p:nvPr/>
        </p:nvSpPr>
        <p:spPr>
          <a:xfrm>
            <a:off x="455049" y="4176584"/>
            <a:ext cx="2193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[3][15]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60768" y="4042163"/>
            <a:ext cx="47580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– 1][15]                                  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[2][15]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 – 1][15 –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[2][15 – 10]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向右箭號 34"/>
          <p:cNvSpPr/>
          <p:nvPr/>
        </p:nvSpPr>
        <p:spPr>
          <a:xfrm>
            <a:off x="2970671" y="4199667"/>
            <a:ext cx="560535" cy="4173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8342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0" grpId="0"/>
      <p:bldP spid="31" grpId="0"/>
      <p:bldP spid="3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(6/8)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671282" y="2322580"/>
            <a:ext cx="1272746" cy="1513703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2469104" y="3055125"/>
            <a:ext cx="811960" cy="553998"/>
            <a:chOff x="2286010" y="4758642"/>
            <a:chExt cx="811960" cy="553998"/>
          </a:xfrm>
        </p:grpSpPr>
        <p:sp>
          <p:nvSpPr>
            <p:cNvPr id="9" name="立方體 8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471692" y="4758642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$20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934266" y="2890031"/>
            <a:ext cx="1047625" cy="714768"/>
            <a:chOff x="3751172" y="4593548"/>
            <a:chExt cx="1047625" cy="714768"/>
          </a:xfrm>
        </p:grpSpPr>
        <p:sp>
          <p:nvSpPr>
            <p:cNvPr id="13" name="立方體 12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5kg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858008" y="5031317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$30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635093" y="3069543"/>
            <a:ext cx="1047625" cy="526928"/>
            <a:chOff x="5451999" y="4773060"/>
            <a:chExt cx="1047625" cy="526928"/>
          </a:xfrm>
        </p:grpSpPr>
        <p:sp>
          <p:nvSpPr>
            <p:cNvPr id="17" name="立方體 16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字方塊 24"/>
          <p:cNvSpPr txBox="1"/>
          <p:nvPr/>
        </p:nvSpPr>
        <p:spPr>
          <a:xfrm>
            <a:off x="332899" y="2663241"/>
            <a:ext cx="1596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[2][15] = 50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[2][5] = 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7335183" y="4994949"/>
            <a:ext cx="7652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/>
              <p:cNvSpPr txBox="1"/>
              <p:nvPr/>
            </p:nvSpPr>
            <p:spPr>
              <a:xfrm>
                <a:off x="455049" y="4863136"/>
                <a:ext cx="6897979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𝟏𝟓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𝟏𝟓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𝟖𝟎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𝟏𝟓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𝟏𝟎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𝟏𝟓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𝟏𝟓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𝟏𝟓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31" name="文字方塊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49" y="4863136"/>
                <a:ext cx="6897979" cy="6865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文字方塊 32"/>
          <p:cNvSpPr txBox="1"/>
          <p:nvPr/>
        </p:nvSpPr>
        <p:spPr>
          <a:xfrm>
            <a:off x="455049" y="4176584"/>
            <a:ext cx="21932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[3][15]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4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(7/8)</a:t>
            </a:r>
            <a:endParaRPr lang="zh-TW" altLang="en-US" dirty="0"/>
          </a:p>
        </p:txBody>
      </p:sp>
      <p:graphicFrame>
        <p:nvGraphicFramePr>
          <p:cNvPr id="26" name="內容版面配置區 25"/>
          <p:cNvGraphicFramePr>
            <a:graphicFrameLocks noGrp="1"/>
          </p:cNvGraphicFramePr>
          <p:nvPr>
            <p:ph idx="1"/>
          </p:nvPr>
        </p:nvGraphicFramePr>
        <p:xfrm>
          <a:off x="168024" y="4534712"/>
          <a:ext cx="8834424" cy="1981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1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 rotWithShape="1">
          <a:blip r:embed="rId2"/>
          <a:srcRect l="30152" t="23264" r="30750" b="22967"/>
          <a:stretch/>
        </p:blipFill>
        <p:spPr>
          <a:xfrm>
            <a:off x="7671282" y="2322580"/>
            <a:ext cx="1272746" cy="1513703"/>
          </a:xfrm>
          <a:prstGeom prst="rect">
            <a:avLst/>
          </a:prstGeom>
        </p:spPr>
      </p:pic>
      <p:grpSp>
        <p:nvGrpSpPr>
          <p:cNvPr id="8" name="群組 7"/>
          <p:cNvGrpSpPr/>
          <p:nvPr/>
        </p:nvGrpSpPr>
        <p:grpSpPr>
          <a:xfrm>
            <a:off x="2469104" y="3055125"/>
            <a:ext cx="811960" cy="553998"/>
            <a:chOff x="2286010" y="4758642"/>
            <a:chExt cx="811960" cy="553998"/>
          </a:xfrm>
        </p:grpSpPr>
        <p:sp>
          <p:nvSpPr>
            <p:cNvPr id="9" name="立方體 8"/>
            <p:cNvSpPr/>
            <p:nvPr/>
          </p:nvSpPr>
          <p:spPr>
            <a:xfrm>
              <a:off x="2286010" y="4773060"/>
              <a:ext cx="811960" cy="525162"/>
            </a:xfrm>
            <a:prstGeom prst="cube">
              <a:avLst>
                <a:gd name="adj" fmla="val 493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2471692" y="4758642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2kg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2387057" y="5035641"/>
              <a:ext cx="4395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rgbClr val="0000FF"/>
                  </a:solidFill>
                </a:rPr>
                <a:t>$20</a:t>
              </a:r>
              <a:endParaRPr lang="zh-TW" altLang="en-US" sz="1200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3934266" y="2890031"/>
            <a:ext cx="1047625" cy="714768"/>
            <a:chOff x="3751172" y="4593548"/>
            <a:chExt cx="1047625" cy="714768"/>
          </a:xfrm>
        </p:grpSpPr>
        <p:sp>
          <p:nvSpPr>
            <p:cNvPr id="13" name="立方體 12"/>
            <p:cNvSpPr/>
            <p:nvPr/>
          </p:nvSpPr>
          <p:spPr>
            <a:xfrm>
              <a:off x="3751172" y="4593548"/>
              <a:ext cx="1047625" cy="704674"/>
            </a:xfrm>
            <a:prstGeom prst="cube">
              <a:avLst>
                <a:gd name="adj" fmla="val 60698"/>
              </a:avLst>
            </a:prstGeom>
            <a:solidFill>
              <a:schemeClr val="accent5">
                <a:lumMod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029083" y="4673933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5kg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858008" y="5031317"/>
              <a:ext cx="40588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$30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" name="群組 15"/>
          <p:cNvGrpSpPr/>
          <p:nvPr/>
        </p:nvGrpSpPr>
        <p:grpSpPr>
          <a:xfrm>
            <a:off x="5635093" y="3069543"/>
            <a:ext cx="1047625" cy="526928"/>
            <a:chOff x="5451999" y="4773060"/>
            <a:chExt cx="1047625" cy="526928"/>
          </a:xfrm>
        </p:grpSpPr>
        <p:sp>
          <p:nvSpPr>
            <p:cNvPr id="17" name="立方體 16"/>
            <p:cNvSpPr/>
            <p:nvPr/>
          </p:nvSpPr>
          <p:spPr>
            <a:xfrm>
              <a:off x="5451999" y="4773060"/>
              <a:ext cx="1047625" cy="525162"/>
            </a:xfrm>
            <a:prstGeom prst="cube">
              <a:avLst>
                <a:gd name="adj" fmla="val 48933"/>
              </a:avLst>
            </a:prstGeom>
            <a:solidFill>
              <a:srgbClr val="7030A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5729910" y="4776360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10kg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5668165" y="5022989"/>
              <a:ext cx="4187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solidFill>
                    <a:schemeClr val="bg1"/>
                  </a:solidFill>
                </a:rPr>
                <a:t>$80</a:t>
              </a:r>
              <a:endParaRPr lang="zh-TW" altLang="en-US" sz="1200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/>
              <p:cNvSpPr txBox="1"/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𝑾</m:t>
                          </m:r>
                        </m:e>
                      </m:d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𝑴𝑨𝑿</m:t>
                              </m:r>
                              <m:d>
                                <m:d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</m:e>
                                  </m:d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𝒑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𝑾</m:t>
                                      </m:r>
                                      <m:r>
                                        <a:rPr lang="en-US" altLang="zh-TW" sz="2000" b="1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d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𝑾</m:t>
                              </m:r>
                            </m:e>
                            <m:e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𝑾</m:t>
                                  </m:r>
                                </m:e>
                              </m:d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                                                          </m:t>
                              </m:r>
                              <m:r>
                                <a:rPr lang="en-US" altLang="zh-TW" sz="2000" b="1" i="0" smtClean="0">
                                  <a:latin typeface="Cambria Math" panose="02040503050406030204" pitchFamily="18" charset="0"/>
                                </a:rPr>
                                <m:t>𝐢𝐟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b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𝒊</m:t>
                                  </m:r>
                                </m:sub>
                              </m:sSub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0" name="文字方塊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1356155"/>
                <a:ext cx="7284558" cy="68653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/>
              <p:cNvSpPr/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1" name="矩形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978" y="2281243"/>
                <a:ext cx="1628779" cy="400110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TW" altLang="en-US" sz="200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292" y="2281243"/>
                <a:ext cx="1521378" cy="40011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字方塊 22"/>
          <p:cNvSpPr txBox="1"/>
          <p:nvPr/>
        </p:nvSpPr>
        <p:spPr>
          <a:xfrm>
            <a:off x="4458078" y="4075748"/>
            <a:ext cx="17109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[3][15] = 110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2348941" y="3767972"/>
            <a:ext cx="1596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[2][15] = 50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[2][5] = 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8476457" y="6121980"/>
            <a:ext cx="555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8523342" y="5715692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3324310" y="572308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324310" y="532525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5919182" y="532297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8533492" y="5329137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807659" y="5323505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56786" y="3172665"/>
            <a:ext cx="15969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[1][15] = 20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[1][10] = 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356786" y="3767972"/>
            <a:ext cx="14686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[1][5] = 20</a:t>
            </a:r>
          </a:p>
          <a:p>
            <a:r>
              <a:rPr lang="en-US" altLang="zh-TW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[1][0] = 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62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DP</a:t>
            </a:r>
            <a:r>
              <a:rPr lang="zh-TW" altLang="en-US" dirty="0"/>
              <a:t>解</a:t>
            </a:r>
            <a:r>
              <a:rPr lang="en-US" altLang="zh-TW" dirty="0"/>
              <a:t>0-1</a:t>
            </a:r>
            <a:r>
              <a:rPr lang="zh-TW" altLang="en-US" dirty="0"/>
              <a:t>背包問題 </a:t>
            </a:r>
            <a:r>
              <a:rPr lang="en-US" altLang="zh-TW" dirty="0"/>
              <a:t>(8/8)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2026/09/30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(c) 2026 Fall,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55</a:t>
            </a:fld>
            <a:endParaRPr lang="en-US" dirty="0"/>
          </a:p>
        </p:txBody>
      </p:sp>
      <p:graphicFrame>
        <p:nvGraphicFramePr>
          <p:cNvPr id="7" name="內容版面配置區 25"/>
          <p:cNvGraphicFramePr>
            <a:graphicFrameLocks/>
          </p:cNvGraphicFramePr>
          <p:nvPr/>
        </p:nvGraphicFramePr>
        <p:xfrm>
          <a:off x="151921" y="1420810"/>
          <a:ext cx="8834424" cy="1981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519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1967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0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文字方塊 7"/>
          <p:cNvSpPr txBox="1"/>
          <p:nvPr/>
        </p:nvSpPr>
        <p:spPr>
          <a:xfrm>
            <a:off x="8460354" y="3008078"/>
            <a:ext cx="55521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8523342" y="260179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/>
          <p:cNvSpPr txBox="1"/>
          <p:nvPr/>
        </p:nvSpPr>
        <p:spPr>
          <a:xfrm>
            <a:off x="3308207" y="260918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3308207" y="221135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/>
          <p:cNvSpPr txBox="1"/>
          <p:nvPr/>
        </p:nvSpPr>
        <p:spPr>
          <a:xfrm>
            <a:off x="5903079" y="220907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8517389" y="2215235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791556" y="2209603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/>
          <p:cNvSpPr txBox="1"/>
          <p:nvPr/>
        </p:nvSpPr>
        <p:spPr>
          <a:xfrm>
            <a:off x="3682497" y="3052330"/>
            <a:ext cx="2300630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 計算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個項目</a:t>
            </a:r>
          </a:p>
        </p:txBody>
      </p:sp>
      <p:sp>
        <p:nvSpPr>
          <p:cNvPr id="16" name="文字方塊 15"/>
          <p:cNvSpPr txBox="1"/>
          <p:nvPr/>
        </p:nvSpPr>
        <p:spPr>
          <a:xfrm>
            <a:off x="3682497" y="2658611"/>
            <a:ext cx="2300630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 計算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個項目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3687213" y="2258373"/>
            <a:ext cx="2300630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第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列 計算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</a:t>
            </a:r>
            <a:r>
              <a:rPr lang="zh-TW" altLang="en-US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個項目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6395495" y="2255241"/>
            <a:ext cx="1257075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 – 1)</a:t>
            </a:r>
            <a:endParaRPr lang="zh-TW" altLang="en-US" sz="2000" b="1" baseline="30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394041" y="2658611"/>
            <a:ext cx="1257075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 – 2)</a:t>
            </a:r>
            <a:endParaRPr lang="zh-TW" altLang="en-US" sz="2000" b="1" baseline="30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6398025" y="3052329"/>
            <a:ext cx="1257075" cy="307777"/>
          </a:xfrm>
          <a:prstGeom prst="rect">
            <a:avLst/>
          </a:prstGeom>
          <a:solidFill>
            <a:srgbClr val="FFFFCC"/>
          </a:solidFill>
        </p:spPr>
        <p:txBody>
          <a:bodyPr wrap="none" tIns="0" bIns="0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0</a:t>
            </a:r>
            <a:r>
              <a:rPr lang="en-US" altLang="zh-TW" sz="20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= 2</a:t>
            </a:r>
            <a:r>
              <a:rPr lang="en-US" altLang="zh-TW" sz="2000" b="1" baseline="30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(3 – 3)</a:t>
            </a:r>
            <a:endParaRPr lang="zh-TW" altLang="en-US" sz="2000" b="1" baseline="30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/>
              <p:cNvSpPr txBox="1"/>
              <p:nvPr/>
            </p:nvSpPr>
            <p:spPr>
              <a:xfrm>
                <a:off x="2666240" y="4046806"/>
                <a:ext cx="3805785" cy="3147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+…+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1" name="文字方塊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6240" y="4046806"/>
                <a:ext cx="3805785" cy="314766"/>
              </a:xfrm>
              <a:prstGeom prst="rect">
                <a:avLst/>
              </a:prstGeom>
              <a:blipFill rotWithShape="0">
                <a:blip r:embed="rId3"/>
                <a:stretch>
                  <a:fillRect l="-1120" t="-1961" r="-1120" b="-980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/>
              <p:cNvSpPr txBox="1"/>
              <p:nvPr/>
            </p:nvSpPr>
            <p:spPr>
              <a:xfrm>
                <a:off x="3589867" y="4761756"/>
                <a:ext cx="1990738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zh-TW" sz="2000" b="1" i="1" smtClean="0">
                          <a:latin typeface="Cambria Math" panose="02040503050406030204" pitchFamily="18" charset="0"/>
                        </a:rPr>
                        <m:t>𝑶</m:t>
                      </m:r>
                      <m:d>
                        <m:dPr>
                          <m:ctrlP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000" b="1" i="1" smtClean="0">
                              <a:latin typeface="Cambria Math" panose="02040503050406030204" pitchFamily="18" charset="0"/>
                            </a:rPr>
                            <m:t>𝒎𝒊𝒏</m:t>
                          </m:r>
                          <m:d>
                            <m:dPr>
                              <m:ctrlP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TW" sz="2000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p>
                              </m:sSup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000" b="1" i="1" smtClean="0">
                                  <a:latin typeface="Cambria Math" panose="02040503050406030204" pitchFamily="18" charset="0"/>
                                </a:rPr>
                                <m:t>𝒏𝑾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sz="2000" b="1" dirty="0"/>
              </a:p>
            </p:txBody>
          </p:sp>
        </mc:Choice>
        <mc:Fallback xmlns="">
          <p:sp>
            <p:nvSpPr>
              <p:cNvPr id="22" name="文字方塊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9867" y="4761756"/>
                <a:ext cx="1990738" cy="347403"/>
              </a:xfrm>
              <a:prstGeom prst="rect">
                <a:avLst/>
              </a:prstGeom>
              <a:blipFill rotWithShape="0">
                <a:blip r:embed="rId4"/>
                <a:stretch>
                  <a:fillRect l="-2454" b="-1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圓角矩形圖說文字 22"/>
          <p:cNvSpPr/>
          <p:nvPr/>
        </p:nvSpPr>
        <p:spPr>
          <a:xfrm>
            <a:off x="5722440" y="5580728"/>
            <a:ext cx="2814363" cy="695804"/>
          </a:xfrm>
          <a:prstGeom prst="wedgeRoundRectCallout">
            <a:avLst>
              <a:gd name="adj1" fmla="val -73074"/>
              <a:gd name="adj2" fmla="val -12050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項目個數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很大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背包可容納重量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很小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4" name="圓角矩形圖說文字 23"/>
          <p:cNvSpPr/>
          <p:nvPr/>
        </p:nvSpPr>
        <p:spPr>
          <a:xfrm>
            <a:off x="1685900" y="5532430"/>
            <a:ext cx="2814363" cy="695804"/>
          </a:xfrm>
          <a:prstGeom prst="wedgeRoundRectCallout">
            <a:avLst>
              <a:gd name="adj1" fmla="val 53595"/>
              <a:gd name="adj2" fmla="val -11428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項目個數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很小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背包可容納重量</a:t>
            </a:r>
            <a:r>
              <a:rPr lang="en-US" altLang="zh-TW" sz="2000" b="1" i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</a:t>
            </a:r>
            <a:r>
              <a:rPr lang="zh-TW" altLang="en-US" sz="2000" b="1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很大</a:t>
            </a:r>
            <a:endParaRPr lang="en-US" altLang="zh-TW" sz="2000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79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/>
      <p:bldP spid="22" grpId="0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8719</TotalTime>
  <Words>5067</Words>
  <Application>Microsoft Office PowerPoint</Application>
  <PresentationFormat>如螢幕大小 (4:3)</PresentationFormat>
  <Paragraphs>1490</Paragraphs>
  <Slides>55</Slides>
  <Notes>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55</vt:i4>
      </vt:variant>
    </vt:vector>
  </HeadingPairs>
  <TitlesOfParts>
    <vt:vector size="64" baseType="lpstr">
      <vt:lpstr>標楷體</vt:lpstr>
      <vt:lpstr>Arial</vt:lpstr>
      <vt:lpstr>Calibri</vt:lpstr>
      <vt:lpstr>Cambria Math</vt:lpstr>
      <vt:lpstr>Monotype Corsiva</vt:lpstr>
      <vt:lpstr>Symbol</vt:lpstr>
      <vt:lpstr>Times New Roman</vt:lpstr>
      <vt:lpstr>Wingdings</vt:lpstr>
      <vt:lpstr>NCKU3</vt:lpstr>
      <vt:lpstr>ALGORITHMS 演算法</vt:lpstr>
      <vt:lpstr>貪婪演算法 (1/5)</vt:lpstr>
      <vt:lpstr>貪婪演算法 (2/5)</vt:lpstr>
      <vt:lpstr>貪婪演算法 (3/5)</vt:lpstr>
      <vt:lpstr>貪婪演算法 (4/5)</vt:lpstr>
      <vt:lpstr>貪婪演算法 (5/5)</vt:lpstr>
      <vt:lpstr>最小生成樹</vt:lpstr>
      <vt:lpstr>Prim 演算法 (1/3)</vt:lpstr>
      <vt:lpstr>Prim 演算法 (2/3)</vt:lpstr>
      <vt:lpstr>Prim 演算法 (3/3)</vt:lpstr>
      <vt:lpstr>Kruskal 演算法 (1/3)</vt:lpstr>
      <vt:lpstr>Kruskal 演算法 (2/3)</vt:lpstr>
      <vt:lpstr>Kruskal 演算法 (3/3)</vt:lpstr>
      <vt:lpstr>Prim與Kruskal</vt:lpstr>
      <vt:lpstr>Dijkstra演算法 (1/2)</vt:lpstr>
      <vt:lpstr>Dijkstra演算法 (2/2)</vt:lpstr>
      <vt:lpstr>排程 (1/7)</vt:lpstr>
      <vt:lpstr>排程 (2/7)</vt:lpstr>
      <vt:lpstr>排程 (3/7)</vt:lpstr>
      <vt:lpstr>排程 (4/7)</vt:lpstr>
      <vt:lpstr>排程 (5/7)</vt:lpstr>
      <vt:lpstr>排程 (6/7)</vt:lpstr>
      <vt:lpstr>排程 (7/7)</vt:lpstr>
      <vt:lpstr>霍夫曼編碼 (1/16)</vt:lpstr>
      <vt:lpstr>霍夫曼編碼 (2/16)</vt:lpstr>
      <vt:lpstr>霍夫曼編碼 (3/16)</vt:lpstr>
      <vt:lpstr>霍夫曼編碼 (4/16)</vt:lpstr>
      <vt:lpstr>霍夫曼編碼 (5/16)</vt:lpstr>
      <vt:lpstr>霍夫曼編碼 (6/16)</vt:lpstr>
      <vt:lpstr>霍夫曼編碼 (7/16)</vt:lpstr>
      <vt:lpstr>霍夫曼編碼 (8/16)</vt:lpstr>
      <vt:lpstr>霍夫曼編碼 (9/16)</vt:lpstr>
      <vt:lpstr>霍夫曼編碼 (10/16)</vt:lpstr>
      <vt:lpstr>霍夫曼編碼 (11/16)</vt:lpstr>
      <vt:lpstr>霍夫曼編碼 (12/16)</vt:lpstr>
      <vt:lpstr>霍夫曼編碼 (13/16)</vt:lpstr>
      <vt:lpstr>霍夫曼編碼 (14/16)</vt:lpstr>
      <vt:lpstr>霍夫曼編碼 (15/16)</vt:lpstr>
      <vt:lpstr>霍夫曼編碼 (16/16)</vt:lpstr>
      <vt:lpstr>貪婪演算法與動態規劃</vt:lpstr>
      <vt:lpstr>背包問題</vt:lpstr>
      <vt:lpstr>0-1背包問題 (1/5)</vt:lpstr>
      <vt:lpstr>0-1背包問題 (2/5)</vt:lpstr>
      <vt:lpstr>0-1背包問題 (3/5)</vt:lpstr>
      <vt:lpstr>0-1背包問題 (4/5)</vt:lpstr>
      <vt:lpstr>0-1背包問題 (5/5)</vt:lpstr>
      <vt:lpstr>Fractional背包問題</vt:lpstr>
      <vt:lpstr>DP解0-1背包問題 (1/8)</vt:lpstr>
      <vt:lpstr>DP解0-1背包問題 (2/8)</vt:lpstr>
      <vt:lpstr>DP解0-1背包問題 (3/8)</vt:lpstr>
      <vt:lpstr>DP解0-1背包問題 (4/8)</vt:lpstr>
      <vt:lpstr>DP解0-1背包問題 (5/8)</vt:lpstr>
      <vt:lpstr>DP解0-1背包問題 (6/8)</vt:lpstr>
      <vt:lpstr>DP解0-1背包問題 (7/8)</vt:lpstr>
      <vt:lpstr>DP解0-1背包問題 (8/8)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李佳衛</cp:lastModifiedBy>
  <cp:revision>70</cp:revision>
  <cp:lastPrinted>2026-10-02T01:11:08Z</cp:lastPrinted>
  <dcterms:created xsi:type="dcterms:W3CDTF">2018-01-10T03:26:15Z</dcterms:created>
  <dcterms:modified xsi:type="dcterms:W3CDTF">2026-10-02T01:11:10Z</dcterms:modified>
</cp:coreProperties>
</file>