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402" r:id="rId39"/>
    <p:sldId id="403" r:id="rId40"/>
    <p:sldId id="404" r:id="rId41"/>
    <p:sldId id="405" r:id="rId42"/>
    <p:sldId id="406" r:id="rId43"/>
    <p:sldId id="407" r:id="rId44"/>
    <p:sldId id="408" r:id="rId45"/>
    <p:sldId id="409" r:id="rId46"/>
    <p:sldId id="410" r:id="rId47"/>
    <p:sldId id="411" r:id="rId48"/>
    <p:sldId id="412" r:id="rId49"/>
    <p:sldId id="413" r:id="rId50"/>
    <p:sldId id="414" r:id="rId51"/>
    <p:sldId id="415" r:id="rId52"/>
    <p:sldId id="416" r:id="rId53"/>
    <p:sldId id="417" r:id="rId54"/>
    <p:sldId id="418" r:id="rId55"/>
    <p:sldId id="419" r:id="rId56"/>
    <p:sldId id="420" r:id="rId57"/>
    <p:sldId id="421" r:id="rId58"/>
    <p:sldId id="422" r:id="rId59"/>
    <p:sldId id="423" r:id="rId60"/>
    <p:sldId id="424" r:id="rId61"/>
    <p:sldId id="425" r:id="rId62"/>
    <p:sldId id="426" r:id="rId63"/>
    <p:sldId id="427" r:id="rId64"/>
    <p:sldId id="428" r:id="rId65"/>
    <p:sldId id="429" r:id="rId66"/>
    <p:sldId id="430" r:id="rId67"/>
    <p:sldId id="431" r:id="rId68"/>
    <p:sldId id="432" r:id="rId69"/>
    <p:sldId id="433" r:id="rId70"/>
    <p:sldId id="434" r:id="rId71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820000"/>
    <a:srgbClr val="700000"/>
    <a:srgbClr val="9E0000"/>
    <a:srgbClr val="323232"/>
    <a:srgbClr val="333399"/>
    <a:srgbClr val="CC00CC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2026/10/9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692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11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112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010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2026/10/07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70.png"/><Relationship Id="rId7" Type="http://schemas.openxmlformats.org/officeDocument/2006/relationships/image" Target="../media/image4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10" Type="http://schemas.openxmlformats.org/officeDocument/2006/relationships/image" Target="../media/image43.png"/><Relationship Id="rId4" Type="http://schemas.openxmlformats.org/officeDocument/2006/relationships/image" Target="../media/image310.png"/><Relationship Id="rId9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47.png"/><Relationship Id="rId5" Type="http://schemas.openxmlformats.org/officeDocument/2006/relationships/image" Target="../media/image310.png"/><Relationship Id="rId10" Type="http://schemas.openxmlformats.org/officeDocument/2006/relationships/image" Target="../media/image46.png"/><Relationship Id="rId4" Type="http://schemas.openxmlformats.org/officeDocument/2006/relationships/image" Target="../media/image270.png"/><Relationship Id="rId9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70.png"/><Relationship Id="rId7" Type="http://schemas.openxmlformats.org/officeDocument/2006/relationships/image" Target="../media/image4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10" Type="http://schemas.openxmlformats.org/officeDocument/2006/relationships/image" Target="../media/image53.png"/><Relationship Id="rId4" Type="http://schemas.openxmlformats.org/officeDocument/2006/relationships/image" Target="../media/image310.png"/><Relationship Id="rId9" Type="http://schemas.openxmlformats.org/officeDocument/2006/relationships/image" Target="../media/image5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70.png"/><Relationship Id="rId7" Type="http://schemas.openxmlformats.org/officeDocument/2006/relationships/image" Target="../media/image5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10" Type="http://schemas.openxmlformats.org/officeDocument/2006/relationships/image" Target="../media/image57.png"/><Relationship Id="rId4" Type="http://schemas.openxmlformats.org/officeDocument/2006/relationships/image" Target="../media/image310.png"/><Relationship Id="rId9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270.png"/><Relationship Id="rId7" Type="http://schemas.openxmlformats.org/officeDocument/2006/relationships/image" Target="../media/image5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Relationship Id="rId9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70.png"/><Relationship Id="rId7" Type="http://schemas.openxmlformats.org/officeDocument/2006/relationships/image" Target="../media/image6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Relationship Id="rId9" Type="http://schemas.openxmlformats.org/officeDocument/2006/relationships/image" Target="../media/image6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70.png"/><Relationship Id="rId7" Type="http://schemas.openxmlformats.org/officeDocument/2006/relationships/image" Target="../media/image6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10" Type="http://schemas.openxmlformats.org/officeDocument/2006/relationships/image" Target="../media/image68.png"/><Relationship Id="rId4" Type="http://schemas.openxmlformats.org/officeDocument/2006/relationships/image" Target="../media/image310.png"/><Relationship Id="rId9" Type="http://schemas.openxmlformats.org/officeDocument/2006/relationships/image" Target="../media/image3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270.png"/><Relationship Id="rId7" Type="http://schemas.openxmlformats.org/officeDocument/2006/relationships/image" Target="../media/image6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10" Type="http://schemas.openxmlformats.org/officeDocument/2006/relationships/image" Target="../media/image360.png"/><Relationship Id="rId4" Type="http://schemas.openxmlformats.org/officeDocument/2006/relationships/image" Target="../media/image310.png"/><Relationship Id="rId9" Type="http://schemas.openxmlformats.org/officeDocument/2006/relationships/image" Target="../media/image7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70.png"/><Relationship Id="rId7" Type="http://schemas.openxmlformats.org/officeDocument/2006/relationships/image" Target="../media/image7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Relationship Id="rId9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270.png"/><Relationship Id="rId7" Type="http://schemas.openxmlformats.org/officeDocument/2006/relationships/image" Target="../media/image7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82.png"/><Relationship Id="rId5" Type="http://schemas.openxmlformats.org/officeDocument/2006/relationships/image" Target="../media/image320.png"/><Relationship Id="rId10" Type="http://schemas.openxmlformats.org/officeDocument/2006/relationships/image" Target="../media/image81.png"/><Relationship Id="rId4" Type="http://schemas.openxmlformats.org/officeDocument/2006/relationships/image" Target="../media/image310.png"/><Relationship Id="rId9" Type="http://schemas.openxmlformats.org/officeDocument/2006/relationships/image" Target="../media/image7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270.png"/><Relationship Id="rId7" Type="http://schemas.openxmlformats.org/officeDocument/2006/relationships/image" Target="../media/image8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87.png"/><Relationship Id="rId5" Type="http://schemas.openxmlformats.org/officeDocument/2006/relationships/image" Target="../media/image320.png"/><Relationship Id="rId10" Type="http://schemas.openxmlformats.org/officeDocument/2006/relationships/image" Target="../media/image86.png"/><Relationship Id="rId4" Type="http://schemas.openxmlformats.org/officeDocument/2006/relationships/image" Target="../media/image310.png"/><Relationship Id="rId9" Type="http://schemas.openxmlformats.org/officeDocument/2006/relationships/image" Target="../media/image3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ALGORITHMS</a:t>
            </a:r>
            <a:br>
              <a:rPr lang="en-US" altLang="zh-TW" dirty="0"/>
            </a:br>
            <a:r>
              <a:rPr lang="zh-TW" altLang="en-US" dirty="0"/>
              <a:t>演算法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Chapter 5</a:t>
            </a:r>
          </a:p>
          <a:p>
            <a:pPr algn="r"/>
            <a:r>
              <a:rPr lang="en-US" altLang="zh-TW" dirty="0"/>
              <a:t>Backtracking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回溯 </a:t>
            </a:r>
            <a:r>
              <a:rPr lang="en-US" altLang="zh-TW" dirty="0"/>
              <a:t>Backtracking 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迷宮</a:t>
            </a:r>
            <a:endParaRPr lang="en-US" altLang="zh-TW" dirty="0"/>
          </a:p>
          <a:p>
            <a:pPr lvl="1"/>
            <a:r>
              <a:rPr lang="zh-TW" altLang="en-US" dirty="0"/>
              <a:t>走到死路往回走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89" y="2052280"/>
            <a:ext cx="6689135" cy="461708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4912952" y="5445224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077552" y="4735431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774218" y="2647140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482281" y="4322311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50168" y="478307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51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回溯 </a:t>
            </a:r>
            <a:r>
              <a:rPr lang="en-US" altLang="zh-TW" dirty="0"/>
              <a:t>Backtracking 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0-1</a:t>
            </a:r>
            <a:r>
              <a:rPr lang="zh-TW" altLang="en-US" dirty="0">
                <a:solidFill>
                  <a:srgbClr val="0000FF"/>
                </a:solidFill>
              </a:rPr>
              <a:t>背包問題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列出所有可能的組合，再找出最佳解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迷宮問題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沿著每一條路一直走，直到遇到死路後換一條路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暴力法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當資料量為</a:t>
            </a:r>
            <a:r>
              <a:rPr lang="en-US" altLang="zh-TW" i="1" dirty="0"/>
              <a:t>n</a:t>
            </a:r>
            <a:r>
              <a:rPr lang="zh-TW" altLang="en-US" dirty="0"/>
              <a:t>時，會有</a:t>
            </a:r>
            <a:r>
              <a:rPr lang="en-US" altLang="zh-TW" dirty="0"/>
              <a:t>2</a:t>
            </a:r>
            <a:r>
              <a:rPr lang="en-US" altLang="zh-TW" i="1" baseline="30000" dirty="0"/>
              <a:t>n</a:t>
            </a:r>
            <a:r>
              <a:rPr lang="zh-TW" altLang="en-US" dirty="0"/>
              <a:t>種組合</a:t>
            </a:r>
            <a:endParaRPr lang="en-US" altLang="zh-TW" dirty="0"/>
          </a:p>
          <a:p>
            <a:pPr lvl="1"/>
            <a:r>
              <a:rPr lang="en-US" altLang="zh-TW" i="1" dirty="0"/>
              <a:t>n</a:t>
            </a:r>
            <a:r>
              <a:rPr lang="zh-TW" altLang="en-US" dirty="0"/>
              <a:t>很小的時候才可行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產生所有組合的時候，可以找到死路的</a:t>
            </a:r>
            <a:r>
              <a:rPr lang="en-US" altLang="zh-TW" dirty="0"/>
              <a:t>“</a:t>
            </a:r>
            <a:r>
              <a:rPr lang="zh-TW" altLang="en-US" dirty="0">
                <a:solidFill>
                  <a:srgbClr val="C00000"/>
                </a:solidFill>
              </a:rPr>
              <a:t>路標</a:t>
            </a:r>
            <a:r>
              <a:rPr lang="en-US" altLang="zh-TW" dirty="0"/>
              <a:t>”</a:t>
            </a:r>
            <a:r>
              <a:rPr lang="zh-TW" altLang="en-US" dirty="0"/>
              <a:t>，可以省下不必要的計算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35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回溯 </a:t>
            </a:r>
            <a:r>
              <a:rPr lang="en-US" altLang="zh-TW" dirty="0"/>
              <a:t>Backtracking 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從一個物件集合中選出一</a:t>
            </a:r>
            <a:r>
              <a:rPr lang="zh-TW" altLang="en-US" dirty="0">
                <a:solidFill>
                  <a:srgbClr val="0000FF"/>
                </a:solidFill>
              </a:rPr>
              <a:t>序列</a:t>
            </a:r>
            <a:r>
              <a:rPr lang="zh-TW" altLang="en-US" dirty="0"/>
              <a:t>的物件，並且這序列要滿足一些</a:t>
            </a:r>
            <a:r>
              <a:rPr lang="zh-TW" altLang="en-US" dirty="0">
                <a:solidFill>
                  <a:srgbClr val="0000FF"/>
                </a:solidFill>
              </a:rPr>
              <a:t>指定條件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採用回溯技巧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i="1" dirty="0">
                <a:solidFill>
                  <a:srgbClr val="0000FF"/>
                </a:solidFill>
              </a:rPr>
              <a:t>n</a:t>
            </a:r>
            <a:r>
              <a:rPr lang="en-US" altLang="zh-TW" dirty="0">
                <a:solidFill>
                  <a:srgbClr val="0000FF"/>
                </a:solidFill>
              </a:rPr>
              <a:t>-Queen</a:t>
            </a:r>
          </a:p>
          <a:p>
            <a:pPr lvl="1"/>
            <a:r>
              <a:rPr lang="en-US" altLang="zh-TW" i="1" dirty="0"/>
              <a:t>n</a:t>
            </a:r>
            <a:r>
              <a:rPr lang="zh-TW" altLang="en-US" dirty="0"/>
              <a:t>個皇后放在一個</a:t>
            </a:r>
            <a:r>
              <a:rPr lang="en-US" altLang="zh-TW" i="1" dirty="0"/>
              <a:t>n</a:t>
            </a:r>
            <a:r>
              <a:rPr lang="zh-TW" altLang="en-US" dirty="0"/>
              <a:t> </a:t>
            </a:r>
            <a:r>
              <a:rPr lang="zh-TW" altLang="en-US" dirty="0">
                <a:sym typeface="Symbol" panose="05050102010706020507" pitchFamily="18" charset="2"/>
              </a:rPr>
              <a:t>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zh-TW" altLang="en-US" dirty="0">
                <a:sym typeface="Symbol" panose="05050102010706020507" pitchFamily="18" charset="2"/>
              </a:rPr>
              <a:t>的西洋棋盤上而彼此不互相攻擊</a:t>
            </a:r>
            <a:endParaRPr lang="en-US" altLang="zh-TW" dirty="0">
              <a:sym typeface="Symbol" panose="05050102010706020507" pitchFamily="18" charset="2"/>
            </a:endParaRPr>
          </a:p>
          <a:p>
            <a:pPr lvl="2"/>
            <a:r>
              <a:rPr lang="zh-TW" altLang="en-US" dirty="0">
                <a:sym typeface="Symbol" panose="05050102010706020507" pitchFamily="18" charset="2"/>
              </a:rPr>
              <a:t>任兩個皇后不會位於同一列、同一排、同一對角線上</a:t>
            </a:r>
            <a:endParaRPr lang="en-US" altLang="zh-TW" dirty="0">
              <a:sym typeface="Symbol" panose="05050102010706020507" pitchFamily="18" charset="2"/>
            </a:endParaRPr>
          </a:p>
          <a:p>
            <a:pPr lvl="1"/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序列</a:t>
            </a:r>
            <a:r>
              <a:rPr lang="zh-TW" altLang="en-US" dirty="0">
                <a:sym typeface="Symbol" panose="05050102010706020507" pitchFamily="18" charset="2"/>
              </a:rPr>
              <a:t>：能安全擺放皇后的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zh-TW" altLang="en-US" dirty="0">
                <a:sym typeface="Symbol" panose="05050102010706020507" pitchFamily="18" charset="2"/>
              </a:rPr>
              <a:t>個位置</a:t>
            </a:r>
            <a:endParaRPr lang="en-US" altLang="zh-TW" dirty="0">
              <a:sym typeface="Symbol" panose="05050102010706020507" pitchFamily="18" charset="2"/>
            </a:endParaRPr>
          </a:p>
          <a:p>
            <a:pPr lvl="1"/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指定條件</a:t>
            </a:r>
            <a:r>
              <a:rPr lang="zh-TW" altLang="en-US" dirty="0">
                <a:sym typeface="Symbol" panose="05050102010706020507" pitchFamily="18" charset="2"/>
              </a:rPr>
              <a:t>：任兩個皇后不會彼此攻擊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258" y="3594187"/>
            <a:ext cx="2947087" cy="293115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2" y="4315253"/>
            <a:ext cx="3094007" cy="212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64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回溯 </a:t>
            </a:r>
            <a:r>
              <a:rPr lang="en-US" altLang="zh-TW" dirty="0"/>
              <a:t>Backtracking 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利用</a:t>
            </a:r>
            <a:r>
              <a:rPr lang="zh-TW" altLang="en-US" dirty="0">
                <a:solidFill>
                  <a:srgbClr val="C00000"/>
                </a:solidFill>
              </a:rPr>
              <a:t>深度優先搜尋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C00000"/>
                </a:solidFill>
              </a:rPr>
              <a:t>D</a:t>
            </a:r>
            <a:r>
              <a:rPr lang="en-US" altLang="zh-TW" dirty="0"/>
              <a:t>epth-</a:t>
            </a:r>
            <a:r>
              <a:rPr lang="en-US" altLang="zh-TW" dirty="0">
                <a:solidFill>
                  <a:srgbClr val="C00000"/>
                </a:solidFill>
              </a:rPr>
              <a:t>F</a:t>
            </a:r>
            <a:r>
              <a:rPr lang="en-US" altLang="zh-TW" dirty="0"/>
              <a:t>irst </a:t>
            </a:r>
            <a:r>
              <a:rPr lang="en-US" altLang="zh-TW" dirty="0">
                <a:solidFill>
                  <a:srgbClr val="C00000"/>
                </a:solidFill>
              </a:rPr>
              <a:t>S</a:t>
            </a:r>
            <a:r>
              <a:rPr lang="en-US" altLang="zh-TW" dirty="0"/>
              <a:t>earch, </a:t>
            </a:r>
            <a:r>
              <a:rPr lang="en-US" altLang="zh-TW" dirty="0">
                <a:solidFill>
                  <a:srgbClr val="C00000"/>
                </a:solidFill>
              </a:rPr>
              <a:t>DFS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走到沒有路就往回走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5.2 </a:t>
            </a:r>
            <a:r>
              <a:rPr lang="en-US" altLang="zh-TW" i="1" dirty="0"/>
              <a:t>n</a:t>
            </a:r>
            <a:r>
              <a:rPr lang="en-US" altLang="zh-TW" dirty="0"/>
              <a:t>-Queen</a:t>
            </a:r>
          </a:p>
          <a:p>
            <a:r>
              <a:rPr lang="en-US" altLang="zh-TW" dirty="0"/>
              <a:t>5.4 Sum-of-Subsets</a:t>
            </a:r>
          </a:p>
          <a:p>
            <a:r>
              <a:rPr lang="en-US" altLang="zh-TW" dirty="0"/>
              <a:t>5.5 </a:t>
            </a:r>
            <a:r>
              <a:rPr lang="zh-TW" altLang="en-US" dirty="0"/>
              <a:t>圖形著色</a:t>
            </a:r>
            <a:endParaRPr lang="en-US" altLang="zh-TW" dirty="0"/>
          </a:p>
          <a:p>
            <a:r>
              <a:rPr lang="en-US" altLang="zh-TW" dirty="0"/>
              <a:t>5.6</a:t>
            </a:r>
            <a:r>
              <a:rPr lang="zh-TW" altLang="en-US" dirty="0"/>
              <a:t> 漢米爾頓迴路</a:t>
            </a:r>
            <a:endParaRPr lang="en-US" altLang="zh-TW" dirty="0"/>
          </a:p>
          <a:p>
            <a:r>
              <a:rPr lang="en-US" altLang="zh-TW" dirty="0"/>
              <a:t>5.7</a:t>
            </a:r>
            <a:r>
              <a:rPr lang="zh-TW" altLang="en-US" dirty="0"/>
              <a:t> </a:t>
            </a:r>
            <a:r>
              <a:rPr lang="en-US" altLang="zh-TW" dirty="0"/>
              <a:t>0-1</a:t>
            </a:r>
            <a:r>
              <a:rPr lang="zh-TW" altLang="en-US" dirty="0"/>
              <a:t>背包問題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908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深度優先搜尋 </a:t>
            </a:r>
            <a:r>
              <a:rPr lang="en-US" altLang="zh-TW" dirty="0">
                <a:solidFill>
                  <a:srgbClr val="0000FF"/>
                </a:solidFill>
              </a:rPr>
              <a:t>depth-first</a:t>
            </a:r>
            <a:r>
              <a:rPr lang="zh-TW" altLang="en-US" dirty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search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橢圓 7"/>
          <p:cNvSpPr/>
          <p:nvPr/>
        </p:nvSpPr>
        <p:spPr>
          <a:xfrm>
            <a:off x="3109150" y="330526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2821150" y="38469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397150" y="38511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8" idx="4"/>
            <a:endCxn id="11" idx="0"/>
          </p:cNvCxnSpPr>
          <p:nvPr/>
        </p:nvCxnSpPr>
        <p:spPr>
          <a:xfrm flipH="1">
            <a:off x="2965150" y="3593266"/>
            <a:ext cx="288000" cy="2536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8" idx="4"/>
            <a:endCxn id="12" idx="0"/>
          </p:cNvCxnSpPr>
          <p:nvPr/>
        </p:nvCxnSpPr>
        <p:spPr>
          <a:xfrm>
            <a:off x="3253150" y="3593266"/>
            <a:ext cx="28800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4549150" y="27593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261150" y="330102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4837150" y="330526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8" idx="4"/>
            <a:endCxn id="19" idx="0"/>
          </p:cNvCxnSpPr>
          <p:nvPr/>
        </p:nvCxnSpPr>
        <p:spPr>
          <a:xfrm flipH="1">
            <a:off x="4405150" y="3047391"/>
            <a:ext cx="288000" cy="2536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20" idx="0"/>
          </p:cNvCxnSpPr>
          <p:nvPr/>
        </p:nvCxnSpPr>
        <p:spPr>
          <a:xfrm>
            <a:off x="4693150" y="3047391"/>
            <a:ext cx="28800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3685150" y="330526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2533150" y="330526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3109150" y="27593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8" idx="0"/>
          </p:cNvCxnSpPr>
          <p:nvPr/>
        </p:nvCxnSpPr>
        <p:spPr>
          <a:xfrm>
            <a:off x="3253150" y="3047391"/>
            <a:ext cx="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5" idx="4"/>
            <a:endCxn id="23" idx="0"/>
          </p:cNvCxnSpPr>
          <p:nvPr/>
        </p:nvCxnSpPr>
        <p:spPr>
          <a:xfrm>
            <a:off x="3253150" y="3047391"/>
            <a:ext cx="57600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5" idx="4"/>
            <a:endCxn id="24" idx="0"/>
          </p:cNvCxnSpPr>
          <p:nvPr/>
        </p:nvCxnSpPr>
        <p:spPr>
          <a:xfrm flipH="1">
            <a:off x="2677150" y="3047391"/>
            <a:ext cx="57600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5989150" y="330526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5701150" y="38469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6277150" y="38511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35" idx="4"/>
            <a:endCxn id="36" idx="0"/>
          </p:cNvCxnSpPr>
          <p:nvPr/>
        </p:nvCxnSpPr>
        <p:spPr>
          <a:xfrm flipH="1">
            <a:off x="5845150" y="3593266"/>
            <a:ext cx="288000" cy="2536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5" idx="4"/>
            <a:endCxn id="37" idx="0"/>
          </p:cNvCxnSpPr>
          <p:nvPr/>
        </p:nvCxnSpPr>
        <p:spPr>
          <a:xfrm>
            <a:off x="6133150" y="3593266"/>
            <a:ext cx="28800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橢圓 39"/>
          <p:cNvSpPr/>
          <p:nvPr/>
        </p:nvSpPr>
        <p:spPr>
          <a:xfrm>
            <a:off x="6565150" y="330526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5413150" y="330526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5989150" y="27593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接點 42"/>
          <p:cNvCxnSpPr>
            <a:stCxn id="42" idx="4"/>
            <a:endCxn id="35" idx="0"/>
          </p:cNvCxnSpPr>
          <p:nvPr/>
        </p:nvCxnSpPr>
        <p:spPr>
          <a:xfrm>
            <a:off x="6133150" y="3047391"/>
            <a:ext cx="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42" idx="4"/>
            <a:endCxn id="40" idx="0"/>
          </p:cNvCxnSpPr>
          <p:nvPr/>
        </p:nvCxnSpPr>
        <p:spPr>
          <a:xfrm>
            <a:off x="6133150" y="3047391"/>
            <a:ext cx="57600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42" idx="4"/>
            <a:endCxn id="41" idx="0"/>
          </p:cNvCxnSpPr>
          <p:nvPr/>
        </p:nvCxnSpPr>
        <p:spPr>
          <a:xfrm flipH="1">
            <a:off x="5557150" y="3047391"/>
            <a:ext cx="57600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4549150" y="22135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7" name="直線接點 46"/>
          <p:cNvCxnSpPr>
            <a:stCxn id="46" idx="4"/>
            <a:endCxn id="18" idx="0"/>
          </p:cNvCxnSpPr>
          <p:nvPr/>
        </p:nvCxnSpPr>
        <p:spPr>
          <a:xfrm>
            <a:off x="4693150" y="2501516"/>
            <a:ext cx="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6" idx="4"/>
            <a:endCxn id="42" idx="0"/>
          </p:cNvCxnSpPr>
          <p:nvPr/>
        </p:nvCxnSpPr>
        <p:spPr>
          <a:xfrm>
            <a:off x="4693150" y="2501516"/>
            <a:ext cx="144000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6" idx="4"/>
            <a:endCxn id="25" idx="0"/>
          </p:cNvCxnSpPr>
          <p:nvPr/>
        </p:nvCxnSpPr>
        <p:spPr>
          <a:xfrm flipH="1">
            <a:off x="3253150" y="2501516"/>
            <a:ext cx="1440000" cy="257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4543109" y="216586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103108" y="2709877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2527109" y="3260363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097067" y="3260363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2803987" y="380623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385892" y="380623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679108" y="326943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4543109" y="271338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4255107" y="3260363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772575" y="326943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925739" y="2707160"/>
            <a:ext cx="402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348575" y="325764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5919358" y="324879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5636575" y="380623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6219443" y="380623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6501400" y="325764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直線接點 73"/>
          <p:cNvCxnSpPr/>
          <p:nvPr/>
        </p:nvCxnSpPr>
        <p:spPr>
          <a:xfrm rot="120000" flipH="1">
            <a:off x="3323790" y="2449910"/>
            <a:ext cx="1224000" cy="257875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 rot="120000" flipH="1">
            <a:off x="2633757" y="3021094"/>
            <a:ext cx="504000" cy="257875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rot="180000" flipH="1">
            <a:off x="2727174" y="3102510"/>
            <a:ext cx="504000" cy="257875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14010" y="3101204"/>
            <a:ext cx="0" cy="21600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3306696" y="3082669"/>
            <a:ext cx="0" cy="2160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rot="540000" flipH="1">
            <a:off x="2944331" y="3585286"/>
            <a:ext cx="216000" cy="253638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rot="600000">
            <a:off x="3295280" y="3604613"/>
            <a:ext cx="288000" cy="1800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 rot="-360000">
            <a:off x="3327037" y="3104037"/>
            <a:ext cx="432000" cy="25200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 rot="540000" flipH="1">
            <a:off x="3015495" y="3662608"/>
            <a:ext cx="216000" cy="2536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rot="600000">
            <a:off x="3224968" y="3676564"/>
            <a:ext cx="288000" cy="18000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 rot="-360000">
            <a:off x="3386771" y="3022490"/>
            <a:ext cx="432000" cy="2520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 rot="120000" flipH="1">
            <a:off x="5522276" y="3019253"/>
            <a:ext cx="504000" cy="257875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rot="180000" flipH="1">
            <a:off x="5615693" y="3100669"/>
            <a:ext cx="504000" cy="257875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6102529" y="3099363"/>
            <a:ext cx="0" cy="21600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6195215" y="3080828"/>
            <a:ext cx="0" cy="2160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rot="540000" flipH="1">
            <a:off x="5832850" y="3583445"/>
            <a:ext cx="216000" cy="253638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rot="600000">
            <a:off x="6183799" y="3602772"/>
            <a:ext cx="288000" cy="1800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rot="-360000">
            <a:off x="6215556" y="3102196"/>
            <a:ext cx="432000" cy="25200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 rot="540000" flipH="1">
            <a:off x="5904014" y="3660767"/>
            <a:ext cx="216000" cy="2536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 rot="600000">
            <a:off x="6113487" y="3674723"/>
            <a:ext cx="288000" cy="18000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 rot="-360000">
            <a:off x="6275290" y="3020649"/>
            <a:ext cx="432000" cy="2520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 rot="540000" flipH="1">
            <a:off x="4379668" y="3025263"/>
            <a:ext cx="216000" cy="253638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 rot="600000">
            <a:off x="4730617" y="3044590"/>
            <a:ext cx="288000" cy="1800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 rot="540000" flipH="1">
            <a:off x="4450832" y="3102585"/>
            <a:ext cx="216000" cy="25363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 rot="600000">
            <a:off x="4660305" y="3116541"/>
            <a:ext cx="288000" cy="18000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 rot="120000" flipH="1">
            <a:off x="3370475" y="2559411"/>
            <a:ext cx="1224000" cy="257875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4655380" y="2543392"/>
            <a:ext cx="0" cy="21600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4748066" y="2524857"/>
            <a:ext cx="0" cy="2160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 rot="1320000" flipH="1">
            <a:off x="4820287" y="2454450"/>
            <a:ext cx="1224000" cy="257875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 rot="1320000" flipH="1">
            <a:off x="4792836" y="2563951"/>
            <a:ext cx="1224000" cy="257875"/>
          </a:xfrm>
          <a:prstGeom prst="line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字方塊 106"/>
          <p:cNvSpPr txBox="1"/>
          <p:nvPr/>
        </p:nvSpPr>
        <p:spPr>
          <a:xfrm>
            <a:off x="1394811" y="4896636"/>
            <a:ext cx="6596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一路往下走，直到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沒有路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，返回至有分岔處，繼續往下走</a:t>
            </a:r>
          </a:p>
        </p:txBody>
      </p:sp>
    </p:spTree>
    <p:extLst>
      <p:ext uri="{BB962C8B-B14F-4D97-AF65-F5344CB8AC3E}">
        <p14:creationId xmlns:p14="http://schemas.microsoft.com/office/powerpoint/2010/main" val="70109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(1/17)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Goal</a:t>
            </a:r>
            <a:r>
              <a:rPr lang="en-US" altLang="zh-TW" dirty="0"/>
              <a:t>: 4</a:t>
            </a:r>
            <a:r>
              <a:rPr lang="zh-TW" altLang="en-US" dirty="0"/>
              <a:t>個皇后擺在一個</a:t>
            </a:r>
            <a:r>
              <a:rPr lang="en-US" altLang="zh-TW" dirty="0"/>
              <a:t>4 </a:t>
            </a:r>
            <a:r>
              <a:rPr lang="en-US" altLang="zh-TW" dirty="0">
                <a:sym typeface="Symbol" panose="05050102010706020507" pitchFamily="18" charset="2"/>
              </a:rPr>
              <a:t> 4</a:t>
            </a:r>
            <a:r>
              <a:rPr lang="zh-TW" altLang="en-US" dirty="0">
                <a:sym typeface="Symbol" panose="05050102010706020507" pitchFamily="18" charset="2"/>
              </a:rPr>
              <a:t>的棋盤上，且彼此不會互相攻擊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235161" y="2170844"/>
          <a:ext cx="2160000" cy="2016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366" y="2257821"/>
            <a:ext cx="405000" cy="360000"/>
          </a:xfrm>
          <a:prstGeom prst="rect">
            <a:avLst/>
          </a:prstGeom>
        </p:spPr>
      </p:pic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235161" y="4363778"/>
          <a:ext cx="2160000" cy="2016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038031" y="2170844"/>
          <a:ext cx="2160000" cy="2016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038031" y="4363778"/>
          <a:ext cx="2160000" cy="2016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166" y="2257821"/>
            <a:ext cx="405000" cy="36000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701" y="4449086"/>
            <a:ext cx="405000" cy="36000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966" y="4449086"/>
            <a:ext cx="405000" cy="360000"/>
          </a:xfrm>
          <a:prstGeom prst="rect">
            <a:avLst/>
          </a:prstGeom>
        </p:spPr>
      </p:pic>
      <p:sp>
        <p:nvSpPr>
          <p:cNvPr id="17" name="圓角矩形圖說文字 16"/>
          <p:cNvSpPr/>
          <p:nvPr/>
        </p:nvSpPr>
        <p:spPr>
          <a:xfrm>
            <a:off x="183940" y="2757987"/>
            <a:ext cx="1883902" cy="420857"/>
          </a:xfrm>
          <a:prstGeom prst="wedgeRoundRectCallout">
            <a:avLst>
              <a:gd name="adj1" fmla="val 55774"/>
              <a:gd name="adj2" fmla="val -1358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第一列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個選擇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183940" y="3793423"/>
            <a:ext cx="17620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共有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 4  4  4</a:t>
            </a:r>
          </a:p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= 256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 種選擇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86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內容版面配置區 2"/>
          <p:cNvSpPr>
            <a:spLocks noGrp="1"/>
          </p:cNvSpPr>
          <p:nvPr>
            <p:ph idx="1"/>
          </p:nvPr>
        </p:nvSpPr>
        <p:spPr>
          <a:xfrm>
            <a:off x="152410" y="1282385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(2/17)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5266390" y="14539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/>
          <a:srcRect l="2403" t="2997" r="2624" b="2527"/>
          <a:stretch/>
        </p:blipFill>
        <p:spPr>
          <a:xfrm>
            <a:off x="3351099" y="2191959"/>
            <a:ext cx="768355" cy="7200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3"/>
          <a:srcRect l="1067" t="1292" r="1523" b="2496"/>
          <a:stretch/>
        </p:blipFill>
        <p:spPr>
          <a:xfrm>
            <a:off x="4469866" y="2191959"/>
            <a:ext cx="772331" cy="720000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4"/>
          <a:srcRect l="2352" t="1978" r="3759" b="3092"/>
          <a:stretch/>
        </p:blipFill>
        <p:spPr>
          <a:xfrm>
            <a:off x="5592609" y="2191959"/>
            <a:ext cx="766683" cy="720000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5"/>
          <a:srcRect l="2392" t="1604" r="4447" b="3466"/>
          <a:stretch/>
        </p:blipFill>
        <p:spPr>
          <a:xfrm>
            <a:off x="6709704" y="2191959"/>
            <a:ext cx="768479" cy="72000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6"/>
          <a:srcRect l="4621" t="3413" r="6397" b="7203"/>
          <a:stretch/>
        </p:blipFill>
        <p:spPr>
          <a:xfrm>
            <a:off x="2286010" y="3293751"/>
            <a:ext cx="768479" cy="72000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 rotWithShape="1">
          <a:blip r:embed="rId7"/>
          <a:srcRect l="4931" t="3988" r="4511" b="6233"/>
          <a:stretch/>
        </p:blipFill>
        <p:spPr>
          <a:xfrm>
            <a:off x="3345454" y="3293751"/>
            <a:ext cx="774000" cy="720000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 rotWithShape="1">
          <a:blip r:embed="rId8"/>
          <a:srcRect l="4730" t="4480" r="4543" b="3932"/>
          <a:stretch/>
        </p:blipFill>
        <p:spPr>
          <a:xfrm>
            <a:off x="4410419" y="3293751"/>
            <a:ext cx="768479" cy="72000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 rotWithShape="1">
          <a:blip r:embed="rId9"/>
          <a:srcRect l="4247" t="3705" r="5826" b="5439"/>
          <a:stretch/>
        </p:blipFill>
        <p:spPr>
          <a:xfrm>
            <a:off x="5469863" y="3293751"/>
            <a:ext cx="764777" cy="720000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 rotWithShape="1">
          <a:blip r:embed="rId10"/>
          <a:srcRect l="743" t="2660" r="78311" b="7920"/>
          <a:stretch/>
        </p:blipFill>
        <p:spPr>
          <a:xfrm>
            <a:off x="1202357" y="4395543"/>
            <a:ext cx="772318" cy="720000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 rotWithShape="1">
          <a:blip r:embed="rId10"/>
          <a:srcRect l="25269" t="2660" r="53852" b="7920"/>
          <a:stretch/>
        </p:blipFill>
        <p:spPr>
          <a:xfrm>
            <a:off x="2269813" y="4395543"/>
            <a:ext cx="769827" cy="720000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10"/>
          <a:srcRect l="49769" t="2660" r="29328" b="7920"/>
          <a:stretch/>
        </p:blipFill>
        <p:spPr>
          <a:xfrm>
            <a:off x="3334778" y="4395543"/>
            <a:ext cx="770727" cy="720000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 rotWithShape="1">
          <a:blip r:embed="rId10"/>
          <a:srcRect l="74301" t="2660" r="4821" b="7920"/>
          <a:stretch/>
        </p:blipFill>
        <p:spPr>
          <a:xfrm>
            <a:off x="4389172" y="4395543"/>
            <a:ext cx="769827" cy="720000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 rotWithShape="1">
          <a:blip r:embed="rId11"/>
          <a:srcRect l="1081" t="4385" r="77635" b="5896"/>
          <a:stretch/>
        </p:blipFill>
        <p:spPr>
          <a:xfrm>
            <a:off x="147508" y="5497335"/>
            <a:ext cx="763636" cy="720000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11"/>
          <a:srcRect l="26164" t="4385" r="52552" b="5896"/>
          <a:stretch/>
        </p:blipFill>
        <p:spPr>
          <a:xfrm>
            <a:off x="1203249" y="5497335"/>
            <a:ext cx="763637" cy="720000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 rotWithShape="1">
          <a:blip r:embed="rId11"/>
          <a:srcRect l="51094" t="4385" r="27555" b="5896"/>
          <a:stretch/>
        </p:blipFill>
        <p:spPr>
          <a:xfrm>
            <a:off x="2273580" y="5497335"/>
            <a:ext cx="766060" cy="720000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 rotWithShape="1">
          <a:blip r:embed="rId11"/>
          <a:srcRect l="76176" t="4385" r="2540" b="5896"/>
          <a:stretch/>
        </p:blipFill>
        <p:spPr>
          <a:xfrm>
            <a:off x="3328736" y="5497335"/>
            <a:ext cx="763636" cy="720000"/>
          </a:xfrm>
          <a:prstGeom prst="rect">
            <a:avLst/>
          </a:prstGeom>
        </p:spPr>
      </p:pic>
      <p:cxnSp>
        <p:nvCxnSpPr>
          <p:cNvPr id="29" name="直線接點 28"/>
          <p:cNvCxnSpPr>
            <a:stCxn id="7" idx="4"/>
            <a:endCxn id="11" idx="0"/>
          </p:cNvCxnSpPr>
          <p:nvPr/>
        </p:nvCxnSpPr>
        <p:spPr>
          <a:xfrm flipH="1">
            <a:off x="3735277" y="1741968"/>
            <a:ext cx="1675113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7" idx="4"/>
            <a:endCxn id="12" idx="0"/>
          </p:cNvCxnSpPr>
          <p:nvPr/>
        </p:nvCxnSpPr>
        <p:spPr>
          <a:xfrm flipH="1">
            <a:off x="4856032" y="1741968"/>
            <a:ext cx="554358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7" idx="4"/>
            <a:endCxn id="13" idx="0"/>
          </p:cNvCxnSpPr>
          <p:nvPr/>
        </p:nvCxnSpPr>
        <p:spPr>
          <a:xfrm>
            <a:off x="5410390" y="1741968"/>
            <a:ext cx="565561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7" idx="4"/>
            <a:endCxn id="14" idx="0"/>
          </p:cNvCxnSpPr>
          <p:nvPr/>
        </p:nvCxnSpPr>
        <p:spPr>
          <a:xfrm>
            <a:off x="5410390" y="1741968"/>
            <a:ext cx="1683554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11" idx="2"/>
            <a:endCxn id="15" idx="0"/>
          </p:cNvCxnSpPr>
          <p:nvPr/>
        </p:nvCxnSpPr>
        <p:spPr>
          <a:xfrm flipH="1">
            <a:off x="2670250" y="2911959"/>
            <a:ext cx="1065027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11" idx="2"/>
            <a:endCxn id="16" idx="0"/>
          </p:cNvCxnSpPr>
          <p:nvPr/>
        </p:nvCxnSpPr>
        <p:spPr>
          <a:xfrm flipH="1">
            <a:off x="3732454" y="2911959"/>
            <a:ext cx="2823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11" idx="2"/>
            <a:endCxn id="17" idx="0"/>
          </p:cNvCxnSpPr>
          <p:nvPr/>
        </p:nvCxnSpPr>
        <p:spPr>
          <a:xfrm>
            <a:off x="3735277" y="2911959"/>
            <a:ext cx="1059382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11" idx="2"/>
            <a:endCxn id="18" idx="0"/>
          </p:cNvCxnSpPr>
          <p:nvPr/>
        </p:nvCxnSpPr>
        <p:spPr>
          <a:xfrm>
            <a:off x="3735277" y="2911959"/>
            <a:ext cx="2116975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15" idx="2"/>
            <a:endCxn id="23" idx="0"/>
          </p:cNvCxnSpPr>
          <p:nvPr/>
        </p:nvCxnSpPr>
        <p:spPr>
          <a:xfrm>
            <a:off x="2670250" y="4013751"/>
            <a:ext cx="2103836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15" idx="2"/>
            <a:endCxn id="22" idx="0"/>
          </p:cNvCxnSpPr>
          <p:nvPr/>
        </p:nvCxnSpPr>
        <p:spPr>
          <a:xfrm>
            <a:off x="2670250" y="4013751"/>
            <a:ext cx="1049892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15" idx="2"/>
            <a:endCxn id="21" idx="0"/>
          </p:cNvCxnSpPr>
          <p:nvPr/>
        </p:nvCxnSpPr>
        <p:spPr>
          <a:xfrm flipH="1">
            <a:off x="2654727" y="4013751"/>
            <a:ext cx="15523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15" idx="2"/>
            <a:endCxn id="19" idx="0"/>
          </p:cNvCxnSpPr>
          <p:nvPr/>
        </p:nvCxnSpPr>
        <p:spPr>
          <a:xfrm flipH="1">
            <a:off x="1588516" y="4013751"/>
            <a:ext cx="1081734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>
            <a:stCxn id="19" idx="2"/>
            <a:endCxn id="25" idx="0"/>
          </p:cNvCxnSpPr>
          <p:nvPr/>
        </p:nvCxnSpPr>
        <p:spPr>
          <a:xfrm flipH="1">
            <a:off x="1585068" y="5115543"/>
            <a:ext cx="3448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19" idx="2"/>
            <a:endCxn id="26" idx="0"/>
          </p:cNvCxnSpPr>
          <p:nvPr/>
        </p:nvCxnSpPr>
        <p:spPr>
          <a:xfrm>
            <a:off x="1588516" y="5115543"/>
            <a:ext cx="1068094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19" idx="2"/>
            <a:endCxn id="24" idx="0"/>
          </p:cNvCxnSpPr>
          <p:nvPr/>
        </p:nvCxnSpPr>
        <p:spPr>
          <a:xfrm flipH="1">
            <a:off x="529326" y="5115543"/>
            <a:ext cx="1059190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19" idx="2"/>
            <a:endCxn id="27" idx="0"/>
          </p:cNvCxnSpPr>
          <p:nvPr/>
        </p:nvCxnSpPr>
        <p:spPr>
          <a:xfrm>
            <a:off x="1588516" y="5115543"/>
            <a:ext cx="2122038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圖說文字 74"/>
          <p:cNvSpPr/>
          <p:nvPr/>
        </p:nvSpPr>
        <p:spPr>
          <a:xfrm>
            <a:off x="1280768" y="1453633"/>
            <a:ext cx="1513302" cy="420857"/>
          </a:xfrm>
          <a:prstGeom prst="wedgeRoundRectCallout">
            <a:avLst>
              <a:gd name="adj1" fmla="val 82720"/>
              <a:gd name="adj2" fmla="val 1739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第一個皇后</a:t>
            </a:r>
          </a:p>
        </p:txBody>
      </p:sp>
      <p:sp>
        <p:nvSpPr>
          <p:cNvPr id="76" name="圓角矩形圖說文字 75"/>
          <p:cNvSpPr/>
          <p:nvPr/>
        </p:nvSpPr>
        <p:spPr>
          <a:xfrm>
            <a:off x="225091" y="2594490"/>
            <a:ext cx="1513302" cy="420857"/>
          </a:xfrm>
          <a:prstGeom prst="wedgeRoundRectCallout">
            <a:avLst>
              <a:gd name="adj1" fmla="val 82720"/>
              <a:gd name="adj2" fmla="val 1739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第二個皇后</a:t>
            </a:r>
          </a:p>
        </p:txBody>
      </p:sp>
      <p:sp>
        <p:nvSpPr>
          <p:cNvPr id="77" name="圓角矩形圖說文字 76"/>
          <p:cNvSpPr/>
          <p:nvPr/>
        </p:nvSpPr>
        <p:spPr>
          <a:xfrm>
            <a:off x="6446858" y="3594587"/>
            <a:ext cx="1513302" cy="420857"/>
          </a:xfrm>
          <a:prstGeom prst="wedgeRoundRectCallout">
            <a:avLst>
              <a:gd name="adj1" fmla="val -132439"/>
              <a:gd name="adj2" fmla="val 1709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第三個皇后</a:t>
            </a:r>
          </a:p>
        </p:txBody>
      </p:sp>
      <p:sp>
        <p:nvSpPr>
          <p:cNvPr id="78" name="圓角矩形圖說文字 77"/>
          <p:cNvSpPr/>
          <p:nvPr/>
        </p:nvSpPr>
        <p:spPr>
          <a:xfrm>
            <a:off x="5281630" y="4812233"/>
            <a:ext cx="1513302" cy="420857"/>
          </a:xfrm>
          <a:prstGeom prst="wedgeRoundRectCallout">
            <a:avLst>
              <a:gd name="adj1" fmla="val -124682"/>
              <a:gd name="adj2" fmla="val 1327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第四個皇后</a:t>
            </a:r>
          </a:p>
        </p:txBody>
      </p:sp>
      <p:sp>
        <p:nvSpPr>
          <p:cNvPr id="79" name="十字形 78"/>
          <p:cNvSpPr/>
          <p:nvPr/>
        </p:nvSpPr>
        <p:spPr>
          <a:xfrm>
            <a:off x="2526249" y="350975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十字形 79"/>
          <p:cNvSpPr/>
          <p:nvPr/>
        </p:nvSpPr>
        <p:spPr>
          <a:xfrm>
            <a:off x="3576141" y="350604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十字形 80"/>
          <p:cNvSpPr/>
          <p:nvPr/>
        </p:nvSpPr>
        <p:spPr>
          <a:xfrm>
            <a:off x="1449764" y="461524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十字形 81"/>
          <p:cNvSpPr/>
          <p:nvPr/>
        </p:nvSpPr>
        <p:spPr>
          <a:xfrm>
            <a:off x="2499656" y="461154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十字形 82"/>
          <p:cNvSpPr/>
          <p:nvPr/>
        </p:nvSpPr>
        <p:spPr>
          <a:xfrm>
            <a:off x="3576141" y="462218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十字形 83"/>
          <p:cNvSpPr/>
          <p:nvPr/>
        </p:nvSpPr>
        <p:spPr>
          <a:xfrm>
            <a:off x="4626033" y="4618480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十字形 84"/>
          <p:cNvSpPr/>
          <p:nvPr/>
        </p:nvSpPr>
        <p:spPr>
          <a:xfrm>
            <a:off x="385326" y="5756684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十字形 85"/>
          <p:cNvSpPr/>
          <p:nvPr/>
        </p:nvSpPr>
        <p:spPr>
          <a:xfrm>
            <a:off x="1435218" y="575298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十字形 86"/>
          <p:cNvSpPr/>
          <p:nvPr/>
        </p:nvSpPr>
        <p:spPr>
          <a:xfrm>
            <a:off x="2511703" y="576362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十字形 87"/>
          <p:cNvSpPr/>
          <p:nvPr/>
        </p:nvSpPr>
        <p:spPr>
          <a:xfrm>
            <a:off x="3561595" y="575991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4296468" y="5607329"/>
            <a:ext cx="47981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共有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 4  4  4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= 256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 種選擇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TW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共有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256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個葉節點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從樹根到葉節點的路徑是一個可能解答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0" name="圓角矩形圖說文字 89"/>
          <p:cNvSpPr/>
          <p:nvPr/>
        </p:nvSpPr>
        <p:spPr>
          <a:xfrm>
            <a:off x="6709704" y="260935"/>
            <a:ext cx="1900886" cy="684244"/>
          </a:xfrm>
          <a:prstGeom prst="wedgeRoundRectCallout">
            <a:avLst>
              <a:gd name="adj1" fmla="val -76209"/>
              <a:gd name="adj2" fmla="val 13728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狀態空間樹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state space tree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22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5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0"/>
                            </p:stCondLst>
                            <p:childTnLst>
                              <p:par>
                                <p:cTn id="1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0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500"/>
                            </p:stCondLst>
                            <p:childTnLst>
                              <p:par>
                                <p:cTn id="1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00"/>
                            </p:stCondLst>
                            <p:childTnLst>
                              <p:par>
                                <p:cTn id="1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500"/>
                            </p:stCondLst>
                            <p:childTnLst>
                              <p:par>
                                <p:cTn id="1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000"/>
                            </p:stCondLst>
                            <p:childTnLst>
                              <p:par>
                                <p:cTn id="2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3500"/>
                            </p:stCondLst>
                            <p:childTnLst>
                              <p:par>
                                <p:cTn id="2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4000"/>
                            </p:stCondLst>
                            <p:childTnLst>
                              <p:par>
                                <p:cTn id="2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500"/>
                            </p:stCondLst>
                            <p:childTnLst>
                              <p:par>
                                <p:cTn id="2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</a:p>
          <a:p>
            <a:pPr lvl="1"/>
            <a:r>
              <a:rPr lang="zh-TW" altLang="en-US" dirty="0"/>
              <a:t>採用回溯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(3/17)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4419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04196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群組 8"/>
          <p:cNvGrpSpPr/>
          <p:nvPr/>
        </p:nvGrpSpPr>
        <p:grpSpPr>
          <a:xfrm>
            <a:off x="137808" y="3741858"/>
            <a:ext cx="473207" cy="369332"/>
            <a:chOff x="137808" y="3567837"/>
            <a:chExt cx="473207" cy="369332"/>
          </a:xfrm>
        </p:grpSpPr>
        <p:sp>
          <p:nvSpPr>
            <p:cNvPr id="62" name="橢圓 61"/>
            <p:cNvSpPr/>
            <p:nvPr/>
          </p:nvSpPr>
          <p:spPr>
            <a:xfrm>
              <a:off x="183940" y="357193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137808" y="3567837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2,1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03339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2"/>
          <p:cNvGrpSpPr/>
          <p:nvPr/>
        </p:nvGrpSpPr>
        <p:grpSpPr>
          <a:xfrm>
            <a:off x="2018900" y="2728636"/>
            <a:ext cx="473207" cy="374703"/>
            <a:chOff x="2018900" y="2554615"/>
            <a:chExt cx="473207" cy="374703"/>
          </a:xfrm>
        </p:grpSpPr>
        <p:sp>
          <p:nvSpPr>
            <p:cNvPr id="93" name="橢圓 92"/>
            <p:cNvSpPr/>
            <p:nvPr/>
          </p:nvSpPr>
          <p:spPr>
            <a:xfrm>
              <a:off x="2077612" y="256931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4" name="文字方塊 123"/>
            <p:cNvSpPr txBox="1"/>
            <p:nvPr/>
          </p:nvSpPr>
          <p:spPr>
            <a:xfrm>
              <a:off x="2018900" y="2554615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6" name="十字形 125"/>
          <p:cNvSpPr/>
          <p:nvPr/>
        </p:nvSpPr>
        <p:spPr>
          <a:xfrm>
            <a:off x="251049" y="4149104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54548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36" y="1432221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274" y="1813737"/>
            <a:ext cx="283500" cy="252000"/>
          </a:xfrm>
          <a:prstGeom prst="rect">
            <a:avLst/>
          </a:prstGeom>
        </p:spPr>
      </p:pic>
      <p:cxnSp>
        <p:nvCxnSpPr>
          <p:cNvPr id="20" name="直線接點 19"/>
          <p:cNvCxnSpPr/>
          <p:nvPr/>
        </p:nvCxnSpPr>
        <p:spPr>
          <a:xfrm flipH="1">
            <a:off x="7607562" y="1357224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05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(4/17)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877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47749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橢圓 61"/>
          <p:cNvSpPr/>
          <p:nvPr/>
        </p:nvSpPr>
        <p:spPr>
          <a:xfrm>
            <a:off x="183940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37808" y="378541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1051942" y="3772766"/>
            <a:ext cx="473207" cy="376742"/>
            <a:chOff x="1051942" y="3555192"/>
            <a:chExt cx="473207" cy="376742"/>
          </a:xfrm>
        </p:grpSpPr>
        <p:sp>
          <p:nvSpPr>
            <p:cNvPr id="61" name="橢圓 60"/>
            <p:cNvSpPr/>
            <p:nvPr/>
          </p:nvSpPr>
          <p:spPr>
            <a:xfrm>
              <a:off x="1103596" y="357193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1051942" y="3555192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2,2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3" name="橢圓 92"/>
          <p:cNvSpPr/>
          <p:nvPr/>
        </p:nvSpPr>
        <p:spPr>
          <a:xfrm>
            <a:off x="2077612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46892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46892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7218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十字形 125"/>
          <p:cNvSpPr/>
          <p:nvPr/>
        </p:nvSpPr>
        <p:spPr>
          <a:xfrm>
            <a:off x="251049" y="41926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98101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36" y="1475774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470" y="1862440"/>
            <a:ext cx="283500" cy="252000"/>
          </a:xfrm>
          <a:prstGeom prst="rect">
            <a:avLst/>
          </a:prstGeom>
        </p:spPr>
      </p:pic>
      <p:cxnSp>
        <p:nvCxnSpPr>
          <p:cNvPr id="110" name="直線接點 109"/>
          <p:cNvCxnSpPr/>
          <p:nvPr/>
        </p:nvCxnSpPr>
        <p:spPr>
          <a:xfrm>
            <a:off x="7410187" y="1398101"/>
            <a:ext cx="1576158" cy="156116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57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(5/17)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877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47749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群組 19"/>
          <p:cNvGrpSpPr/>
          <p:nvPr/>
        </p:nvGrpSpPr>
        <p:grpSpPr>
          <a:xfrm>
            <a:off x="2224748" y="4463078"/>
            <a:ext cx="473207" cy="377579"/>
            <a:chOff x="2224748" y="4245504"/>
            <a:chExt cx="473207" cy="377579"/>
          </a:xfrm>
        </p:grpSpPr>
        <p:sp>
          <p:nvSpPr>
            <p:cNvPr id="35" name="橢圓 34"/>
            <p:cNvSpPr/>
            <p:nvPr/>
          </p:nvSpPr>
          <p:spPr>
            <a:xfrm>
              <a:off x="2266062" y="426308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2224748" y="4245504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2635173" y="4463078"/>
            <a:ext cx="473207" cy="377579"/>
            <a:chOff x="2635173" y="4245504"/>
            <a:chExt cx="473207" cy="377579"/>
          </a:xfrm>
        </p:grpSpPr>
        <p:sp>
          <p:nvSpPr>
            <p:cNvPr id="36" name="橢圓 35"/>
            <p:cNvSpPr/>
            <p:nvPr/>
          </p:nvSpPr>
          <p:spPr>
            <a:xfrm>
              <a:off x="2684132" y="426308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2635173" y="4245504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0" name="直線接點 39"/>
          <p:cNvCxnSpPr>
            <a:stCxn id="39" idx="4"/>
            <a:endCxn id="33" idx="0"/>
          </p:cNvCxnSpPr>
          <p:nvPr/>
        </p:nvCxnSpPr>
        <p:spPr>
          <a:xfrm flipH="1">
            <a:off x="1609922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9" idx="4"/>
            <a:endCxn id="34" idx="0"/>
          </p:cNvCxnSpPr>
          <p:nvPr/>
        </p:nvCxnSpPr>
        <p:spPr>
          <a:xfrm flipH="1">
            <a:off x="2027992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9" idx="4"/>
            <a:endCxn id="35" idx="0"/>
          </p:cNvCxnSpPr>
          <p:nvPr/>
        </p:nvCxnSpPr>
        <p:spPr>
          <a:xfrm>
            <a:off x="2237027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>
            <a:off x="2237027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群組 8"/>
          <p:cNvGrpSpPr/>
          <p:nvPr/>
        </p:nvGrpSpPr>
        <p:grpSpPr>
          <a:xfrm>
            <a:off x="1382430" y="4463078"/>
            <a:ext cx="473207" cy="377579"/>
            <a:chOff x="1382430" y="4245504"/>
            <a:chExt cx="473207" cy="377579"/>
          </a:xfrm>
        </p:grpSpPr>
        <p:sp>
          <p:nvSpPr>
            <p:cNvPr id="33" name="橢圓 32"/>
            <p:cNvSpPr/>
            <p:nvPr/>
          </p:nvSpPr>
          <p:spPr>
            <a:xfrm>
              <a:off x="1429922" y="426308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1382430" y="4245504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1792855" y="4463078"/>
            <a:ext cx="473207" cy="377579"/>
            <a:chOff x="1792855" y="4245504"/>
            <a:chExt cx="473207" cy="377579"/>
          </a:xfrm>
        </p:grpSpPr>
        <p:sp>
          <p:nvSpPr>
            <p:cNvPr id="34" name="橢圓 33"/>
            <p:cNvSpPr/>
            <p:nvPr/>
          </p:nvSpPr>
          <p:spPr>
            <a:xfrm>
              <a:off x="1847992" y="426308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1792855" y="4245504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橢圓 60"/>
          <p:cNvSpPr/>
          <p:nvPr/>
        </p:nvSpPr>
        <p:spPr>
          <a:xfrm>
            <a:off x="1103596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183940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37808" y="378541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051942" y="377276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2010596" y="3770301"/>
            <a:ext cx="473207" cy="379207"/>
            <a:chOff x="2010596" y="3552727"/>
            <a:chExt cx="473207" cy="379207"/>
          </a:xfrm>
        </p:grpSpPr>
        <p:sp>
          <p:nvSpPr>
            <p:cNvPr id="39" name="橢圓 38"/>
            <p:cNvSpPr/>
            <p:nvPr/>
          </p:nvSpPr>
          <p:spPr>
            <a:xfrm>
              <a:off x="2057027" y="357193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2010596" y="3552727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2,3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3" name="橢圓 92"/>
          <p:cNvSpPr/>
          <p:nvPr/>
        </p:nvSpPr>
        <p:spPr>
          <a:xfrm>
            <a:off x="2077612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46892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46892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93" idx="4"/>
            <a:endCxn id="39" idx="0"/>
          </p:cNvCxnSpPr>
          <p:nvPr/>
        </p:nvCxnSpPr>
        <p:spPr>
          <a:xfrm flipH="1">
            <a:off x="2237027" y="3146892"/>
            <a:ext cx="20585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7218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十字形 125"/>
          <p:cNvSpPr/>
          <p:nvPr/>
        </p:nvSpPr>
        <p:spPr>
          <a:xfrm>
            <a:off x="251049" y="41926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十字形 127"/>
          <p:cNvSpPr/>
          <p:nvPr/>
        </p:nvSpPr>
        <p:spPr>
          <a:xfrm>
            <a:off x="1511033" y="4871056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929103" y="486734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340952" y="486776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2759022" y="486405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98101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36" y="1475774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792" y="1863446"/>
            <a:ext cx="283500" cy="252000"/>
          </a:xfrm>
          <a:prstGeom prst="rect">
            <a:avLst/>
          </a:prstGeom>
        </p:spPr>
      </p:pic>
      <p:pic>
        <p:nvPicPr>
          <p:cNvPr id="110" name="圖片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279" y="2243383"/>
            <a:ext cx="283500" cy="252000"/>
          </a:xfrm>
          <a:prstGeom prst="rect">
            <a:avLst/>
          </a:prstGeom>
        </p:spPr>
      </p:pic>
      <p:pic>
        <p:nvPicPr>
          <p:cNvPr id="111" name="圖片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470" y="2243383"/>
            <a:ext cx="283500" cy="252000"/>
          </a:xfrm>
          <a:prstGeom prst="rect">
            <a:avLst/>
          </a:prstGeom>
        </p:spPr>
      </p:pic>
      <p:pic>
        <p:nvPicPr>
          <p:cNvPr id="113" name="圖片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597" y="2242761"/>
            <a:ext cx="283500" cy="252000"/>
          </a:xfrm>
          <a:prstGeom prst="rect">
            <a:avLst/>
          </a:prstGeom>
        </p:spPr>
      </p:pic>
      <p:pic>
        <p:nvPicPr>
          <p:cNvPr id="114" name="圖片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488" y="2242761"/>
            <a:ext cx="283500" cy="252000"/>
          </a:xfrm>
          <a:prstGeom prst="rect">
            <a:avLst/>
          </a:prstGeom>
        </p:spPr>
      </p:pic>
      <p:cxnSp>
        <p:nvCxnSpPr>
          <p:cNvPr id="116" name="直線接點 115"/>
          <p:cNvCxnSpPr/>
          <p:nvPr/>
        </p:nvCxnSpPr>
        <p:spPr>
          <a:xfrm flipH="1">
            <a:off x="7607562" y="1400777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 flipH="1">
            <a:off x="7410187" y="1398101"/>
            <a:ext cx="1576159" cy="155067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接點 119"/>
          <p:cNvCxnSpPr/>
          <p:nvPr/>
        </p:nvCxnSpPr>
        <p:spPr>
          <a:xfrm flipH="1">
            <a:off x="8389885" y="1408855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/>
          <p:nvPr/>
        </p:nvCxnSpPr>
        <p:spPr>
          <a:xfrm>
            <a:off x="7815872" y="1406441"/>
            <a:ext cx="1175718" cy="116087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97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9" grpId="0" animBg="1"/>
      <p:bldP spid="130" grpId="0" animBg="1"/>
      <p:bldP spid="1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(6/17)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877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47749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142992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84799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26606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68413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2224748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635173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2057027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stCxn id="39" idx="4"/>
            <a:endCxn id="33" idx="0"/>
          </p:cNvCxnSpPr>
          <p:nvPr/>
        </p:nvCxnSpPr>
        <p:spPr>
          <a:xfrm flipH="1">
            <a:off x="1609922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9" idx="4"/>
            <a:endCxn id="34" idx="0"/>
          </p:cNvCxnSpPr>
          <p:nvPr/>
        </p:nvCxnSpPr>
        <p:spPr>
          <a:xfrm flipH="1">
            <a:off x="2027992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9" idx="4"/>
            <a:endCxn id="35" idx="0"/>
          </p:cNvCxnSpPr>
          <p:nvPr/>
        </p:nvCxnSpPr>
        <p:spPr>
          <a:xfrm>
            <a:off x="2237027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>
            <a:off x="2237027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1382430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792855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3892919" y="379362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52" idx="4"/>
            <a:endCxn id="46" idx="0"/>
          </p:cNvCxnSpPr>
          <p:nvPr/>
        </p:nvCxnSpPr>
        <p:spPr>
          <a:xfrm flipH="1">
            <a:off x="3445814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2"/>
          <p:cNvGrpSpPr/>
          <p:nvPr/>
        </p:nvGrpSpPr>
        <p:grpSpPr>
          <a:xfrm>
            <a:off x="3218322" y="4467190"/>
            <a:ext cx="473207" cy="377579"/>
            <a:chOff x="3218322" y="4249616"/>
            <a:chExt cx="473207" cy="377579"/>
          </a:xfrm>
        </p:grpSpPr>
        <p:sp>
          <p:nvSpPr>
            <p:cNvPr id="46" name="橢圓 45"/>
            <p:cNvSpPr/>
            <p:nvPr/>
          </p:nvSpPr>
          <p:spPr>
            <a:xfrm>
              <a:off x="3265814" y="426719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218322" y="4249616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橢圓 60"/>
          <p:cNvSpPr/>
          <p:nvPr/>
        </p:nvSpPr>
        <p:spPr>
          <a:xfrm>
            <a:off x="1103596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183940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37808" y="378541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051942" y="377276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2010596" y="377030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836315" y="378045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橢圓 92"/>
          <p:cNvSpPr/>
          <p:nvPr/>
        </p:nvSpPr>
        <p:spPr>
          <a:xfrm>
            <a:off x="2077612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46892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46892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93" idx="4"/>
            <a:endCxn id="39" idx="0"/>
          </p:cNvCxnSpPr>
          <p:nvPr/>
        </p:nvCxnSpPr>
        <p:spPr>
          <a:xfrm flipH="1">
            <a:off x="2237027" y="3146892"/>
            <a:ext cx="20585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93" idx="4"/>
            <a:endCxn id="52" idx="0"/>
          </p:cNvCxnSpPr>
          <p:nvPr/>
        </p:nvCxnSpPr>
        <p:spPr>
          <a:xfrm>
            <a:off x="2257612" y="3146892"/>
            <a:ext cx="1815307" cy="6467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7218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十字形 125"/>
          <p:cNvSpPr/>
          <p:nvPr/>
        </p:nvSpPr>
        <p:spPr>
          <a:xfrm>
            <a:off x="251049" y="41926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十字形 127"/>
          <p:cNvSpPr/>
          <p:nvPr/>
        </p:nvSpPr>
        <p:spPr>
          <a:xfrm>
            <a:off x="1511033" y="4871056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929103" y="486734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340952" y="486776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2759022" y="486405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十字形 135"/>
          <p:cNvSpPr/>
          <p:nvPr/>
        </p:nvSpPr>
        <p:spPr>
          <a:xfrm>
            <a:off x="3342796" y="486953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98101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36" y="1475774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554" y="1861749"/>
            <a:ext cx="283500" cy="252000"/>
          </a:xfrm>
          <a:prstGeom prst="rect">
            <a:avLst/>
          </a:prstGeom>
        </p:spPr>
      </p:pic>
      <p:pic>
        <p:nvPicPr>
          <p:cNvPr id="110" name="圖片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279" y="2243383"/>
            <a:ext cx="283500" cy="252000"/>
          </a:xfrm>
          <a:prstGeom prst="rect">
            <a:avLst/>
          </a:prstGeom>
        </p:spPr>
      </p:pic>
      <p:cxnSp>
        <p:nvCxnSpPr>
          <p:cNvPr id="113" name="直線接點 112"/>
          <p:cNvCxnSpPr/>
          <p:nvPr/>
        </p:nvCxnSpPr>
        <p:spPr>
          <a:xfrm flipH="1">
            <a:off x="7607562" y="1400777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27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(7/17)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877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47749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群組 19"/>
          <p:cNvGrpSpPr/>
          <p:nvPr/>
        </p:nvGrpSpPr>
        <p:grpSpPr>
          <a:xfrm>
            <a:off x="3845831" y="5162474"/>
            <a:ext cx="473207" cy="369332"/>
            <a:chOff x="3845831" y="4944900"/>
            <a:chExt cx="473207" cy="369332"/>
          </a:xfrm>
        </p:grpSpPr>
        <p:sp>
          <p:nvSpPr>
            <p:cNvPr id="15" name="橢圓 14"/>
            <p:cNvSpPr/>
            <p:nvPr/>
          </p:nvSpPr>
          <p:spPr>
            <a:xfrm>
              <a:off x="3894790" y="4954232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845831" y="4944900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4256256" y="5162474"/>
            <a:ext cx="473207" cy="369332"/>
            <a:chOff x="4256256" y="4944900"/>
            <a:chExt cx="473207" cy="369332"/>
          </a:xfrm>
        </p:grpSpPr>
        <p:sp>
          <p:nvSpPr>
            <p:cNvPr id="16" name="橢圓 15"/>
            <p:cNvSpPr/>
            <p:nvPr/>
          </p:nvSpPr>
          <p:spPr>
            <a:xfrm>
              <a:off x="4312860" y="4954232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256256" y="4944900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9" name="直線接點 18"/>
          <p:cNvCxnSpPr>
            <a:stCxn id="18" idx="4"/>
            <a:endCxn id="13" idx="0"/>
          </p:cNvCxnSpPr>
          <p:nvPr/>
        </p:nvCxnSpPr>
        <p:spPr>
          <a:xfrm flipH="1">
            <a:off x="3238650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4" idx="0"/>
          </p:cNvCxnSpPr>
          <p:nvPr/>
        </p:nvCxnSpPr>
        <p:spPr>
          <a:xfrm flipH="1">
            <a:off x="3656720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8" idx="4"/>
            <a:endCxn id="15" idx="0"/>
          </p:cNvCxnSpPr>
          <p:nvPr/>
        </p:nvCxnSpPr>
        <p:spPr>
          <a:xfrm>
            <a:off x="3865755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8" idx="4"/>
            <a:endCxn id="16" idx="0"/>
          </p:cNvCxnSpPr>
          <p:nvPr/>
        </p:nvCxnSpPr>
        <p:spPr>
          <a:xfrm>
            <a:off x="3865755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群組 8"/>
          <p:cNvGrpSpPr/>
          <p:nvPr/>
        </p:nvGrpSpPr>
        <p:grpSpPr>
          <a:xfrm>
            <a:off x="3003513" y="5162474"/>
            <a:ext cx="473207" cy="369332"/>
            <a:chOff x="3003513" y="4944900"/>
            <a:chExt cx="473207" cy="369332"/>
          </a:xfrm>
        </p:grpSpPr>
        <p:sp>
          <p:nvSpPr>
            <p:cNvPr id="13" name="橢圓 12"/>
            <p:cNvSpPr/>
            <p:nvPr/>
          </p:nvSpPr>
          <p:spPr>
            <a:xfrm>
              <a:off x="3058650" y="4954232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3003513" y="4944900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3413938" y="5162474"/>
            <a:ext cx="473207" cy="369332"/>
            <a:chOff x="3413938" y="4944900"/>
            <a:chExt cx="473207" cy="369332"/>
          </a:xfrm>
        </p:grpSpPr>
        <p:sp>
          <p:nvSpPr>
            <p:cNvPr id="14" name="橢圓 13"/>
            <p:cNvSpPr/>
            <p:nvPr/>
          </p:nvSpPr>
          <p:spPr>
            <a:xfrm>
              <a:off x="3476720" y="4954232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3413938" y="4944900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橢圓 32"/>
          <p:cNvSpPr/>
          <p:nvPr/>
        </p:nvSpPr>
        <p:spPr>
          <a:xfrm>
            <a:off x="142992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84799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26606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68413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2224748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635173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2057027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stCxn id="39" idx="4"/>
            <a:endCxn id="33" idx="0"/>
          </p:cNvCxnSpPr>
          <p:nvPr/>
        </p:nvCxnSpPr>
        <p:spPr>
          <a:xfrm flipH="1">
            <a:off x="1609922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9" idx="4"/>
            <a:endCxn id="34" idx="0"/>
          </p:cNvCxnSpPr>
          <p:nvPr/>
        </p:nvCxnSpPr>
        <p:spPr>
          <a:xfrm flipH="1">
            <a:off x="2027992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9" idx="4"/>
            <a:endCxn id="35" idx="0"/>
          </p:cNvCxnSpPr>
          <p:nvPr/>
        </p:nvCxnSpPr>
        <p:spPr>
          <a:xfrm>
            <a:off x="2237027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>
            <a:off x="2237027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1382430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792855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326581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橢圓 51"/>
          <p:cNvSpPr/>
          <p:nvPr/>
        </p:nvSpPr>
        <p:spPr>
          <a:xfrm>
            <a:off x="3892919" y="379362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52" idx="4"/>
            <a:endCxn id="46" idx="0"/>
          </p:cNvCxnSpPr>
          <p:nvPr/>
        </p:nvCxnSpPr>
        <p:spPr>
          <a:xfrm flipH="1">
            <a:off x="3445814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52" idx="4"/>
            <a:endCxn id="18" idx="0"/>
          </p:cNvCxnSpPr>
          <p:nvPr/>
        </p:nvCxnSpPr>
        <p:spPr>
          <a:xfrm flipH="1">
            <a:off x="3865755" y="4153620"/>
            <a:ext cx="207164" cy="327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218322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3636326" y="4462524"/>
            <a:ext cx="473207" cy="378133"/>
            <a:chOff x="3636326" y="4244950"/>
            <a:chExt cx="473207" cy="378133"/>
          </a:xfrm>
        </p:grpSpPr>
        <p:sp>
          <p:nvSpPr>
            <p:cNvPr id="18" name="橢圓 17"/>
            <p:cNvSpPr/>
            <p:nvPr/>
          </p:nvSpPr>
          <p:spPr>
            <a:xfrm>
              <a:off x="3685755" y="426308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636326" y="4244950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橢圓 60"/>
          <p:cNvSpPr/>
          <p:nvPr/>
        </p:nvSpPr>
        <p:spPr>
          <a:xfrm>
            <a:off x="1103596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183940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37808" y="378541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051942" y="377276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2010596" y="377030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836315" y="378045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橢圓 92"/>
          <p:cNvSpPr/>
          <p:nvPr/>
        </p:nvSpPr>
        <p:spPr>
          <a:xfrm>
            <a:off x="2077612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46892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46892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93" idx="4"/>
            <a:endCxn id="39" idx="0"/>
          </p:cNvCxnSpPr>
          <p:nvPr/>
        </p:nvCxnSpPr>
        <p:spPr>
          <a:xfrm flipH="1">
            <a:off x="2237027" y="3146892"/>
            <a:ext cx="20585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93" idx="4"/>
            <a:endCxn id="52" idx="0"/>
          </p:cNvCxnSpPr>
          <p:nvPr/>
        </p:nvCxnSpPr>
        <p:spPr>
          <a:xfrm>
            <a:off x="2257612" y="3146892"/>
            <a:ext cx="1815307" cy="6467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7218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十字形 125"/>
          <p:cNvSpPr/>
          <p:nvPr/>
        </p:nvSpPr>
        <p:spPr>
          <a:xfrm>
            <a:off x="251049" y="41926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十字形 127"/>
          <p:cNvSpPr/>
          <p:nvPr/>
        </p:nvSpPr>
        <p:spPr>
          <a:xfrm>
            <a:off x="1511033" y="4871056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929103" y="486734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340952" y="486776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2759022" y="486405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十字形 131"/>
          <p:cNvSpPr/>
          <p:nvPr/>
        </p:nvSpPr>
        <p:spPr>
          <a:xfrm>
            <a:off x="3145448" y="5567102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十字形 132"/>
          <p:cNvSpPr/>
          <p:nvPr/>
        </p:nvSpPr>
        <p:spPr>
          <a:xfrm>
            <a:off x="3563518" y="556338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十字形 133"/>
          <p:cNvSpPr/>
          <p:nvPr/>
        </p:nvSpPr>
        <p:spPr>
          <a:xfrm>
            <a:off x="3975367" y="5563814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十字形 134"/>
          <p:cNvSpPr/>
          <p:nvPr/>
        </p:nvSpPr>
        <p:spPr>
          <a:xfrm>
            <a:off x="4393437" y="556009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十字形 135"/>
          <p:cNvSpPr/>
          <p:nvPr/>
        </p:nvSpPr>
        <p:spPr>
          <a:xfrm>
            <a:off x="3342796" y="486953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98101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36" y="1475774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554" y="1861749"/>
            <a:ext cx="283500" cy="252000"/>
          </a:xfrm>
          <a:prstGeom prst="rect">
            <a:avLst/>
          </a:prstGeom>
        </p:spPr>
      </p:pic>
      <p:pic>
        <p:nvPicPr>
          <p:cNvPr id="110" name="圖片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448" y="2258257"/>
            <a:ext cx="283500" cy="252000"/>
          </a:xfrm>
          <a:prstGeom prst="rect">
            <a:avLst/>
          </a:prstGeom>
        </p:spPr>
      </p:pic>
      <p:pic>
        <p:nvPicPr>
          <p:cNvPr id="111" name="圖片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554" y="2655048"/>
            <a:ext cx="283500" cy="252000"/>
          </a:xfrm>
          <a:prstGeom prst="rect">
            <a:avLst/>
          </a:prstGeom>
        </p:spPr>
      </p:pic>
      <p:pic>
        <p:nvPicPr>
          <p:cNvPr id="114" name="圖片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257" y="2649223"/>
            <a:ext cx="283500" cy="252000"/>
          </a:xfrm>
          <a:prstGeom prst="rect">
            <a:avLst/>
          </a:prstGeom>
        </p:spPr>
      </p:pic>
      <p:pic>
        <p:nvPicPr>
          <p:cNvPr id="116" name="圖片 1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448" y="2649223"/>
            <a:ext cx="283500" cy="252000"/>
          </a:xfrm>
          <a:prstGeom prst="rect">
            <a:avLst/>
          </a:prstGeom>
        </p:spPr>
      </p:pic>
      <p:pic>
        <p:nvPicPr>
          <p:cNvPr id="117" name="圖片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575" y="2648601"/>
            <a:ext cx="283500" cy="252000"/>
          </a:xfrm>
          <a:prstGeom prst="rect">
            <a:avLst/>
          </a:prstGeom>
        </p:spPr>
      </p:pic>
      <p:cxnSp>
        <p:nvCxnSpPr>
          <p:cNvPr id="120" name="直線接點 119"/>
          <p:cNvCxnSpPr/>
          <p:nvPr/>
        </p:nvCxnSpPr>
        <p:spPr>
          <a:xfrm flipH="1">
            <a:off x="7607562" y="1400777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/>
          <p:nvPr/>
        </p:nvCxnSpPr>
        <p:spPr>
          <a:xfrm flipH="1">
            <a:off x="8001867" y="1398101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接點 122"/>
          <p:cNvCxnSpPr/>
          <p:nvPr/>
        </p:nvCxnSpPr>
        <p:spPr>
          <a:xfrm>
            <a:off x="7416660" y="1805417"/>
            <a:ext cx="1176736" cy="11514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/>
          <p:cNvCxnSpPr/>
          <p:nvPr/>
        </p:nvCxnSpPr>
        <p:spPr>
          <a:xfrm flipH="1">
            <a:off x="8790771" y="1400777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24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 animBg="1"/>
      <p:bldP spid="134" grpId="0" animBg="1"/>
      <p:bldP spid="1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(8/17)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877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47749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05865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47672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89479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431286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3845831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256256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685755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8" idx="4"/>
            <a:endCxn id="13" idx="0"/>
          </p:cNvCxnSpPr>
          <p:nvPr/>
        </p:nvCxnSpPr>
        <p:spPr>
          <a:xfrm flipH="1">
            <a:off x="3238650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4" idx="0"/>
          </p:cNvCxnSpPr>
          <p:nvPr/>
        </p:nvCxnSpPr>
        <p:spPr>
          <a:xfrm flipH="1">
            <a:off x="3656720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8" idx="4"/>
            <a:endCxn id="15" idx="0"/>
          </p:cNvCxnSpPr>
          <p:nvPr/>
        </p:nvCxnSpPr>
        <p:spPr>
          <a:xfrm>
            <a:off x="3865755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8" idx="4"/>
            <a:endCxn id="16" idx="0"/>
          </p:cNvCxnSpPr>
          <p:nvPr/>
        </p:nvCxnSpPr>
        <p:spPr>
          <a:xfrm>
            <a:off x="3865755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3003513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413938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142992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84799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26606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68413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2224748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635173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2057027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stCxn id="39" idx="4"/>
            <a:endCxn id="33" idx="0"/>
          </p:cNvCxnSpPr>
          <p:nvPr/>
        </p:nvCxnSpPr>
        <p:spPr>
          <a:xfrm flipH="1">
            <a:off x="1609922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9" idx="4"/>
            <a:endCxn id="34" idx="0"/>
          </p:cNvCxnSpPr>
          <p:nvPr/>
        </p:nvCxnSpPr>
        <p:spPr>
          <a:xfrm flipH="1">
            <a:off x="2027992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9" idx="4"/>
            <a:endCxn id="35" idx="0"/>
          </p:cNvCxnSpPr>
          <p:nvPr/>
        </p:nvCxnSpPr>
        <p:spPr>
          <a:xfrm>
            <a:off x="2237027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>
            <a:off x="2237027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1382430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792855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326581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0" name="群組 19"/>
          <p:cNvGrpSpPr/>
          <p:nvPr/>
        </p:nvGrpSpPr>
        <p:grpSpPr>
          <a:xfrm>
            <a:off x="4060640" y="4467190"/>
            <a:ext cx="473207" cy="377579"/>
            <a:chOff x="4060640" y="4249616"/>
            <a:chExt cx="473207" cy="377579"/>
          </a:xfrm>
        </p:grpSpPr>
        <p:sp>
          <p:nvSpPr>
            <p:cNvPr id="48" name="橢圓 47"/>
            <p:cNvSpPr/>
            <p:nvPr/>
          </p:nvSpPr>
          <p:spPr>
            <a:xfrm>
              <a:off x="4101954" y="426719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4060640" y="4249616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橢圓 51"/>
          <p:cNvSpPr/>
          <p:nvPr/>
        </p:nvSpPr>
        <p:spPr>
          <a:xfrm>
            <a:off x="3892919" y="379362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52" idx="4"/>
            <a:endCxn id="46" idx="0"/>
          </p:cNvCxnSpPr>
          <p:nvPr/>
        </p:nvCxnSpPr>
        <p:spPr>
          <a:xfrm flipH="1">
            <a:off x="3445814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52" idx="4"/>
            <a:endCxn id="18" idx="0"/>
          </p:cNvCxnSpPr>
          <p:nvPr/>
        </p:nvCxnSpPr>
        <p:spPr>
          <a:xfrm flipH="1">
            <a:off x="3865755" y="4153620"/>
            <a:ext cx="207164" cy="327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52" idx="4"/>
            <a:endCxn id="48" idx="0"/>
          </p:cNvCxnSpPr>
          <p:nvPr/>
        </p:nvCxnSpPr>
        <p:spPr>
          <a:xfrm>
            <a:off x="4072919" y="4153620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218322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636326" y="446252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1103596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183940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37808" y="378541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051942" y="377276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2010596" y="377030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836315" y="378045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橢圓 92"/>
          <p:cNvSpPr/>
          <p:nvPr/>
        </p:nvSpPr>
        <p:spPr>
          <a:xfrm>
            <a:off x="2077612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46892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46892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93" idx="4"/>
            <a:endCxn id="39" idx="0"/>
          </p:cNvCxnSpPr>
          <p:nvPr/>
        </p:nvCxnSpPr>
        <p:spPr>
          <a:xfrm flipH="1">
            <a:off x="2237027" y="3146892"/>
            <a:ext cx="20585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93" idx="4"/>
            <a:endCxn id="52" idx="0"/>
          </p:cNvCxnSpPr>
          <p:nvPr/>
        </p:nvCxnSpPr>
        <p:spPr>
          <a:xfrm>
            <a:off x="2257612" y="3146892"/>
            <a:ext cx="1815307" cy="6467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7218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十字形 125"/>
          <p:cNvSpPr/>
          <p:nvPr/>
        </p:nvSpPr>
        <p:spPr>
          <a:xfrm>
            <a:off x="251049" y="41926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十字形 127"/>
          <p:cNvSpPr/>
          <p:nvPr/>
        </p:nvSpPr>
        <p:spPr>
          <a:xfrm>
            <a:off x="1511033" y="4871056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929103" y="486734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340952" y="486776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2759022" y="486405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十字形 131"/>
          <p:cNvSpPr/>
          <p:nvPr/>
        </p:nvSpPr>
        <p:spPr>
          <a:xfrm>
            <a:off x="3145448" y="5567102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十字形 132"/>
          <p:cNvSpPr/>
          <p:nvPr/>
        </p:nvSpPr>
        <p:spPr>
          <a:xfrm>
            <a:off x="3563518" y="556338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十字形 133"/>
          <p:cNvSpPr/>
          <p:nvPr/>
        </p:nvSpPr>
        <p:spPr>
          <a:xfrm>
            <a:off x="3975367" y="5563814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十字形 134"/>
          <p:cNvSpPr/>
          <p:nvPr/>
        </p:nvSpPr>
        <p:spPr>
          <a:xfrm>
            <a:off x="4393437" y="556009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十字形 135"/>
          <p:cNvSpPr/>
          <p:nvPr/>
        </p:nvSpPr>
        <p:spPr>
          <a:xfrm>
            <a:off x="3342796" y="486953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十字形 137"/>
          <p:cNvSpPr/>
          <p:nvPr/>
        </p:nvSpPr>
        <p:spPr>
          <a:xfrm>
            <a:off x="4172715" y="4866250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98101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36" y="1475774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554" y="1861749"/>
            <a:ext cx="283500" cy="252000"/>
          </a:xfrm>
          <a:prstGeom prst="rect">
            <a:avLst/>
          </a:prstGeom>
        </p:spPr>
      </p:pic>
      <p:pic>
        <p:nvPicPr>
          <p:cNvPr id="110" name="圖片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575" y="2257635"/>
            <a:ext cx="283500" cy="252000"/>
          </a:xfrm>
          <a:prstGeom prst="rect">
            <a:avLst/>
          </a:prstGeom>
        </p:spPr>
      </p:pic>
      <p:cxnSp>
        <p:nvCxnSpPr>
          <p:cNvPr id="113" name="直線接點 112"/>
          <p:cNvCxnSpPr/>
          <p:nvPr/>
        </p:nvCxnSpPr>
        <p:spPr>
          <a:xfrm flipH="1">
            <a:off x="7828258" y="1793825"/>
            <a:ext cx="1158087" cy="116544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62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(9/17)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877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47749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05865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47672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89479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431286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3845831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256256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685755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8" idx="4"/>
            <a:endCxn id="13" idx="0"/>
          </p:cNvCxnSpPr>
          <p:nvPr/>
        </p:nvCxnSpPr>
        <p:spPr>
          <a:xfrm flipH="1">
            <a:off x="3238650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4" idx="0"/>
          </p:cNvCxnSpPr>
          <p:nvPr/>
        </p:nvCxnSpPr>
        <p:spPr>
          <a:xfrm flipH="1">
            <a:off x="3656720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8" idx="4"/>
            <a:endCxn id="15" idx="0"/>
          </p:cNvCxnSpPr>
          <p:nvPr/>
        </p:nvCxnSpPr>
        <p:spPr>
          <a:xfrm>
            <a:off x="3865755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8" idx="4"/>
            <a:endCxn id="16" idx="0"/>
          </p:cNvCxnSpPr>
          <p:nvPr/>
        </p:nvCxnSpPr>
        <p:spPr>
          <a:xfrm>
            <a:off x="3865755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3003513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413938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142992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84799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26606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68413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2224748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635173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2057027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stCxn id="39" idx="4"/>
            <a:endCxn id="33" idx="0"/>
          </p:cNvCxnSpPr>
          <p:nvPr/>
        </p:nvCxnSpPr>
        <p:spPr>
          <a:xfrm flipH="1">
            <a:off x="1609922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9" idx="4"/>
            <a:endCxn id="34" idx="0"/>
          </p:cNvCxnSpPr>
          <p:nvPr/>
        </p:nvCxnSpPr>
        <p:spPr>
          <a:xfrm flipH="1">
            <a:off x="2027992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9" idx="4"/>
            <a:endCxn id="35" idx="0"/>
          </p:cNvCxnSpPr>
          <p:nvPr/>
        </p:nvCxnSpPr>
        <p:spPr>
          <a:xfrm>
            <a:off x="2237027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>
            <a:off x="2237027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1382430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792855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326581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10195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4060640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4471065" y="4467190"/>
            <a:ext cx="473207" cy="377579"/>
            <a:chOff x="4471065" y="4249616"/>
            <a:chExt cx="473207" cy="377579"/>
          </a:xfrm>
        </p:grpSpPr>
        <p:sp>
          <p:nvSpPr>
            <p:cNvPr id="49" name="橢圓 48"/>
            <p:cNvSpPr/>
            <p:nvPr/>
          </p:nvSpPr>
          <p:spPr>
            <a:xfrm>
              <a:off x="4520024" y="426719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4471065" y="4249616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橢圓 51"/>
          <p:cNvSpPr/>
          <p:nvPr/>
        </p:nvSpPr>
        <p:spPr>
          <a:xfrm>
            <a:off x="3892919" y="379362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52" idx="4"/>
            <a:endCxn id="46" idx="0"/>
          </p:cNvCxnSpPr>
          <p:nvPr/>
        </p:nvCxnSpPr>
        <p:spPr>
          <a:xfrm flipH="1">
            <a:off x="3445814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52" idx="4"/>
            <a:endCxn id="18" idx="0"/>
          </p:cNvCxnSpPr>
          <p:nvPr/>
        </p:nvCxnSpPr>
        <p:spPr>
          <a:xfrm flipH="1">
            <a:off x="3865755" y="4153620"/>
            <a:ext cx="207164" cy="327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52" idx="4"/>
            <a:endCxn id="48" idx="0"/>
          </p:cNvCxnSpPr>
          <p:nvPr/>
        </p:nvCxnSpPr>
        <p:spPr>
          <a:xfrm>
            <a:off x="4072919" y="4153620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52" idx="4"/>
            <a:endCxn id="49" idx="0"/>
          </p:cNvCxnSpPr>
          <p:nvPr/>
        </p:nvCxnSpPr>
        <p:spPr>
          <a:xfrm>
            <a:off x="4072919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218322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636326" y="446252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1103596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183940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37808" y="378541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051942" y="377276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2010596" y="377030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836315" y="378045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橢圓 92"/>
          <p:cNvSpPr/>
          <p:nvPr/>
        </p:nvSpPr>
        <p:spPr>
          <a:xfrm>
            <a:off x="2077612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46892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46892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93" idx="4"/>
            <a:endCxn id="39" idx="0"/>
          </p:cNvCxnSpPr>
          <p:nvPr/>
        </p:nvCxnSpPr>
        <p:spPr>
          <a:xfrm flipH="1">
            <a:off x="2237027" y="3146892"/>
            <a:ext cx="20585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93" idx="4"/>
            <a:endCxn id="52" idx="0"/>
          </p:cNvCxnSpPr>
          <p:nvPr/>
        </p:nvCxnSpPr>
        <p:spPr>
          <a:xfrm>
            <a:off x="2257612" y="3146892"/>
            <a:ext cx="1815307" cy="6467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7218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十字形 125"/>
          <p:cNvSpPr/>
          <p:nvPr/>
        </p:nvSpPr>
        <p:spPr>
          <a:xfrm>
            <a:off x="251049" y="41926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十字形 127"/>
          <p:cNvSpPr/>
          <p:nvPr/>
        </p:nvSpPr>
        <p:spPr>
          <a:xfrm>
            <a:off x="1511033" y="4871056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929103" y="486734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340952" y="486776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2759022" y="486405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十字形 131"/>
          <p:cNvSpPr/>
          <p:nvPr/>
        </p:nvSpPr>
        <p:spPr>
          <a:xfrm>
            <a:off x="3145448" y="5567102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十字形 132"/>
          <p:cNvSpPr/>
          <p:nvPr/>
        </p:nvSpPr>
        <p:spPr>
          <a:xfrm>
            <a:off x="3563518" y="556338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十字形 133"/>
          <p:cNvSpPr/>
          <p:nvPr/>
        </p:nvSpPr>
        <p:spPr>
          <a:xfrm>
            <a:off x="3975367" y="5563814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十字形 134"/>
          <p:cNvSpPr/>
          <p:nvPr/>
        </p:nvSpPr>
        <p:spPr>
          <a:xfrm>
            <a:off x="4393437" y="556009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十字形 135"/>
          <p:cNvSpPr/>
          <p:nvPr/>
        </p:nvSpPr>
        <p:spPr>
          <a:xfrm>
            <a:off x="3342796" y="486953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十字形 137"/>
          <p:cNvSpPr/>
          <p:nvPr/>
        </p:nvSpPr>
        <p:spPr>
          <a:xfrm>
            <a:off x="4172715" y="4866250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十字形 138"/>
          <p:cNvSpPr/>
          <p:nvPr/>
        </p:nvSpPr>
        <p:spPr>
          <a:xfrm>
            <a:off x="4590785" y="4862535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98101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36" y="1475774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554" y="1861749"/>
            <a:ext cx="283500" cy="252000"/>
          </a:xfrm>
          <a:prstGeom prst="rect">
            <a:avLst/>
          </a:prstGeom>
        </p:spPr>
      </p:pic>
      <p:pic>
        <p:nvPicPr>
          <p:cNvPr id="110" name="圖片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554" y="2263902"/>
            <a:ext cx="283500" cy="252000"/>
          </a:xfrm>
          <a:prstGeom prst="rect">
            <a:avLst/>
          </a:prstGeom>
        </p:spPr>
      </p:pic>
      <p:cxnSp>
        <p:nvCxnSpPr>
          <p:cNvPr id="111" name="直線接點 110"/>
          <p:cNvCxnSpPr/>
          <p:nvPr/>
        </p:nvCxnSpPr>
        <p:spPr>
          <a:xfrm flipH="1">
            <a:off x="8790771" y="1400777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63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(10/17)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877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47749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7" idx="4"/>
            <a:endCxn id="94" idx="0"/>
          </p:cNvCxnSpPr>
          <p:nvPr/>
        </p:nvCxnSpPr>
        <p:spPr>
          <a:xfrm>
            <a:off x="4551410" y="2347749"/>
            <a:ext cx="2318777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05865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47672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89479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431286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3845831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256256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685755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8" idx="4"/>
            <a:endCxn id="13" idx="0"/>
          </p:cNvCxnSpPr>
          <p:nvPr/>
        </p:nvCxnSpPr>
        <p:spPr>
          <a:xfrm flipH="1">
            <a:off x="3238650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4" idx="0"/>
          </p:cNvCxnSpPr>
          <p:nvPr/>
        </p:nvCxnSpPr>
        <p:spPr>
          <a:xfrm flipH="1">
            <a:off x="3656720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8" idx="4"/>
            <a:endCxn id="15" idx="0"/>
          </p:cNvCxnSpPr>
          <p:nvPr/>
        </p:nvCxnSpPr>
        <p:spPr>
          <a:xfrm>
            <a:off x="3865755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8" idx="4"/>
            <a:endCxn id="16" idx="0"/>
          </p:cNvCxnSpPr>
          <p:nvPr/>
        </p:nvCxnSpPr>
        <p:spPr>
          <a:xfrm>
            <a:off x="3865755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3003513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413938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142992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84799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26606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68413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2224748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635173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2057027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stCxn id="39" idx="4"/>
            <a:endCxn id="33" idx="0"/>
          </p:cNvCxnSpPr>
          <p:nvPr/>
        </p:nvCxnSpPr>
        <p:spPr>
          <a:xfrm flipH="1">
            <a:off x="1609922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9" idx="4"/>
            <a:endCxn id="34" idx="0"/>
          </p:cNvCxnSpPr>
          <p:nvPr/>
        </p:nvCxnSpPr>
        <p:spPr>
          <a:xfrm flipH="1">
            <a:off x="2027992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9" idx="4"/>
            <a:endCxn id="35" idx="0"/>
          </p:cNvCxnSpPr>
          <p:nvPr/>
        </p:nvCxnSpPr>
        <p:spPr>
          <a:xfrm>
            <a:off x="2237027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>
            <a:off x="2237027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1382430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792855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326581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10195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452002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4060640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471065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3892919" y="379362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52" idx="4"/>
            <a:endCxn id="46" idx="0"/>
          </p:cNvCxnSpPr>
          <p:nvPr/>
        </p:nvCxnSpPr>
        <p:spPr>
          <a:xfrm flipH="1">
            <a:off x="3445814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52" idx="4"/>
            <a:endCxn id="18" idx="0"/>
          </p:cNvCxnSpPr>
          <p:nvPr/>
        </p:nvCxnSpPr>
        <p:spPr>
          <a:xfrm flipH="1">
            <a:off x="3865755" y="4153620"/>
            <a:ext cx="207164" cy="327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52" idx="4"/>
            <a:endCxn id="48" idx="0"/>
          </p:cNvCxnSpPr>
          <p:nvPr/>
        </p:nvCxnSpPr>
        <p:spPr>
          <a:xfrm>
            <a:off x="4072919" y="4153620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52" idx="4"/>
            <a:endCxn id="49" idx="0"/>
          </p:cNvCxnSpPr>
          <p:nvPr/>
        </p:nvCxnSpPr>
        <p:spPr>
          <a:xfrm>
            <a:off x="4072919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218322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636326" y="446252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1103596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183940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37808" y="378541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051942" y="377276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2010596" y="377030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836315" y="378045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5225401" y="3784973"/>
            <a:ext cx="473207" cy="376011"/>
            <a:chOff x="5225401" y="3567399"/>
            <a:chExt cx="473207" cy="376011"/>
          </a:xfrm>
        </p:grpSpPr>
        <p:sp>
          <p:nvSpPr>
            <p:cNvPr id="65" name="橢圓 64"/>
            <p:cNvSpPr/>
            <p:nvPr/>
          </p:nvSpPr>
          <p:spPr>
            <a:xfrm>
              <a:off x="5281706" y="358341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5225401" y="3567399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2,1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3" name="橢圓 92"/>
          <p:cNvSpPr/>
          <p:nvPr/>
        </p:nvSpPr>
        <p:spPr>
          <a:xfrm>
            <a:off x="2077612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8" name="直線接點 97"/>
          <p:cNvCxnSpPr>
            <a:stCxn id="65" idx="0"/>
            <a:endCxn id="94" idx="4"/>
          </p:cNvCxnSpPr>
          <p:nvPr/>
        </p:nvCxnSpPr>
        <p:spPr>
          <a:xfrm flipV="1">
            <a:off x="5461706" y="3146892"/>
            <a:ext cx="1408481" cy="65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46892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46892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93" idx="4"/>
            <a:endCxn id="39" idx="0"/>
          </p:cNvCxnSpPr>
          <p:nvPr/>
        </p:nvCxnSpPr>
        <p:spPr>
          <a:xfrm flipH="1">
            <a:off x="2237027" y="3146892"/>
            <a:ext cx="20585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93" idx="4"/>
            <a:endCxn id="52" idx="0"/>
          </p:cNvCxnSpPr>
          <p:nvPr/>
        </p:nvCxnSpPr>
        <p:spPr>
          <a:xfrm>
            <a:off x="2257612" y="3146892"/>
            <a:ext cx="1815307" cy="6467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7218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6639761" y="2770727"/>
            <a:ext cx="473207" cy="376165"/>
            <a:chOff x="6639761" y="2553153"/>
            <a:chExt cx="473207" cy="376165"/>
          </a:xfrm>
        </p:grpSpPr>
        <p:sp>
          <p:nvSpPr>
            <p:cNvPr id="94" name="橢圓 93"/>
            <p:cNvSpPr/>
            <p:nvPr/>
          </p:nvSpPr>
          <p:spPr>
            <a:xfrm>
              <a:off x="6690187" y="256931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6639761" y="2553153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6" name="十字形 125"/>
          <p:cNvSpPr/>
          <p:nvPr/>
        </p:nvSpPr>
        <p:spPr>
          <a:xfrm>
            <a:off x="251049" y="41926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十字形 127"/>
          <p:cNvSpPr/>
          <p:nvPr/>
        </p:nvSpPr>
        <p:spPr>
          <a:xfrm>
            <a:off x="1511033" y="4871056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929103" y="486734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340952" y="486776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2759022" y="486405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十字形 131"/>
          <p:cNvSpPr/>
          <p:nvPr/>
        </p:nvSpPr>
        <p:spPr>
          <a:xfrm>
            <a:off x="3145448" y="5567102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十字形 132"/>
          <p:cNvSpPr/>
          <p:nvPr/>
        </p:nvSpPr>
        <p:spPr>
          <a:xfrm>
            <a:off x="3563518" y="556338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十字形 133"/>
          <p:cNvSpPr/>
          <p:nvPr/>
        </p:nvSpPr>
        <p:spPr>
          <a:xfrm>
            <a:off x="3975367" y="5563814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十字形 134"/>
          <p:cNvSpPr/>
          <p:nvPr/>
        </p:nvSpPr>
        <p:spPr>
          <a:xfrm>
            <a:off x="4393437" y="556009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十字形 135"/>
          <p:cNvSpPr/>
          <p:nvPr/>
        </p:nvSpPr>
        <p:spPr>
          <a:xfrm>
            <a:off x="3342796" y="486953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十字形 137"/>
          <p:cNvSpPr/>
          <p:nvPr/>
        </p:nvSpPr>
        <p:spPr>
          <a:xfrm>
            <a:off x="4172715" y="4866250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十字形 138"/>
          <p:cNvSpPr/>
          <p:nvPr/>
        </p:nvSpPr>
        <p:spPr>
          <a:xfrm>
            <a:off x="4590785" y="4862535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4" name="十字形 143"/>
          <p:cNvSpPr/>
          <p:nvPr/>
        </p:nvSpPr>
        <p:spPr>
          <a:xfrm>
            <a:off x="5357135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98101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31" y="1482769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724" y="1859143"/>
            <a:ext cx="283500" cy="252000"/>
          </a:xfrm>
          <a:prstGeom prst="rect">
            <a:avLst/>
          </a:prstGeom>
        </p:spPr>
      </p:pic>
      <p:cxnSp>
        <p:nvCxnSpPr>
          <p:cNvPr id="110" name="直線接點 109"/>
          <p:cNvCxnSpPr>
            <a:endCxn id="105" idx="1"/>
          </p:cNvCxnSpPr>
          <p:nvPr/>
        </p:nvCxnSpPr>
        <p:spPr>
          <a:xfrm flipH="1">
            <a:off x="7410187" y="1401876"/>
            <a:ext cx="780331" cy="77680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49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(11/17)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877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47749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7" idx="4"/>
            <a:endCxn id="94" idx="0"/>
          </p:cNvCxnSpPr>
          <p:nvPr/>
        </p:nvCxnSpPr>
        <p:spPr>
          <a:xfrm>
            <a:off x="4551410" y="2347749"/>
            <a:ext cx="2318777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05865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47672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89479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431286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3845831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256256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685755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8" idx="4"/>
            <a:endCxn id="13" idx="0"/>
          </p:cNvCxnSpPr>
          <p:nvPr/>
        </p:nvCxnSpPr>
        <p:spPr>
          <a:xfrm flipH="1">
            <a:off x="3238650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4" idx="0"/>
          </p:cNvCxnSpPr>
          <p:nvPr/>
        </p:nvCxnSpPr>
        <p:spPr>
          <a:xfrm flipH="1">
            <a:off x="3656720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8" idx="4"/>
            <a:endCxn id="15" idx="0"/>
          </p:cNvCxnSpPr>
          <p:nvPr/>
        </p:nvCxnSpPr>
        <p:spPr>
          <a:xfrm>
            <a:off x="3865755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8" idx="4"/>
            <a:endCxn id="16" idx="0"/>
          </p:cNvCxnSpPr>
          <p:nvPr/>
        </p:nvCxnSpPr>
        <p:spPr>
          <a:xfrm>
            <a:off x="3865755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3003513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413938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142992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84799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26606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68413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2224748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635173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2057027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stCxn id="39" idx="4"/>
            <a:endCxn id="33" idx="0"/>
          </p:cNvCxnSpPr>
          <p:nvPr/>
        </p:nvCxnSpPr>
        <p:spPr>
          <a:xfrm flipH="1">
            <a:off x="1609922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9" idx="4"/>
            <a:endCxn id="34" idx="0"/>
          </p:cNvCxnSpPr>
          <p:nvPr/>
        </p:nvCxnSpPr>
        <p:spPr>
          <a:xfrm flipH="1">
            <a:off x="2027992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9" idx="4"/>
            <a:endCxn id="35" idx="0"/>
          </p:cNvCxnSpPr>
          <p:nvPr/>
        </p:nvCxnSpPr>
        <p:spPr>
          <a:xfrm>
            <a:off x="2237027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>
            <a:off x="2237027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1382430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792855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326581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10195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452002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4060640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471065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3892919" y="379362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52" idx="4"/>
            <a:endCxn id="46" idx="0"/>
          </p:cNvCxnSpPr>
          <p:nvPr/>
        </p:nvCxnSpPr>
        <p:spPr>
          <a:xfrm flipH="1">
            <a:off x="3445814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52" idx="4"/>
            <a:endCxn id="18" idx="0"/>
          </p:cNvCxnSpPr>
          <p:nvPr/>
        </p:nvCxnSpPr>
        <p:spPr>
          <a:xfrm flipH="1">
            <a:off x="3865755" y="4153620"/>
            <a:ext cx="207164" cy="327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52" idx="4"/>
            <a:endCxn id="48" idx="0"/>
          </p:cNvCxnSpPr>
          <p:nvPr/>
        </p:nvCxnSpPr>
        <p:spPr>
          <a:xfrm>
            <a:off x="4072919" y="4153620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52" idx="4"/>
            <a:endCxn id="49" idx="0"/>
          </p:cNvCxnSpPr>
          <p:nvPr/>
        </p:nvCxnSpPr>
        <p:spPr>
          <a:xfrm>
            <a:off x="4072919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218322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636326" y="446252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1103596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183940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/>
          <p:cNvSpPr/>
          <p:nvPr/>
        </p:nvSpPr>
        <p:spPr>
          <a:xfrm>
            <a:off x="5281706" y="380098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37808" y="378541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051942" y="377276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2010596" y="377030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836315" y="378045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5225401" y="3784973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6139535" y="3772328"/>
            <a:ext cx="473207" cy="388656"/>
            <a:chOff x="6139535" y="3554754"/>
            <a:chExt cx="473207" cy="388656"/>
          </a:xfrm>
        </p:grpSpPr>
        <p:sp>
          <p:nvSpPr>
            <p:cNvPr id="64" name="橢圓 63"/>
            <p:cNvSpPr/>
            <p:nvPr/>
          </p:nvSpPr>
          <p:spPr>
            <a:xfrm>
              <a:off x="6201362" y="358341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6139535" y="3554754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2,2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3" name="橢圓 92"/>
          <p:cNvSpPr/>
          <p:nvPr/>
        </p:nvSpPr>
        <p:spPr>
          <a:xfrm>
            <a:off x="2077612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橢圓 93"/>
          <p:cNvSpPr/>
          <p:nvPr/>
        </p:nvSpPr>
        <p:spPr>
          <a:xfrm>
            <a:off x="6690187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8" name="直線接點 97"/>
          <p:cNvCxnSpPr>
            <a:stCxn id="65" idx="0"/>
            <a:endCxn id="94" idx="4"/>
          </p:cNvCxnSpPr>
          <p:nvPr/>
        </p:nvCxnSpPr>
        <p:spPr>
          <a:xfrm flipV="1">
            <a:off x="5461706" y="3146892"/>
            <a:ext cx="1408481" cy="65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>
            <a:stCxn id="64" idx="0"/>
            <a:endCxn id="94" idx="4"/>
          </p:cNvCxnSpPr>
          <p:nvPr/>
        </p:nvCxnSpPr>
        <p:spPr>
          <a:xfrm flipV="1">
            <a:off x="6381362" y="3146892"/>
            <a:ext cx="488825" cy="65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46892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46892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93" idx="4"/>
            <a:endCxn id="39" idx="0"/>
          </p:cNvCxnSpPr>
          <p:nvPr/>
        </p:nvCxnSpPr>
        <p:spPr>
          <a:xfrm flipH="1">
            <a:off x="2237027" y="3146892"/>
            <a:ext cx="20585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93" idx="4"/>
            <a:endCxn id="52" idx="0"/>
          </p:cNvCxnSpPr>
          <p:nvPr/>
        </p:nvCxnSpPr>
        <p:spPr>
          <a:xfrm>
            <a:off x="2257612" y="3146892"/>
            <a:ext cx="1815307" cy="6467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7218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6639761" y="277072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十字形 125"/>
          <p:cNvSpPr/>
          <p:nvPr/>
        </p:nvSpPr>
        <p:spPr>
          <a:xfrm>
            <a:off x="251049" y="41926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十字形 127"/>
          <p:cNvSpPr/>
          <p:nvPr/>
        </p:nvSpPr>
        <p:spPr>
          <a:xfrm>
            <a:off x="1511033" y="4871056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929103" y="486734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340952" y="486776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2759022" y="486405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十字形 131"/>
          <p:cNvSpPr/>
          <p:nvPr/>
        </p:nvSpPr>
        <p:spPr>
          <a:xfrm>
            <a:off x="3145448" y="5567102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十字形 132"/>
          <p:cNvSpPr/>
          <p:nvPr/>
        </p:nvSpPr>
        <p:spPr>
          <a:xfrm>
            <a:off x="3563518" y="556338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十字形 133"/>
          <p:cNvSpPr/>
          <p:nvPr/>
        </p:nvSpPr>
        <p:spPr>
          <a:xfrm>
            <a:off x="3975367" y="5563814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十字形 134"/>
          <p:cNvSpPr/>
          <p:nvPr/>
        </p:nvSpPr>
        <p:spPr>
          <a:xfrm>
            <a:off x="4393437" y="556009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十字形 135"/>
          <p:cNvSpPr/>
          <p:nvPr/>
        </p:nvSpPr>
        <p:spPr>
          <a:xfrm>
            <a:off x="3342796" y="486953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十字形 137"/>
          <p:cNvSpPr/>
          <p:nvPr/>
        </p:nvSpPr>
        <p:spPr>
          <a:xfrm>
            <a:off x="4172715" y="4866250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十字形 138"/>
          <p:cNvSpPr/>
          <p:nvPr/>
        </p:nvSpPr>
        <p:spPr>
          <a:xfrm>
            <a:off x="4590785" y="4862535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4" name="十字形 143"/>
          <p:cNvSpPr/>
          <p:nvPr/>
        </p:nvSpPr>
        <p:spPr>
          <a:xfrm>
            <a:off x="5357135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5" name="十字形 144"/>
          <p:cNvSpPr/>
          <p:nvPr/>
        </p:nvSpPr>
        <p:spPr>
          <a:xfrm>
            <a:off x="6281682" y="418910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98101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31" y="1482769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31" y="1859128"/>
            <a:ext cx="283500" cy="252000"/>
          </a:xfrm>
          <a:prstGeom prst="rect">
            <a:avLst/>
          </a:prstGeom>
        </p:spPr>
      </p:pic>
      <p:cxnSp>
        <p:nvCxnSpPr>
          <p:cNvPr id="110" name="直線接點 109"/>
          <p:cNvCxnSpPr/>
          <p:nvPr/>
        </p:nvCxnSpPr>
        <p:spPr>
          <a:xfrm flipH="1">
            <a:off x="8001867" y="1398101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8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(12/17)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877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47749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7" idx="4"/>
            <a:endCxn id="94" idx="0"/>
          </p:cNvCxnSpPr>
          <p:nvPr/>
        </p:nvCxnSpPr>
        <p:spPr>
          <a:xfrm>
            <a:off x="4551410" y="2347749"/>
            <a:ext cx="2318777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05865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47672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89479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4312860" y="517180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3845831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256256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685755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8" idx="4"/>
            <a:endCxn id="13" idx="0"/>
          </p:cNvCxnSpPr>
          <p:nvPr/>
        </p:nvCxnSpPr>
        <p:spPr>
          <a:xfrm flipH="1">
            <a:off x="3238650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4" idx="0"/>
          </p:cNvCxnSpPr>
          <p:nvPr/>
        </p:nvCxnSpPr>
        <p:spPr>
          <a:xfrm flipH="1">
            <a:off x="3656720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8" idx="4"/>
            <a:endCxn id="15" idx="0"/>
          </p:cNvCxnSpPr>
          <p:nvPr/>
        </p:nvCxnSpPr>
        <p:spPr>
          <a:xfrm>
            <a:off x="3865755" y="4840657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8" idx="4"/>
            <a:endCxn id="16" idx="0"/>
          </p:cNvCxnSpPr>
          <p:nvPr/>
        </p:nvCxnSpPr>
        <p:spPr>
          <a:xfrm>
            <a:off x="3865755" y="4840657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3003513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413938" y="516247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142992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84799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26606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684132" y="448065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2224748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635173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2057027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stCxn id="39" idx="4"/>
            <a:endCxn id="33" idx="0"/>
          </p:cNvCxnSpPr>
          <p:nvPr/>
        </p:nvCxnSpPr>
        <p:spPr>
          <a:xfrm flipH="1">
            <a:off x="1609922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9" idx="4"/>
            <a:endCxn id="34" idx="0"/>
          </p:cNvCxnSpPr>
          <p:nvPr/>
        </p:nvCxnSpPr>
        <p:spPr>
          <a:xfrm flipH="1">
            <a:off x="2027992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9" idx="4"/>
            <a:endCxn id="35" idx="0"/>
          </p:cNvCxnSpPr>
          <p:nvPr/>
        </p:nvCxnSpPr>
        <p:spPr>
          <a:xfrm>
            <a:off x="2237027" y="4149508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>
            <a:off x="2237027" y="4149508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1382430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792855" y="446307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326581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10195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4520024" y="448476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4060640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471065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3892919" y="379362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52" idx="4"/>
            <a:endCxn id="46" idx="0"/>
          </p:cNvCxnSpPr>
          <p:nvPr/>
        </p:nvCxnSpPr>
        <p:spPr>
          <a:xfrm flipH="1">
            <a:off x="3445814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52" idx="4"/>
            <a:endCxn id="18" idx="0"/>
          </p:cNvCxnSpPr>
          <p:nvPr/>
        </p:nvCxnSpPr>
        <p:spPr>
          <a:xfrm flipH="1">
            <a:off x="3865755" y="4153620"/>
            <a:ext cx="207164" cy="327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52" idx="4"/>
            <a:endCxn id="48" idx="0"/>
          </p:cNvCxnSpPr>
          <p:nvPr/>
        </p:nvCxnSpPr>
        <p:spPr>
          <a:xfrm>
            <a:off x="4072919" y="4153620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52" idx="4"/>
            <a:endCxn id="49" idx="0"/>
          </p:cNvCxnSpPr>
          <p:nvPr/>
        </p:nvCxnSpPr>
        <p:spPr>
          <a:xfrm>
            <a:off x="4072919" y="4153620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218322" y="446719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636326" y="446252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1103596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183940" y="3789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橢圓 63"/>
          <p:cNvSpPr/>
          <p:nvPr/>
        </p:nvSpPr>
        <p:spPr>
          <a:xfrm>
            <a:off x="6201362" y="380098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/>
          <p:cNvSpPr/>
          <p:nvPr/>
        </p:nvSpPr>
        <p:spPr>
          <a:xfrm>
            <a:off x="5281706" y="380098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37808" y="378541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051942" y="377276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2010596" y="377030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836315" y="378045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5225401" y="3784973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6139535" y="377232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7098189" y="3769863"/>
            <a:ext cx="473207" cy="391121"/>
            <a:chOff x="7098189" y="3552289"/>
            <a:chExt cx="473207" cy="391121"/>
          </a:xfrm>
        </p:grpSpPr>
        <p:sp>
          <p:nvSpPr>
            <p:cNvPr id="63" name="橢圓 62"/>
            <p:cNvSpPr/>
            <p:nvPr/>
          </p:nvSpPr>
          <p:spPr>
            <a:xfrm>
              <a:off x="7154793" y="358341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7098189" y="3552289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2,3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3" name="橢圓 92"/>
          <p:cNvSpPr/>
          <p:nvPr/>
        </p:nvSpPr>
        <p:spPr>
          <a:xfrm>
            <a:off x="2077612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橢圓 93"/>
          <p:cNvSpPr/>
          <p:nvPr/>
        </p:nvSpPr>
        <p:spPr>
          <a:xfrm>
            <a:off x="6690187" y="278689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8" name="直線接點 97"/>
          <p:cNvCxnSpPr>
            <a:stCxn id="65" idx="0"/>
            <a:endCxn id="94" idx="4"/>
          </p:cNvCxnSpPr>
          <p:nvPr/>
        </p:nvCxnSpPr>
        <p:spPr>
          <a:xfrm flipV="1">
            <a:off x="5461706" y="3146892"/>
            <a:ext cx="1408481" cy="65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>
            <a:stCxn id="64" idx="0"/>
            <a:endCxn id="94" idx="4"/>
          </p:cNvCxnSpPr>
          <p:nvPr/>
        </p:nvCxnSpPr>
        <p:spPr>
          <a:xfrm flipV="1">
            <a:off x="6381362" y="3146892"/>
            <a:ext cx="488825" cy="65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>
            <a:stCxn id="63" idx="0"/>
            <a:endCxn id="94" idx="4"/>
          </p:cNvCxnSpPr>
          <p:nvPr/>
        </p:nvCxnSpPr>
        <p:spPr>
          <a:xfrm flipH="1" flipV="1">
            <a:off x="6870187" y="3146892"/>
            <a:ext cx="464606" cy="65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46892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46892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93" idx="4"/>
            <a:endCxn id="39" idx="0"/>
          </p:cNvCxnSpPr>
          <p:nvPr/>
        </p:nvCxnSpPr>
        <p:spPr>
          <a:xfrm flipH="1">
            <a:off x="2237027" y="3146892"/>
            <a:ext cx="20585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93" idx="4"/>
            <a:endCxn id="52" idx="0"/>
          </p:cNvCxnSpPr>
          <p:nvPr/>
        </p:nvCxnSpPr>
        <p:spPr>
          <a:xfrm>
            <a:off x="2257612" y="3146892"/>
            <a:ext cx="1815307" cy="6467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7218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6639761" y="277072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十字形 125"/>
          <p:cNvSpPr/>
          <p:nvPr/>
        </p:nvSpPr>
        <p:spPr>
          <a:xfrm>
            <a:off x="251049" y="41926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十字形 127"/>
          <p:cNvSpPr/>
          <p:nvPr/>
        </p:nvSpPr>
        <p:spPr>
          <a:xfrm>
            <a:off x="1511033" y="4871056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929103" y="486734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340952" y="486776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2759022" y="486405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十字形 131"/>
          <p:cNvSpPr/>
          <p:nvPr/>
        </p:nvSpPr>
        <p:spPr>
          <a:xfrm>
            <a:off x="3145448" y="5567102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十字形 132"/>
          <p:cNvSpPr/>
          <p:nvPr/>
        </p:nvSpPr>
        <p:spPr>
          <a:xfrm>
            <a:off x="3563518" y="556338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十字形 133"/>
          <p:cNvSpPr/>
          <p:nvPr/>
        </p:nvSpPr>
        <p:spPr>
          <a:xfrm>
            <a:off x="3975367" y="5563814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十字形 134"/>
          <p:cNvSpPr/>
          <p:nvPr/>
        </p:nvSpPr>
        <p:spPr>
          <a:xfrm>
            <a:off x="4393437" y="556009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十字形 135"/>
          <p:cNvSpPr/>
          <p:nvPr/>
        </p:nvSpPr>
        <p:spPr>
          <a:xfrm>
            <a:off x="3342796" y="486953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十字形 137"/>
          <p:cNvSpPr/>
          <p:nvPr/>
        </p:nvSpPr>
        <p:spPr>
          <a:xfrm>
            <a:off x="4172715" y="4866250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十字形 138"/>
          <p:cNvSpPr/>
          <p:nvPr/>
        </p:nvSpPr>
        <p:spPr>
          <a:xfrm>
            <a:off x="4590785" y="4862535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4" name="十字形 143"/>
          <p:cNvSpPr/>
          <p:nvPr/>
        </p:nvSpPr>
        <p:spPr>
          <a:xfrm>
            <a:off x="5357135" y="41908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5" name="十字形 144"/>
          <p:cNvSpPr/>
          <p:nvPr/>
        </p:nvSpPr>
        <p:spPr>
          <a:xfrm>
            <a:off x="6281682" y="418910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6" name="十字形 145"/>
          <p:cNvSpPr/>
          <p:nvPr/>
        </p:nvSpPr>
        <p:spPr>
          <a:xfrm>
            <a:off x="7223222" y="418747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98101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31" y="1482769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505" y="1862441"/>
            <a:ext cx="283500" cy="252000"/>
          </a:xfrm>
          <a:prstGeom prst="rect">
            <a:avLst/>
          </a:prstGeom>
        </p:spPr>
      </p:pic>
      <p:cxnSp>
        <p:nvCxnSpPr>
          <p:cNvPr id="110" name="直線接點 109"/>
          <p:cNvCxnSpPr/>
          <p:nvPr/>
        </p:nvCxnSpPr>
        <p:spPr>
          <a:xfrm>
            <a:off x="7818033" y="1404279"/>
            <a:ext cx="1176736" cy="11514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27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內容版面配置區 2"/>
          <p:cNvSpPr>
            <a:spLocks noGrp="1"/>
          </p:cNvSpPr>
          <p:nvPr>
            <p:ph idx="1"/>
          </p:nvPr>
        </p:nvSpPr>
        <p:spPr>
          <a:xfrm>
            <a:off x="152410" y="1299355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(13/17)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1410" y="1957423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4"/>
            <a:endCxn id="93" idx="0"/>
          </p:cNvCxnSpPr>
          <p:nvPr/>
        </p:nvCxnSpPr>
        <p:spPr>
          <a:xfrm flipH="1">
            <a:off x="2257612" y="2317423"/>
            <a:ext cx="2293798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7" idx="4"/>
            <a:endCxn id="94" idx="0"/>
          </p:cNvCxnSpPr>
          <p:nvPr/>
        </p:nvCxnSpPr>
        <p:spPr>
          <a:xfrm>
            <a:off x="4551410" y="2317423"/>
            <a:ext cx="2318777" cy="43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058650" y="514148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476720" y="514148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894790" y="514148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4312860" y="514148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3845831" y="513214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256256" y="513214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685755" y="445033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8" idx="4"/>
            <a:endCxn id="13" idx="0"/>
          </p:cNvCxnSpPr>
          <p:nvPr/>
        </p:nvCxnSpPr>
        <p:spPr>
          <a:xfrm flipH="1">
            <a:off x="3238650" y="4810331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4" idx="0"/>
          </p:cNvCxnSpPr>
          <p:nvPr/>
        </p:nvCxnSpPr>
        <p:spPr>
          <a:xfrm flipH="1">
            <a:off x="3656720" y="4810331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8" idx="4"/>
            <a:endCxn id="15" idx="0"/>
          </p:cNvCxnSpPr>
          <p:nvPr/>
        </p:nvCxnSpPr>
        <p:spPr>
          <a:xfrm>
            <a:off x="3865755" y="4810331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8" idx="4"/>
            <a:endCxn id="16" idx="0"/>
          </p:cNvCxnSpPr>
          <p:nvPr/>
        </p:nvCxnSpPr>
        <p:spPr>
          <a:xfrm>
            <a:off x="3865755" y="4810331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3003513" y="513214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413938" y="513214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1429922" y="445033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847992" y="445033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266062" y="445033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684132" y="445033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2224748" y="4432752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635173" y="4432752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2057027" y="375918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stCxn id="39" idx="4"/>
            <a:endCxn id="33" idx="0"/>
          </p:cNvCxnSpPr>
          <p:nvPr/>
        </p:nvCxnSpPr>
        <p:spPr>
          <a:xfrm flipH="1">
            <a:off x="1609922" y="4119182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9" idx="4"/>
            <a:endCxn id="34" idx="0"/>
          </p:cNvCxnSpPr>
          <p:nvPr/>
        </p:nvCxnSpPr>
        <p:spPr>
          <a:xfrm flipH="1">
            <a:off x="2027992" y="4119182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9" idx="4"/>
            <a:endCxn id="35" idx="0"/>
          </p:cNvCxnSpPr>
          <p:nvPr/>
        </p:nvCxnSpPr>
        <p:spPr>
          <a:xfrm>
            <a:off x="2237027" y="4119182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>
            <a:off x="2237027" y="4119182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1382430" y="4432752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792855" y="4432752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3265814" y="4454443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101954" y="4454443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4520024" y="4454443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4060640" y="443686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471065" y="443686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3892919" y="376329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52" idx="4"/>
            <a:endCxn id="46" idx="0"/>
          </p:cNvCxnSpPr>
          <p:nvPr/>
        </p:nvCxnSpPr>
        <p:spPr>
          <a:xfrm flipH="1">
            <a:off x="3445814" y="4123294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52" idx="4"/>
            <a:endCxn id="18" idx="0"/>
          </p:cNvCxnSpPr>
          <p:nvPr/>
        </p:nvCxnSpPr>
        <p:spPr>
          <a:xfrm flipH="1">
            <a:off x="3865755" y="4123294"/>
            <a:ext cx="207164" cy="327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52" idx="4"/>
            <a:endCxn id="48" idx="0"/>
          </p:cNvCxnSpPr>
          <p:nvPr/>
        </p:nvCxnSpPr>
        <p:spPr>
          <a:xfrm>
            <a:off x="4072919" y="4123294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52" idx="4"/>
            <a:endCxn id="49" idx="0"/>
          </p:cNvCxnSpPr>
          <p:nvPr/>
        </p:nvCxnSpPr>
        <p:spPr>
          <a:xfrm>
            <a:off x="4072919" y="4123294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218322" y="443686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636326" y="4432198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1103596" y="375918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183940" y="3759182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/>
          <p:cNvSpPr/>
          <p:nvPr/>
        </p:nvSpPr>
        <p:spPr>
          <a:xfrm>
            <a:off x="7154793" y="377065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橢圓 63"/>
          <p:cNvSpPr/>
          <p:nvPr/>
        </p:nvSpPr>
        <p:spPr>
          <a:xfrm>
            <a:off x="6201362" y="377065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/>
          <p:cNvSpPr/>
          <p:nvPr/>
        </p:nvSpPr>
        <p:spPr>
          <a:xfrm>
            <a:off x="5281706" y="377065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1" name="群組 20"/>
          <p:cNvGrpSpPr/>
          <p:nvPr/>
        </p:nvGrpSpPr>
        <p:grpSpPr>
          <a:xfrm>
            <a:off x="7845013" y="5123901"/>
            <a:ext cx="473207" cy="377579"/>
            <a:chOff x="7845013" y="4936653"/>
            <a:chExt cx="473207" cy="377579"/>
          </a:xfrm>
        </p:grpSpPr>
        <p:sp>
          <p:nvSpPr>
            <p:cNvPr id="70" name="橢圓 69"/>
            <p:cNvSpPr/>
            <p:nvPr/>
          </p:nvSpPr>
          <p:spPr>
            <a:xfrm>
              <a:off x="7886327" y="4954232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7845013" y="4936653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5" name="直線接點 74"/>
          <p:cNvCxnSpPr>
            <a:stCxn id="74" idx="4"/>
            <a:endCxn id="68" idx="0"/>
          </p:cNvCxnSpPr>
          <p:nvPr/>
        </p:nvCxnSpPr>
        <p:spPr>
          <a:xfrm flipH="1">
            <a:off x="7230187" y="4810331"/>
            <a:ext cx="62710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>
            <a:stCxn id="74" idx="4"/>
            <a:endCxn id="69" idx="0"/>
          </p:cNvCxnSpPr>
          <p:nvPr/>
        </p:nvCxnSpPr>
        <p:spPr>
          <a:xfrm flipH="1">
            <a:off x="7648257" y="4810331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74" idx="4"/>
            <a:endCxn id="70" idx="0"/>
          </p:cNvCxnSpPr>
          <p:nvPr/>
        </p:nvCxnSpPr>
        <p:spPr>
          <a:xfrm>
            <a:off x="7857292" y="4810331"/>
            <a:ext cx="209035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7002695" y="5123901"/>
            <a:ext cx="473207" cy="377579"/>
            <a:chOff x="7002695" y="4936653"/>
            <a:chExt cx="473207" cy="377579"/>
          </a:xfrm>
        </p:grpSpPr>
        <p:sp>
          <p:nvSpPr>
            <p:cNvPr id="68" name="橢圓 67"/>
            <p:cNvSpPr/>
            <p:nvPr/>
          </p:nvSpPr>
          <p:spPr>
            <a:xfrm>
              <a:off x="7050187" y="4954232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7002695" y="4936653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7413120" y="5123901"/>
            <a:ext cx="473207" cy="377579"/>
            <a:chOff x="7413120" y="4936653"/>
            <a:chExt cx="473207" cy="377579"/>
          </a:xfrm>
        </p:grpSpPr>
        <p:sp>
          <p:nvSpPr>
            <p:cNvPr id="69" name="橢圓 68"/>
            <p:cNvSpPr/>
            <p:nvPr/>
          </p:nvSpPr>
          <p:spPr>
            <a:xfrm>
              <a:off x="7468257" y="4954232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7413120" y="4936653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1" name="直線接點 80"/>
          <p:cNvCxnSpPr>
            <a:stCxn id="66" idx="4"/>
            <a:endCxn id="74" idx="0"/>
          </p:cNvCxnSpPr>
          <p:nvPr/>
        </p:nvCxnSpPr>
        <p:spPr>
          <a:xfrm flipH="1">
            <a:off x="7857292" y="4119182"/>
            <a:ext cx="430932" cy="331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137808" y="3755085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051942" y="3742440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2010596" y="3739975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3836315" y="375013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5225401" y="375464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6139535" y="3742002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7098189" y="3739537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8053729" y="3733249"/>
            <a:ext cx="473207" cy="385933"/>
            <a:chOff x="8053729" y="3546001"/>
            <a:chExt cx="473207" cy="385933"/>
          </a:xfrm>
        </p:grpSpPr>
        <p:sp>
          <p:nvSpPr>
            <p:cNvPr id="66" name="橢圓 65"/>
            <p:cNvSpPr/>
            <p:nvPr/>
          </p:nvSpPr>
          <p:spPr>
            <a:xfrm>
              <a:off x="8108224" y="357193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8053729" y="3546001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2,4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7635206" y="4436864"/>
            <a:ext cx="473207" cy="373467"/>
            <a:chOff x="7635206" y="4249616"/>
            <a:chExt cx="473207" cy="373467"/>
          </a:xfrm>
        </p:grpSpPr>
        <p:sp>
          <p:nvSpPr>
            <p:cNvPr id="74" name="橢圓 73"/>
            <p:cNvSpPr/>
            <p:nvPr/>
          </p:nvSpPr>
          <p:spPr>
            <a:xfrm>
              <a:off x="7677292" y="426308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7635206" y="4249616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3" name="橢圓 92"/>
          <p:cNvSpPr/>
          <p:nvPr/>
        </p:nvSpPr>
        <p:spPr>
          <a:xfrm>
            <a:off x="2077612" y="275656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橢圓 93"/>
          <p:cNvSpPr/>
          <p:nvPr/>
        </p:nvSpPr>
        <p:spPr>
          <a:xfrm>
            <a:off x="6690187" y="275656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8" name="直線接點 97"/>
          <p:cNvCxnSpPr>
            <a:stCxn id="65" idx="0"/>
            <a:endCxn id="94" idx="4"/>
          </p:cNvCxnSpPr>
          <p:nvPr/>
        </p:nvCxnSpPr>
        <p:spPr>
          <a:xfrm flipV="1">
            <a:off x="5461706" y="3116566"/>
            <a:ext cx="1408481" cy="65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>
            <a:stCxn id="64" idx="0"/>
            <a:endCxn id="94" idx="4"/>
          </p:cNvCxnSpPr>
          <p:nvPr/>
        </p:nvCxnSpPr>
        <p:spPr>
          <a:xfrm flipV="1">
            <a:off x="6381362" y="3116566"/>
            <a:ext cx="488825" cy="65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>
            <a:stCxn id="63" idx="0"/>
            <a:endCxn id="94" idx="4"/>
          </p:cNvCxnSpPr>
          <p:nvPr/>
        </p:nvCxnSpPr>
        <p:spPr>
          <a:xfrm flipH="1" flipV="1">
            <a:off x="6870187" y="3116566"/>
            <a:ext cx="464606" cy="6540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108"/>
          <p:cNvCxnSpPr>
            <a:stCxn id="66" idx="0"/>
            <a:endCxn id="94" idx="4"/>
          </p:cNvCxnSpPr>
          <p:nvPr/>
        </p:nvCxnSpPr>
        <p:spPr>
          <a:xfrm flipH="1" flipV="1">
            <a:off x="6870187" y="3116566"/>
            <a:ext cx="1418037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93" idx="4"/>
            <a:endCxn id="62" idx="0"/>
          </p:cNvCxnSpPr>
          <p:nvPr/>
        </p:nvCxnSpPr>
        <p:spPr>
          <a:xfrm flipH="1">
            <a:off x="363940" y="3116566"/>
            <a:ext cx="1893672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93" idx="4"/>
            <a:endCxn id="61" idx="0"/>
          </p:cNvCxnSpPr>
          <p:nvPr/>
        </p:nvCxnSpPr>
        <p:spPr>
          <a:xfrm flipH="1">
            <a:off x="1283596" y="3116566"/>
            <a:ext cx="974016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>
            <a:stCxn id="93" idx="4"/>
            <a:endCxn id="39" idx="0"/>
          </p:cNvCxnSpPr>
          <p:nvPr/>
        </p:nvCxnSpPr>
        <p:spPr>
          <a:xfrm flipH="1">
            <a:off x="2237027" y="3116566"/>
            <a:ext cx="20585" cy="642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93" idx="4"/>
            <a:endCxn id="52" idx="0"/>
          </p:cNvCxnSpPr>
          <p:nvPr/>
        </p:nvCxnSpPr>
        <p:spPr>
          <a:xfrm>
            <a:off x="2257612" y="3116566"/>
            <a:ext cx="1815307" cy="6467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2018900" y="2741863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6639761" y="274040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十字形 125"/>
          <p:cNvSpPr/>
          <p:nvPr/>
        </p:nvSpPr>
        <p:spPr>
          <a:xfrm>
            <a:off x="251049" y="416233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十字形 126"/>
          <p:cNvSpPr/>
          <p:nvPr/>
        </p:nvSpPr>
        <p:spPr>
          <a:xfrm>
            <a:off x="1175596" y="41605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十字形 127"/>
          <p:cNvSpPr/>
          <p:nvPr/>
        </p:nvSpPr>
        <p:spPr>
          <a:xfrm>
            <a:off x="1511033" y="4840730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929103" y="4837015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340952" y="4837442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2759022" y="483372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十字形 131"/>
          <p:cNvSpPr/>
          <p:nvPr/>
        </p:nvSpPr>
        <p:spPr>
          <a:xfrm>
            <a:off x="3145448" y="5536776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十字形 132"/>
          <p:cNvSpPr/>
          <p:nvPr/>
        </p:nvSpPr>
        <p:spPr>
          <a:xfrm>
            <a:off x="3563518" y="5533061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十字形 133"/>
          <p:cNvSpPr/>
          <p:nvPr/>
        </p:nvSpPr>
        <p:spPr>
          <a:xfrm>
            <a:off x="3975367" y="5533488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十字形 134"/>
          <p:cNvSpPr/>
          <p:nvPr/>
        </p:nvSpPr>
        <p:spPr>
          <a:xfrm>
            <a:off x="4393437" y="552977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十字形 135"/>
          <p:cNvSpPr/>
          <p:nvPr/>
        </p:nvSpPr>
        <p:spPr>
          <a:xfrm>
            <a:off x="3342796" y="4839212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十字形 137"/>
          <p:cNvSpPr/>
          <p:nvPr/>
        </p:nvSpPr>
        <p:spPr>
          <a:xfrm>
            <a:off x="4172715" y="4835924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十字形 138"/>
          <p:cNvSpPr/>
          <p:nvPr/>
        </p:nvSpPr>
        <p:spPr>
          <a:xfrm>
            <a:off x="4590785" y="483220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十字形 139"/>
          <p:cNvSpPr/>
          <p:nvPr/>
        </p:nvSpPr>
        <p:spPr>
          <a:xfrm>
            <a:off x="7122187" y="5541839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十字形 140"/>
          <p:cNvSpPr/>
          <p:nvPr/>
        </p:nvSpPr>
        <p:spPr>
          <a:xfrm>
            <a:off x="7540257" y="5538124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4" name="十字形 143"/>
          <p:cNvSpPr/>
          <p:nvPr/>
        </p:nvSpPr>
        <p:spPr>
          <a:xfrm>
            <a:off x="5357135" y="416055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5" name="十字形 144"/>
          <p:cNvSpPr/>
          <p:nvPr/>
        </p:nvSpPr>
        <p:spPr>
          <a:xfrm>
            <a:off x="6281682" y="4158783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6" name="十字形 145"/>
          <p:cNvSpPr/>
          <p:nvPr/>
        </p:nvSpPr>
        <p:spPr>
          <a:xfrm>
            <a:off x="7223222" y="4157147"/>
            <a:ext cx="216000" cy="216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7410187" y="1367775"/>
          <a:ext cx="1581924" cy="1561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5492" marR="85492" marT="42746" marB="427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7" name="圖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31" y="1452443"/>
            <a:ext cx="283500" cy="252000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554" y="1831423"/>
            <a:ext cx="283500" cy="252000"/>
          </a:xfrm>
          <a:prstGeom prst="rect">
            <a:avLst/>
          </a:prstGeom>
        </p:spPr>
      </p:pic>
      <p:pic>
        <p:nvPicPr>
          <p:cNvPr id="110" name="圖片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197" y="2229589"/>
            <a:ext cx="283500" cy="252000"/>
          </a:xfrm>
          <a:prstGeom prst="rect">
            <a:avLst/>
          </a:prstGeom>
        </p:spPr>
      </p:pic>
      <p:pic>
        <p:nvPicPr>
          <p:cNvPr id="111" name="圖片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902" y="2611105"/>
            <a:ext cx="283500" cy="252000"/>
          </a:xfrm>
          <a:prstGeom prst="rect">
            <a:avLst/>
          </a:prstGeom>
        </p:spPr>
      </p:pic>
      <p:pic>
        <p:nvPicPr>
          <p:cNvPr id="113" name="圖片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31" y="2607996"/>
            <a:ext cx="283500" cy="252000"/>
          </a:xfrm>
          <a:prstGeom prst="rect">
            <a:avLst/>
          </a:prstGeom>
        </p:spPr>
      </p:pic>
      <p:pic>
        <p:nvPicPr>
          <p:cNvPr id="114" name="圖片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360" y="2609159"/>
            <a:ext cx="283500" cy="252000"/>
          </a:xfrm>
          <a:prstGeom prst="rect">
            <a:avLst/>
          </a:prstGeom>
        </p:spPr>
      </p:pic>
      <p:sp>
        <p:nvSpPr>
          <p:cNvPr id="116" name="文字方塊 115"/>
          <p:cNvSpPr txBox="1"/>
          <p:nvPr/>
        </p:nvSpPr>
        <p:spPr>
          <a:xfrm>
            <a:off x="6690187" y="6197242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共走訪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27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個節點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17" name="直線接點 116"/>
          <p:cNvCxnSpPr/>
          <p:nvPr/>
        </p:nvCxnSpPr>
        <p:spPr>
          <a:xfrm flipH="1">
            <a:off x="7607562" y="1370451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接點 118"/>
          <p:cNvCxnSpPr/>
          <p:nvPr/>
        </p:nvCxnSpPr>
        <p:spPr>
          <a:xfrm flipH="1">
            <a:off x="8004304" y="1363640"/>
            <a:ext cx="3462" cy="1548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78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1" grpId="0" animBg="1"/>
      <p:bldP spid="1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8</a:t>
            </a:r>
          </a:p>
          <a:p>
            <a:pPr lvl="1"/>
            <a:r>
              <a:rPr lang="en-US" altLang="zh-TW" i="1" dirty="0">
                <a:solidFill>
                  <a:srgbClr val="0000FF"/>
                </a:solidFill>
              </a:rPr>
              <a:t>col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en-US" altLang="zh-TW" i="1" dirty="0" err="1">
                <a:solidFill>
                  <a:srgbClr val="0000FF"/>
                </a:solidFill>
              </a:rPr>
              <a:t>i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r>
              <a:rPr lang="en-US" altLang="zh-TW" dirty="0"/>
              <a:t>:</a:t>
            </a:r>
            <a:r>
              <a:rPr lang="zh-TW" altLang="en-US" dirty="0"/>
              <a:t> 第</a:t>
            </a:r>
            <a:r>
              <a:rPr lang="en-US" altLang="zh-TW" i="1" dirty="0" err="1">
                <a:solidFill>
                  <a:srgbClr val="C00000"/>
                </a:solidFill>
              </a:rPr>
              <a:t>i</a:t>
            </a:r>
            <a:r>
              <a:rPr lang="zh-TW" altLang="en-US" dirty="0"/>
              <a:t>個列皇后</a:t>
            </a:r>
            <a:r>
              <a:rPr lang="zh-TW" altLang="en-US" dirty="0">
                <a:solidFill>
                  <a:srgbClr val="C00000"/>
                </a:solidFill>
              </a:rPr>
              <a:t>所在的行數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(14/17)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434291" y="2248534"/>
          <a:ext cx="4182752" cy="36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8" name="圖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79" y="2305454"/>
            <a:ext cx="405000" cy="360000"/>
          </a:xfrm>
          <a:prstGeom prst="rect">
            <a:avLst/>
          </a:prstGeom>
        </p:spPr>
      </p:pic>
      <p:pic>
        <p:nvPicPr>
          <p:cNvPr id="58" name="圖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044" y="4095125"/>
            <a:ext cx="405000" cy="360000"/>
          </a:xfrm>
          <a:prstGeom prst="rect">
            <a:avLst/>
          </a:prstGeom>
        </p:spPr>
      </p:pic>
      <p:sp>
        <p:nvSpPr>
          <p:cNvPr id="59" name="圓角矩形圖說文字 58"/>
          <p:cNvSpPr/>
          <p:nvPr/>
        </p:nvSpPr>
        <p:spPr>
          <a:xfrm>
            <a:off x="406954" y="2867322"/>
            <a:ext cx="1513302" cy="420857"/>
          </a:xfrm>
          <a:prstGeom prst="wedgeRoundRectCallout">
            <a:avLst>
              <a:gd name="adj1" fmla="val 87211"/>
              <a:gd name="adj2" fmla="val -1358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 = 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0" name="圓角矩形圖說文字 59"/>
          <p:cNvSpPr/>
          <p:nvPr/>
        </p:nvSpPr>
        <p:spPr>
          <a:xfrm>
            <a:off x="1458488" y="4743489"/>
            <a:ext cx="1513302" cy="420857"/>
          </a:xfrm>
          <a:prstGeom prst="wedgeRoundRectCallout">
            <a:avLst>
              <a:gd name="adj1" fmla="val 87211"/>
              <a:gd name="adj2" fmla="val -1358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(5) = 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1" name="圖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174" y="2748239"/>
            <a:ext cx="405000" cy="360000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174" y="4984346"/>
            <a:ext cx="405000" cy="360000"/>
          </a:xfrm>
          <a:prstGeom prst="rect">
            <a:avLst/>
          </a:prstGeom>
        </p:spPr>
      </p:pic>
      <p:sp>
        <p:nvSpPr>
          <p:cNvPr id="63" name="圓角矩形圖說文字 62"/>
          <p:cNvSpPr/>
          <p:nvPr/>
        </p:nvSpPr>
        <p:spPr>
          <a:xfrm>
            <a:off x="6127283" y="1719547"/>
            <a:ext cx="1513302" cy="420857"/>
          </a:xfrm>
          <a:prstGeom prst="wedgeRoundRectCallout">
            <a:avLst>
              <a:gd name="adj1" fmla="val -88346"/>
              <a:gd name="adj2" fmla="val 2017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= 6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4" name="圓角矩形圖說文字 63"/>
          <p:cNvSpPr/>
          <p:nvPr/>
        </p:nvSpPr>
        <p:spPr>
          <a:xfrm>
            <a:off x="6079544" y="3954061"/>
            <a:ext cx="1513302" cy="420857"/>
          </a:xfrm>
          <a:prstGeom prst="wedgeRoundRectCallout">
            <a:avLst>
              <a:gd name="adj1" fmla="val -88346"/>
              <a:gd name="adj2" fmla="val 2017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(7) = 6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750653" y="6188575"/>
            <a:ext cx="5561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列皇后與第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列皇后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在同一行上</a:t>
            </a:r>
          </a:p>
        </p:txBody>
      </p:sp>
    </p:spTree>
    <p:extLst>
      <p:ext uri="{BB962C8B-B14F-4D97-AF65-F5344CB8AC3E}">
        <p14:creationId xmlns:p14="http://schemas.microsoft.com/office/powerpoint/2010/main" val="62375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3" grpId="0" animBg="1"/>
      <p:bldP spid="64" grpId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8833935" cy="5267671"/>
          </a:xfrm>
        </p:spPr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 = 8</a:t>
            </a:r>
          </a:p>
          <a:p>
            <a:pPr lvl="1"/>
            <a:r>
              <a:rPr lang="en-US" altLang="zh-TW" i="1" dirty="0">
                <a:solidFill>
                  <a:srgbClr val="0000FF"/>
                </a:solidFill>
              </a:rPr>
              <a:t>col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en-US" altLang="zh-TW" i="1" dirty="0" err="1">
                <a:solidFill>
                  <a:srgbClr val="0000FF"/>
                </a:solidFill>
              </a:rPr>
              <a:t>i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r>
              <a:rPr lang="en-US" altLang="zh-TW" dirty="0"/>
              <a:t>:</a:t>
            </a:r>
            <a:r>
              <a:rPr lang="zh-TW" altLang="en-US" dirty="0"/>
              <a:t> 第</a:t>
            </a:r>
            <a:r>
              <a:rPr lang="en-US" altLang="zh-TW" i="1" dirty="0" err="1">
                <a:solidFill>
                  <a:srgbClr val="C00000"/>
                </a:solidFill>
              </a:rPr>
              <a:t>i</a:t>
            </a:r>
            <a:r>
              <a:rPr lang="zh-TW" altLang="en-US" dirty="0"/>
              <a:t>個列皇后</a:t>
            </a:r>
            <a:r>
              <a:rPr lang="zh-TW" altLang="en-US" dirty="0">
                <a:solidFill>
                  <a:srgbClr val="C00000"/>
                </a:solidFill>
              </a:rPr>
              <a:t>所在的行數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(15/17)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434291" y="2248534"/>
          <a:ext cx="4182752" cy="360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8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8568" marR="98568" marT="49287" marB="4928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8" name="圖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79" y="2305454"/>
            <a:ext cx="405000" cy="360000"/>
          </a:xfrm>
          <a:prstGeom prst="rect">
            <a:avLst/>
          </a:prstGeom>
        </p:spPr>
      </p:pic>
      <p:pic>
        <p:nvPicPr>
          <p:cNvPr id="58" name="圖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044" y="4095125"/>
            <a:ext cx="405000" cy="360000"/>
          </a:xfrm>
          <a:prstGeom prst="rect">
            <a:avLst/>
          </a:prstGeom>
        </p:spPr>
      </p:pic>
      <p:sp>
        <p:nvSpPr>
          <p:cNvPr id="59" name="圓角矩形圖說文字 58"/>
          <p:cNvSpPr/>
          <p:nvPr/>
        </p:nvSpPr>
        <p:spPr>
          <a:xfrm>
            <a:off x="406954" y="2867322"/>
            <a:ext cx="1513302" cy="420857"/>
          </a:xfrm>
          <a:prstGeom prst="wedgeRoundRectCallout">
            <a:avLst>
              <a:gd name="adj1" fmla="val 87211"/>
              <a:gd name="adj2" fmla="val -1358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 = 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0" name="圓角矩形圖說文字 59"/>
          <p:cNvSpPr/>
          <p:nvPr/>
        </p:nvSpPr>
        <p:spPr>
          <a:xfrm>
            <a:off x="1458488" y="4743489"/>
            <a:ext cx="1513302" cy="420857"/>
          </a:xfrm>
          <a:prstGeom prst="wedgeRoundRectCallout">
            <a:avLst>
              <a:gd name="adj1" fmla="val 87211"/>
              <a:gd name="adj2" fmla="val -1358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(5) = 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1" name="圖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174" y="2748239"/>
            <a:ext cx="405000" cy="360000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174" y="4551859"/>
            <a:ext cx="405000" cy="360000"/>
          </a:xfrm>
          <a:prstGeom prst="rect">
            <a:avLst/>
          </a:prstGeom>
        </p:spPr>
      </p:pic>
      <p:sp>
        <p:nvSpPr>
          <p:cNvPr id="63" name="圓角矩形圖說文字 62"/>
          <p:cNvSpPr/>
          <p:nvPr/>
        </p:nvSpPr>
        <p:spPr>
          <a:xfrm>
            <a:off x="6127283" y="1719547"/>
            <a:ext cx="1513302" cy="420857"/>
          </a:xfrm>
          <a:prstGeom prst="wedgeRoundRectCallout">
            <a:avLst>
              <a:gd name="adj1" fmla="val -88346"/>
              <a:gd name="adj2" fmla="val 2017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= 6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4" name="圓角矩形圖說文字 63"/>
          <p:cNvSpPr/>
          <p:nvPr/>
        </p:nvSpPr>
        <p:spPr>
          <a:xfrm>
            <a:off x="6127283" y="3706494"/>
            <a:ext cx="1513302" cy="420857"/>
          </a:xfrm>
          <a:prstGeom prst="wedgeRoundRectCallout">
            <a:avLst>
              <a:gd name="adj1" fmla="val -89163"/>
              <a:gd name="adj2" fmla="val 16656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(6) = 6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187278" y="6015599"/>
            <a:ext cx="70423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–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)| = |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列皇后與第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列皇后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在同一對角線上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6883934" y="2523766"/>
            <a:ext cx="19752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|col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(5)|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|6 – 3| 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|2 – 5|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902516" y="4359678"/>
            <a:ext cx="19752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|col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(6)|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|1 – 6|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|1 – 6|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接點 19"/>
          <p:cNvCxnSpPr/>
          <p:nvPr/>
        </p:nvCxnSpPr>
        <p:spPr>
          <a:xfrm>
            <a:off x="2434291" y="2248534"/>
            <a:ext cx="4182752" cy="3600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H="1">
            <a:off x="2434291" y="2244802"/>
            <a:ext cx="3626875" cy="3130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63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內容版面配置區 2"/>
          <p:cNvSpPr>
            <a:spLocks noGrp="1"/>
          </p:cNvSpPr>
          <p:nvPr>
            <p:ph idx="1"/>
          </p:nvPr>
        </p:nvSpPr>
        <p:spPr>
          <a:xfrm>
            <a:off x="152410" y="1294217"/>
            <a:ext cx="8833935" cy="5267671"/>
          </a:xfrm>
        </p:spPr>
        <p:txBody>
          <a:bodyPr/>
          <a:lstStyle/>
          <a:p>
            <a:r>
              <a:rPr lang="zh-TW" altLang="en-US" dirty="0"/>
              <a:t>當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(16/17)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5266390" y="163607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/>
          <a:srcRect l="2403" t="2997" r="2624" b="2527"/>
          <a:stretch/>
        </p:blipFill>
        <p:spPr>
          <a:xfrm>
            <a:off x="3351099" y="2374069"/>
            <a:ext cx="768355" cy="7200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3"/>
          <a:srcRect l="1067" t="1292" r="1523" b="2496"/>
          <a:stretch/>
        </p:blipFill>
        <p:spPr>
          <a:xfrm>
            <a:off x="4469866" y="2374069"/>
            <a:ext cx="772331" cy="720000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4"/>
          <a:srcRect l="2352" t="1978" r="3759" b="3092"/>
          <a:stretch/>
        </p:blipFill>
        <p:spPr>
          <a:xfrm>
            <a:off x="5592609" y="2374069"/>
            <a:ext cx="766683" cy="720000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5"/>
          <a:srcRect l="2392" t="1604" r="4447" b="3466"/>
          <a:stretch/>
        </p:blipFill>
        <p:spPr>
          <a:xfrm>
            <a:off x="6709704" y="2374069"/>
            <a:ext cx="768479" cy="72000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6"/>
          <a:srcRect l="4621" t="3413" r="6397" b="7203"/>
          <a:stretch/>
        </p:blipFill>
        <p:spPr>
          <a:xfrm>
            <a:off x="2286010" y="3475861"/>
            <a:ext cx="768479" cy="72000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 rotWithShape="1">
          <a:blip r:embed="rId7"/>
          <a:srcRect l="4931" t="3988" r="4511" b="6233"/>
          <a:stretch/>
        </p:blipFill>
        <p:spPr>
          <a:xfrm>
            <a:off x="3345454" y="3475861"/>
            <a:ext cx="774000" cy="720000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 rotWithShape="1">
          <a:blip r:embed="rId8"/>
          <a:srcRect l="4730" t="4480" r="4543" b="3932"/>
          <a:stretch/>
        </p:blipFill>
        <p:spPr>
          <a:xfrm>
            <a:off x="4410419" y="3475861"/>
            <a:ext cx="768479" cy="72000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 rotWithShape="1">
          <a:blip r:embed="rId9"/>
          <a:srcRect l="4247" t="3705" r="5826" b="5439"/>
          <a:stretch/>
        </p:blipFill>
        <p:spPr>
          <a:xfrm>
            <a:off x="5469863" y="3475861"/>
            <a:ext cx="764777" cy="720000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 rotWithShape="1">
          <a:blip r:embed="rId10"/>
          <a:srcRect l="743" t="2660" r="78311" b="7920"/>
          <a:stretch/>
        </p:blipFill>
        <p:spPr>
          <a:xfrm>
            <a:off x="1202357" y="4577653"/>
            <a:ext cx="772318" cy="720000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 rotWithShape="1">
          <a:blip r:embed="rId10"/>
          <a:srcRect l="25269" t="2660" r="53852" b="7920"/>
          <a:stretch/>
        </p:blipFill>
        <p:spPr>
          <a:xfrm>
            <a:off x="2269813" y="4577653"/>
            <a:ext cx="769827" cy="720000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10"/>
          <a:srcRect l="49769" t="2660" r="29328" b="7920"/>
          <a:stretch/>
        </p:blipFill>
        <p:spPr>
          <a:xfrm>
            <a:off x="3334778" y="4577653"/>
            <a:ext cx="770727" cy="720000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 rotWithShape="1">
          <a:blip r:embed="rId10"/>
          <a:srcRect l="74301" t="2660" r="4821" b="7920"/>
          <a:stretch/>
        </p:blipFill>
        <p:spPr>
          <a:xfrm>
            <a:off x="4389172" y="4577653"/>
            <a:ext cx="769827" cy="720000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 rotWithShape="1">
          <a:blip r:embed="rId11"/>
          <a:srcRect l="1081" t="4385" r="77635" b="5896"/>
          <a:stretch/>
        </p:blipFill>
        <p:spPr>
          <a:xfrm>
            <a:off x="147508" y="5679445"/>
            <a:ext cx="763636" cy="720000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11"/>
          <a:srcRect l="26164" t="4385" r="52552" b="5896"/>
          <a:stretch/>
        </p:blipFill>
        <p:spPr>
          <a:xfrm>
            <a:off x="1203249" y="5679445"/>
            <a:ext cx="763637" cy="720000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 rotWithShape="1">
          <a:blip r:embed="rId11"/>
          <a:srcRect l="51094" t="4385" r="27555" b="5896"/>
          <a:stretch/>
        </p:blipFill>
        <p:spPr>
          <a:xfrm>
            <a:off x="2273580" y="5679445"/>
            <a:ext cx="766060" cy="720000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 rotWithShape="1">
          <a:blip r:embed="rId11"/>
          <a:srcRect l="76176" t="4385" r="2540" b="5896"/>
          <a:stretch/>
        </p:blipFill>
        <p:spPr>
          <a:xfrm>
            <a:off x="3328736" y="5679445"/>
            <a:ext cx="763636" cy="720000"/>
          </a:xfrm>
          <a:prstGeom prst="rect">
            <a:avLst/>
          </a:prstGeom>
        </p:spPr>
      </p:pic>
      <p:cxnSp>
        <p:nvCxnSpPr>
          <p:cNvPr id="29" name="直線接點 28"/>
          <p:cNvCxnSpPr>
            <a:stCxn id="7" idx="4"/>
            <a:endCxn id="11" idx="0"/>
          </p:cNvCxnSpPr>
          <p:nvPr/>
        </p:nvCxnSpPr>
        <p:spPr>
          <a:xfrm flipH="1">
            <a:off x="3735277" y="1924078"/>
            <a:ext cx="1675113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7" idx="4"/>
            <a:endCxn id="12" idx="0"/>
          </p:cNvCxnSpPr>
          <p:nvPr/>
        </p:nvCxnSpPr>
        <p:spPr>
          <a:xfrm flipH="1">
            <a:off x="4856032" y="1924078"/>
            <a:ext cx="554358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7" idx="4"/>
            <a:endCxn id="13" idx="0"/>
          </p:cNvCxnSpPr>
          <p:nvPr/>
        </p:nvCxnSpPr>
        <p:spPr>
          <a:xfrm>
            <a:off x="5410390" y="1924078"/>
            <a:ext cx="565561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7" idx="4"/>
            <a:endCxn id="14" idx="0"/>
          </p:cNvCxnSpPr>
          <p:nvPr/>
        </p:nvCxnSpPr>
        <p:spPr>
          <a:xfrm>
            <a:off x="5410390" y="1924078"/>
            <a:ext cx="1683554" cy="4499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11" idx="2"/>
            <a:endCxn id="15" idx="0"/>
          </p:cNvCxnSpPr>
          <p:nvPr/>
        </p:nvCxnSpPr>
        <p:spPr>
          <a:xfrm flipH="1">
            <a:off x="2670250" y="3094069"/>
            <a:ext cx="1065027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11" idx="2"/>
            <a:endCxn id="16" idx="0"/>
          </p:cNvCxnSpPr>
          <p:nvPr/>
        </p:nvCxnSpPr>
        <p:spPr>
          <a:xfrm flipH="1">
            <a:off x="3732454" y="3094069"/>
            <a:ext cx="2823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11" idx="2"/>
            <a:endCxn id="17" idx="0"/>
          </p:cNvCxnSpPr>
          <p:nvPr/>
        </p:nvCxnSpPr>
        <p:spPr>
          <a:xfrm>
            <a:off x="3735277" y="3094069"/>
            <a:ext cx="1059382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11" idx="2"/>
            <a:endCxn id="18" idx="0"/>
          </p:cNvCxnSpPr>
          <p:nvPr/>
        </p:nvCxnSpPr>
        <p:spPr>
          <a:xfrm>
            <a:off x="3735277" y="3094069"/>
            <a:ext cx="2116975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15" idx="2"/>
            <a:endCxn id="23" idx="0"/>
          </p:cNvCxnSpPr>
          <p:nvPr/>
        </p:nvCxnSpPr>
        <p:spPr>
          <a:xfrm>
            <a:off x="2670250" y="4195861"/>
            <a:ext cx="2103836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15" idx="2"/>
            <a:endCxn id="22" idx="0"/>
          </p:cNvCxnSpPr>
          <p:nvPr/>
        </p:nvCxnSpPr>
        <p:spPr>
          <a:xfrm>
            <a:off x="2670250" y="4195861"/>
            <a:ext cx="1049892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15" idx="2"/>
            <a:endCxn id="21" idx="0"/>
          </p:cNvCxnSpPr>
          <p:nvPr/>
        </p:nvCxnSpPr>
        <p:spPr>
          <a:xfrm flipH="1">
            <a:off x="2654727" y="4195861"/>
            <a:ext cx="15523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15" idx="2"/>
            <a:endCxn id="19" idx="0"/>
          </p:cNvCxnSpPr>
          <p:nvPr/>
        </p:nvCxnSpPr>
        <p:spPr>
          <a:xfrm flipH="1">
            <a:off x="1588516" y="4195861"/>
            <a:ext cx="1081734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>
            <a:stCxn id="19" idx="2"/>
            <a:endCxn id="25" idx="0"/>
          </p:cNvCxnSpPr>
          <p:nvPr/>
        </p:nvCxnSpPr>
        <p:spPr>
          <a:xfrm flipH="1">
            <a:off x="1585068" y="5297653"/>
            <a:ext cx="3448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19" idx="2"/>
            <a:endCxn id="26" idx="0"/>
          </p:cNvCxnSpPr>
          <p:nvPr/>
        </p:nvCxnSpPr>
        <p:spPr>
          <a:xfrm>
            <a:off x="1588516" y="5297653"/>
            <a:ext cx="1068094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19" idx="2"/>
            <a:endCxn id="24" idx="0"/>
          </p:cNvCxnSpPr>
          <p:nvPr/>
        </p:nvCxnSpPr>
        <p:spPr>
          <a:xfrm flipH="1">
            <a:off x="529326" y="5297653"/>
            <a:ext cx="1059190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19" idx="2"/>
            <a:endCxn id="27" idx="0"/>
          </p:cNvCxnSpPr>
          <p:nvPr/>
        </p:nvCxnSpPr>
        <p:spPr>
          <a:xfrm>
            <a:off x="1588516" y="5297653"/>
            <a:ext cx="2122038" cy="381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十字形 78"/>
          <p:cNvSpPr/>
          <p:nvPr/>
        </p:nvSpPr>
        <p:spPr>
          <a:xfrm>
            <a:off x="2526249" y="369186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十字形 79"/>
          <p:cNvSpPr/>
          <p:nvPr/>
        </p:nvSpPr>
        <p:spPr>
          <a:xfrm>
            <a:off x="3576141" y="368815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十字形 80"/>
          <p:cNvSpPr/>
          <p:nvPr/>
        </p:nvSpPr>
        <p:spPr>
          <a:xfrm>
            <a:off x="1449764" y="479735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十字形 81"/>
          <p:cNvSpPr/>
          <p:nvPr/>
        </p:nvSpPr>
        <p:spPr>
          <a:xfrm>
            <a:off x="2499656" y="479365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十字形 82"/>
          <p:cNvSpPr/>
          <p:nvPr/>
        </p:nvSpPr>
        <p:spPr>
          <a:xfrm>
            <a:off x="3576141" y="480429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十字形 83"/>
          <p:cNvSpPr/>
          <p:nvPr/>
        </p:nvSpPr>
        <p:spPr>
          <a:xfrm>
            <a:off x="4626033" y="4800590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十字形 84"/>
          <p:cNvSpPr/>
          <p:nvPr/>
        </p:nvSpPr>
        <p:spPr>
          <a:xfrm>
            <a:off x="385326" y="5938794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十字形 85"/>
          <p:cNvSpPr/>
          <p:nvPr/>
        </p:nvSpPr>
        <p:spPr>
          <a:xfrm>
            <a:off x="1435218" y="593509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十字形 86"/>
          <p:cNvSpPr/>
          <p:nvPr/>
        </p:nvSpPr>
        <p:spPr>
          <a:xfrm>
            <a:off x="2511703" y="594573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十字形 87"/>
          <p:cNvSpPr/>
          <p:nvPr/>
        </p:nvSpPr>
        <p:spPr>
          <a:xfrm>
            <a:off x="3561595" y="594202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7977687" y="1580023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4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7977687" y="2534014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= 4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7977686" y="3632103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= 4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7977686" y="4688480"/>
            <a:ext cx="864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64= 4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7977685" y="5885973"/>
            <a:ext cx="992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256= 4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890046" y="6326126"/>
                <a:ext cx="4016099" cy="415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046" y="6326126"/>
                <a:ext cx="4016099" cy="41524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48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8" grpId="0"/>
      <p:bldP spid="59" grpId="0"/>
      <p:bldP spid="61" grpId="0"/>
      <p:bldP spid="62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/>
          <p:cNvSpPr txBox="1">
            <a:spLocks/>
          </p:cNvSpPr>
          <p:nvPr/>
        </p:nvSpPr>
        <p:spPr bwMode="auto">
          <a:xfrm>
            <a:off x="152410" y="1294217"/>
            <a:ext cx="8833935" cy="52676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+mj-lt"/>
                <a:ea typeface="標楷體" panose="03000509000000000000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b="1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 b="1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b="1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TW" altLang="en-US" kern="0" dirty="0"/>
              <a:t>以</a:t>
            </a:r>
            <a:r>
              <a:rPr lang="zh-TW" altLang="en-US" kern="0" dirty="0">
                <a:solidFill>
                  <a:srgbClr val="C00000"/>
                </a:solidFill>
              </a:rPr>
              <a:t>節點數</a:t>
            </a:r>
            <a:r>
              <a:rPr lang="zh-TW" altLang="en-US" kern="0" dirty="0"/>
              <a:t>看演算法效率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en-US" altLang="zh-TW" dirty="0"/>
              <a:t>-Queen (17/17)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</p:nvPr>
        </p:nvGraphicFramePr>
        <p:xfrm>
          <a:off x="473933" y="2399271"/>
          <a:ext cx="8244005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8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8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一般</a:t>
                      </a:r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DFS</a:t>
                      </a:r>
                      <a:endParaRPr lang="zh-TW" altLang="en-US" sz="20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!</a:t>
                      </a:r>
                      <a:endParaRPr lang="zh-TW" altLang="en-US" sz="20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採用回溯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promising</a:t>
                      </a:r>
                      <a:r>
                        <a:rPr lang="zh-TW" altLang="en-US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341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19,173,961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40,320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15,721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2057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9.74 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 10</a:t>
                      </a:r>
                      <a:r>
                        <a:rPr lang="en-US" altLang="zh-TW" sz="2000" b="1" baseline="30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12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4.79 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 10</a:t>
                      </a:r>
                      <a:r>
                        <a:rPr lang="en-US" altLang="zh-TW" sz="2000" b="1" baseline="30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8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1.01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 10</a:t>
                      </a:r>
                      <a:r>
                        <a:rPr lang="en-US" altLang="zh-TW" sz="2000" b="1" baseline="30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8.56 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 10</a:t>
                      </a:r>
                      <a:r>
                        <a:rPr lang="en-US" altLang="zh-TW" sz="2000" b="1" baseline="30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5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1.20 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 10</a:t>
                      </a:r>
                      <a:r>
                        <a:rPr lang="en-US" altLang="zh-TW" sz="2000" b="1" baseline="30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16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8.72 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 10</a:t>
                      </a:r>
                      <a:r>
                        <a:rPr lang="en-US" altLang="zh-TW" sz="2000" b="1" baseline="30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8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3.78 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 10</a:t>
                      </a:r>
                      <a:r>
                        <a:rPr lang="en-US" altLang="zh-TW" sz="2000" b="1" baseline="30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8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2.74 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 10</a:t>
                      </a:r>
                      <a:r>
                        <a:rPr lang="en-US" altLang="zh-TW" sz="2000" b="1" baseline="30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898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Sum-of-Subsets 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0-1</a:t>
            </a:r>
            <a:r>
              <a:rPr lang="zh-TW" altLang="en-US" dirty="0">
                <a:solidFill>
                  <a:srgbClr val="0000FF"/>
                </a:solidFill>
              </a:rPr>
              <a:t>背包問題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總重量不超過</a:t>
            </a:r>
            <a:r>
              <a:rPr lang="en-US" altLang="zh-TW" i="1" dirty="0"/>
              <a:t>W</a:t>
            </a:r>
            <a:r>
              <a:rPr lang="zh-TW" altLang="en-US" dirty="0"/>
              <a:t>的狀況下達到最大的獲益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</a:rPr>
              <a:t>Sum-of-Subsets</a:t>
            </a:r>
          </a:p>
          <a:p>
            <a:pPr lvl="1"/>
            <a:r>
              <a:rPr lang="en-US" altLang="zh-TW" i="1" dirty="0"/>
              <a:t>n</a:t>
            </a:r>
            <a:r>
              <a:rPr lang="zh-TW" altLang="en-US" dirty="0"/>
              <a:t>個正整數</a:t>
            </a:r>
            <a:r>
              <a:rPr lang="en-US" altLang="zh-TW" i="1" dirty="0" err="1"/>
              <a:t>w</a:t>
            </a:r>
            <a:r>
              <a:rPr lang="en-US" altLang="zh-TW" i="1" baseline="-25000" dirty="0" err="1"/>
              <a:t>i</a:t>
            </a:r>
            <a:r>
              <a:rPr lang="zh-TW" altLang="en-US" dirty="0"/>
              <a:t>和一個正整數</a:t>
            </a:r>
            <a:r>
              <a:rPr lang="en-US" altLang="zh-TW" i="1" dirty="0"/>
              <a:t>W</a:t>
            </a:r>
          </a:p>
          <a:p>
            <a:pPr lvl="1"/>
            <a:r>
              <a:rPr lang="zh-TW" altLang="en-US" dirty="0"/>
              <a:t>找出總和為</a:t>
            </a:r>
            <a:r>
              <a:rPr lang="en-US" altLang="zh-TW" i="1" dirty="0"/>
              <a:t>W</a:t>
            </a:r>
            <a:r>
              <a:rPr lang="zh-TW" altLang="en-US" dirty="0"/>
              <a:t>的子集合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假設</a:t>
            </a:r>
            <a:r>
              <a:rPr lang="en-US" altLang="zh-TW" dirty="0"/>
              <a:t>5</a:t>
            </a:r>
            <a:r>
              <a:rPr lang="zh-TW" altLang="en-US" dirty="0"/>
              <a:t>個正整數分別為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>
                <a:solidFill>
                  <a:srgbClr val="C00000"/>
                </a:solidFill>
              </a:rPr>
              <a:t> = 5,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2</a:t>
            </a:r>
            <a:r>
              <a:rPr lang="en-US" altLang="zh-TW" dirty="0">
                <a:solidFill>
                  <a:srgbClr val="C00000"/>
                </a:solidFill>
              </a:rPr>
              <a:t> = 6,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3</a:t>
            </a:r>
            <a:r>
              <a:rPr lang="en-US" altLang="zh-TW" dirty="0">
                <a:solidFill>
                  <a:srgbClr val="C00000"/>
                </a:solidFill>
              </a:rPr>
              <a:t> = 10,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4</a:t>
            </a:r>
            <a:r>
              <a:rPr lang="en-US" altLang="zh-TW" dirty="0">
                <a:solidFill>
                  <a:srgbClr val="C00000"/>
                </a:solidFill>
              </a:rPr>
              <a:t> = 11,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5</a:t>
            </a:r>
            <a:r>
              <a:rPr lang="en-US" altLang="zh-TW" dirty="0">
                <a:solidFill>
                  <a:srgbClr val="C00000"/>
                </a:solidFill>
              </a:rPr>
              <a:t> = 16</a:t>
            </a:r>
            <a:r>
              <a:rPr lang="zh-TW" altLang="en-US" dirty="0"/>
              <a:t>，且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dirty="0">
                <a:solidFill>
                  <a:srgbClr val="C00000"/>
                </a:solidFill>
              </a:rPr>
              <a:t> = 21</a:t>
            </a:r>
            <a:r>
              <a:rPr lang="zh-TW" altLang="en-US" dirty="0"/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971790" y="1986348"/>
                <a:ext cx="26279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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790" y="1986348"/>
                <a:ext cx="2627964" cy="307777"/>
              </a:xfrm>
              <a:prstGeom prst="rect">
                <a:avLst/>
              </a:prstGeom>
              <a:blipFill>
                <a:blip r:embed="rId2"/>
                <a:stretch>
                  <a:fillRect l="-694" r="-1620" b="-2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558920" y="4636872"/>
                <a:ext cx="3581750" cy="893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𝟏𝟔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𝟏𝟏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920" y="4636872"/>
                <a:ext cx="3581750" cy="89383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77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Sum-of-Subsets 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假設只有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r>
              <a:rPr lang="zh-TW" altLang="en-US" dirty="0"/>
              <a:t>個正整數時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橢圓 7"/>
          <p:cNvSpPr/>
          <p:nvPr/>
        </p:nvSpPr>
        <p:spPr>
          <a:xfrm>
            <a:off x="1967565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327565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687565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9" idx="4"/>
            <a:endCxn id="8" idx="0"/>
          </p:cNvCxnSpPr>
          <p:nvPr/>
        </p:nvCxnSpPr>
        <p:spPr>
          <a:xfrm flipH="1">
            <a:off x="214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1927426" y="381679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/>
          <p:cNvCxnSpPr>
            <a:stCxn id="9" idx="4"/>
            <a:endCxn id="10" idx="0"/>
          </p:cNvCxnSpPr>
          <p:nvPr/>
        </p:nvCxnSpPr>
        <p:spPr>
          <a:xfrm>
            <a:off x="250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419522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3779522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4139522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9" idx="4"/>
            <a:endCxn id="18" idx="0"/>
          </p:cNvCxnSpPr>
          <p:nvPr/>
        </p:nvCxnSpPr>
        <p:spPr>
          <a:xfrm flipH="1">
            <a:off x="359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9" idx="4"/>
            <a:endCxn id="20" idx="0"/>
          </p:cNvCxnSpPr>
          <p:nvPr/>
        </p:nvCxnSpPr>
        <p:spPr>
          <a:xfrm>
            <a:off x="395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871479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5231479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591479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4" idx="4"/>
            <a:endCxn id="23" idx="0"/>
          </p:cNvCxnSpPr>
          <p:nvPr/>
        </p:nvCxnSpPr>
        <p:spPr>
          <a:xfrm flipH="1">
            <a:off x="505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4"/>
            <a:endCxn id="25" idx="0"/>
          </p:cNvCxnSpPr>
          <p:nvPr/>
        </p:nvCxnSpPr>
        <p:spPr>
          <a:xfrm>
            <a:off x="541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6323436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6683436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7043436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接點 30"/>
          <p:cNvCxnSpPr>
            <a:stCxn id="29" idx="4"/>
            <a:endCxn id="28" idx="0"/>
          </p:cNvCxnSpPr>
          <p:nvPr/>
        </p:nvCxnSpPr>
        <p:spPr>
          <a:xfrm flipH="1">
            <a:off x="6503436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9" idx="4"/>
            <a:endCxn id="30" idx="0"/>
          </p:cNvCxnSpPr>
          <p:nvPr/>
        </p:nvCxnSpPr>
        <p:spPr>
          <a:xfrm>
            <a:off x="6863436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3047565" y="271025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5951479" y="271025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3" idx="4"/>
            <a:endCxn id="9" idx="0"/>
          </p:cNvCxnSpPr>
          <p:nvPr/>
        </p:nvCxnSpPr>
        <p:spPr>
          <a:xfrm flipH="1">
            <a:off x="2507565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3" idx="4"/>
            <a:endCxn id="19" idx="0"/>
          </p:cNvCxnSpPr>
          <p:nvPr/>
        </p:nvCxnSpPr>
        <p:spPr>
          <a:xfrm>
            <a:off x="3227565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4" idx="4"/>
            <a:endCxn id="24" idx="0"/>
          </p:cNvCxnSpPr>
          <p:nvPr/>
        </p:nvCxnSpPr>
        <p:spPr>
          <a:xfrm flipH="1">
            <a:off x="5411479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4" idx="4"/>
            <a:endCxn id="29" idx="0"/>
          </p:cNvCxnSpPr>
          <p:nvPr/>
        </p:nvCxnSpPr>
        <p:spPr>
          <a:xfrm>
            <a:off x="6131479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4499522" y="181850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>
            <a:stCxn id="47" idx="4"/>
            <a:endCxn id="33" idx="0"/>
          </p:cNvCxnSpPr>
          <p:nvPr/>
        </p:nvCxnSpPr>
        <p:spPr>
          <a:xfrm flipH="1">
            <a:off x="3227565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7" idx="4"/>
            <a:endCxn id="34" idx="0"/>
          </p:cNvCxnSpPr>
          <p:nvPr/>
        </p:nvCxnSpPr>
        <p:spPr>
          <a:xfrm>
            <a:off x="4679522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2503239" y="296212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664353" y="205152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385361" y="378237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859123" y="379556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328916" y="37644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432824" y="296206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291397" y="20933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50342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383354" y="30010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644709" y="38669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086333" y="3829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544668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6983395" y="38297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1183225" y="4664579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2353642" y="465818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3139538" y="465818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038607" y="466457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5499363" y="463544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6215740" y="46396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4579234" y="466306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7043436" y="465818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883438" y="5284214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暴力法：列出所有子集合</a:t>
            </a:r>
          </a:p>
        </p:txBody>
      </p:sp>
      <p:sp>
        <p:nvSpPr>
          <p:cNvPr id="76" name="右大括弧 75"/>
          <p:cNvSpPr/>
          <p:nvPr/>
        </p:nvSpPr>
        <p:spPr>
          <a:xfrm rot="5400000">
            <a:off x="4255070" y="2030630"/>
            <a:ext cx="262688" cy="6213999"/>
          </a:xfrm>
          <a:prstGeom prst="rightBrace">
            <a:avLst>
              <a:gd name="adj1" fmla="val 57725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65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000"/>
                            </p:stCondLst>
                            <p:childTnLst>
                              <p:par>
                                <p:cTn id="1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500"/>
                            </p:stCondLst>
                            <p:childTnLst>
                              <p:par>
                                <p:cTn id="1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Sum-of-Subsets 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假設只有</a:t>
            </a:r>
            <a:r>
              <a:rPr lang="en-US" altLang="zh-TW" dirty="0"/>
              <a:t>3</a:t>
            </a:r>
            <a:r>
              <a:rPr lang="zh-TW" altLang="en-US" dirty="0"/>
              <a:t>個正整數時：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>
                <a:solidFill>
                  <a:srgbClr val="C00000"/>
                </a:solidFill>
              </a:rPr>
              <a:t> = 2,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2</a:t>
            </a:r>
            <a:r>
              <a:rPr lang="en-US" altLang="zh-TW" dirty="0">
                <a:solidFill>
                  <a:srgbClr val="C00000"/>
                </a:solidFill>
              </a:rPr>
              <a:t> = 4,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3</a:t>
            </a:r>
            <a:r>
              <a:rPr lang="en-US" altLang="zh-TW" dirty="0">
                <a:solidFill>
                  <a:srgbClr val="C00000"/>
                </a:solidFill>
              </a:rPr>
              <a:t> = 5</a:t>
            </a:r>
            <a:r>
              <a:rPr lang="zh-TW" altLang="en-US" dirty="0"/>
              <a:t>，且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6</a:t>
            </a:r>
            <a:r>
              <a:rPr lang="zh-TW" altLang="en-US" dirty="0"/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橢圓 7"/>
          <p:cNvSpPr/>
          <p:nvPr/>
        </p:nvSpPr>
        <p:spPr>
          <a:xfrm>
            <a:off x="1967565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327565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687565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9" idx="4"/>
            <a:endCxn id="8" idx="0"/>
          </p:cNvCxnSpPr>
          <p:nvPr/>
        </p:nvCxnSpPr>
        <p:spPr>
          <a:xfrm flipH="1">
            <a:off x="214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036014" y="38833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/>
          <p:cNvCxnSpPr>
            <a:stCxn id="9" idx="4"/>
            <a:endCxn id="10" idx="0"/>
          </p:cNvCxnSpPr>
          <p:nvPr/>
        </p:nvCxnSpPr>
        <p:spPr>
          <a:xfrm>
            <a:off x="250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419522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3779522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4139522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9" idx="4"/>
            <a:endCxn id="18" idx="0"/>
          </p:cNvCxnSpPr>
          <p:nvPr/>
        </p:nvCxnSpPr>
        <p:spPr>
          <a:xfrm flipH="1">
            <a:off x="359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9" idx="4"/>
            <a:endCxn id="20" idx="0"/>
          </p:cNvCxnSpPr>
          <p:nvPr/>
        </p:nvCxnSpPr>
        <p:spPr>
          <a:xfrm>
            <a:off x="395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871479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5231479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591479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4" idx="4"/>
            <a:endCxn id="23" idx="0"/>
          </p:cNvCxnSpPr>
          <p:nvPr/>
        </p:nvCxnSpPr>
        <p:spPr>
          <a:xfrm flipH="1">
            <a:off x="505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4"/>
            <a:endCxn id="25" idx="0"/>
          </p:cNvCxnSpPr>
          <p:nvPr/>
        </p:nvCxnSpPr>
        <p:spPr>
          <a:xfrm>
            <a:off x="541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6323436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6683436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7043436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接點 30"/>
          <p:cNvCxnSpPr>
            <a:stCxn id="29" idx="4"/>
            <a:endCxn id="28" idx="0"/>
          </p:cNvCxnSpPr>
          <p:nvPr/>
        </p:nvCxnSpPr>
        <p:spPr>
          <a:xfrm flipH="1">
            <a:off x="6503436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9" idx="4"/>
            <a:endCxn id="30" idx="0"/>
          </p:cNvCxnSpPr>
          <p:nvPr/>
        </p:nvCxnSpPr>
        <p:spPr>
          <a:xfrm>
            <a:off x="6863436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3047565" y="271025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5951479" y="271025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3" idx="4"/>
            <a:endCxn id="9" idx="0"/>
          </p:cNvCxnSpPr>
          <p:nvPr/>
        </p:nvCxnSpPr>
        <p:spPr>
          <a:xfrm flipH="1">
            <a:off x="2507565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3" idx="4"/>
            <a:endCxn id="19" idx="0"/>
          </p:cNvCxnSpPr>
          <p:nvPr/>
        </p:nvCxnSpPr>
        <p:spPr>
          <a:xfrm>
            <a:off x="3227565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4" idx="4"/>
            <a:endCxn id="24" idx="0"/>
          </p:cNvCxnSpPr>
          <p:nvPr/>
        </p:nvCxnSpPr>
        <p:spPr>
          <a:xfrm flipH="1">
            <a:off x="5411479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4" idx="4"/>
            <a:endCxn id="29" idx="0"/>
          </p:cNvCxnSpPr>
          <p:nvPr/>
        </p:nvCxnSpPr>
        <p:spPr>
          <a:xfrm>
            <a:off x="6131479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4499522" y="181850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>
            <a:stCxn id="47" idx="4"/>
            <a:endCxn id="33" idx="0"/>
          </p:cNvCxnSpPr>
          <p:nvPr/>
        </p:nvCxnSpPr>
        <p:spPr>
          <a:xfrm flipH="1">
            <a:off x="3227565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7" idx="4"/>
            <a:endCxn id="34" idx="0"/>
          </p:cNvCxnSpPr>
          <p:nvPr/>
        </p:nvCxnSpPr>
        <p:spPr>
          <a:xfrm>
            <a:off x="4679522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2586572" y="30119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97919" y="2093256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486814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939178" y="38454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412892" y="38297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52257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291397" y="20933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50342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383354" y="30010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644709" y="38669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086333" y="3829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544668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6983395" y="38297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1183225" y="4664579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2353642" y="465818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3139538" y="465818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038607" y="466457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5499363" y="463544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6215740" y="46396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4579234" y="466306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7043436" y="465818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769554" y="1234868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00594" y="2962067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697919" y="3840733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3709354" y="21157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4529481" y="18106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3077401" y="271025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2354849" y="354639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3812068" y="35236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5978851" y="26988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5263918" y="354639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6713334" y="35323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1940886" y="4266391"/>
            <a:ext cx="402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2717524" y="426639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3447896" y="42729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4175167" y="42793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4900894" y="42577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5627416" y="426639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7081107" y="42741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6362336" y="42793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十字形 95"/>
          <p:cNvSpPr/>
          <p:nvPr/>
        </p:nvSpPr>
        <p:spPr>
          <a:xfrm>
            <a:off x="2159586" y="3966292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十字形 96"/>
          <p:cNvSpPr/>
          <p:nvPr/>
        </p:nvSpPr>
        <p:spPr>
          <a:xfrm>
            <a:off x="3615393" y="3951135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十字形 97"/>
          <p:cNvSpPr/>
          <p:nvPr/>
        </p:nvSpPr>
        <p:spPr>
          <a:xfrm>
            <a:off x="5079324" y="3958609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580242" y="5169364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+ 5 &gt; 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3017606" y="5168774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+ 5 &gt; 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4546355" y="5168774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+ 5 &gt; 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3549144" y="5702853"/>
            <a:ext cx="2060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3549782" y="6082644"/>
            <a:ext cx="21259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十字形 102"/>
          <p:cNvSpPr/>
          <p:nvPr/>
        </p:nvSpPr>
        <p:spPr>
          <a:xfrm>
            <a:off x="6977318" y="3961658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十字形 104"/>
          <p:cNvSpPr/>
          <p:nvPr/>
        </p:nvSpPr>
        <p:spPr>
          <a:xfrm>
            <a:off x="4015572" y="3948267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十字形 105"/>
          <p:cNvSpPr/>
          <p:nvPr/>
        </p:nvSpPr>
        <p:spPr>
          <a:xfrm>
            <a:off x="5485804" y="3966292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十字形 106"/>
          <p:cNvSpPr/>
          <p:nvPr/>
        </p:nvSpPr>
        <p:spPr>
          <a:xfrm>
            <a:off x="6500509" y="3973725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十字形 107"/>
          <p:cNvSpPr/>
          <p:nvPr/>
        </p:nvSpPr>
        <p:spPr>
          <a:xfrm>
            <a:off x="6341436" y="3150221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角矩形 12"/>
          <p:cNvSpPr/>
          <p:nvPr/>
        </p:nvSpPr>
        <p:spPr>
          <a:xfrm>
            <a:off x="2224217" y="3517467"/>
            <a:ext cx="558177" cy="424622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532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4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80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 animBg="1"/>
      <p:bldP spid="97" grpId="0" animBg="1"/>
      <p:bldP spid="98" grpId="0" animBg="1"/>
      <p:bldP spid="7" grpId="0"/>
      <p:bldP spid="99" grpId="0"/>
      <p:bldP spid="100" grpId="0"/>
      <p:bldP spid="101" grpId="0"/>
      <p:bldP spid="102" grpId="0"/>
      <p:bldP spid="103" grpId="0" animBg="1"/>
      <p:bldP spid="105" grpId="0" animBg="1"/>
      <p:bldP spid="106" grpId="0" animBg="1"/>
      <p:bldP spid="107" grpId="0" animBg="1"/>
      <p:bldP spid="108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Sum-of-Subsets 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假設有</a:t>
            </a:r>
            <a:r>
              <a:rPr lang="en-US" altLang="zh-TW" dirty="0"/>
              <a:t>4</a:t>
            </a:r>
            <a:r>
              <a:rPr lang="zh-TW" altLang="en-US" dirty="0"/>
              <a:t>個正整數時：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>
                <a:solidFill>
                  <a:srgbClr val="C00000"/>
                </a:solidFill>
              </a:rPr>
              <a:t> = 3,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2</a:t>
            </a:r>
            <a:r>
              <a:rPr lang="en-US" altLang="zh-TW" dirty="0">
                <a:solidFill>
                  <a:srgbClr val="C00000"/>
                </a:solidFill>
              </a:rPr>
              <a:t> = 4,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3</a:t>
            </a:r>
            <a:r>
              <a:rPr lang="en-US" altLang="zh-TW" dirty="0">
                <a:solidFill>
                  <a:srgbClr val="C00000"/>
                </a:solidFill>
              </a:rPr>
              <a:t> = 5,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4</a:t>
            </a:r>
            <a:r>
              <a:rPr lang="en-US" altLang="zh-TW" dirty="0">
                <a:solidFill>
                  <a:srgbClr val="C00000"/>
                </a:solidFill>
              </a:rPr>
              <a:t> = 6</a:t>
            </a:r>
            <a:r>
              <a:rPr lang="zh-TW" altLang="en-US" dirty="0"/>
              <a:t>，且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13</a:t>
            </a:r>
            <a:r>
              <a:rPr lang="zh-TW" altLang="en-US" dirty="0"/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11" name="直線接點 10"/>
          <p:cNvCxnSpPr>
            <a:stCxn id="9" idx="4"/>
            <a:endCxn id="8" idx="0"/>
          </p:cNvCxnSpPr>
          <p:nvPr/>
        </p:nvCxnSpPr>
        <p:spPr>
          <a:xfrm flipH="1">
            <a:off x="214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036014" y="38833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/>
          <p:cNvCxnSpPr>
            <a:stCxn id="9" idx="4"/>
            <a:endCxn id="10" idx="0"/>
          </p:cNvCxnSpPr>
          <p:nvPr/>
        </p:nvCxnSpPr>
        <p:spPr>
          <a:xfrm>
            <a:off x="250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9" idx="4"/>
            <a:endCxn id="18" idx="0"/>
          </p:cNvCxnSpPr>
          <p:nvPr/>
        </p:nvCxnSpPr>
        <p:spPr>
          <a:xfrm flipH="1">
            <a:off x="359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9" idx="4"/>
            <a:endCxn id="20" idx="0"/>
          </p:cNvCxnSpPr>
          <p:nvPr/>
        </p:nvCxnSpPr>
        <p:spPr>
          <a:xfrm>
            <a:off x="395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4" idx="4"/>
            <a:endCxn id="23" idx="0"/>
          </p:cNvCxnSpPr>
          <p:nvPr/>
        </p:nvCxnSpPr>
        <p:spPr>
          <a:xfrm flipH="1">
            <a:off x="505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4"/>
            <a:endCxn id="25" idx="0"/>
          </p:cNvCxnSpPr>
          <p:nvPr/>
        </p:nvCxnSpPr>
        <p:spPr>
          <a:xfrm>
            <a:off x="541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3" idx="4"/>
            <a:endCxn id="9" idx="0"/>
          </p:cNvCxnSpPr>
          <p:nvPr/>
        </p:nvCxnSpPr>
        <p:spPr>
          <a:xfrm flipH="1">
            <a:off x="2507565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3" idx="4"/>
            <a:endCxn id="19" idx="0"/>
          </p:cNvCxnSpPr>
          <p:nvPr/>
        </p:nvCxnSpPr>
        <p:spPr>
          <a:xfrm>
            <a:off x="3227565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4" idx="4"/>
            <a:endCxn id="24" idx="0"/>
          </p:cNvCxnSpPr>
          <p:nvPr/>
        </p:nvCxnSpPr>
        <p:spPr>
          <a:xfrm flipH="1">
            <a:off x="5411479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4" idx="4"/>
            <a:endCxn id="29" idx="0"/>
          </p:cNvCxnSpPr>
          <p:nvPr/>
        </p:nvCxnSpPr>
        <p:spPr>
          <a:xfrm>
            <a:off x="6131479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4499522" y="181850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>
            <a:stCxn id="47" idx="4"/>
            <a:endCxn id="33" idx="0"/>
          </p:cNvCxnSpPr>
          <p:nvPr/>
        </p:nvCxnSpPr>
        <p:spPr>
          <a:xfrm flipH="1">
            <a:off x="3227565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7" idx="4"/>
            <a:endCxn id="34" idx="0"/>
          </p:cNvCxnSpPr>
          <p:nvPr/>
        </p:nvCxnSpPr>
        <p:spPr>
          <a:xfrm>
            <a:off x="4679522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2586572" y="30119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97919" y="2093256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486814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939178" y="38454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52257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291397" y="20933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50342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383354" y="30010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644709" y="38669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086333" y="3829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544668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00594" y="2962067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697919" y="3840733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3709354" y="21157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4529481" y="18106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3047565" y="2710250"/>
            <a:ext cx="360000" cy="369332"/>
            <a:chOff x="3047565" y="2710250"/>
            <a:chExt cx="360000" cy="369332"/>
          </a:xfrm>
        </p:grpSpPr>
        <p:sp>
          <p:nvSpPr>
            <p:cNvPr id="33" name="橢圓 32"/>
            <p:cNvSpPr/>
            <p:nvPr/>
          </p:nvSpPr>
          <p:spPr>
            <a:xfrm>
              <a:off x="3047565" y="271025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3077401" y="27102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327565" y="3546391"/>
            <a:ext cx="360000" cy="369332"/>
            <a:chOff x="2327565" y="3546391"/>
            <a:chExt cx="360000" cy="369332"/>
          </a:xfrm>
        </p:grpSpPr>
        <p:sp>
          <p:nvSpPr>
            <p:cNvPr id="9" name="橢圓 8"/>
            <p:cNvSpPr/>
            <p:nvPr/>
          </p:nvSpPr>
          <p:spPr>
            <a:xfrm>
              <a:off x="2327565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2354849" y="354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3779522" y="3523645"/>
            <a:ext cx="360000" cy="382746"/>
            <a:chOff x="3779522" y="3523645"/>
            <a:chExt cx="360000" cy="382746"/>
          </a:xfrm>
        </p:grpSpPr>
        <p:sp>
          <p:nvSpPr>
            <p:cNvPr id="19" name="橢圓 18"/>
            <p:cNvSpPr/>
            <p:nvPr/>
          </p:nvSpPr>
          <p:spPr>
            <a:xfrm>
              <a:off x="3779522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3812068" y="352364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5951479" y="2698812"/>
            <a:ext cx="360000" cy="371438"/>
            <a:chOff x="5951479" y="2698812"/>
            <a:chExt cx="360000" cy="371438"/>
          </a:xfrm>
        </p:grpSpPr>
        <p:sp>
          <p:nvSpPr>
            <p:cNvPr id="34" name="橢圓 33"/>
            <p:cNvSpPr/>
            <p:nvPr/>
          </p:nvSpPr>
          <p:spPr>
            <a:xfrm>
              <a:off x="5951479" y="271025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5978851" y="26988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5231479" y="3546391"/>
            <a:ext cx="360000" cy="369332"/>
            <a:chOff x="5231479" y="3546391"/>
            <a:chExt cx="360000" cy="369332"/>
          </a:xfrm>
        </p:grpSpPr>
        <p:sp>
          <p:nvSpPr>
            <p:cNvPr id="24" name="橢圓 23"/>
            <p:cNvSpPr/>
            <p:nvPr/>
          </p:nvSpPr>
          <p:spPr>
            <a:xfrm>
              <a:off x="5231479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5263918" y="354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6683436" y="3532393"/>
            <a:ext cx="360000" cy="373998"/>
            <a:chOff x="6683436" y="3532393"/>
            <a:chExt cx="360000" cy="373998"/>
          </a:xfrm>
        </p:grpSpPr>
        <p:sp>
          <p:nvSpPr>
            <p:cNvPr id="29" name="橢圓 28"/>
            <p:cNvSpPr/>
            <p:nvPr/>
          </p:nvSpPr>
          <p:spPr>
            <a:xfrm>
              <a:off x="6683436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6713334" y="353239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1934506" y="4266391"/>
            <a:ext cx="415499" cy="369332"/>
            <a:chOff x="1934506" y="4266391"/>
            <a:chExt cx="415499" cy="369332"/>
          </a:xfrm>
        </p:grpSpPr>
        <p:sp>
          <p:nvSpPr>
            <p:cNvPr id="8" name="橢圓 7"/>
            <p:cNvSpPr/>
            <p:nvPr/>
          </p:nvSpPr>
          <p:spPr>
            <a:xfrm>
              <a:off x="1967565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1934506" y="426639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2687565" y="4266391"/>
            <a:ext cx="360000" cy="369332"/>
            <a:chOff x="2687565" y="4266391"/>
            <a:chExt cx="360000" cy="369332"/>
          </a:xfrm>
        </p:grpSpPr>
        <p:sp>
          <p:nvSpPr>
            <p:cNvPr id="10" name="橢圓 9"/>
            <p:cNvSpPr/>
            <p:nvPr/>
          </p:nvSpPr>
          <p:spPr>
            <a:xfrm>
              <a:off x="2687565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2717524" y="426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3419522" y="4272944"/>
            <a:ext cx="360000" cy="369332"/>
            <a:chOff x="3419522" y="4272944"/>
            <a:chExt cx="360000" cy="369332"/>
          </a:xfrm>
        </p:grpSpPr>
        <p:sp>
          <p:nvSpPr>
            <p:cNvPr id="18" name="橢圓 17"/>
            <p:cNvSpPr/>
            <p:nvPr/>
          </p:nvSpPr>
          <p:spPr>
            <a:xfrm>
              <a:off x="3419522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3447896" y="42729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4139522" y="4275440"/>
            <a:ext cx="360000" cy="373229"/>
            <a:chOff x="4139522" y="4275440"/>
            <a:chExt cx="360000" cy="373229"/>
          </a:xfrm>
        </p:grpSpPr>
        <p:sp>
          <p:nvSpPr>
            <p:cNvPr id="20" name="橢圓 19"/>
            <p:cNvSpPr/>
            <p:nvPr/>
          </p:nvSpPr>
          <p:spPr>
            <a:xfrm>
              <a:off x="4139522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4175167" y="427933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4871479" y="4257751"/>
            <a:ext cx="360000" cy="377689"/>
            <a:chOff x="4871479" y="4257751"/>
            <a:chExt cx="360000" cy="377689"/>
          </a:xfrm>
        </p:grpSpPr>
        <p:sp>
          <p:nvSpPr>
            <p:cNvPr id="23" name="橢圓 22"/>
            <p:cNvSpPr/>
            <p:nvPr/>
          </p:nvSpPr>
          <p:spPr>
            <a:xfrm>
              <a:off x="4871479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4900894" y="425775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5591479" y="4266391"/>
            <a:ext cx="360000" cy="369332"/>
            <a:chOff x="5591479" y="4266391"/>
            <a:chExt cx="360000" cy="369332"/>
          </a:xfrm>
        </p:grpSpPr>
        <p:sp>
          <p:nvSpPr>
            <p:cNvPr id="25" name="橢圓 24"/>
            <p:cNvSpPr/>
            <p:nvPr/>
          </p:nvSpPr>
          <p:spPr>
            <a:xfrm>
              <a:off x="5591479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5627416" y="426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6" name="十字形 95"/>
          <p:cNvSpPr/>
          <p:nvPr/>
        </p:nvSpPr>
        <p:spPr>
          <a:xfrm>
            <a:off x="1994516" y="464107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文字方塊 100"/>
          <p:cNvSpPr txBox="1"/>
          <p:nvPr/>
        </p:nvSpPr>
        <p:spPr>
          <a:xfrm>
            <a:off x="6878445" y="1939299"/>
            <a:ext cx="2060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6879083" y="2319090"/>
            <a:ext cx="21259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697919" y="4732306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線接點 110"/>
          <p:cNvCxnSpPr>
            <a:endCxn id="109" idx="0"/>
          </p:cNvCxnSpPr>
          <p:nvPr/>
        </p:nvCxnSpPr>
        <p:spPr>
          <a:xfrm flipH="1">
            <a:off x="2509427" y="4649069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endCxn id="110" idx="0"/>
          </p:cNvCxnSpPr>
          <p:nvPr/>
        </p:nvCxnSpPr>
        <p:spPr>
          <a:xfrm>
            <a:off x="2869427" y="4649069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2418883" y="45724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2989386" y="45724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群組 49"/>
          <p:cNvGrpSpPr/>
          <p:nvPr/>
        </p:nvGrpSpPr>
        <p:grpSpPr>
          <a:xfrm>
            <a:off x="3049427" y="5016831"/>
            <a:ext cx="360000" cy="369332"/>
            <a:chOff x="3049427" y="5016831"/>
            <a:chExt cx="360000" cy="369332"/>
          </a:xfrm>
        </p:grpSpPr>
        <p:sp>
          <p:nvSpPr>
            <p:cNvPr id="110" name="橢圓 109"/>
            <p:cNvSpPr/>
            <p:nvPr/>
          </p:nvSpPr>
          <p:spPr>
            <a:xfrm>
              <a:off x="3049427" y="501811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5" name="文字方塊 114"/>
            <p:cNvSpPr txBox="1"/>
            <p:nvPr/>
          </p:nvSpPr>
          <p:spPr>
            <a:xfrm>
              <a:off x="3087098" y="50168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2292085" y="5018118"/>
            <a:ext cx="415499" cy="373229"/>
            <a:chOff x="2292085" y="5018118"/>
            <a:chExt cx="415499" cy="373229"/>
          </a:xfrm>
        </p:grpSpPr>
        <p:sp>
          <p:nvSpPr>
            <p:cNvPr id="109" name="橢圓 108"/>
            <p:cNvSpPr/>
            <p:nvPr/>
          </p:nvSpPr>
          <p:spPr>
            <a:xfrm>
              <a:off x="2329427" y="501811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2292085" y="50220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7" name="十字形 116"/>
          <p:cNvSpPr/>
          <p:nvPr/>
        </p:nvSpPr>
        <p:spPr>
          <a:xfrm>
            <a:off x="3092231" y="5384296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十字形 117"/>
          <p:cNvSpPr/>
          <p:nvPr/>
        </p:nvSpPr>
        <p:spPr>
          <a:xfrm>
            <a:off x="3449087" y="463305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十字形 119"/>
          <p:cNvSpPr/>
          <p:nvPr/>
        </p:nvSpPr>
        <p:spPr>
          <a:xfrm>
            <a:off x="4181623" y="4628250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十字形 121"/>
          <p:cNvSpPr/>
          <p:nvPr/>
        </p:nvSpPr>
        <p:spPr>
          <a:xfrm>
            <a:off x="4904456" y="464227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十字形 123"/>
          <p:cNvSpPr/>
          <p:nvPr/>
        </p:nvSpPr>
        <p:spPr>
          <a:xfrm>
            <a:off x="5632264" y="4641073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十字形 125"/>
          <p:cNvSpPr/>
          <p:nvPr/>
        </p:nvSpPr>
        <p:spPr>
          <a:xfrm>
            <a:off x="6725416" y="3907626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文字方塊 127"/>
          <p:cNvSpPr txBox="1"/>
          <p:nvPr/>
        </p:nvSpPr>
        <p:spPr>
          <a:xfrm>
            <a:off x="1708768" y="5451999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95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500"/>
                            </p:stCondLst>
                            <p:childTnLst>
                              <p:par>
                                <p:cTn id="2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4" grpId="0"/>
      <p:bldP spid="55" grpId="0"/>
      <p:bldP spid="56" grpId="0"/>
      <p:bldP spid="57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78" grpId="0"/>
      <p:bldP spid="79" grpId="0"/>
      <p:bldP spid="80" grpId="0"/>
      <p:bldP spid="96" grpId="0" animBg="1"/>
      <p:bldP spid="108" grpId="0"/>
      <p:bldP spid="113" grpId="0"/>
      <p:bldP spid="114" grpId="0"/>
      <p:bldP spid="117" grpId="0" animBg="1"/>
      <p:bldP spid="118" grpId="0" animBg="1"/>
      <p:bldP spid="120" grpId="0" animBg="1"/>
      <p:bldP spid="122" grpId="0" animBg="1"/>
      <p:bldP spid="124" grpId="0" animBg="1"/>
      <p:bldP spid="126" grpId="0" animBg="1"/>
      <p:bldP spid="1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Sum-of-Subsets 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假設有</a:t>
            </a:r>
            <a:r>
              <a:rPr lang="en-US" altLang="zh-TW" dirty="0"/>
              <a:t>4</a:t>
            </a:r>
            <a:r>
              <a:rPr lang="zh-TW" altLang="en-US" dirty="0"/>
              <a:t>個正整數時：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>
                <a:solidFill>
                  <a:srgbClr val="C00000"/>
                </a:solidFill>
              </a:rPr>
              <a:t> = 3,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2</a:t>
            </a:r>
            <a:r>
              <a:rPr lang="en-US" altLang="zh-TW" dirty="0">
                <a:solidFill>
                  <a:srgbClr val="C00000"/>
                </a:solidFill>
              </a:rPr>
              <a:t> = 4,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3</a:t>
            </a:r>
            <a:r>
              <a:rPr lang="en-US" altLang="zh-TW" dirty="0">
                <a:solidFill>
                  <a:srgbClr val="C00000"/>
                </a:solidFill>
              </a:rPr>
              <a:t> = 5,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baseline="-25000" dirty="0">
                <a:solidFill>
                  <a:srgbClr val="C00000"/>
                </a:solidFill>
              </a:rPr>
              <a:t>4</a:t>
            </a:r>
            <a:r>
              <a:rPr lang="en-US" altLang="zh-TW" dirty="0">
                <a:solidFill>
                  <a:srgbClr val="C00000"/>
                </a:solidFill>
              </a:rPr>
              <a:t> = 6</a:t>
            </a:r>
            <a:r>
              <a:rPr lang="zh-TW" altLang="en-US" dirty="0"/>
              <a:t>，且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13</a:t>
            </a:r>
            <a:r>
              <a:rPr lang="zh-TW" altLang="en-US" dirty="0"/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11" name="直線接點 10"/>
          <p:cNvCxnSpPr>
            <a:stCxn id="9" idx="4"/>
            <a:endCxn id="8" idx="0"/>
          </p:cNvCxnSpPr>
          <p:nvPr/>
        </p:nvCxnSpPr>
        <p:spPr>
          <a:xfrm flipH="1">
            <a:off x="214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036014" y="38833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/>
          <p:cNvCxnSpPr>
            <a:stCxn id="9" idx="4"/>
            <a:endCxn id="10" idx="0"/>
          </p:cNvCxnSpPr>
          <p:nvPr/>
        </p:nvCxnSpPr>
        <p:spPr>
          <a:xfrm>
            <a:off x="250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9" idx="4"/>
            <a:endCxn id="18" idx="0"/>
          </p:cNvCxnSpPr>
          <p:nvPr/>
        </p:nvCxnSpPr>
        <p:spPr>
          <a:xfrm flipH="1">
            <a:off x="359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9" idx="4"/>
            <a:endCxn id="20" idx="0"/>
          </p:cNvCxnSpPr>
          <p:nvPr/>
        </p:nvCxnSpPr>
        <p:spPr>
          <a:xfrm>
            <a:off x="395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4" idx="4"/>
            <a:endCxn id="23" idx="0"/>
          </p:cNvCxnSpPr>
          <p:nvPr/>
        </p:nvCxnSpPr>
        <p:spPr>
          <a:xfrm flipH="1">
            <a:off x="505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4"/>
            <a:endCxn id="25" idx="0"/>
          </p:cNvCxnSpPr>
          <p:nvPr/>
        </p:nvCxnSpPr>
        <p:spPr>
          <a:xfrm>
            <a:off x="541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3" idx="4"/>
            <a:endCxn id="9" idx="0"/>
          </p:cNvCxnSpPr>
          <p:nvPr/>
        </p:nvCxnSpPr>
        <p:spPr>
          <a:xfrm flipH="1">
            <a:off x="2507565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3" idx="4"/>
            <a:endCxn id="19" idx="0"/>
          </p:cNvCxnSpPr>
          <p:nvPr/>
        </p:nvCxnSpPr>
        <p:spPr>
          <a:xfrm>
            <a:off x="3227565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4" idx="4"/>
            <a:endCxn id="24" idx="0"/>
          </p:cNvCxnSpPr>
          <p:nvPr/>
        </p:nvCxnSpPr>
        <p:spPr>
          <a:xfrm flipH="1">
            <a:off x="5411479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4" idx="4"/>
            <a:endCxn id="29" idx="0"/>
          </p:cNvCxnSpPr>
          <p:nvPr/>
        </p:nvCxnSpPr>
        <p:spPr>
          <a:xfrm>
            <a:off x="6131479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4499522" y="181850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>
            <a:stCxn id="47" idx="4"/>
            <a:endCxn id="33" idx="0"/>
          </p:cNvCxnSpPr>
          <p:nvPr/>
        </p:nvCxnSpPr>
        <p:spPr>
          <a:xfrm flipH="1">
            <a:off x="3227565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7" idx="4"/>
            <a:endCxn id="34" idx="0"/>
          </p:cNvCxnSpPr>
          <p:nvPr/>
        </p:nvCxnSpPr>
        <p:spPr>
          <a:xfrm>
            <a:off x="4679522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2586572" y="30119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97919" y="2093256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486814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939178" y="38454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52257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291397" y="20933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50342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383354" y="30010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644709" y="38669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086333" y="3829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544668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00594" y="2962067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697919" y="3840733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3709354" y="21157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4529481" y="18106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3047565" y="2710250"/>
            <a:ext cx="360000" cy="369332"/>
            <a:chOff x="3047565" y="2710250"/>
            <a:chExt cx="360000" cy="369332"/>
          </a:xfrm>
        </p:grpSpPr>
        <p:sp>
          <p:nvSpPr>
            <p:cNvPr id="33" name="橢圓 32"/>
            <p:cNvSpPr/>
            <p:nvPr/>
          </p:nvSpPr>
          <p:spPr>
            <a:xfrm>
              <a:off x="3047565" y="271025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3077401" y="27102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327565" y="3546391"/>
            <a:ext cx="360000" cy="369332"/>
            <a:chOff x="2327565" y="3546391"/>
            <a:chExt cx="360000" cy="369332"/>
          </a:xfrm>
        </p:grpSpPr>
        <p:sp>
          <p:nvSpPr>
            <p:cNvPr id="9" name="橢圓 8"/>
            <p:cNvSpPr/>
            <p:nvPr/>
          </p:nvSpPr>
          <p:spPr>
            <a:xfrm>
              <a:off x="2327565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2354849" y="354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3779522" y="3523645"/>
            <a:ext cx="360000" cy="382746"/>
            <a:chOff x="3779522" y="3523645"/>
            <a:chExt cx="360000" cy="382746"/>
          </a:xfrm>
        </p:grpSpPr>
        <p:sp>
          <p:nvSpPr>
            <p:cNvPr id="19" name="橢圓 18"/>
            <p:cNvSpPr/>
            <p:nvPr/>
          </p:nvSpPr>
          <p:spPr>
            <a:xfrm>
              <a:off x="3779522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3812068" y="352364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5951479" y="2698812"/>
            <a:ext cx="360000" cy="371438"/>
            <a:chOff x="5951479" y="2698812"/>
            <a:chExt cx="360000" cy="371438"/>
          </a:xfrm>
        </p:grpSpPr>
        <p:sp>
          <p:nvSpPr>
            <p:cNvPr id="34" name="橢圓 33"/>
            <p:cNvSpPr/>
            <p:nvPr/>
          </p:nvSpPr>
          <p:spPr>
            <a:xfrm>
              <a:off x="5951479" y="271025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5978851" y="26988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5231479" y="3546391"/>
            <a:ext cx="360000" cy="369332"/>
            <a:chOff x="5231479" y="3546391"/>
            <a:chExt cx="360000" cy="369332"/>
          </a:xfrm>
        </p:grpSpPr>
        <p:sp>
          <p:nvSpPr>
            <p:cNvPr id="24" name="橢圓 23"/>
            <p:cNvSpPr/>
            <p:nvPr/>
          </p:nvSpPr>
          <p:spPr>
            <a:xfrm>
              <a:off x="5231479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5263918" y="354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6683436" y="3532393"/>
            <a:ext cx="360000" cy="373998"/>
            <a:chOff x="6683436" y="3532393"/>
            <a:chExt cx="360000" cy="373998"/>
          </a:xfrm>
        </p:grpSpPr>
        <p:sp>
          <p:nvSpPr>
            <p:cNvPr id="29" name="橢圓 28"/>
            <p:cNvSpPr/>
            <p:nvPr/>
          </p:nvSpPr>
          <p:spPr>
            <a:xfrm>
              <a:off x="6683436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6713334" y="353239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1934506" y="4266391"/>
            <a:ext cx="415499" cy="369332"/>
            <a:chOff x="1934506" y="4266391"/>
            <a:chExt cx="415499" cy="369332"/>
          </a:xfrm>
        </p:grpSpPr>
        <p:sp>
          <p:nvSpPr>
            <p:cNvPr id="8" name="橢圓 7"/>
            <p:cNvSpPr/>
            <p:nvPr/>
          </p:nvSpPr>
          <p:spPr>
            <a:xfrm>
              <a:off x="1967565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1934506" y="426639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2687565" y="4266391"/>
            <a:ext cx="360000" cy="369332"/>
            <a:chOff x="2687565" y="4266391"/>
            <a:chExt cx="360000" cy="369332"/>
          </a:xfrm>
        </p:grpSpPr>
        <p:sp>
          <p:nvSpPr>
            <p:cNvPr id="10" name="橢圓 9"/>
            <p:cNvSpPr/>
            <p:nvPr/>
          </p:nvSpPr>
          <p:spPr>
            <a:xfrm>
              <a:off x="2687565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2717524" y="426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3419522" y="4272944"/>
            <a:ext cx="360000" cy="369332"/>
            <a:chOff x="3419522" y="4272944"/>
            <a:chExt cx="360000" cy="369332"/>
          </a:xfrm>
        </p:grpSpPr>
        <p:sp>
          <p:nvSpPr>
            <p:cNvPr id="18" name="橢圓 17"/>
            <p:cNvSpPr/>
            <p:nvPr/>
          </p:nvSpPr>
          <p:spPr>
            <a:xfrm>
              <a:off x="3419522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3447896" y="42729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4139522" y="4275440"/>
            <a:ext cx="360000" cy="373229"/>
            <a:chOff x="4139522" y="4275440"/>
            <a:chExt cx="360000" cy="373229"/>
          </a:xfrm>
        </p:grpSpPr>
        <p:sp>
          <p:nvSpPr>
            <p:cNvPr id="20" name="橢圓 19"/>
            <p:cNvSpPr/>
            <p:nvPr/>
          </p:nvSpPr>
          <p:spPr>
            <a:xfrm>
              <a:off x="4139522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4175167" y="427933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4871479" y="4257751"/>
            <a:ext cx="360000" cy="377689"/>
            <a:chOff x="4871479" y="4257751"/>
            <a:chExt cx="360000" cy="377689"/>
          </a:xfrm>
        </p:grpSpPr>
        <p:sp>
          <p:nvSpPr>
            <p:cNvPr id="23" name="橢圓 22"/>
            <p:cNvSpPr/>
            <p:nvPr/>
          </p:nvSpPr>
          <p:spPr>
            <a:xfrm>
              <a:off x="4871479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4900894" y="425775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5591479" y="4266391"/>
            <a:ext cx="360000" cy="369332"/>
            <a:chOff x="5591479" y="4266391"/>
            <a:chExt cx="360000" cy="369332"/>
          </a:xfrm>
        </p:grpSpPr>
        <p:sp>
          <p:nvSpPr>
            <p:cNvPr id="25" name="橢圓 24"/>
            <p:cNvSpPr/>
            <p:nvPr/>
          </p:nvSpPr>
          <p:spPr>
            <a:xfrm>
              <a:off x="5591479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5627416" y="426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6" name="十字形 95"/>
          <p:cNvSpPr/>
          <p:nvPr/>
        </p:nvSpPr>
        <p:spPr>
          <a:xfrm>
            <a:off x="1994516" y="464107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文字方塊 107"/>
          <p:cNvSpPr txBox="1"/>
          <p:nvPr/>
        </p:nvSpPr>
        <p:spPr>
          <a:xfrm>
            <a:off x="697919" y="4732306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線接點 110"/>
          <p:cNvCxnSpPr>
            <a:endCxn id="109" idx="0"/>
          </p:cNvCxnSpPr>
          <p:nvPr/>
        </p:nvCxnSpPr>
        <p:spPr>
          <a:xfrm flipH="1">
            <a:off x="2509427" y="4649069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endCxn id="110" idx="0"/>
          </p:cNvCxnSpPr>
          <p:nvPr/>
        </p:nvCxnSpPr>
        <p:spPr>
          <a:xfrm>
            <a:off x="2869427" y="4649069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2418883" y="45724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2989386" y="45724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群組 49"/>
          <p:cNvGrpSpPr/>
          <p:nvPr/>
        </p:nvGrpSpPr>
        <p:grpSpPr>
          <a:xfrm>
            <a:off x="3049427" y="5016831"/>
            <a:ext cx="360000" cy="369332"/>
            <a:chOff x="3049427" y="5016831"/>
            <a:chExt cx="360000" cy="369332"/>
          </a:xfrm>
        </p:grpSpPr>
        <p:sp>
          <p:nvSpPr>
            <p:cNvPr id="110" name="橢圓 109"/>
            <p:cNvSpPr/>
            <p:nvPr/>
          </p:nvSpPr>
          <p:spPr>
            <a:xfrm>
              <a:off x="3049427" y="501811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5" name="文字方塊 114"/>
            <p:cNvSpPr txBox="1"/>
            <p:nvPr/>
          </p:nvSpPr>
          <p:spPr>
            <a:xfrm>
              <a:off x="3087098" y="50168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2292085" y="5018118"/>
            <a:ext cx="415499" cy="373229"/>
            <a:chOff x="2292085" y="5018118"/>
            <a:chExt cx="415499" cy="373229"/>
          </a:xfrm>
        </p:grpSpPr>
        <p:sp>
          <p:nvSpPr>
            <p:cNvPr id="109" name="橢圓 108"/>
            <p:cNvSpPr/>
            <p:nvPr/>
          </p:nvSpPr>
          <p:spPr>
            <a:xfrm>
              <a:off x="2329427" y="501811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2292085" y="502201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7" name="十字形 116"/>
          <p:cNvSpPr/>
          <p:nvPr/>
        </p:nvSpPr>
        <p:spPr>
          <a:xfrm>
            <a:off x="3092231" y="5384296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十字形 117"/>
          <p:cNvSpPr/>
          <p:nvPr/>
        </p:nvSpPr>
        <p:spPr>
          <a:xfrm>
            <a:off x="3449087" y="463305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十字形 119"/>
          <p:cNvSpPr/>
          <p:nvPr/>
        </p:nvSpPr>
        <p:spPr>
          <a:xfrm>
            <a:off x="4181623" y="4628250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十字形 121"/>
          <p:cNvSpPr/>
          <p:nvPr/>
        </p:nvSpPr>
        <p:spPr>
          <a:xfrm>
            <a:off x="4904456" y="464227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十字形 123"/>
          <p:cNvSpPr/>
          <p:nvPr/>
        </p:nvSpPr>
        <p:spPr>
          <a:xfrm>
            <a:off x="5632264" y="4641073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十字形 125"/>
          <p:cNvSpPr/>
          <p:nvPr/>
        </p:nvSpPr>
        <p:spPr>
          <a:xfrm>
            <a:off x="6725416" y="3907626"/>
            <a:ext cx="288000" cy="288000"/>
          </a:xfrm>
          <a:prstGeom prst="plus">
            <a:avLst>
              <a:gd name="adj" fmla="val 35726"/>
            </a:avLst>
          </a:prstGeom>
          <a:solidFill>
            <a:srgbClr val="0000FF"/>
          </a:solidFill>
          <a:ln>
            <a:solidFill>
              <a:srgbClr val="0000FF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文字方塊 127"/>
          <p:cNvSpPr txBox="1"/>
          <p:nvPr/>
        </p:nvSpPr>
        <p:spPr>
          <a:xfrm>
            <a:off x="1708768" y="5451999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7678410" y="180177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2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7678410" y="2611471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= 2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7678410" y="3492867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= 2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7680963" y="4235330"/>
            <a:ext cx="736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8= 2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7678410" y="4980157"/>
            <a:ext cx="864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16= 2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/>
              <p:cNvSpPr txBox="1"/>
              <p:nvPr/>
            </p:nvSpPr>
            <p:spPr>
              <a:xfrm>
                <a:off x="4548960" y="6138136"/>
                <a:ext cx="4275658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0" name="文字方塊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60" y="6138136"/>
                <a:ext cx="4275658" cy="314766"/>
              </a:xfrm>
              <a:prstGeom prst="rect">
                <a:avLst/>
              </a:prstGeom>
              <a:blipFill rotWithShape="0">
                <a:blip r:embed="rId2"/>
                <a:stretch>
                  <a:fillRect l="-855" t="-1923" r="-855"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文字方塊 102"/>
          <p:cNvSpPr txBox="1"/>
          <p:nvPr/>
        </p:nvSpPr>
        <p:spPr>
          <a:xfrm>
            <a:off x="7678400" y="5576328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 = 2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52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  <p:bldP spid="97" grpId="0"/>
      <p:bldP spid="98" grpId="0"/>
      <p:bldP spid="99" grpId="0"/>
      <p:bldP spid="100" grpId="0"/>
      <p:bldP spid="10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Sum-of-Subsets (6/6)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當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zh-TW" altLang="en-US" dirty="0"/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89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cxnSp>
        <p:nvCxnSpPr>
          <p:cNvPr id="11" name="直線接點 10"/>
          <p:cNvCxnSpPr>
            <a:stCxn id="9" idx="4"/>
            <a:endCxn id="8" idx="0"/>
          </p:cNvCxnSpPr>
          <p:nvPr/>
        </p:nvCxnSpPr>
        <p:spPr>
          <a:xfrm flipH="1">
            <a:off x="214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036014" y="38833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/>
          <p:cNvCxnSpPr>
            <a:stCxn id="9" idx="4"/>
            <a:endCxn id="10" idx="0"/>
          </p:cNvCxnSpPr>
          <p:nvPr/>
        </p:nvCxnSpPr>
        <p:spPr>
          <a:xfrm>
            <a:off x="250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9" idx="4"/>
            <a:endCxn id="18" idx="0"/>
          </p:cNvCxnSpPr>
          <p:nvPr/>
        </p:nvCxnSpPr>
        <p:spPr>
          <a:xfrm flipH="1">
            <a:off x="359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9" idx="4"/>
            <a:endCxn id="20" idx="0"/>
          </p:cNvCxnSpPr>
          <p:nvPr/>
        </p:nvCxnSpPr>
        <p:spPr>
          <a:xfrm>
            <a:off x="395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4" idx="4"/>
            <a:endCxn id="23" idx="0"/>
          </p:cNvCxnSpPr>
          <p:nvPr/>
        </p:nvCxnSpPr>
        <p:spPr>
          <a:xfrm flipH="1">
            <a:off x="505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4"/>
            <a:endCxn id="25" idx="0"/>
          </p:cNvCxnSpPr>
          <p:nvPr/>
        </p:nvCxnSpPr>
        <p:spPr>
          <a:xfrm>
            <a:off x="541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3" idx="4"/>
            <a:endCxn id="9" idx="0"/>
          </p:cNvCxnSpPr>
          <p:nvPr/>
        </p:nvCxnSpPr>
        <p:spPr>
          <a:xfrm flipH="1">
            <a:off x="2507565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3" idx="4"/>
            <a:endCxn id="19" idx="0"/>
          </p:cNvCxnSpPr>
          <p:nvPr/>
        </p:nvCxnSpPr>
        <p:spPr>
          <a:xfrm>
            <a:off x="3227565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4" idx="4"/>
            <a:endCxn id="24" idx="0"/>
          </p:cNvCxnSpPr>
          <p:nvPr/>
        </p:nvCxnSpPr>
        <p:spPr>
          <a:xfrm flipH="1">
            <a:off x="5411479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4" idx="4"/>
            <a:endCxn id="29" idx="0"/>
          </p:cNvCxnSpPr>
          <p:nvPr/>
        </p:nvCxnSpPr>
        <p:spPr>
          <a:xfrm>
            <a:off x="6131479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4499522" y="181850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>
            <a:stCxn id="47" idx="4"/>
            <a:endCxn id="33" idx="0"/>
          </p:cNvCxnSpPr>
          <p:nvPr/>
        </p:nvCxnSpPr>
        <p:spPr>
          <a:xfrm flipH="1">
            <a:off x="3227565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7" idx="4"/>
            <a:endCxn id="34" idx="0"/>
          </p:cNvCxnSpPr>
          <p:nvPr/>
        </p:nvCxnSpPr>
        <p:spPr>
          <a:xfrm>
            <a:off x="4679522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2586572" y="30119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97919" y="2093256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486814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939178" y="38454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52257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291397" y="20933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50342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383354" y="30010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644709" y="38669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086333" y="3829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544668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00594" y="2962067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697919" y="3840733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3709354" y="21157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4529481" y="18106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3047565" y="2710250"/>
            <a:ext cx="360000" cy="369332"/>
            <a:chOff x="3047565" y="2710250"/>
            <a:chExt cx="360000" cy="369332"/>
          </a:xfrm>
        </p:grpSpPr>
        <p:sp>
          <p:nvSpPr>
            <p:cNvPr id="33" name="橢圓 32"/>
            <p:cNvSpPr/>
            <p:nvPr/>
          </p:nvSpPr>
          <p:spPr>
            <a:xfrm>
              <a:off x="3047565" y="271025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3077401" y="27102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327565" y="3546391"/>
            <a:ext cx="360000" cy="369332"/>
            <a:chOff x="2327565" y="3546391"/>
            <a:chExt cx="360000" cy="369332"/>
          </a:xfrm>
        </p:grpSpPr>
        <p:sp>
          <p:nvSpPr>
            <p:cNvPr id="9" name="橢圓 8"/>
            <p:cNvSpPr/>
            <p:nvPr/>
          </p:nvSpPr>
          <p:spPr>
            <a:xfrm>
              <a:off x="2327565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2354849" y="354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3779522" y="3523645"/>
            <a:ext cx="360000" cy="382746"/>
            <a:chOff x="3779522" y="3523645"/>
            <a:chExt cx="360000" cy="382746"/>
          </a:xfrm>
        </p:grpSpPr>
        <p:sp>
          <p:nvSpPr>
            <p:cNvPr id="19" name="橢圓 18"/>
            <p:cNvSpPr/>
            <p:nvPr/>
          </p:nvSpPr>
          <p:spPr>
            <a:xfrm>
              <a:off x="3779522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3812068" y="352364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5951479" y="2698812"/>
            <a:ext cx="360000" cy="371438"/>
            <a:chOff x="5951479" y="2698812"/>
            <a:chExt cx="360000" cy="371438"/>
          </a:xfrm>
        </p:grpSpPr>
        <p:sp>
          <p:nvSpPr>
            <p:cNvPr id="34" name="橢圓 33"/>
            <p:cNvSpPr/>
            <p:nvPr/>
          </p:nvSpPr>
          <p:spPr>
            <a:xfrm>
              <a:off x="5951479" y="271025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5978851" y="26988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5231479" y="3546391"/>
            <a:ext cx="360000" cy="369332"/>
            <a:chOff x="5231479" y="3546391"/>
            <a:chExt cx="360000" cy="369332"/>
          </a:xfrm>
        </p:grpSpPr>
        <p:sp>
          <p:nvSpPr>
            <p:cNvPr id="24" name="橢圓 23"/>
            <p:cNvSpPr/>
            <p:nvPr/>
          </p:nvSpPr>
          <p:spPr>
            <a:xfrm>
              <a:off x="5231479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5263918" y="354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6683436" y="3532393"/>
            <a:ext cx="360000" cy="373998"/>
            <a:chOff x="6683436" y="3532393"/>
            <a:chExt cx="360000" cy="373998"/>
          </a:xfrm>
        </p:grpSpPr>
        <p:sp>
          <p:nvSpPr>
            <p:cNvPr id="29" name="橢圓 28"/>
            <p:cNvSpPr/>
            <p:nvPr/>
          </p:nvSpPr>
          <p:spPr>
            <a:xfrm>
              <a:off x="6683436" y="354639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6713334" y="353239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1967565" y="4266391"/>
            <a:ext cx="360000" cy="369332"/>
            <a:chOff x="1967565" y="4266391"/>
            <a:chExt cx="360000" cy="369332"/>
          </a:xfrm>
        </p:grpSpPr>
        <p:sp>
          <p:nvSpPr>
            <p:cNvPr id="8" name="橢圓 7"/>
            <p:cNvSpPr/>
            <p:nvPr/>
          </p:nvSpPr>
          <p:spPr>
            <a:xfrm>
              <a:off x="1967565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1992214" y="426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2687565" y="4266391"/>
            <a:ext cx="360000" cy="369332"/>
            <a:chOff x="2687565" y="4266391"/>
            <a:chExt cx="360000" cy="369332"/>
          </a:xfrm>
        </p:grpSpPr>
        <p:sp>
          <p:nvSpPr>
            <p:cNvPr id="10" name="橢圓 9"/>
            <p:cNvSpPr/>
            <p:nvPr/>
          </p:nvSpPr>
          <p:spPr>
            <a:xfrm>
              <a:off x="2687565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2717524" y="426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3419522" y="4272944"/>
            <a:ext cx="360000" cy="369332"/>
            <a:chOff x="3419522" y="4272944"/>
            <a:chExt cx="360000" cy="369332"/>
          </a:xfrm>
        </p:grpSpPr>
        <p:sp>
          <p:nvSpPr>
            <p:cNvPr id="18" name="橢圓 17"/>
            <p:cNvSpPr/>
            <p:nvPr/>
          </p:nvSpPr>
          <p:spPr>
            <a:xfrm>
              <a:off x="3419522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3447896" y="42729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4139522" y="4275440"/>
            <a:ext cx="360000" cy="373229"/>
            <a:chOff x="4139522" y="4275440"/>
            <a:chExt cx="360000" cy="373229"/>
          </a:xfrm>
        </p:grpSpPr>
        <p:sp>
          <p:nvSpPr>
            <p:cNvPr id="20" name="橢圓 19"/>
            <p:cNvSpPr/>
            <p:nvPr/>
          </p:nvSpPr>
          <p:spPr>
            <a:xfrm>
              <a:off x="4139522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4175167" y="427933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4871479" y="4257751"/>
            <a:ext cx="360000" cy="377689"/>
            <a:chOff x="4871479" y="4257751"/>
            <a:chExt cx="360000" cy="377689"/>
          </a:xfrm>
        </p:grpSpPr>
        <p:sp>
          <p:nvSpPr>
            <p:cNvPr id="23" name="橢圓 22"/>
            <p:cNvSpPr/>
            <p:nvPr/>
          </p:nvSpPr>
          <p:spPr>
            <a:xfrm>
              <a:off x="4871479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4900894" y="425775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5591479" y="4266391"/>
            <a:ext cx="360000" cy="369332"/>
            <a:chOff x="5591479" y="4266391"/>
            <a:chExt cx="360000" cy="369332"/>
          </a:xfrm>
        </p:grpSpPr>
        <p:sp>
          <p:nvSpPr>
            <p:cNvPr id="25" name="橢圓 24"/>
            <p:cNvSpPr/>
            <p:nvPr/>
          </p:nvSpPr>
          <p:spPr>
            <a:xfrm>
              <a:off x="5591479" y="427544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5627416" y="4266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6" name="十字形 95"/>
          <p:cNvSpPr/>
          <p:nvPr/>
        </p:nvSpPr>
        <p:spPr>
          <a:xfrm>
            <a:off x="4181208" y="4629079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文字方塊 107"/>
          <p:cNvSpPr txBox="1"/>
          <p:nvPr/>
        </p:nvSpPr>
        <p:spPr>
          <a:xfrm>
            <a:off x="697919" y="4732306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線接點 110"/>
          <p:cNvCxnSpPr>
            <a:endCxn id="109" idx="0"/>
          </p:cNvCxnSpPr>
          <p:nvPr/>
        </p:nvCxnSpPr>
        <p:spPr>
          <a:xfrm flipH="1">
            <a:off x="6513006" y="3915723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endCxn id="110" idx="0"/>
          </p:cNvCxnSpPr>
          <p:nvPr/>
        </p:nvCxnSpPr>
        <p:spPr>
          <a:xfrm>
            <a:off x="6873006" y="3915723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6422462" y="3839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6992965" y="3839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群組 49"/>
          <p:cNvGrpSpPr/>
          <p:nvPr/>
        </p:nvGrpSpPr>
        <p:grpSpPr>
          <a:xfrm>
            <a:off x="7053006" y="4283485"/>
            <a:ext cx="360000" cy="369332"/>
            <a:chOff x="3049427" y="5016831"/>
            <a:chExt cx="360000" cy="369332"/>
          </a:xfrm>
        </p:grpSpPr>
        <p:sp>
          <p:nvSpPr>
            <p:cNvPr id="110" name="橢圓 109"/>
            <p:cNvSpPr/>
            <p:nvPr/>
          </p:nvSpPr>
          <p:spPr>
            <a:xfrm>
              <a:off x="3049427" y="501811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5" name="文字方塊 114"/>
            <p:cNvSpPr txBox="1"/>
            <p:nvPr/>
          </p:nvSpPr>
          <p:spPr>
            <a:xfrm>
              <a:off x="3087098" y="50168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6333006" y="4284772"/>
            <a:ext cx="360000" cy="373229"/>
            <a:chOff x="2329427" y="5018118"/>
            <a:chExt cx="360000" cy="373229"/>
          </a:xfrm>
        </p:grpSpPr>
        <p:sp>
          <p:nvSpPr>
            <p:cNvPr id="109" name="橢圓 108"/>
            <p:cNvSpPr/>
            <p:nvPr/>
          </p:nvSpPr>
          <p:spPr>
            <a:xfrm>
              <a:off x="2329427" y="501811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2349793" y="50220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8" name="十字形 117"/>
          <p:cNvSpPr/>
          <p:nvPr/>
        </p:nvSpPr>
        <p:spPr>
          <a:xfrm>
            <a:off x="3449087" y="4633053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十字形 121"/>
          <p:cNvSpPr/>
          <p:nvPr/>
        </p:nvSpPr>
        <p:spPr>
          <a:xfrm>
            <a:off x="4904456" y="464227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文字方塊 127"/>
          <p:cNvSpPr txBox="1"/>
          <p:nvPr/>
        </p:nvSpPr>
        <p:spPr>
          <a:xfrm>
            <a:off x="6560682" y="5317860"/>
            <a:ext cx="643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7678410" y="180177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2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7678410" y="2611471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= 2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7678410" y="3492867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= 2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7680963" y="4235330"/>
            <a:ext cx="736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8= 2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7678410" y="498015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640110" y="6072001"/>
            <a:ext cx="50251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i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sz="2000" b="1" i="1" baseline="30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7678400" y="5576328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= 2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十字形 100"/>
          <p:cNvSpPr/>
          <p:nvPr/>
        </p:nvSpPr>
        <p:spPr>
          <a:xfrm>
            <a:off x="1982038" y="4636330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十字形 101"/>
          <p:cNvSpPr/>
          <p:nvPr/>
        </p:nvSpPr>
        <p:spPr>
          <a:xfrm>
            <a:off x="2721712" y="4628250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十字形 103"/>
          <p:cNvSpPr/>
          <p:nvPr/>
        </p:nvSpPr>
        <p:spPr>
          <a:xfrm>
            <a:off x="5619572" y="4627671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十字形 104"/>
          <p:cNvSpPr/>
          <p:nvPr/>
        </p:nvSpPr>
        <p:spPr>
          <a:xfrm>
            <a:off x="6365454" y="4630097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文字方塊 105"/>
          <p:cNvSpPr txBox="1"/>
          <p:nvPr/>
        </p:nvSpPr>
        <p:spPr>
          <a:xfrm>
            <a:off x="691012" y="5467388"/>
            <a:ext cx="77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" name="直線接點 106"/>
          <p:cNvCxnSpPr>
            <a:endCxn id="123" idx="0"/>
          </p:cNvCxnSpPr>
          <p:nvPr/>
        </p:nvCxnSpPr>
        <p:spPr>
          <a:xfrm flipH="1">
            <a:off x="6874075" y="4654104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6783531" y="45775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1" name="群組 120"/>
          <p:cNvGrpSpPr/>
          <p:nvPr/>
        </p:nvGrpSpPr>
        <p:grpSpPr>
          <a:xfrm>
            <a:off x="6694075" y="5023153"/>
            <a:ext cx="360000" cy="373229"/>
            <a:chOff x="2329427" y="5018118"/>
            <a:chExt cx="360000" cy="373229"/>
          </a:xfrm>
        </p:grpSpPr>
        <p:sp>
          <p:nvSpPr>
            <p:cNvPr id="123" name="橢圓 122"/>
            <p:cNvSpPr/>
            <p:nvPr/>
          </p:nvSpPr>
          <p:spPr>
            <a:xfrm>
              <a:off x="2329427" y="501811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2349793" y="50220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76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  <p:bldP spid="97" grpId="0"/>
      <p:bldP spid="98" grpId="0"/>
      <p:bldP spid="99" grpId="0"/>
      <p:bldP spid="100" grpId="0"/>
      <p:bldP spid="10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圖形著色 </a:t>
            </a:r>
            <a:r>
              <a:rPr lang="en-US" altLang="zh-TW" dirty="0"/>
              <a:t>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2410" y="1329681"/>
            <a:ext cx="5646007" cy="5267671"/>
          </a:xfrm>
        </p:spPr>
        <p:txBody>
          <a:bodyPr/>
          <a:lstStyle/>
          <a:p>
            <a:r>
              <a:rPr lang="zh-TW" altLang="en-US" dirty="0"/>
              <a:t>應用於</a:t>
            </a:r>
            <a:r>
              <a:rPr lang="zh-TW" altLang="en-US" dirty="0">
                <a:solidFill>
                  <a:srgbClr val="0000FF"/>
                </a:solidFill>
              </a:rPr>
              <a:t>地圖著色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世界地圖這樣由大小、形狀不一許多國家組成的範圍，究竟要用多少顏色，才足夠區分每個國家，而不會有</a:t>
            </a:r>
            <a:r>
              <a:rPr lang="zh-TW" altLang="en-US" dirty="0">
                <a:solidFill>
                  <a:srgbClr val="C00000"/>
                </a:solidFill>
              </a:rPr>
              <a:t>鄰國同色的困擾</a:t>
            </a:r>
            <a:r>
              <a:rPr lang="zh-TW" altLang="en-US" dirty="0"/>
              <a:t>？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0000FF"/>
                </a:solidFill>
              </a:rPr>
              <a:t>四色定理</a:t>
            </a:r>
            <a:r>
              <a:rPr lang="zh-TW" altLang="en-US" dirty="0"/>
              <a:t>：只要 </a:t>
            </a:r>
            <a:r>
              <a:rPr lang="en-US" altLang="zh-TW" dirty="0">
                <a:solidFill>
                  <a:srgbClr val="C00000"/>
                </a:solidFill>
              </a:rPr>
              <a:t>4 </a:t>
            </a:r>
            <a:r>
              <a:rPr lang="zh-TW" altLang="en-US" dirty="0">
                <a:solidFill>
                  <a:srgbClr val="C00000"/>
                </a:solidFill>
              </a:rPr>
              <a:t>個顏色</a:t>
            </a:r>
            <a:r>
              <a:rPr lang="zh-TW" altLang="en-US" dirty="0"/>
              <a:t>就能保證塗好塗滿不會撞色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2585" t="3243"/>
          <a:stretch/>
        </p:blipFill>
        <p:spPr>
          <a:xfrm>
            <a:off x="5798417" y="1307501"/>
            <a:ext cx="2950047" cy="543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8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圖形著色 </a:t>
            </a:r>
            <a:r>
              <a:rPr lang="en-US" altLang="zh-TW" dirty="0"/>
              <a:t>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>
                <a:solidFill>
                  <a:srgbClr val="0000FF"/>
                </a:solidFill>
              </a:rPr>
              <a:t>k</a:t>
            </a:r>
            <a:r>
              <a:rPr lang="en-US" altLang="zh-TW" dirty="0">
                <a:solidFill>
                  <a:srgbClr val="0000FF"/>
                </a:solidFill>
              </a:rPr>
              <a:t>-</a:t>
            </a:r>
            <a:r>
              <a:rPr lang="zh-TW" altLang="en-US" dirty="0">
                <a:solidFill>
                  <a:srgbClr val="0000FF"/>
                </a:solidFill>
              </a:rPr>
              <a:t>著色問題</a:t>
            </a:r>
            <a:r>
              <a:rPr lang="zh-TW" altLang="en-US" dirty="0"/>
              <a:t>：至多使用</a:t>
            </a:r>
            <a:r>
              <a:rPr lang="en-US" altLang="zh-TW" i="1" dirty="0">
                <a:solidFill>
                  <a:srgbClr val="C00000"/>
                </a:solidFill>
              </a:rPr>
              <a:t>k</a:t>
            </a:r>
            <a:r>
              <a:rPr lang="zh-TW" altLang="en-US" dirty="0">
                <a:solidFill>
                  <a:srgbClr val="C00000"/>
                </a:solidFill>
              </a:rPr>
              <a:t>種顏色</a:t>
            </a:r>
            <a:r>
              <a:rPr lang="zh-TW" altLang="en-US" dirty="0"/>
              <a:t>可以著色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平面圖</a:t>
            </a:r>
            <a:r>
              <a:rPr lang="en-US" altLang="zh-TW" dirty="0">
                <a:solidFill>
                  <a:srgbClr val="0000FF"/>
                </a:solidFill>
              </a:rPr>
              <a:t>(planar)</a:t>
            </a:r>
            <a:r>
              <a:rPr lang="zh-TW" altLang="en-US" dirty="0"/>
              <a:t>：邊線不相交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3813722" y="1713479"/>
            <a:ext cx="1880947" cy="1670382"/>
            <a:chOff x="3813722" y="1713479"/>
            <a:chExt cx="1880947" cy="1670382"/>
          </a:xfrm>
        </p:grpSpPr>
        <p:sp>
          <p:nvSpPr>
            <p:cNvPr id="7" name="橢圓 6"/>
            <p:cNvSpPr/>
            <p:nvPr/>
          </p:nvSpPr>
          <p:spPr>
            <a:xfrm>
              <a:off x="3813722" y="1713479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5334669" y="1713479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3813722" y="302386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5334669" y="302386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接點 10"/>
            <p:cNvCxnSpPr>
              <a:stCxn id="7" idx="4"/>
              <a:endCxn id="9" idx="0"/>
            </p:cNvCxnSpPr>
            <p:nvPr/>
          </p:nvCxnSpPr>
          <p:spPr>
            <a:xfrm>
              <a:off x="3993722" y="2073479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>
              <a:stCxn id="7" idx="5"/>
              <a:endCxn id="10" idx="1"/>
            </p:cNvCxnSpPr>
            <p:nvPr/>
          </p:nvCxnSpPr>
          <p:spPr>
            <a:xfrm>
              <a:off x="4121001" y="2020758"/>
              <a:ext cx="1266389" cy="10558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>
              <a:stCxn id="8" idx="4"/>
              <a:endCxn id="10" idx="0"/>
            </p:cNvCxnSpPr>
            <p:nvPr/>
          </p:nvCxnSpPr>
          <p:spPr>
            <a:xfrm>
              <a:off x="5514669" y="2073479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stCxn id="8" idx="2"/>
              <a:endCxn id="7" idx="6"/>
            </p:cNvCxnSpPr>
            <p:nvPr/>
          </p:nvCxnSpPr>
          <p:spPr>
            <a:xfrm flipH="1">
              <a:off x="4173722" y="1893479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9" idx="6"/>
              <a:endCxn id="10" idx="2"/>
            </p:cNvCxnSpPr>
            <p:nvPr/>
          </p:nvCxnSpPr>
          <p:spPr>
            <a:xfrm>
              <a:off x="4173722" y="3203861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字方塊 26"/>
          <p:cNvSpPr txBox="1"/>
          <p:nvPr/>
        </p:nvSpPr>
        <p:spPr>
          <a:xfrm>
            <a:off x="6324590" y="2172333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著色問題的解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6324590" y="2572443"/>
            <a:ext cx="2193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著色問題的解</a:t>
            </a:r>
          </a:p>
        </p:txBody>
      </p:sp>
      <p:grpSp>
        <p:nvGrpSpPr>
          <p:cNvPr id="13" name="群組 12"/>
          <p:cNvGrpSpPr/>
          <p:nvPr/>
        </p:nvGrpSpPr>
        <p:grpSpPr>
          <a:xfrm>
            <a:off x="3813722" y="4207845"/>
            <a:ext cx="1880947" cy="2351933"/>
            <a:chOff x="3813722" y="4207845"/>
            <a:chExt cx="1880947" cy="2351933"/>
          </a:xfrm>
        </p:grpSpPr>
        <p:sp>
          <p:nvSpPr>
            <p:cNvPr id="30" name="橢圓 29"/>
            <p:cNvSpPr/>
            <p:nvPr/>
          </p:nvSpPr>
          <p:spPr>
            <a:xfrm>
              <a:off x="3813722" y="420784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5334669" y="420784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/>
            <p:cNvSpPr/>
            <p:nvPr/>
          </p:nvSpPr>
          <p:spPr>
            <a:xfrm>
              <a:off x="3813722" y="551822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/>
            <p:cNvSpPr/>
            <p:nvPr/>
          </p:nvSpPr>
          <p:spPr>
            <a:xfrm>
              <a:off x="5334669" y="551822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4" name="直線接點 33"/>
            <p:cNvCxnSpPr>
              <a:stCxn id="30" idx="4"/>
              <a:endCxn id="32" idx="0"/>
            </p:cNvCxnSpPr>
            <p:nvPr/>
          </p:nvCxnSpPr>
          <p:spPr>
            <a:xfrm>
              <a:off x="3993722" y="4567845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>
              <a:stCxn id="30" idx="5"/>
              <a:endCxn id="33" idx="1"/>
            </p:cNvCxnSpPr>
            <p:nvPr/>
          </p:nvCxnSpPr>
          <p:spPr>
            <a:xfrm>
              <a:off x="4121001" y="4515124"/>
              <a:ext cx="1266389" cy="10558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31" idx="4"/>
              <a:endCxn id="33" idx="0"/>
            </p:cNvCxnSpPr>
            <p:nvPr/>
          </p:nvCxnSpPr>
          <p:spPr>
            <a:xfrm>
              <a:off x="5514669" y="4567845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>
              <a:stCxn id="31" idx="2"/>
              <a:endCxn id="30" idx="6"/>
            </p:cNvCxnSpPr>
            <p:nvPr/>
          </p:nvCxnSpPr>
          <p:spPr>
            <a:xfrm flipH="1">
              <a:off x="4173722" y="4387845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>
              <a:stCxn id="32" idx="6"/>
              <a:endCxn id="33" idx="2"/>
            </p:cNvCxnSpPr>
            <p:nvPr/>
          </p:nvCxnSpPr>
          <p:spPr>
            <a:xfrm>
              <a:off x="4173722" y="5698227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橢圓 38"/>
            <p:cNvSpPr/>
            <p:nvPr/>
          </p:nvSpPr>
          <p:spPr>
            <a:xfrm>
              <a:off x="4648190" y="619977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接點 39"/>
            <p:cNvCxnSpPr>
              <a:stCxn id="32" idx="5"/>
              <a:endCxn id="39" idx="1"/>
            </p:cNvCxnSpPr>
            <p:nvPr/>
          </p:nvCxnSpPr>
          <p:spPr>
            <a:xfrm>
              <a:off x="4121001" y="5825506"/>
              <a:ext cx="579910" cy="4269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>
              <a:stCxn id="39" idx="7"/>
              <a:endCxn id="33" idx="3"/>
            </p:cNvCxnSpPr>
            <p:nvPr/>
          </p:nvCxnSpPr>
          <p:spPr>
            <a:xfrm flipV="1">
              <a:off x="4955469" y="5825506"/>
              <a:ext cx="431921" cy="4269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弧形接點 46"/>
            <p:cNvCxnSpPr>
              <a:stCxn id="39" idx="6"/>
              <a:endCxn id="31" idx="6"/>
            </p:cNvCxnSpPr>
            <p:nvPr/>
          </p:nvCxnSpPr>
          <p:spPr>
            <a:xfrm flipV="1">
              <a:off x="5008190" y="4387845"/>
              <a:ext cx="686479" cy="1991933"/>
            </a:xfrm>
            <a:prstGeom prst="curvedConnector3">
              <a:avLst>
                <a:gd name="adj1" fmla="val 1333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弧形接點 48"/>
          <p:cNvCxnSpPr>
            <a:stCxn id="30" idx="2"/>
            <a:endCxn id="39" idx="2"/>
          </p:cNvCxnSpPr>
          <p:nvPr/>
        </p:nvCxnSpPr>
        <p:spPr>
          <a:xfrm rot="10800000" flipH="1" flipV="1">
            <a:off x="3813722" y="4387844"/>
            <a:ext cx="834468" cy="1991933"/>
          </a:xfrm>
          <a:prstGeom prst="curvedConnector3">
            <a:avLst>
              <a:gd name="adj1" fmla="val -27395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2" idx="7"/>
            <a:endCxn id="31" idx="3"/>
          </p:cNvCxnSpPr>
          <p:nvPr/>
        </p:nvCxnSpPr>
        <p:spPr>
          <a:xfrm flipV="1">
            <a:off x="4121001" y="4515124"/>
            <a:ext cx="1266389" cy="105582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93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圖形著色 </a:t>
            </a:r>
            <a:r>
              <a:rPr lang="en-US" altLang="zh-TW" dirty="0"/>
              <a:t>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每個地圖都會有一個對應的平面</a:t>
            </a:r>
            <a:r>
              <a:rPr lang="en-US" altLang="zh-TW" dirty="0"/>
              <a:t>(planar)</a:t>
            </a:r>
            <a:r>
              <a:rPr lang="zh-TW" altLang="en-US" dirty="0"/>
              <a:t>圖</a:t>
            </a:r>
            <a:endParaRPr lang="en-US" altLang="zh-TW" dirty="0"/>
          </a:p>
          <a:p>
            <a:pPr lvl="1"/>
            <a:r>
              <a:rPr lang="zh-TW" altLang="en-US" dirty="0"/>
              <a:t>每個區域是一個圖形的節點</a:t>
            </a:r>
            <a:endParaRPr lang="en-US" altLang="zh-TW" dirty="0"/>
          </a:p>
          <a:p>
            <a:pPr lvl="1"/>
            <a:r>
              <a:rPr lang="zh-TW" altLang="en-US" dirty="0"/>
              <a:t>兩個地區</a:t>
            </a:r>
            <a:r>
              <a:rPr lang="zh-TW" altLang="en-US" dirty="0">
                <a:solidFill>
                  <a:srgbClr val="C00000"/>
                </a:solidFill>
              </a:rPr>
              <a:t>相鄰</a:t>
            </a:r>
            <a:r>
              <a:rPr lang="zh-TW" altLang="en-US" dirty="0"/>
              <a:t>，則對應的節點就有邊連接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37" name="群組 36"/>
          <p:cNvGrpSpPr/>
          <p:nvPr/>
        </p:nvGrpSpPr>
        <p:grpSpPr>
          <a:xfrm>
            <a:off x="1683611" y="3196064"/>
            <a:ext cx="1767016" cy="1631092"/>
            <a:chOff x="1683611" y="3196064"/>
            <a:chExt cx="1767016" cy="1631092"/>
          </a:xfrm>
        </p:grpSpPr>
        <p:grpSp>
          <p:nvGrpSpPr>
            <p:cNvPr id="18" name="群組 17"/>
            <p:cNvGrpSpPr/>
            <p:nvPr/>
          </p:nvGrpSpPr>
          <p:grpSpPr>
            <a:xfrm>
              <a:off x="1683611" y="3196064"/>
              <a:ext cx="1767016" cy="1631092"/>
              <a:chOff x="2035778" y="3175686"/>
              <a:chExt cx="1767016" cy="1631092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2483708" y="3583459"/>
                <a:ext cx="883508" cy="4077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2483708" y="3991232"/>
                <a:ext cx="883508" cy="4077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919286" y="3175686"/>
                <a:ext cx="883508" cy="4077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035778" y="3175686"/>
                <a:ext cx="883508" cy="4077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035778" y="3583459"/>
                <a:ext cx="447930" cy="81554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3367216" y="3583459"/>
                <a:ext cx="435578" cy="4077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367216" y="3991232"/>
                <a:ext cx="435578" cy="4077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2035778" y="4399005"/>
                <a:ext cx="1767016" cy="4077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048134" y="3515497"/>
                <a:ext cx="424800" cy="1359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377994" y="3532083"/>
                <a:ext cx="417600" cy="1359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3381644" y="4301866"/>
                <a:ext cx="414000" cy="1359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9" name="文字方塊 18"/>
            <p:cNvSpPr txBox="1"/>
            <p:nvPr/>
          </p:nvSpPr>
          <p:spPr>
            <a:xfrm>
              <a:off x="2417078" y="36204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3082797" y="321528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1757535" y="322317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2414529" y="40208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2411980" y="444125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8" name="直線接點 27"/>
          <p:cNvCxnSpPr>
            <a:stCxn id="24" idx="4"/>
            <a:endCxn id="26" idx="0"/>
          </p:cNvCxnSpPr>
          <p:nvPr/>
        </p:nvCxnSpPr>
        <p:spPr>
          <a:xfrm>
            <a:off x="5717490" y="3276562"/>
            <a:ext cx="0" cy="9503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4" idx="5"/>
            <a:endCxn id="27" idx="1"/>
          </p:cNvCxnSpPr>
          <p:nvPr/>
        </p:nvCxnSpPr>
        <p:spPr>
          <a:xfrm>
            <a:off x="5844769" y="3223841"/>
            <a:ext cx="1266389" cy="10558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5" idx="4"/>
            <a:endCxn id="27" idx="0"/>
          </p:cNvCxnSpPr>
          <p:nvPr/>
        </p:nvCxnSpPr>
        <p:spPr>
          <a:xfrm>
            <a:off x="7238437" y="3276562"/>
            <a:ext cx="0" cy="9503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5" idx="2"/>
            <a:endCxn id="24" idx="6"/>
          </p:cNvCxnSpPr>
          <p:nvPr/>
        </p:nvCxnSpPr>
        <p:spPr>
          <a:xfrm flipH="1">
            <a:off x="5897490" y="3096562"/>
            <a:ext cx="11609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6" idx="6"/>
            <a:endCxn id="27" idx="2"/>
          </p:cNvCxnSpPr>
          <p:nvPr/>
        </p:nvCxnSpPr>
        <p:spPr>
          <a:xfrm>
            <a:off x="5897490" y="4406944"/>
            <a:ext cx="11609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6" idx="5"/>
            <a:endCxn id="33" idx="1"/>
          </p:cNvCxnSpPr>
          <p:nvPr/>
        </p:nvCxnSpPr>
        <p:spPr>
          <a:xfrm>
            <a:off x="5844769" y="4534223"/>
            <a:ext cx="579910" cy="426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3" idx="7"/>
            <a:endCxn id="27" idx="3"/>
          </p:cNvCxnSpPr>
          <p:nvPr/>
        </p:nvCxnSpPr>
        <p:spPr>
          <a:xfrm flipV="1">
            <a:off x="6679237" y="4534223"/>
            <a:ext cx="431921" cy="4269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弧形接點 35"/>
          <p:cNvCxnSpPr>
            <a:stCxn id="33" idx="6"/>
            <a:endCxn id="25" idx="6"/>
          </p:cNvCxnSpPr>
          <p:nvPr/>
        </p:nvCxnSpPr>
        <p:spPr>
          <a:xfrm flipV="1">
            <a:off x="6731958" y="3096562"/>
            <a:ext cx="686479" cy="1991933"/>
          </a:xfrm>
          <a:prstGeom prst="curvedConnector3">
            <a:avLst>
              <a:gd name="adj1" fmla="val 1333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群組 39"/>
          <p:cNvGrpSpPr/>
          <p:nvPr/>
        </p:nvGrpSpPr>
        <p:grpSpPr>
          <a:xfrm>
            <a:off x="5533288" y="2869445"/>
            <a:ext cx="364202" cy="407117"/>
            <a:chOff x="5533288" y="2603777"/>
            <a:chExt cx="364202" cy="407117"/>
          </a:xfrm>
        </p:grpSpPr>
        <p:sp>
          <p:nvSpPr>
            <p:cNvPr id="24" name="橢圓 23"/>
            <p:cNvSpPr/>
            <p:nvPr/>
          </p:nvSpPr>
          <p:spPr>
            <a:xfrm>
              <a:off x="5537490" y="265089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5533288" y="260377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7036239" y="2871990"/>
            <a:ext cx="382198" cy="404572"/>
            <a:chOff x="7036239" y="2606322"/>
            <a:chExt cx="382198" cy="404572"/>
          </a:xfrm>
        </p:grpSpPr>
        <p:sp>
          <p:nvSpPr>
            <p:cNvPr id="25" name="橢圓 24"/>
            <p:cNvSpPr/>
            <p:nvPr/>
          </p:nvSpPr>
          <p:spPr>
            <a:xfrm>
              <a:off x="7058437" y="265089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7036239" y="260632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7058437" y="4191704"/>
            <a:ext cx="380699" cy="395240"/>
            <a:chOff x="7058437" y="3926036"/>
            <a:chExt cx="380699" cy="395240"/>
          </a:xfrm>
        </p:grpSpPr>
        <p:sp>
          <p:nvSpPr>
            <p:cNvPr id="27" name="橢圓 26"/>
            <p:cNvSpPr/>
            <p:nvPr/>
          </p:nvSpPr>
          <p:spPr>
            <a:xfrm>
              <a:off x="7058437" y="396127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7062110" y="3926036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5537490" y="4191704"/>
            <a:ext cx="377026" cy="395240"/>
            <a:chOff x="5537490" y="3926036"/>
            <a:chExt cx="377026" cy="395240"/>
          </a:xfrm>
        </p:grpSpPr>
        <p:sp>
          <p:nvSpPr>
            <p:cNvPr id="26" name="橢圓 25"/>
            <p:cNvSpPr/>
            <p:nvPr/>
          </p:nvSpPr>
          <p:spPr>
            <a:xfrm>
              <a:off x="5537490" y="396127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5537490" y="3926036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6363445" y="4872803"/>
            <a:ext cx="377026" cy="395692"/>
            <a:chOff x="6363445" y="4607135"/>
            <a:chExt cx="377026" cy="395692"/>
          </a:xfrm>
        </p:grpSpPr>
        <p:sp>
          <p:nvSpPr>
            <p:cNvPr id="33" name="橢圓 32"/>
            <p:cNvSpPr/>
            <p:nvPr/>
          </p:nvSpPr>
          <p:spPr>
            <a:xfrm>
              <a:off x="6371958" y="464282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6363445" y="4607135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向右箭號 48"/>
          <p:cNvSpPr/>
          <p:nvPr/>
        </p:nvSpPr>
        <p:spPr>
          <a:xfrm>
            <a:off x="4044270" y="3731177"/>
            <a:ext cx="846438" cy="5171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46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圖形著色 </a:t>
            </a:r>
            <a:r>
              <a:rPr lang="en-US" altLang="zh-TW" dirty="0"/>
              <a:t>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使用回溯法解</a:t>
            </a:r>
            <a:r>
              <a:rPr lang="en-US" altLang="zh-TW" dirty="0">
                <a:solidFill>
                  <a:srgbClr val="0000FF"/>
                </a:solidFill>
              </a:rPr>
              <a:t>3-</a:t>
            </a:r>
            <a:r>
              <a:rPr lang="zh-TW" altLang="en-US" dirty="0">
                <a:solidFill>
                  <a:srgbClr val="0000FF"/>
                </a:solidFill>
              </a:rPr>
              <a:t>著色問題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cxnSp>
        <p:nvCxnSpPr>
          <p:cNvPr id="61" name="直線接點 60"/>
          <p:cNvCxnSpPr>
            <a:stCxn id="60" idx="4"/>
            <a:endCxn id="58" idx="0"/>
          </p:cNvCxnSpPr>
          <p:nvPr/>
        </p:nvCxnSpPr>
        <p:spPr>
          <a:xfrm>
            <a:off x="3105162" y="5256709"/>
            <a:ext cx="0" cy="55027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60" idx="5"/>
            <a:endCxn id="59" idx="0"/>
          </p:cNvCxnSpPr>
          <p:nvPr/>
        </p:nvCxnSpPr>
        <p:spPr>
          <a:xfrm>
            <a:off x="3232441" y="5203988"/>
            <a:ext cx="371111" cy="6029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>
            <a:stCxn id="60" idx="3"/>
            <a:endCxn id="57" idx="0"/>
          </p:cNvCxnSpPr>
          <p:nvPr/>
        </p:nvCxnSpPr>
        <p:spPr>
          <a:xfrm flipH="1">
            <a:off x="2606772" y="5203988"/>
            <a:ext cx="371111" cy="6029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>
            <a:stCxn id="77" idx="5"/>
            <a:endCxn id="60" idx="0"/>
          </p:cNvCxnSpPr>
          <p:nvPr/>
        </p:nvCxnSpPr>
        <p:spPr>
          <a:xfrm>
            <a:off x="2487731" y="4275179"/>
            <a:ext cx="617431" cy="6215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>
            <a:stCxn id="77" idx="4"/>
            <a:endCxn id="78" idx="0"/>
          </p:cNvCxnSpPr>
          <p:nvPr/>
        </p:nvCxnSpPr>
        <p:spPr>
          <a:xfrm>
            <a:off x="2360452" y="4327900"/>
            <a:ext cx="0" cy="568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>
            <a:stCxn id="77" idx="3"/>
            <a:endCxn id="73" idx="0"/>
          </p:cNvCxnSpPr>
          <p:nvPr/>
        </p:nvCxnSpPr>
        <p:spPr>
          <a:xfrm flipH="1">
            <a:off x="1609992" y="4275179"/>
            <a:ext cx="623181" cy="6215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>
            <a:stCxn id="94" idx="4"/>
            <a:endCxn id="77" idx="0"/>
          </p:cNvCxnSpPr>
          <p:nvPr/>
        </p:nvCxnSpPr>
        <p:spPr>
          <a:xfrm>
            <a:off x="2356563" y="3362415"/>
            <a:ext cx="3889" cy="60548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>
            <a:stCxn id="94" idx="5"/>
            <a:endCxn id="80" idx="0"/>
          </p:cNvCxnSpPr>
          <p:nvPr/>
        </p:nvCxnSpPr>
        <p:spPr>
          <a:xfrm>
            <a:off x="2483842" y="3309694"/>
            <a:ext cx="1202495" cy="6582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>
            <a:stCxn id="94" idx="3"/>
            <a:endCxn id="79" idx="0"/>
          </p:cNvCxnSpPr>
          <p:nvPr/>
        </p:nvCxnSpPr>
        <p:spPr>
          <a:xfrm flipH="1">
            <a:off x="1028817" y="3309694"/>
            <a:ext cx="1200467" cy="6582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>
            <a:stCxn id="7" idx="4"/>
            <a:endCxn id="118" idx="0"/>
          </p:cNvCxnSpPr>
          <p:nvPr/>
        </p:nvCxnSpPr>
        <p:spPr>
          <a:xfrm>
            <a:off x="4766211" y="2402081"/>
            <a:ext cx="0" cy="6003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>
            <a:stCxn id="7" idx="3"/>
            <a:endCxn id="94" idx="0"/>
          </p:cNvCxnSpPr>
          <p:nvPr/>
        </p:nvCxnSpPr>
        <p:spPr>
          <a:xfrm flipH="1">
            <a:off x="2356563" y="2349360"/>
            <a:ext cx="2282369" cy="6530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接點 133"/>
          <p:cNvCxnSpPr>
            <a:stCxn id="7" idx="5"/>
            <a:endCxn id="124" idx="0"/>
          </p:cNvCxnSpPr>
          <p:nvPr/>
        </p:nvCxnSpPr>
        <p:spPr>
          <a:xfrm>
            <a:off x="4893490" y="2349360"/>
            <a:ext cx="2255069" cy="6530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字方塊 136"/>
          <p:cNvSpPr txBox="1"/>
          <p:nvPr/>
        </p:nvSpPr>
        <p:spPr>
          <a:xfrm>
            <a:off x="307059" y="2940362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07950" y="3905847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07059" y="4896709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307059" y="580698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橢圓 140"/>
          <p:cNvSpPr/>
          <p:nvPr/>
        </p:nvSpPr>
        <p:spPr>
          <a:xfrm>
            <a:off x="7097576" y="127796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2" name="橢圓 141"/>
          <p:cNvSpPr/>
          <p:nvPr/>
        </p:nvSpPr>
        <p:spPr>
          <a:xfrm>
            <a:off x="8618523" y="127796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3" name="橢圓 142"/>
          <p:cNvSpPr/>
          <p:nvPr/>
        </p:nvSpPr>
        <p:spPr>
          <a:xfrm>
            <a:off x="7097576" y="258835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4" name="橢圓 143"/>
          <p:cNvSpPr/>
          <p:nvPr/>
        </p:nvSpPr>
        <p:spPr>
          <a:xfrm>
            <a:off x="8618523" y="258835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5" name="直線接點 144"/>
          <p:cNvCxnSpPr>
            <a:stCxn id="141" idx="4"/>
            <a:endCxn id="143" idx="0"/>
          </p:cNvCxnSpPr>
          <p:nvPr/>
        </p:nvCxnSpPr>
        <p:spPr>
          <a:xfrm>
            <a:off x="7277576" y="1637968"/>
            <a:ext cx="0" cy="9503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>
            <a:stCxn id="141" idx="5"/>
            <a:endCxn id="144" idx="1"/>
          </p:cNvCxnSpPr>
          <p:nvPr/>
        </p:nvCxnSpPr>
        <p:spPr>
          <a:xfrm>
            <a:off x="7404855" y="1585247"/>
            <a:ext cx="1266389" cy="10558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/>
          <p:cNvCxnSpPr>
            <a:stCxn id="142" idx="4"/>
            <a:endCxn id="144" idx="0"/>
          </p:cNvCxnSpPr>
          <p:nvPr/>
        </p:nvCxnSpPr>
        <p:spPr>
          <a:xfrm>
            <a:off x="8798523" y="1637968"/>
            <a:ext cx="0" cy="9503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接點 147"/>
          <p:cNvCxnSpPr>
            <a:stCxn id="142" idx="2"/>
            <a:endCxn id="141" idx="6"/>
          </p:cNvCxnSpPr>
          <p:nvPr/>
        </p:nvCxnSpPr>
        <p:spPr>
          <a:xfrm flipH="1">
            <a:off x="7457576" y="1457968"/>
            <a:ext cx="11609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/>
          <p:cNvCxnSpPr>
            <a:stCxn id="143" idx="6"/>
            <a:endCxn id="144" idx="2"/>
          </p:cNvCxnSpPr>
          <p:nvPr/>
        </p:nvCxnSpPr>
        <p:spPr>
          <a:xfrm>
            <a:off x="7457576" y="2768350"/>
            <a:ext cx="11609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字方塊 149"/>
          <p:cNvSpPr txBox="1"/>
          <p:nvPr/>
        </p:nvSpPr>
        <p:spPr>
          <a:xfrm>
            <a:off x="7101762" y="124694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8622337" y="12383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8627388" y="254631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7088711" y="255281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4501452" y="2042081"/>
            <a:ext cx="518091" cy="360000"/>
            <a:chOff x="4501452" y="1894276"/>
            <a:chExt cx="518091" cy="360000"/>
          </a:xfrm>
        </p:grpSpPr>
        <p:sp>
          <p:nvSpPr>
            <p:cNvPr id="7" name="橢圓 6"/>
            <p:cNvSpPr/>
            <p:nvPr/>
          </p:nvSpPr>
          <p:spPr>
            <a:xfrm>
              <a:off x="4586211" y="189427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4" name="文字方塊 153"/>
            <p:cNvSpPr txBox="1"/>
            <p:nvPr/>
          </p:nvSpPr>
          <p:spPr>
            <a:xfrm>
              <a:off x="4501452" y="1935776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zh-TW" alt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2173109" y="2982360"/>
            <a:ext cx="370614" cy="400110"/>
            <a:chOff x="2173109" y="2834555"/>
            <a:chExt cx="370614" cy="400110"/>
          </a:xfrm>
        </p:grpSpPr>
        <p:sp>
          <p:nvSpPr>
            <p:cNvPr id="94" name="橢圓 93"/>
            <p:cNvSpPr/>
            <p:nvPr/>
          </p:nvSpPr>
          <p:spPr>
            <a:xfrm>
              <a:off x="2176563" y="285461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5" name="文字方塊 154"/>
            <p:cNvSpPr txBox="1"/>
            <p:nvPr/>
          </p:nvSpPr>
          <p:spPr>
            <a:xfrm>
              <a:off x="2173109" y="2834555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841667" y="3944277"/>
            <a:ext cx="370614" cy="400110"/>
            <a:chOff x="841667" y="3796472"/>
            <a:chExt cx="370614" cy="400110"/>
          </a:xfrm>
        </p:grpSpPr>
        <p:sp>
          <p:nvSpPr>
            <p:cNvPr id="79" name="橢圓 78"/>
            <p:cNvSpPr/>
            <p:nvPr/>
          </p:nvSpPr>
          <p:spPr>
            <a:xfrm>
              <a:off x="848817" y="382009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6" name="文字方塊 155"/>
            <p:cNvSpPr txBox="1"/>
            <p:nvPr/>
          </p:nvSpPr>
          <p:spPr>
            <a:xfrm>
              <a:off x="841667" y="3796472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7" name="十字形 156"/>
          <p:cNvSpPr/>
          <p:nvPr/>
        </p:nvSpPr>
        <p:spPr>
          <a:xfrm>
            <a:off x="880742" y="4349502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2163343" y="3938088"/>
            <a:ext cx="383438" cy="400110"/>
            <a:chOff x="2163343" y="3790283"/>
            <a:chExt cx="383438" cy="400110"/>
          </a:xfrm>
        </p:grpSpPr>
        <p:sp>
          <p:nvSpPr>
            <p:cNvPr id="77" name="橢圓 76"/>
            <p:cNvSpPr/>
            <p:nvPr/>
          </p:nvSpPr>
          <p:spPr>
            <a:xfrm>
              <a:off x="2180452" y="382009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8" name="文字方塊 157"/>
            <p:cNvSpPr txBox="1"/>
            <p:nvPr/>
          </p:nvSpPr>
          <p:spPr>
            <a:xfrm>
              <a:off x="2163343" y="3790283"/>
              <a:ext cx="3834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4406067" y="2965932"/>
            <a:ext cx="727173" cy="567807"/>
            <a:chOff x="4406067" y="2818127"/>
            <a:chExt cx="727173" cy="567807"/>
          </a:xfrm>
        </p:grpSpPr>
        <p:grpSp>
          <p:nvGrpSpPr>
            <p:cNvPr id="122" name="群組 121"/>
            <p:cNvGrpSpPr/>
            <p:nvPr/>
          </p:nvGrpSpPr>
          <p:grpSpPr>
            <a:xfrm>
              <a:off x="4406067" y="2854610"/>
              <a:ext cx="727173" cy="531324"/>
              <a:chOff x="3294175" y="3985064"/>
              <a:chExt cx="727173" cy="531324"/>
            </a:xfrm>
          </p:grpSpPr>
          <p:sp>
            <p:nvSpPr>
              <p:cNvPr id="118" name="橢圓 117"/>
              <p:cNvSpPr/>
              <p:nvPr/>
            </p:nvSpPr>
            <p:spPr>
              <a:xfrm>
                <a:off x="3474319" y="3985064"/>
                <a:ext cx="360000" cy="360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9" name="直線接點 118"/>
              <p:cNvCxnSpPr>
                <a:stCxn id="118" idx="4"/>
              </p:cNvCxnSpPr>
              <p:nvPr/>
            </p:nvCxnSpPr>
            <p:spPr>
              <a:xfrm>
                <a:off x="3654319" y="4345064"/>
                <a:ext cx="0" cy="171324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接點 119"/>
              <p:cNvCxnSpPr>
                <a:stCxn id="118" idx="5"/>
              </p:cNvCxnSpPr>
              <p:nvPr/>
            </p:nvCxnSpPr>
            <p:spPr>
              <a:xfrm>
                <a:off x="3781598" y="4292343"/>
                <a:ext cx="239750" cy="224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120"/>
              <p:cNvCxnSpPr>
                <a:stCxn id="118" idx="3"/>
              </p:cNvCxnSpPr>
              <p:nvPr/>
            </p:nvCxnSpPr>
            <p:spPr>
              <a:xfrm flipH="1">
                <a:off x="3294175" y="4292343"/>
                <a:ext cx="232865" cy="224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9" name="文字方塊 158"/>
            <p:cNvSpPr txBox="1"/>
            <p:nvPr/>
          </p:nvSpPr>
          <p:spPr>
            <a:xfrm>
              <a:off x="4572690" y="2818127"/>
              <a:ext cx="3834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2166798" y="4864126"/>
            <a:ext cx="383438" cy="400110"/>
            <a:chOff x="2166798" y="4716321"/>
            <a:chExt cx="383438" cy="400110"/>
          </a:xfrm>
        </p:grpSpPr>
        <p:sp>
          <p:nvSpPr>
            <p:cNvPr id="78" name="橢圓 77"/>
            <p:cNvSpPr/>
            <p:nvPr/>
          </p:nvSpPr>
          <p:spPr>
            <a:xfrm>
              <a:off x="2180452" y="474890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0" name="文字方塊 159"/>
            <p:cNvSpPr txBox="1"/>
            <p:nvPr/>
          </p:nvSpPr>
          <p:spPr>
            <a:xfrm>
              <a:off x="2166798" y="4716321"/>
              <a:ext cx="3834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417022" y="4876654"/>
            <a:ext cx="372970" cy="400110"/>
            <a:chOff x="1417022" y="4728849"/>
            <a:chExt cx="372970" cy="400110"/>
          </a:xfrm>
        </p:grpSpPr>
        <p:sp>
          <p:nvSpPr>
            <p:cNvPr id="73" name="橢圓 72"/>
            <p:cNvSpPr/>
            <p:nvPr/>
          </p:nvSpPr>
          <p:spPr>
            <a:xfrm>
              <a:off x="1429992" y="474890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1" name="文字方塊 160"/>
            <p:cNvSpPr txBox="1"/>
            <p:nvPr/>
          </p:nvSpPr>
          <p:spPr>
            <a:xfrm>
              <a:off x="1417022" y="4728849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2415775" y="5786931"/>
            <a:ext cx="370997" cy="400110"/>
            <a:chOff x="2415775" y="5639126"/>
            <a:chExt cx="370997" cy="400110"/>
          </a:xfrm>
        </p:grpSpPr>
        <p:sp>
          <p:nvSpPr>
            <p:cNvPr id="57" name="橢圓 56"/>
            <p:cNvSpPr/>
            <p:nvPr/>
          </p:nvSpPr>
          <p:spPr>
            <a:xfrm>
              <a:off x="2426772" y="565918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2" name="文字方塊 161"/>
            <p:cNvSpPr txBox="1"/>
            <p:nvPr/>
          </p:nvSpPr>
          <p:spPr>
            <a:xfrm>
              <a:off x="2415775" y="563912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2907622" y="5786931"/>
            <a:ext cx="383438" cy="400110"/>
            <a:chOff x="2907622" y="5639126"/>
            <a:chExt cx="383438" cy="400110"/>
          </a:xfrm>
        </p:grpSpPr>
        <p:sp>
          <p:nvSpPr>
            <p:cNvPr id="58" name="橢圓 57"/>
            <p:cNvSpPr/>
            <p:nvPr/>
          </p:nvSpPr>
          <p:spPr>
            <a:xfrm>
              <a:off x="2925162" y="565918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3" name="文字方塊 162"/>
            <p:cNvSpPr txBox="1"/>
            <p:nvPr/>
          </p:nvSpPr>
          <p:spPr>
            <a:xfrm>
              <a:off x="2907622" y="5639126"/>
              <a:ext cx="3834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2925162" y="4881422"/>
            <a:ext cx="360318" cy="400110"/>
            <a:chOff x="2925162" y="4733617"/>
            <a:chExt cx="360318" cy="400110"/>
          </a:xfrm>
        </p:grpSpPr>
        <p:sp>
          <p:nvSpPr>
            <p:cNvPr id="60" name="橢圓 59"/>
            <p:cNvSpPr/>
            <p:nvPr/>
          </p:nvSpPr>
          <p:spPr>
            <a:xfrm>
              <a:off x="2925162" y="474890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4" name="文字方塊 163"/>
            <p:cNvSpPr txBox="1"/>
            <p:nvPr/>
          </p:nvSpPr>
          <p:spPr>
            <a:xfrm>
              <a:off x="2929292" y="473361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3326193" y="3934629"/>
            <a:ext cx="727173" cy="564595"/>
            <a:chOff x="3326193" y="3786824"/>
            <a:chExt cx="727173" cy="564595"/>
          </a:xfrm>
        </p:grpSpPr>
        <p:cxnSp>
          <p:nvCxnSpPr>
            <p:cNvPr id="105" name="直線接點 104"/>
            <p:cNvCxnSpPr>
              <a:stCxn id="80" idx="4"/>
            </p:cNvCxnSpPr>
            <p:nvPr/>
          </p:nvCxnSpPr>
          <p:spPr>
            <a:xfrm>
              <a:off x="3686337" y="4180095"/>
              <a:ext cx="0" cy="1713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接點 105"/>
            <p:cNvCxnSpPr>
              <a:stCxn id="80" idx="5"/>
            </p:cNvCxnSpPr>
            <p:nvPr/>
          </p:nvCxnSpPr>
          <p:spPr>
            <a:xfrm>
              <a:off x="3813616" y="4127374"/>
              <a:ext cx="239750" cy="224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接點 106"/>
            <p:cNvCxnSpPr>
              <a:stCxn id="80" idx="3"/>
            </p:cNvCxnSpPr>
            <p:nvPr/>
          </p:nvCxnSpPr>
          <p:spPr>
            <a:xfrm flipH="1">
              <a:off x="3326193" y="4127374"/>
              <a:ext cx="232865" cy="224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群組 12"/>
            <p:cNvGrpSpPr/>
            <p:nvPr/>
          </p:nvGrpSpPr>
          <p:grpSpPr>
            <a:xfrm>
              <a:off x="3505171" y="3786824"/>
              <a:ext cx="361166" cy="400110"/>
              <a:chOff x="3505171" y="3786824"/>
              <a:chExt cx="361166" cy="400110"/>
            </a:xfrm>
          </p:grpSpPr>
          <p:sp>
            <p:nvSpPr>
              <p:cNvPr id="80" name="橢圓 79"/>
              <p:cNvSpPr/>
              <p:nvPr/>
            </p:nvSpPr>
            <p:spPr>
              <a:xfrm>
                <a:off x="3506337" y="3820095"/>
                <a:ext cx="360000" cy="360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5" name="文字方塊 164"/>
              <p:cNvSpPr txBox="1"/>
              <p:nvPr/>
            </p:nvSpPr>
            <p:spPr>
              <a:xfrm>
                <a:off x="3505171" y="3786824"/>
                <a:ext cx="3561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" name="群組 18"/>
          <p:cNvGrpSpPr/>
          <p:nvPr/>
        </p:nvGrpSpPr>
        <p:grpSpPr>
          <a:xfrm>
            <a:off x="3422387" y="5775833"/>
            <a:ext cx="361165" cy="400110"/>
            <a:chOff x="3422387" y="5628028"/>
            <a:chExt cx="361165" cy="400110"/>
          </a:xfrm>
        </p:grpSpPr>
        <p:sp>
          <p:nvSpPr>
            <p:cNvPr id="59" name="橢圓 58"/>
            <p:cNvSpPr/>
            <p:nvPr/>
          </p:nvSpPr>
          <p:spPr>
            <a:xfrm>
              <a:off x="3423552" y="565918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6" name="文字方塊 165"/>
            <p:cNvSpPr txBox="1"/>
            <p:nvPr/>
          </p:nvSpPr>
          <p:spPr>
            <a:xfrm>
              <a:off x="3422387" y="5628028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6788415" y="2975893"/>
            <a:ext cx="727173" cy="557846"/>
            <a:chOff x="6788415" y="2828088"/>
            <a:chExt cx="727173" cy="557846"/>
          </a:xfrm>
        </p:grpSpPr>
        <p:grpSp>
          <p:nvGrpSpPr>
            <p:cNvPr id="123" name="群組 122"/>
            <p:cNvGrpSpPr/>
            <p:nvPr/>
          </p:nvGrpSpPr>
          <p:grpSpPr>
            <a:xfrm>
              <a:off x="6788415" y="2854610"/>
              <a:ext cx="727173" cy="531324"/>
              <a:chOff x="3294175" y="3985064"/>
              <a:chExt cx="727173" cy="531324"/>
            </a:xfrm>
          </p:grpSpPr>
          <p:sp>
            <p:nvSpPr>
              <p:cNvPr id="124" name="橢圓 123"/>
              <p:cNvSpPr/>
              <p:nvPr/>
            </p:nvSpPr>
            <p:spPr>
              <a:xfrm>
                <a:off x="3474319" y="3985064"/>
                <a:ext cx="360000" cy="360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25" name="直線接點 124"/>
              <p:cNvCxnSpPr>
                <a:stCxn id="124" idx="4"/>
              </p:cNvCxnSpPr>
              <p:nvPr/>
            </p:nvCxnSpPr>
            <p:spPr>
              <a:xfrm>
                <a:off x="3654319" y="4345064"/>
                <a:ext cx="0" cy="171324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線接點 125"/>
              <p:cNvCxnSpPr>
                <a:stCxn id="124" idx="5"/>
              </p:cNvCxnSpPr>
              <p:nvPr/>
            </p:nvCxnSpPr>
            <p:spPr>
              <a:xfrm>
                <a:off x="3781598" y="4292343"/>
                <a:ext cx="239750" cy="224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接點 126"/>
              <p:cNvCxnSpPr>
                <a:stCxn id="124" idx="3"/>
              </p:cNvCxnSpPr>
              <p:nvPr/>
            </p:nvCxnSpPr>
            <p:spPr>
              <a:xfrm flipH="1">
                <a:off x="3294175" y="4292343"/>
                <a:ext cx="232865" cy="224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文字方塊 166"/>
            <p:cNvSpPr txBox="1"/>
            <p:nvPr/>
          </p:nvSpPr>
          <p:spPr>
            <a:xfrm>
              <a:off x="6967038" y="2828088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8" name="十字形 167"/>
          <p:cNvSpPr/>
          <p:nvPr/>
        </p:nvSpPr>
        <p:spPr>
          <a:xfrm>
            <a:off x="1460365" y="526423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9" name="十字形 168"/>
          <p:cNvSpPr/>
          <p:nvPr/>
        </p:nvSpPr>
        <p:spPr>
          <a:xfrm>
            <a:off x="2206461" y="5256709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0" name="十字形 169"/>
          <p:cNvSpPr/>
          <p:nvPr/>
        </p:nvSpPr>
        <p:spPr>
          <a:xfrm>
            <a:off x="2459118" y="616533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十字形 170"/>
          <p:cNvSpPr/>
          <p:nvPr/>
        </p:nvSpPr>
        <p:spPr>
          <a:xfrm>
            <a:off x="3459552" y="616533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52" name="群組 251"/>
          <p:cNvGrpSpPr/>
          <p:nvPr/>
        </p:nvGrpSpPr>
        <p:grpSpPr>
          <a:xfrm>
            <a:off x="6147996" y="4274737"/>
            <a:ext cx="1902879" cy="1710040"/>
            <a:chOff x="6253859" y="4265390"/>
            <a:chExt cx="1902879" cy="1710040"/>
          </a:xfrm>
        </p:grpSpPr>
        <p:sp>
          <p:nvSpPr>
            <p:cNvPr id="172" name="橢圓 171"/>
            <p:cNvSpPr/>
            <p:nvPr/>
          </p:nvSpPr>
          <p:spPr>
            <a:xfrm>
              <a:off x="6262724" y="4305048"/>
              <a:ext cx="360000" cy="3600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3" name="橢圓 172"/>
            <p:cNvSpPr/>
            <p:nvPr/>
          </p:nvSpPr>
          <p:spPr>
            <a:xfrm>
              <a:off x="7783671" y="4305048"/>
              <a:ext cx="360000" cy="360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4" name="橢圓 173"/>
            <p:cNvSpPr/>
            <p:nvPr/>
          </p:nvSpPr>
          <p:spPr>
            <a:xfrm>
              <a:off x="6262724" y="5615430"/>
              <a:ext cx="360000" cy="36000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5" name="橢圓 174"/>
            <p:cNvSpPr/>
            <p:nvPr/>
          </p:nvSpPr>
          <p:spPr>
            <a:xfrm>
              <a:off x="7783671" y="5615430"/>
              <a:ext cx="360000" cy="36000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6" name="直線接點 175"/>
            <p:cNvCxnSpPr>
              <a:stCxn id="172" idx="4"/>
              <a:endCxn id="174" idx="0"/>
            </p:cNvCxnSpPr>
            <p:nvPr/>
          </p:nvCxnSpPr>
          <p:spPr>
            <a:xfrm>
              <a:off x="6442724" y="4665048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線接點 176"/>
            <p:cNvCxnSpPr>
              <a:stCxn id="172" idx="5"/>
              <a:endCxn id="175" idx="1"/>
            </p:cNvCxnSpPr>
            <p:nvPr/>
          </p:nvCxnSpPr>
          <p:spPr>
            <a:xfrm>
              <a:off x="6570003" y="4612327"/>
              <a:ext cx="1266389" cy="10558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線接點 177"/>
            <p:cNvCxnSpPr>
              <a:stCxn id="173" idx="4"/>
              <a:endCxn id="175" idx="0"/>
            </p:cNvCxnSpPr>
            <p:nvPr/>
          </p:nvCxnSpPr>
          <p:spPr>
            <a:xfrm>
              <a:off x="7963671" y="4665048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線接點 178"/>
            <p:cNvCxnSpPr>
              <a:stCxn id="173" idx="2"/>
              <a:endCxn id="172" idx="6"/>
            </p:cNvCxnSpPr>
            <p:nvPr/>
          </p:nvCxnSpPr>
          <p:spPr>
            <a:xfrm flipH="1">
              <a:off x="6622724" y="4485048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線接點 179"/>
            <p:cNvCxnSpPr>
              <a:stCxn id="174" idx="6"/>
              <a:endCxn id="175" idx="2"/>
            </p:cNvCxnSpPr>
            <p:nvPr/>
          </p:nvCxnSpPr>
          <p:spPr>
            <a:xfrm>
              <a:off x="6622724" y="5795430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文字方塊 180"/>
            <p:cNvSpPr txBox="1"/>
            <p:nvPr/>
          </p:nvSpPr>
          <p:spPr>
            <a:xfrm>
              <a:off x="6266910" y="427402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文字方塊 181"/>
            <p:cNvSpPr txBox="1"/>
            <p:nvPr/>
          </p:nvSpPr>
          <p:spPr>
            <a:xfrm>
              <a:off x="7787485" y="426539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文字方塊 182"/>
            <p:cNvSpPr txBox="1"/>
            <p:nvPr/>
          </p:nvSpPr>
          <p:spPr>
            <a:xfrm>
              <a:off x="7792536" y="557339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文字方塊 183"/>
            <p:cNvSpPr txBox="1"/>
            <p:nvPr/>
          </p:nvSpPr>
          <p:spPr>
            <a:xfrm>
              <a:off x="6253859" y="55798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3" name="群組 202"/>
          <p:cNvGrpSpPr/>
          <p:nvPr/>
        </p:nvGrpSpPr>
        <p:grpSpPr>
          <a:xfrm>
            <a:off x="6171088" y="4280192"/>
            <a:ext cx="1888963" cy="399658"/>
            <a:chOff x="6415124" y="4417790"/>
            <a:chExt cx="1888963" cy="399658"/>
          </a:xfrm>
        </p:grpSpPr>
        <p:sp>
          <p:nvSpPr>
            <p:cNvPr id="198" name="橢圓 197"/>
            <p:cNvSpPr/>
            <p:nvPr/>
          </p:nvSpPr>
          <p:spPr>
            <a:xfrm>
              <a:off x="6415124" y="4457448"/>
              <a:ext cx="360000" cy="3600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9" name="橢圓 198"/>
            <p:cNvSpPr/>
            <p:nvPr/>
          </p:nvSpPr>
          <p:spPr>
            <a:xfrm>
              <a:off x="7936071" y="4457448"/>
              <a:ext cx="360000" cy="3600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0" name="直線接點 199"/>
            <p:cNvCxnSpPr>
              <a:stCxn id="199" idx="2"/>
              <a:endCxn id="198" idx="6"/>
            </p:cNvCxnSpPr>
            <p:nvPr/>
          </p:nvCxnSpPr>
          <p:spPr>
            <a:xfrm flipH="1">
              <a:off x="6775124" y="4637448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文字方塊 200"/>
            <p:cNvSpPr txBox="1"/>
            <p:nvPr/>
          </p:nvSpPr>
          <p:spPr>
            <a:xfrm>
              <a:off x="6419310" y="442642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文字方塊 201"/>
            <p:cNvSpPr txBox="1"/>
            <p:nvPr/>
          </p:nvSpPr>
          <p:spPr>
            <a:xfrm>
              <a:off x="7939885" y="441779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3" name="群組 212"/>
          <p:cNvGrpSpPr/>
          <p:nvPr/>
        </p:nvGrpSpPr>
        <p:grpSpPr>
          <a:xfrm>
            <a:off x="6166866" y="4290357"/>
            <a:ext cx="1894014" cy="1710040"/>
            <a:chOff x="6415124" y="4417790"/>
            <a:chExt cx="1894014" cy="1710040"/>
          </a:xfrm>
        </p:grpSpPr>
        <p:sp>
          <p:nvSpPr>
            <p:cNvPr id="204" name="橢圓 203"/>
            <p:cNvSpPr/>
            <p:nvPr/>
          </p:nvSpPr>
          <p:spPr>
            <a:xfrm>
              <a:off x="6415124" y="4457448"/>
              <a:ext cx="360000" cy="3600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5" name="橢圓 204"/>
            <p:cNvSpPr/>
            <p:nvPr/>
          </p:nvSpPr>
          <p:spPr>
            <a:xfrm>
              <a:off x="7936071" y="4457448"/>
              <a:ext cx="360000" cy="360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6" name="橢圓 205"/>
            <p:cNvSpPr/>
            <p:nvPr/>
          </p:nvSpPr>
          <p:spPr>
            <a:xfrm>
              <a:off x="7936071" y="5767830"/>
              <a:ext cx="360000" cy="360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7" name="直線接點 206"/>
            <p:cNvCxnSpPr>
              <a:stCxn id="204" idx="5"/>
              <a:endCxn id="206" idx="1"/>
            </p:cNvCxnSpPr>
            <p:nvPr/>
          </p:nvCxnSpPr>
          <p:spPr>
            <a:xfrm>
              <a:off x="6722403" y="4764727"/>
              <a:ext cx="1266389" cy="10558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接點 207"/>
            <p:cNvCxnSpPr>
              <a:stCxn id="205" idx="4"/>
              <a:endCxn id="206" idx="0"/>
            </p:cNvCxnSpPr>
            <p:nvPr/>
          </p:nvCxnSpPr>
          <p:spPr>
            <a:xfrm>
              <a:off x="8116071" y="4817448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接點 208"/>
            <p:cNvCxnSpPr>
              <a:stCxn id="205" idx="2"/>
              <a:endCxn id="204" idx="6"/>
            </p:cNvCxnSpPr>
            <p:nvPr/>
          </p:nvCxnSpPr>
          <p:spPr>
            <a:xfrm flipH="1">
              <a:off x="6775124" y="4637448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文字方塊 209"/>
            <p:cNvSpPr txBox="1"/>
            <p:nvPr/>
          </p:nvSpPr>
          <p:spPr>
            <a:xfrm>
              <a:off x="6419310" y="442642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文字方塊 210"/>
            <p:cNvSpPr txBox="1"/>
            <p:nvPr/>
          </p:nvSpPr>
          <p:spPr>
            <a:xfrm>
              <a:off x="7939885" y="441779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文字方塊 211"/>
            <p:cNvSpPr txBox="1"/>
            <p:nvPr/>
          </p:nvSpPr>
          <p:spPr>
            <a:xfrm>
              <a:off x="7944936" y="572579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3" name="群組 222"/>
          <p:cNvGrpSpPr/>
          <p:nvPr/>
        </p:nvGrpSpPr>
        <p:grpSpPr>
          <a:xfrm>
            <a:off x="6160955" y="4287777"/>
            <a:ext cx="1894014" cy="1710040"/>
            <a:chOff x="6415124" y="4417790"/>
            <a:chExt cx="1894014" cy="1710040"/>
          </a:xfrm>
        </p:grpSpPr>
        <p:sp>
          <p:nvSpPr>
            <p:cNvPr id="214" name="橢圓 213"/>
            <p:cNvSpPr/>
            <p:nvPr/>
          </p:nvSpPr>
          <p:spPr>
            <a:xfrm>
              <a:off x="6415124" y="4457448"/>
              <a:ext cx="360000" cy="3600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5" name="橢圓 214"/>
            <p:cNvSpPr/>
            <p:nvPr/>
          </p:nvSpPr>
          <p:spPr>
            <a:xfrm>
              <a:off x="7936071" y="4457448"/>
              <a:ext cx="360000" cy="360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6" name="橢圓 215"/>
            <p:cNvSpPr/>
            <p:nvPr/>
          </p:nvSpPr>
          <p:spPr>
            <a:xfrm>
              <a:off x="7936071" y="5767830"/>
              <a:ext cx="360000" cy="3600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17" name="直線接點 216"/>
            <p:cNvCxnSpPr>
              <a:stCxn id="214" idx="5"/>
              <a:endCxn id="216" idx="1"/>
            </p:cNvCxnSpPr>
            <p:nvPr/>
          </p:nvCxnSpPr>
          <p:spPr>
            <a:xfrm>
              <a:off x="6722403" y="4764727"/>
              <a:ext cx="1266389" cy="10558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線接點 217"/>
            <p:cNvCxnSpPr>
              <a:stCxn id="215" idx="4"/>
              <a:endCxn id="216" idx="0"/>
            </p:cNvCxnSpPr>
            <p:nvPr/>
          </p:nvCxnSpPr>
          <p:spPr>
            <a:xfrm>
              <a:off x="8116071" y="4817448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線接點 218"/>
            <p:cNvCxnSpPr>
              <a:stCxn id="215" idx="2"/>
              <a:endCxn id="214" idx="6"/>
            </p:cNvCxnSpPr>
            <p:nvPr/>
          </p:nvCxnSpPr>
          <p:spPr>
            <a:xfrm flipH="1">
              <a:off x="6775124" y="4637448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文字方塊 219"/>
            <p:cNvSpPr txBox="1"/>
            <p:nvPr/>
          </p:nvSpPr>
          <p:spPr>
            <a:xfrm>
              <a:off x="6419310" y="442642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文字方塊 220"/>
            <p:cNvSpPr txBox="1"/>
            <p:nvPr/>
          </p:nvSpPr>
          <p:spPr>
            <a:xfrm>
              <a:off x="7939885" y="441779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文字方塊 221"/>
            <p:cNvSpPr txBox="1"/>
            <p:nvPr/>
          </p:nvSpPr>
          <p:spPr>
            <a:xfrm>
              <a:off x="7944936" y="572579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7" name="群組 236"/>
          <p:cNvGrpSpPr/>
          <p:nvPr/>
        </p:nvGrpSpPr>
        <p:grpSpPr>
          <a:xfrm>
            <a:off x="6156804" y="4281729"/>
            <a:ext cx="1902879" cy="1710040"/>
            <a:chOff x="6406259" y="4417790"/>
            <a:chExt cx="1902879" cy="1710040"/>
          </a:xfrm>
        </p:grpSpPr>
        <p:sp>
          <p:nvSpPr>
            <p:cNvPr id="224" name="橢圓 223"/>
            <p:cNvSpPr/>
            <p:nvPr/>
          </p:nvSpPr>
          <p:spPr>
            <a:xfrm>
              <a:off x="6415124" y="4457448"/>
              <a:ext cx="360000" cy="3600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5" name="橢圓 224"/>
            <p:cNvSpPr/>
            <p:nvPr/>
          </p:nvSpPr>
          <p:spPr>
            <a:xfrm>
              <a:off x="7936071" y="4457448"/>
              <a:ext cx="360000" cy="360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6" name="橢圓 225"/>
            <p:cNvSpPr/>
            <p:nvPr/>
          </p:nvSpPr>
          <p:spPr>
            <a:xfrm>
              <a:off x="6415124" y="5767830"/>
              <a:ext cx="360000" cy="3600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7" name="橢圓 226"/>
            <p:cNvSpPr/>
            <p:nvPr/>
          </p:nvSpPr>
          <p:spPr>
            <a:xfrm>
              <a:off x="7936071" y="5767830"/>
              <a:ext cx="360000" cy="36000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8" name="直線接點 227"/>
            <p:cNvCxnSpPr>
              <a:stCxn id="224" idx="4"/>
              <a:endCxn id="226" idx="0"/>
            </p:cNvCxnSpPr>
            <p:nvPr/>
          </p:nvCxnSpPr>
          <p:spPr>
            <a:xfrm>
              <a:off x="6595124" y="4817448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線接點 228"/>
            <p:cNvCxnSpPr>
              <a:stCxn id="224" idx="5"/>
              <a:endCxn id="227" idx="1"/>
            </p:cNvCxnSpPr>
            <p:nvPr/>
          </p:nvCxnSpPr>
          <p:spPr>
            <a:xfrm>
              <a:off x="6722403" y="4764727"/>
              <a:ext cx="1266389" cy="10558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線接點 229"/>
            <p:cNvCxnSpPr>
              <a:stCxn id="225" idx="4"/>
              <a:endCxn id="227" idx="0"/>
            </p:cNvCxnSpPr>
            <p:nvPr/>
          </p:nvCxnSpPr>
          <p:spPr>
            <a:xfrm>
              <a:off x="8116071" y="4817448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線接點 230"/>
            <p:cNvCxnSpPr>
              <a:stCxn id="225" idx="2"/>
              <a:endCxn id="224" idx="6"/>
            </p:cNvCxnSpPr>
            <p:nvPr/>
          </p:nvCxnSpPr>
          <p:spPr>
            <a:xfrm flipH="1">
              <a:off x="6775124" y="4637448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線接點 231"/>
            <p:cNvCxnSpPr>
              <a:stCxn id="226" idx="6"/>
              <a:endCxn id="227" idx="2"/>
            </p:cNvCxnSpPr>
            <p:nvPr/>
          </p:nvCxnSpPr>
          <p:spPr>
            <a:xfrm>
              <a:off x="6775124" y="5947830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文字方塊 232"/>
            <p:cNvSpPr txBox="1"/>
            <p:nvPr/>
          </p:nvSpPr>
          <p:spPr>
            <a:xfrm>
              <a:off x="6419310" y="442642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文字方塊 233"/>
            <p:cNvSpPr txBox="1"/>
            <p:nvPr/>
          </p:nvSpPr>
          <p:spPr>
            <a:xfrm>
              <a:off x="7939885" y="441779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文字方塊 234"/>
            <p:cNvSpPr txBox="1"/>
            <p:nvPr/>
          </p:nvSpPr>
          <p:spPr>
            <a:xfrm>
              <a:off x="7944936" y="572579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文字方塊 235"/>
            <p:cNvSpPr txBox="1"/>
            <p:nvPr/>
          </p:nvSpPr>
          <p:spPr>
            <a:xfrm>
              <a:off x="6406259" y="57322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" name="群組 250"/>
          <p:cNvGrpSpPr/>
          <p:nvPr/>
        </p:nvGrpSpPr>
        <p:grpSpPr>
          <a:xfrm>
            <a:off x="6161047" y="4279666"/>
            <a:ext cx="1902879" cy="1710040"/>
            <a:chOff x="6406259" y="4417790"/>
            <a:chExt cx="1902879" cy="1710040"/>
          </a:xfrm>
        </p:grpSpPr>
        <p:sp>
          <p:nvSpPr>
            <p:cNvPr id="238" name="橢圓 237"/>
            <p:cNvSpPr/>
            <p:nvPr/>
          </p:nvSpPr>
          <p:spPr>
            <a:xfrm>
              <a:off x="6415124" y="4457448"/>
              <a:ext cx="360000" cy="3600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9" name="橢圓 238"/>
            <p:cNvSpPr/>
            <p:nvPr/>
          </p:nvSpPr>
          <p:spPr>
            <a:xfrm>
              <a:off x="7936071" y="4457448"/>
              <a:ext cx="360000" cy="360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0" name="橢圓 239"/>
            <p:cNvSpPr/>
            <p:nvPr/>
          </p:nvSpPr>
          <p:spPr>
            <a:xfrm>
              <a:off x="6415124" y="5767830"/>
              <a:ext cx="360000" cy="360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1" name="橢圓 240"/>
            <p:cNvSpPr/>
            <p:nvPr/>
          </p:nvSpPr>
          <p:spPr>
            <a:xfrm>
              <a:off x="7936071" y="5767830"/>
              <a:ext cx="360000" cy="36000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42" name="直線接點 241"/>
            <p:cNvCxnSpPr>
              <a:stCxn id="238" idx="4"/>
              <a:endCxn id="240" idx="0"/>
            </p:cNvCxnSpPr>
            <p:nvPr/>
          </p:nvCxnSpPr>
          <p:spPr>
            <a:xfrm>
              <a:off x="6595124" y="4817448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線接點 242"/>
            <p:cNvCxnSpPr>
              <a:stCxn id="238" idx="5"/>
              <a:endCxn id="241" idx="1"/>
            </p:cNvCxnSpPr>
            <p:nvPr/>
          </p:nvCxnSpPr>
          <p:spPr>
            <a:xfrm>
              <a:off x="6722403" y="4764727"/>
              <a:ext cx="1266389" cy="10558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線接點 243"/>
            <p:cNvCxnSpPr>
              <a:stCxn id="239" idx="4"/>
              <a:endCxn id="241" idx="0"/>
            </p:cNvCxnSpPr>
            <p:nvPr/>
          </p:nvCxnSpPr>
          <p:spPr>
            <a:xfrm>
              <a:off x="8116071" y="4817448"/>
              <a:ext cx="0" cy="9503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線接點 244"/>
            <p:cNvCxnSpPr>
              <a:stCxn id="239" idx="2"/>
              <a:endCxn id="238" idx="6"/>
            </p:cNvCxnSpPr>
            <p:nvPr/>
          </p:nvCxnSpPr>
          <p:spPr>
            <a:xfrm flipH="1">
              <a:off x="6775124" y="4637448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線接點 245"/>
            <p:cNvCxnSpPr>
              <a:stCxn id="240" idx="6"/>
              <a:endCxn id="241" idx="2"/>
            </p:cNvCxnSpPr>
            <p:nvPr/>
          </p:nvCxnSpPr>
          <p:spPr>
            <a:xfrm>
              <a:off x="6775124" y="5947830"/>
              <a:ext cx="1160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文字方塊 246"/>
            <p:cNvSpPr txBox="1"/>
            <p:nvPr/>
          </p:nvSpPr>
          <p:spPr>
            <a:xfrm>
              <a:off x="6419310" y="442642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文字方塊 247"/>
            <p:cNvSpPr txBox="1"/>
            <p:nvPr/>
          </p:nvSpPr>
          <p:spPr>
            <a:xfrm>
              <a:off x="7939885" y="441779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文字方塊 248"/>
            <p:cNvSpPr txBox="1"/>
            <p:nvPr/>
          </p:nvSpPr>
          <p:spPr>
            <a:xfrm>
              <a:off x="7944936" y="572579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0" name="文字方塊 249"/>
            <p:cNvSpPr txBox="1"/>
            <p:nvPr/>
          </p:nvSpPr>
          <p:spPr>
            <a:xfrm>
              <a:off x="6406259" y="57322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578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3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9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000"/>
                            </p:stCondLst>
                            <p:childTnLst>
                              <p:par>
                                <p:cTn id="2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500"/>
                            </p:stCondLst>
                            <p:childTnLst>
                              <p:par>
                                <p:cTn id="2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  <p:bldP spid="138" grpId="0"/>
      <p:bldP spid="139" grpId="0"/>
      <p:bldP spid="140" grpId="0"/>
      <p:bldP spid="157" grpId="0" animBg="1"/>
      <p:bldP spid="168" grpId="0" animBg="1"/>
      <p:bldP spid="169" grpId="0" animBg="1"/>
      <p:bldP spid="170" grpId="0" animBg="1"/>
      <p:bldP spid="17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圖形著色 </a:t>
            </a:r>
            <a:r>
              <a:rPr lang="en-US" altLang="zh-TW" dirty="0"/>
              <a:t>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使用回溯法解 </a:t>
            </a:r>
            <a:r>
              <a:rPr lang="en-US" altLang="zh-TW" dirty="0">
                <a:solidFill>
                  <a:srgbClr val="0000FF"/>
                </a:solidFill>
              </a:rPr>
              <a:t>3-</a:t>
            </a:r>
            <a:r>
              <a:rPr lang="zh-TW" altLang="en-US" dirty="0">
                <a:solidFill>
                  <a:srgbClr val="0000FF"/>
                </a:solidFill>
              </a:rPr>
              <a:t>著色問題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586211" y="201968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橢圓 56"/>
          <p:cNvSpPr/>
          <p:nvPr/>
        </p:nvSpPr>
        <p:spPr>
          <a:xfrm>
            <a:off x="2426772" y="578459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>
            <a:off x="2925162" y="578459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>
            <a:off x="3423552" y="578459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/>
          <p:cNvSpPr/>
          <p:nvPr/>
        </p:nvSpPr>
        <p:spPr>
          <a:xfrm>
            <a:off x="2925162" y="487431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1" name="直線接點 60"/>
          <p:cNvCxnSpPr>
            <a:stCxn id="60" idx="4"/>
            <a:endCxn id="58" idx="0"/>
          </p:cNvCxnSpPr>
          <p:nvPr/>
        </p:nvCxnSpPr>
        <p:spPr>
          <a:xfrm>
            <a:off x="3105162" y="5234317"/>
            <a:ext cx="0" cy="55027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60" idx="5"/>
            <a:endCxn id="59" idx="0"/>
          </p:cNvCxnSpPr>
          <p:nvPr/>
        </p:nvCxnSpPr>
        <p:spPr>
          <a:xfrm>
            <a:off x="3232441" y="5181596"/>
            <a:ext cx="371111" cy="6029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>
            <a:stCxn id="60" idx="3"/>
            <a:endCxn id="57" idx="0"/>
          </p:cNvCxnSpPr>
          <p:nvPr/>
        </p:nvCxnSpPr>
        <p:spPr>
          <a:xfrm flipH="1">
            <a:off x="2606772" y="5181596"/>
            <a:ext cx="371111" cy="6029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橢圓 72"/>
          <p:cNvSpPr/>
          <p:nvPr/>
        </p:nvSpPr>
        <p:spPr>
          <a:xfrm>
            <a:off x="1429992" y="487431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橢圓 76"/>
          <p:cNvSpPr/>
          <p:nvPr/>
        </p:nvSpPr>
        <p:spPr>
          <a:xfrm>
            <a:off x="2180452" y="3945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橢圓 77"/>
          <p:cNvSpPr/>
          <p:nvPr/>
        </p:nvSpPr>
        <p:spPr>
          <a:xfrm>
            <a:off x="2180452" y="4874317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橢圓 78"/>
          <p:cNvSpPr/>
          <p:nvPr/>
        </p:nvSpPr>
        <p:spPr>
          <a:xfrm>
            <a:off x="848817" y="3945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3506337" y="3945508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5" name="直線接點 84"/>
          <p:cNvCxnSpPr>
            <a:stCxn id="77" idx="5"/>
            <a:endCxn id="60" idx="0"/>
          </p:cNvCxnSpPr>
          <p:nvPr/>
        </p:nvCxnSpPr>
        <p:spPr>
          <a:xfrm>
            <a:off x="2487731" y="4252787"/>
            <a:ext cx="617431" cy="6215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>
            <a:stCxn id="77" idx="4"/>
            <a:endCxn id="78" idx="0"/>
          </p:cNvCxnSpPr>
          <p:nvPr/>
        </p:nvCxnSpPr>
        <p:spPr>
          <a:xfrm>
            <a:off x="2360452" y="4305508"/>
            <a:ext cx="0" cy="568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>
            <a:stCxn id="77" idx="3"/>
            <a:endCxn id="73" idx="0"/>
          </p:cNvCxnSpPr>
          <p:nvPr/>
        </p:nvCxnSpPr>
        <p:spPr>
          <a:xfrm flipH="1">
            <a:off x="1609992" y="4252787"/>
            <a:ext cx="623181" cy="6215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橢圓 93"/>
          <p:cNvSpPr/>
          <p:nvPr/>
        </p:nvSpPr>
        <p:spPr>
          <a:xfrm>
            <a:off x="2176563" y="2980023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5" name="直線接點 94"/>
          <p:cNvCxnSpPr>
            <a:stCxn id="94" idx="4"/>
            <a:endCxn id="77" idx="0"/>
          </p:cNvCxnSpPr>
          <p:nvPr/>
        </p:nvCxnSpPr>
        <p:spPr>
          <a:xfrm>
            <a:off x="2356563" y="3340023"/>
            <a:ext cx="3889" cy="60548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>
            <a:stCxn id="94" idx="5"/>
            <a:endCxn id="80" idx="0"/>
          </p:cNvCxnSpPr>
          <p:nvPr/>
        </p:nvCxnSpPr>
        <p:spPr>
          <a:xfrm>
            <a:off x="2483842" y="3287302"/>
            <a:ext cx="1202495" cy="6582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>
            <a:stCxn id="94" idx="3"/>
            <a:endCxn id="79" idx="0"/>
          </p:cNvCxnSpPr>
          <p:nvPr/>
        </p:nvCxnSpPr>
        <p:spPr>
          <a:xfrm flipH="1">
            <a:off x="1028817" y="3287302"/>
            <a:ext cx="1200467" cy="6582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>
            <a:stCxn id="80" idx="4"/>
          </p:cNvCxnSpPr>
          <p:nvPr/>
        </p:nvCxnSpPr>
        <p:spPr>
          <a:xfrm>
            <a:off x="3686337" y="4305508"/>
            <a:ext cx="0" cy="1713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>
            <a:stCxn id="80" idx="5"/>
          </p:cNvCxnSpPr>
          <p:nvPr/>
        </p:nvCxnSpPr>
        <p:spPr>
          <a:xfrm>
            <a:off x="3813616" y="4252787"/>
            <a:ext cx="239750" cy="2240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>
            <a:stCxn id="80" idx="3"/>
          </p:cNvCxnSpPr>
          <p:nvPr/>
        </p:nvCxnSpPr>
        <p:spPr>
          <a:xfrm flipH="1">
            <a:off x="3326193" y="4252787"/>
            <a:ext cx="232865" cy="2240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群組 121"/>
          <p:cNvGrpSpPr/>
          <p:nvPr/>
        </p:nvGrpSpPr>
        <p:grpSpPr>
          <a:xfrm>
            <a:off x="4406067" y="2980023"/>
            <a:ext cx="727173" cy="531324"/>
            <a:chOff x="3294175" y="3985064"/>
            <a:chExt cx="727173" cy="531324"/>
          </a:xfrm>
        </p:grpSpPr>
        <p:sp>
          <p:nvSpPr>
            <p:cNvPr id="118" name="橢圓 117"/>
            <p:cNvSpPr/>
            <p:nvPr/>
          </p:nvSpPr>
          <p:spPr>
            <a:xfrm>
              <a:off x="3474319" y="398506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9" name="直線接點 118"/>
            <p:cNvCxnSpPr>
              <a:stCxn id="118" idx="4"/>
            </p:cNvCxnSpPr>
            <p:nvPr/>
          </p:nvCxnSpPr>
          <p:spPr>
            <a:xfrm>
              <a:off x="3654319" y="4345064"/>
              <a:ext cx="0" cy="1713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接點 119"/>
            <p:cNvCxnSpPr>
              <a:stCxn id="118" idx="5"/>
            </p:cNvCxnSpPr>
            <p:nvPr/>
          </p:nvCxnSpPr>
          <p:spPr>
            <a:xfrm>
              <a:off x="3781598" y="4292343"/>
              <a:ext cx="239750" cy="224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接點 120"/>
            <p:cNvCxnSpPr>
              <a:stCxn id="118" idx="3"/>
            </p:cNvCxnSpPr>
            <p:nvPr/>
          </p:nvCxnSpPr>
          <p:spPr>
            <a:xfrm flipH="1">
              <a:off x="3294175" y="4292343"/>
              <a:ext cx="232865" cy="224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群組 122"/>
          <p:cNvGrpSpPr/>
          <p:nvPr/>
        </p:nvGrpSpPr>
        <p:grpSpPr>
          <a:xfrm>
            <a:off x="6788415" y="2980023"/>
            <a:ext cx="727173" cy="531324"/>
            <a:chOff x="3294175" y="3985064"/>
            <a:chExt cx="727173" cy="531324"/>
          </a:xfrm>
        </p:grpSpPr>
        <p:sp>
          <p:nvSpPr>
            <p:cNvPr id="124" name="橢圓 123"/>
            <p:cNvSpPr/>
            <p:nvPr/>
          </p:nvSpPr>
          <p:spPr>
            <a:xfrm>
              <a:off x="3474319" y="398506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5" name="直線接點 124"/>
            <p:cNvCxnSpPr>
              <a:stCxn id="124" idx="4"/>
            </p:cNvCxnSpPr>
            <p:nvPr/>
          </p:nvCxnSpPr>
          <p:spPr>
            <a:xfrm>
              <a:off x="3654319" y="4345064"/>
              <a:ext cx="0" cy="1713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/>
            <p:cNvCxnSpPr>
              <a:stCxn id="124" idx="5"/>
            </p:cNvCxnSpPr>
            <p:nvPr/>
          </p:nvCxnSpPr>
          <p:spPr>
            <a:xfrm>
              <a:off x="3781598" y="4292343"/>
              <a:ext cx="239750" cy="224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接點 126"/>
            <p:cNvCxnSpPr>
              <a:stCxn id="124" idx="3"/>
            </p:cNvCxnSpPr>
            <p:nvPr/>
          </p:nvCxnSpPr>
          <p:spPr>
            <a:xfrm flipH="1">
              <a:off x="3294175" y="4292343"/>
              <a:ext cx="232865" cy="224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" name="直線接點 127"/>
          <p:cNvCxnSpPr>
            <a:stCxn id="7" idx="4"/>
            <a:endCxn id="118" idx="0"/>
          </p:cNvCxnSpPr>
          <p:nvPr/>
        </p:nvCxnSpPr>
        <p:spPr>
          <a:xfrm>
            <a:off x="4766211" y="2379689"/>
            <a:ext cx="0" cy="6003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>
            <a:stCxn id="7" idx="3"/>
            <a:endCxn id="94" idx="0"/>
          </p:cNvCxnSpPr>
          <p:nvPr/>
        </p:nvCxnSpPr>
        <p:spPr>
          <a:xfrm flipH="1">
            <a:off x="2356563" y="2326968"/>
            <a:ext cx="2282369" cy="6530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接點 133"/>
          <p:cNvCxnSpPr>
            <a:stCxn id="7" idx="5"/>
            <a:endCxn id="124" idx="0"/>
          </p:cNvCxnSpPr>
          <p:nvPr/>
        </p:nvCxnSpPr>
        <p:spPr>
          <a:xfrm>
            <a:off x="4893490" y="2326968"/>
            <a:ext cx="2255069" cy="6530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字方塊 136"/>
          <p:cNvSpPr txBox="1"/>
          <p:nvPr/>
        </p:nvSpPr>
        <p:spPr>
          <a:xfrm>
            <a:off x="307059" y="2917970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07950" y="3883455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07059" y="4874317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307059" y="5784594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4501452" y="2061189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zh-TW" alt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2173109" y="295996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文字方塊 155"/>
          <p:cNvSpPr txBox="1"/>
          <p:nvPr/>
        </p:nvSpPr>
        <p:spPr>
          <a:xfrm>
            <a:off x="841667" y="3921885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十字形 156"/>
          <p:cNvSpPr/>
          <p:nvPr/>
        </p:nvSpPr>
        <p:spPr>
          <a:xfrm>
            <a:off x="880742" y="4327110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8" name="文字方塊 157"/>
          <p:cNvSpPr txBox="1"/>
          <p:nvPr/>
        </p:nvSpPr>
        <p:spPr>
          <a:xfrm>
            <a:off x="2163343" y="391569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字方塊 158"/>
          <p:cNvSpPr txBox="1"/>
          <p:nvPr/>
        </p:nvSpPr>
        <p:spPr>
          <a:xfrm>
            <a:off x="4572690" y="2943540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字方塊 159"/>
          <p:cNvSpPr txBox="1"/>
          <p:nvPr/>
        </p:nvSpPr>
        <p:spPr>
          <a:xfrm>
            <a:off x="2166798" y="4841734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文字方塊 160"/>
          <p:cNvSpPr txBox="1"/>
          <p:nvPr/>
        </p:nvSpPr>
        <p:spPr>
          <a:xfrm>
            <a:off x="1417022" y="485426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文字方塊 161"/>
          <p:cNvSpPr txBox="1"/>
          <p:nvPr/>
        </p:nvSpPr>
        <p:spPr>
          <a:xfrm>
            <a:off x="2415775" y="5764539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文字方塊 162"/>
          <p:cNvSpPr txBox="1"/>
          <p:nvPr/>
        </p:nvSpPr>
        <p:spPr>
          <a:xfrm>
            <a:off x="2907622" y="5764539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文字方塊 163"/>
          <p:cNvSpPr txBox="1"/>
          <p:nvPr/>
        </p:nvSpPr>
        <p:spPr>
          <a:xfrm>
            <a:off x="2929292" y="4859030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文字方塊 164"/>
          <p:cNvSpPr txBox="1"/>
          <p:nvPr/>
        </p:nvSpPr>
        <p:spPr>
          <a:xfrm>
            <a:off x="3505171" y="3912237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文字方塊 165"/>
          <p:cNvSpPr txBox="1"/>
          <p:nvPr/>
        </p:nvSpPr>
        <p:spPr>
          <a:xfrm>
            <a:off x="3422387" y="575344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文字方塊 166"/>
          <p:cNvSpPr txBox="1"/>
          <p:nvPr/>
        </p:nvSpPr>
        <p:spPr>
          <a:xfrm>
            <a:off x="6967038" y="295350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十字形 167"/>
          <p:cNvSpPr/>
          <p:nvPr/>
        </p:nvSpPr>
        <p:spPr>
          <a:xfrm>
            <a:off x="1460365" y="5241844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9" name="十字形 168"/>
          <p:cNvSpPr/>
          <p:nvPr/>
        </p:nvSpPr>
        <p:spPr>
          <a:xfrm>
            <a:off x="2206461" y="5234317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0" name="十字形 169"/>
          <p:cNvSpPr/>
          <p:nvPr/>
        </p:nvSpPr>
        <p:spPr>
          <a:xfrm>
            <a:off x="2459118" y="6142944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十字形 170"/>
          <p:cNvSpPr/>
          <p:nvPr/>
        </p:nvSpPr>
        <p:spPr>
          <a:xfrm>
            <a:off x="3459552" y="6142944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5" name="文字方塊 184"/>
          <p:cNvSpPr txBox="1"/>
          <p:nvPr/>
        </p:nvSpPr>
        <p:spPr>
          <a:xfrm>
            <a:off x="7875287" y="29179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文字方塊 185"/>
          <p:cNvSpPr txBox="1"/>
          <p:nvPr/>
        </p:nvSpPr>
        <p:spPr>
          <a:xfrm>
            <a:off x="7876178" y="3883455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文字方塊 186"/>
          <p:cNvSpPr txBox="1"/>
          <p:nvPr/>
        </p:nvSpPr>
        <p:spPr>
          <a:xfrm>
            <a:off x="7875287" y="4874317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文字方塊 187"/>
          <p:cNvSpPr txBox="1"/>
          <p:nvPr/>
        </p:nvSpPr>
        <p:spPr>
          <a:xfrm>
            <a:off x="7875287" y="5784594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文字方塊 188"/>
          <p:cNvSpPr txBox="1"/>
          <p:nvPr/>
        </p:nvSpPr>
        <p:spPr>
          <a:xfrm>
            <a:off x="7875287" y="19440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044372" y="1321023"/>
            <a:ext cx="1346005" cy="307777"/>
          </a:xfrm>
          <a:prstGeom prst="rect">
            <a:avLst/>
          </a:prstGeom>
          <a:solidFill>
            <a:srgbClr val="FFFFCC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著色問題</a:t>
            </a:r>
          </a:p>
        </p:txBody>
      </p:sp>
      <p:sp>
        <p:nvSpPr>
          <p:cNvPr id="190" name="文字方塊 189"/>
          <p:cNvSpPr txBox="1"/>
          <p:nvPr/>
        </p:nvSpPr>
        <p:spPr>
          <a:xfrm>
            <a:off x="8410021" y="2917970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文字方塊 190"/>
          <p:cNvSpPr txBox="1"/>
          <p:nvPr/>
        </p:nvSpPr>
        <p:spPr>
          <a:xfrm>
            <a:off x="8410912" y="3883455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文字方塊 191"/>
          <p:cNvSpPr txBox="1"/>
          <p:nvPr/>
        </p:nvSpPr>
        <p:spPr>
          <a:xfrm>
            <a:off x="8410021" y="487431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文字方塊 192"/>
          <p:cNvSpPr txBox="1"/>
          <p:nvPr/>
        </p:nvSpPr>
        <p:spPr>
          <a:xfrm>
            <a:off x="8410021" y="5784594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文字方塊 193"/>
          <p:cNvSpPr txBox="1"/>
          <p:nvPr/>
        </p:nvSpPr>
        <p:spPr>
          <a:xfrm>
            <a:off x="8410021" y="19440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文字方塊 194"/>
          <p:cNvSpPr txBox="1"/>
          <p:nvPr/>
        </p:nvSpPr>
        <p:spPr>
          <a:xfrm>
            <a:off x="8410021" y="641326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sz="2000" b="1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字方塊 195"/>
              <p:cNvSpPr txBox="1"/>
              <p:nvPr/>
            </p:nvSpPr>
            <p:spPr>
              <a:xfrm>
                <a:off x="3904024" y="6303743"/>
                <a:ext cx="4349524" cy="415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6" name="文字方塊 1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024" y="6303743"/>
                <a:ext cx="4349524" cy="41524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67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  <p:bldP spid="186" grpId="0"/>
      <p:bldP spid="187" grpId="0"/>
      <p:bldP spid="188" grpId="0"/>
      <p:bldP spid="189" grpId="0"/>
      <p:bldP spid="8" grpId="0" animBg="1"/>
      <p:bldP spid="190" grpId="0"/>
      <p:bldP spid="191" grpId="0"/>
      <p:bldP spid="192" grpId="0"/>
      <p:bldP spid="193" grpId="0"/>
      <p:bldP spid="194" grpId="0"/>
      <p:bldP spid="195" grpId="0"/>
      <p:bldP spid="19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圖形著色 </a:t>
            </a:r>
            <a:r>
              <a:rPr lang="en-US" altLang="zh-TW" dirty="0"/>
              <a:t>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73" name="群組 72"/>
          <p:cNvGrpSpPr/>
          <p:nvPr/>
        </p:nvGrpSpPr>
        <p:grpSpPr>
          <a:xfrm>
            <a:off x="6953574" y="1268760"/>
            <a:ext cx="2032771" cy="1750087"/>
            <a:chOff x="3238603" y="1341389"/>
            <a:chExt cx="2032771" cy="1750087"/>
          </a:xfrm>
        </p:grpSpPr>
        <p:cxnSp>
          <p:nvCxnSpPr>
            <p:cNvPr id="10" name="直線接點 9"/>
            <p:cNvCxnSpPr>
              <a:stCxn id="28" idx="1"/>
              <a:endCxn id="16" idx="6"/>
            </p:cNvCxnSpPr>
            <p:nvPr/>
          </p:nvCxnSpPr>
          <p:spPr>
            <a:xfrm flipH="1" flipV="1">
              <a:off x="3603208" y="1556381"/>
              <a:ext cx="543285" cy="54991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>
              <a:stCxn id="28" idx="5"/>
              <a:endCxn id="41" idx="2"/>
            </p:cNvCxnSpPr>
            <p:nvPr/>
          </p:nvCxnSpPr>
          <p:spPr>
            <a:xfrm>
              <a:off x="4401051" y="2360852"/>
              <a:ext cx="493850" cy="23272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>
              <a:stCxn id="28" idx="2"/>
              <a:endCxn id="25" idx="6"/>
            </p:cNvCxnSpPr>
            <p:nvPr/>
          </p:nvCxnSpPr>
          <p:spPr>
            <a:xfrm flipH="1">
              <a:off x="3603208" y="2233573"/>
              <a:ext cx="49056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/>
            <p:cNvSpPr/>
            <p:nvPr/>
          </p:nvSpPr>
          <p:spPr>
            <a:xfrm>
              <a:off x="3243208" y="137638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3238603" y="134138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3243208" y="273147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/>
          </p:nvSpPr>
          <p:spPr>
            <a:xfrm>
              <a:off x="3243208" y="205357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/>
            <p:cNvSpPr/>
            <p:nvPr/>
          </p:nvSpPr>
          <p:spPr>
            <a:xfrm>
              <a:off x="4093772" y="205357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>
            <a:xfrm>
              <a:off x="4894901" y="169357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橢圓 40"/>
            <p:cNvSpPr/>
            <p:nvPr/>
          </p:nvSpPr>
          <p:spPr>
            <a:xfrm>
              <a:off x="4894901" y="241357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接點 43"/>
            <p:cNvCxnSpPr>
              <a:stCxn id="28" idx="7"/>
              <a:endCxn id="40" idx="2"/>
            </p:cNvCxnSpPr>
            <p:nvPr/>
          </p:nvCxnSpPr>
          <p:spPr>
            <a:xfrm flipV="1">
              <a:off x="4401051" y="1873573"/>
              <a:ext cx="493850" cy="23272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>
              <a:stCxn id="41" idx="0"/>
              <a:endCxn id="40" idx="4"/>
            </p:cNvCxnSpPr>
            <p:nvPr/>
          </p:nvCxnSpPr>
          <p:spPr>
            <a:xfrm flipV="1">
              <a:off x="5074901" y="2053573"/>
              <a:ext cx="0" cy="360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3243208" y="2705051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4890296" y="16578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4093825" y="202975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4899156" y="2362144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線接點 69"/>
            <p:cNvCxnSpPr>
              <a:stCxn id="28" idx="3"/>
              <a:endCxn id="19" idx="6"/>
            </p:cNvCxnSpPr>
            <p:nvPr/>
          </p:nvCxnSpPr>
          <p:spPr>
            <a:xfrm flipH="1">
              <a:off x="3603208" y="2360852"/>
              <a:ext cx="543285" cy="55062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3245729" y="2018527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0" name="文字方塊 109"/>
          <p:cNvSpPr txBox="1"/>
          <p:nvPr/>
        </p:nvSpPr>
        <p:spPr>
          <a:xfrm>
            <a:off x="182369" y="2700944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182369" y="3272928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182369" y="385736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183254" y="4389289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十字形 127"/>
          <p:cNvSpPr/>
          <p:nvPr/>
        </p:nvSpPr>
        <p:spPr>
          <a:xfrm>
            <a:off x="975912" y="537491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十字形 128"/>
          <p:cNvSpPr/>
          <p:nvPr/>
        </p:nvSpPr>
        <p:spPr>
          <a:xfrm>
            <a:off x="1691463" y="5900912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十字形 129"/>
          <p:cNvSpPr/>
          <p:nvPr/>
        </p:nvSpPr>
        <p:spPr>
          <a:xfrm>
            <a:off x="2192005" y="5902199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十字形 130"/>
          <p:cNvSpPr/>
          <p:nvPr/>
        </p:nvSpPr>
        <p:spPr>
          <a:xfrm>
            <a:off x="3881730" y="537491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7" name="直線接點 146"/>
          <p:cNvCxnSpPr>
            <a:stCxn id="146" idx="4"/>
            <a:endCxn id="144" idx="0"/>
          </p:cNvCxnSpPr>
          <p:nvPr/>
        </p:nvCxnSpPr>
        <p:spPr>
          <a:xfrm flipH="1">
            <a:off x="1860224" y="5362336"/>
            <a:ext cx="238479" cy="1608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接點 147"/>
          <p:cNvCxnSpPr>
            <a:stCxn id="146" idx="4"/>
            <a:endCxn id="145" idx="0"/>
          </p:cNvCxnSpPr>
          <p:nvPr/>
        </p:nvCxnSpPr>
        <p:spPr>
          <a:xfrm>
            <a:off x="2098703" y="5362336"/>
            <a:ext cx="242754" cy="1608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接點 149"/>
          <p:cNvCxnSpPr>
            <a:stCxn id="149" idx="4"/>
            <a:endCxn id="146" idx="0"/>
          </p:cNvCxnSpPr>
          <p:nvPr/>
        </p:nvCxnSpPr>
        <p:spPr>
          <a:xfrm>
            <a:off x="1630800" y="4797817"/>
            <a:ext cx="467903" cy="2045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接點 152"/>
          <p:cNvCxnSpPr>
            <a:stCxn id="149" idx="4"/>
            <a:endCxn id="136" idx="0"/>
          </p:cNvCxnSpPr>
          <p:nvPr/>
        </p:nvCxnSpPr>
        <p:spPr>
          <a:xfrm flipH="1">
            <a:off x="1136971" y="4797817"/>
            <a:ext cx="493829" cy="2045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接點 162"/>
          <p:cNvCxnSpPr>
            <a:stCxn id="162" idx="4"/>
            <a:endCxn id="160" idx="0"/>
          </p:cNvCxnSpPr>
          <p:nvPr/>
        </p:nvCxnSpPr>
        <p:spPr>
          <a:xfrm flipH="1">
            <a:off x="2824906" y="5362336"/>
            <a:ext cx="238479" cy="1608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接點 163"/>
          <p:cNvCxnSpPr>
            <a:stCxn id="162" idx="4"/>
            <a:endCxn id="161" idx="0"/>
          </p:cNvCxnSpPr>
          <p:nvPr/>
        </p:nvCxnSpPr>
        <p:spPr>
          <a:xfrm>
            <a:off x="3063385" y="5362336"/>
            <a:ext cx="242754" cy="1608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接點 170"/>
          <p:cNvCxnSpPr>
            <a:stCxn id="170" idx="4"/>
            <a:endCxn id="167" idx="0"/>
          </p:cNvCxnSpPr>
          <p:nvPr/>
        </p:nvCxnSpPr>
        <p:spPr>
          <a:xfrm>
            <a:off x="3557214" y="4797817"/>
            <a:ext cx="467903" cy="2045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接點 171"/>
          <p:cNvCxnSpPr>
            <a:stCxn id="170" idx="4"/>
            <a:endCxn id="162" idx="0"/>
          </p:cNvCxnSpPr>
          <p:nvPr/>
        </p:nvCxnSpPr>
        <p:spPr>
          <a:xfrm flipH="1">
            <a:off x="3063385" y="4797817"/>
            <a:ext cx="493829" cy="2045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接點 173"/>
          <p:cNvCxnSpPr>
            <a:stCxn id="173" idx="4"/>
            <a:endCxn id="170" idx="0"/>
          </p:cNvCxnSpPr>
          <p:nvPr/>
        </p:nvCxnSpPr>
        <p:spPr>
          <a:xfrm>
            <a:off x="2575408" y="4232915"/>
            <a:ext cx="981806" cy="2049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接點 176"/>
          <p:cNvCxnSpPr>
            <a:stCxn id="173" idx="4"/>
            <a:endCxn id="149" idx="0"/>
          </p:cNvCxnSpPr>
          <p:nvPr/>
        </p:nvCxnSpPr>
        <p:spPr>
          <a:xfrm flipH="1">
            <a:off x="1630800" y="4232915"/>
            <a:ext cx="944608" cy="2049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橢圓 179"/>
          <p:cNvSpPr/>
          <p:nvPr/>
        </p:nvSpPr>
        <p:spPr>
          <a:xfrm>
            <a:off x="4312496" y="386996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2" name="直線接點 181"/>
          <p:cNvCxnSpPr>
            <a:stCxn id="181" idx="4"/>
            <a:endCxn id="180" idx="0"/>
          </p:cNvCxnSpPr>
          <p:nvPr/>
        </p:nvCxnSpPr>
        <p:spPr>
          <a:xfrm>
            <a:off x="3550352" y="3625432"/>
            <a:ext cx="942144" cy="2445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接點 184"/>
          <p:cNvCxnSpPr>
            <a:stCxn id="181" idx="4"/>
            <a:endCxn id="173" idx="0"/>
          </p:cNvCxnSpPr>
          <p:nvPr/>
        </p:nvCxnSpPr>
        <p:spPr>
          <a:xfrm flipH="1">
            <a:off x="2575408" y="3625432"/>
            <a:ext cx="974944" cy="2474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橢圓 187"/>
          <p:cNvSpPr/>
          <p:nvPr/>
        </p:nvSpPr>
        <p:spPr>
          <a:xfrm>
            <a:off x="5148976" y="3266036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0" name="直線接點 189"/>
          <p:cNvCxnSpPr>
            <a:stCxn id="189" idx="4"/>
            <a:endCxn id="188" idx="0"/>
          </p:cNvCxnSpPr>
          <p:nvPr/>
        </p:nvCxnSpPr>
        <p:spPr>
          <a:xfrm>
            <a:off x="4443563" y="2996869"/>
            <a:ext cx="885413" cy="2691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接點 192"/>
          <p:cNvCxnSpPr>
            <a:stCxn id="189" idx="4"/>
            <a:endCxn id="181" idx="0"/>
          </p:cNvCxnSpPr>
          <p:nvPr/>
        </p:nvCxnSpPr>
        <p:spPr>
          <a:xfrm flipH="1">
            <a:off x="3550352" y="2996869"/>
            <a:ext cx="893211" cy="26856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文字方塊 195"/>
          <p:cNvSpPr txBox="1"/>
          <p:nvPr/>
        </p:nvSpPr>
        <p:spPr>
          <a:xfrm>
            <a:off x="182369" y="5437419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182369" y="4928283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橢圓 197"/>
          <p:cNvSpPr/>
          <p:nvPr/>
        </p:nvSpPr>
        <p:spPr>
          <a:xfrm>
            <a:off x="5912247" y="263886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直線接點 199"/>
          <p:cNvCxnSpPr>
            <a:stCxn id="199" idx="4"/>
            <a:endCxn id="198" idx="0"/>
          </p:cNvCxnSpPr>
          <p:nvPr/>
        </p:nvCxnSpPr>
        <p:spPr>
          <a:xfrm>
            <a:off x="5322798" y="2380290"/>
            <a:ext cx="769449" cy="2585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接點 202"/>
          <p:cNvCxnSpPr>
            <a:stCxn id="199" idx="4"/>
            <a:endCxn id="189" idx="0"/>
          </p:cNvCxnSpPr>
          <p:nvPr/>
        </p:nvCxnSpPr>
        <p:spPr>
          <a:xfrm flipH="1">
            <a:off x="4443563" y="2380290"/>
            <a:ext cx="879235" cy="25657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5063752" y="2020290"/>
            <a:ext cx="518091" cy="360000"/>
            <a:chOff x="5063752" y="1869400"/>
            <a:chExt cx="518091" cy="360000"/>
          </a:xfrm>
        </p:grpSpPr>
        <p:sp>
          <p:nvSpPr>
            <p:cNvPr id="199" name="橢圓 198"/>
            <p:cNvSpPr/>
            <p:nvPr/>
          </p:nvSpPr>
          <p:spPr>
            <a:xfrm>
              <a:off x="5142798" y="186940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6" name="文字方塊 205"/>
            <p:cNvSpPr txBox="1"/>
            <p:nvPr/>
          </p:nvSpPr>
          <p:spPr>
            <a:xfrm>
              <a:off x="5063752" y="1922075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zh-TW" alt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4258256" y="2616814"/>
            <a:ext cx="370614" cy="400110"/>
            <a:chOff x="4258256" y="2465924"/>
            <a:chExt cx="370614" cy="400110"/>
          </a:xfrm>
        </p:grpSpPr>
        <p:sp>
          <p:nvSpPr>
            <p:cNvPr id="189" name="橢圓 188"/>
            <p:cNvSpPr/>
            <p:nvPr/>
          </p:nvSpPr>
          <p:spPr>
            <a:xfrm>
              <a:off x="4263563" y="2485979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4258256" y="2465924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1918703" y="4974806"/>
            <a:ext cx="364718" cy="400110"/>
            <a:chOff x="1918703" y="4823916"/>
            <a:chExt cx="364718" cy="400110"/>
          </a:xfrm>
        </p:grpSpPr>
        <p:sp>
          <p:nvSpPr>
            <p:cNvPr id="146" name="橢圓 145"/>
            <p:cNvSpPr/>
            <p:nvPr/>
          </p:nvSpPr>
          <p:spPr>
            <a:xfrm>
              <a:off x="1918703" y="485144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6" name="文字方塊 125"/>
            <p:cNvSpPr txBox="1"/>
            <p:nvPr/>
          </p:nvSpPr>
          <p:spPr>
            <a:xfrm>
              <a:off x="1927233" y="4823916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3358651" y="3250121"/>
            <a:ext cx="371701" cy="400110"/>
            <a:chOff x="3358651" y="3099231"/>
            <a:chExt cx="371701" cy="400110"/>
          </a:xfrm>
        </p:grpSpPr>
        <p:sp>
          <p:nvSpPr>
            <p:cNvPr id="181" name="橢圓 180"/>
            <p:cNvSpPr/>
            <p:nvPr/>
          </p:nvSpPr>
          <p:spPr>
            <a:xfrm>
              <a:off x="3370352" y="3114542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7" name="文字方塊 206"/>
            <p:cNvSpPr txBox="1"/>
            <p:nvPr/>
          </p:nvSpPr>
          <p:spPr>
            <a:xfrm>
              <a:off x="3358651" y="3099231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2390101" y="3862273"/>
            <a:ext cx="370614" cy="400110"/>
            <a:chOff x="2390101" y="3711383"/>
            <a:chExt cx="370614" cy="400110"/>
          </a:xfrm>
        </p:grpSpPr>
        <p:sp>
          <p:nvSpPr>
            <p:cNvPr id="173" name="橢圓 172"/>
            <p:cNvSpPr/>
            <p:nvPr/>
          </p:nvSpPr>
          <p:spPr>
            <a:xfrm>
              <a:off x="2395408" y="372202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8" name="文字方塊 207"/>
            <p:cNvSpPr txBox="1"/>
            <p:nvPr/>
          </p:nvSpPr>
          <p:spPr>
            <a:xfrm>
              <a:off x="2390101" y="3711383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450800" y="4417721"/>
            <a:ext cx="376183" cy="400110"/>
            <a:chOff x="1450800" y="4266831"/>
            <a:chExt cx="376183" cy="400110"/>
          </a:xfrm>
        </p:grpSpPr>
        <p:sp>
          <p:nvSpPr>
            <p:cNvPr id="149" name="橢圓 148"/>
            <p:cNvSpPr/>
            <p:nvPr/>
          </p:nvSpPr>
          <p:spPr>
            <a:xfrm>
              <a:off x="1450800" y="428692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9" name="文字方塊 208"/>
            <p:cNvSpPr txBox="1"/>
            <p:nvPr/>
          </p:nvSpPr>
          <p:spPr>
            <a:xfrm>
              <a:off x="1456369" y="4266831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955640" y="4982322"/>
            <a:ext cx="370614" cy="400110"/>
            <a:chOff x="955640" y="4831432"/>
            <a:chExt cx="370614" cy="400110"/>
          </a:xfrm>
        </p:grpSpPr>
        <p:sp>
          <p:nvSpPr>
            <p:cNvPr id="136" name="橢圓 135"/>
            <p:cNvSpPr/>
            <p:nvPr/>
          </p:nvSpPr>
          <p:spPr>
            <a:xfrm>
              <a:off x="956971" y="485144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0" name="文字方塊 209"/>
            <p:cNvSpPr txBox="1"/>
            <p:nvPr/>
          </p:nvSpPr>
          <p:spPr>
            <a:xfrm>
              <a:off x="955640" y="4831432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2640778" y="5501972"/>
            <a:ext cx="370614" cy="400110"/>
            <a:chOff x="2640778" y="5351082"/>
            <a:chExt cx="370614" cy="400110"/>
          </a:xfrm>
        </p:grpSpPr>
        <p:sp>
          <p:nvSpPr>
            <p:cNvPr id="160" name="橢圓 159"/>
            <p:cNvSpPr/>
            <p:nvPr/>
          </p:nvSpPr>
          <p:spPr>
            <a:xfrm>
              <a:off x="2644906" y="537231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1" name="文字方塊 210"/>
            <p:cNvSpPr txBox="1"/>
            <p:nvPr/>
          </p:nvSpPr>
          <p:spPr>
            <a:xfrm>
              <a:off x="2640778" y="5351082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1676996" y="5500802"/>
            <a:ext cx="370614" cy="400110"/>
            <a:chOff x="1676996" y="5349912"/>
            <a:chExt cx="370614" cy="400110"/>
          </a:xfrm>
        </p:grpSpPr>
        <p:sp>
          <p:nvSpPr>
            <p:cNvPr id="144" name="橢圓 143"/>
            <p:cNvSpPr/>
            <p:nvPr/>
          </p:nvSpPr>
          <p:spPr>
            <a:xfrm>
              <a:off x="1680224" y="537231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3" name="文字方塊 212"/>
            <p:cNvSpPr txBox="1"/>
            <p:nvPr/>
          </p:nvSpPr>
          <p:spPr>
            <a:xfrm>
              <a:off x="1676996" y="5349912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872126" y="4977824"/>
            <a:ext cx="371259" cy="400110"/>
            <a:chOff x="2872126" y="4826934"/>
            <a:chExt cx="371259" cy="400110"/>
          </a:xfrm>
        </p:grpSpPr>
        <p:sp>
          <p:nvSpPr>
            <p:cNvPr id="162" name="橢圓 161"/>
            <p:cNvSpPr/>
            <p:nvPr/>
          </p:nvSpPr>
          <p:spPr>
            <a:xfrm>
              <a:off x="2883385" y="485144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4" name="文字方塊 213"/>
            <p:cNvSpPr txBox="1"/>
            <p:nvPr/>
          </p:nvSpPr>
          <p:spPr>
            <a:xfrm>
              <a:off x="2872126" y="4826934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2157911" y="5500802"/>
            <a:ext cx="363546" cy="400110"/>
            <a:chOff x="2157911" y="5349912"/>
            <a:chExt cx="363546" cy="400110"/>
          </a:xfrm>
        </p:grpSpPr>
        <p:sp>
          <p:nvSpPr>
            <p:cNvPr id="145" name="橢圓 144"/>
            <p:cNvSpPr/>
            <p:nvPr/>
          </p:nvSpPr>
          <p:spPr>
            <a:xfrm>
              <a:off x="2161457" y="537231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6" name="文字方塊 215"/>
            <p:cNvSpPr txBox="1"/>
            <p:nvPr/>
          </p:nvSpPr>
          <p:spPr>
            <a:xfrm>
              <a:off x="2157911" y="534991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3377214" y="4417721"/>
            <a:ext cx="360000" cy="400110"/>
            <a:chOff x="3377214" y="4266831"/>
            <a:chExt cx="360000" cy="400110"/>
          </a:xfrm>
        </p:grpSpPr>
        <p:sp>
          <p:nvSpPr>
            <p:cNvPr id="170" name="橢圓 169"/>
            <p:cNvSpPr/>
            <p:nvPr/>
          </p:nvSpPr>
          <p:spPr>
            <a:xfrm>
              <a:off x="3377214" y="428692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7" name="文字方塊 216"/>
            <p:cNvSpPr txBox="1"/>
            <p:nvPr/>
          </p:nvSpPr>
          <p:spPr>
            <a:xfrm>
              <a:off x="3377214" y="4266831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3845117" y="4978364"/>
            <a:ext cx="370690" cy="400110"/>
            <a:chOff x="3845117" y="4827474"/>
            <a:chExt cx="370690" cy="400110"/>
          </a:xfrm>
        </p:grpSpPr>
        <p:sp>
          <p:nvSpPr>
            <p:cNvPr id="167" name="橢圓 166"/>
            <p:cNvSpPr/>
            <p:nvPr/>
          </p:nvSpPr>
          <p:spPr>
            <a:xfrm>
              <a:off x="3845117" y="485144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8" name="文字方塊 217"/>
            <p:cNvSpPr txBox="1"/>
            <p:nvPr/>
          </p:nvSpPr>
          <p:spPr>
            <a:xfrm>
              <a:off x="3859619" y="4827474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3126139" y="5500802"/>
            <a:ext cx="360000" cy="400110"/>
            <a:chOff x="3126139" y="5349912"/>
            <a:chExt cx="360000" cy="400110"/>
          </a:xfrm>
        </p:grpSpPr>
        <p:sp>
          <p:nvSpPr>
            <p:cNvPr id="161" name="橢圓 160"/>
            <p:cNvSpPr/>
            <p:nvPr/>
          </p:nvSpPr>
          <p:spPr>
            <a:xfrm>
              <a:off x="3126139" y="537231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9" name="文字方塊 218"/>
            <p:cNvSpPr txBox="1"/>
            <p:nvPr/>
          </p:nvSpPr>
          <p:spPr>
            <a:xfrm>
              <a:off x="3126139" y="534991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0" name="十字形 219"/>
          <p:cNvSpPr/>
          <p:nvPr/>
        </p:nvSpPr>
        <p:spPr>
          <a:xfrm>
            <a:off x="2680906" y="589771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1" name="十字形 220"/>
          <p:cNvSpPr/>
          <p:nvPr/>
        </p:nvSpPr>
        <p:spPr>
          <a:xfrm>
            <a:off x="3166913" y="589537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2" name="文字方塊 221"/>
          <p:cNvSpPr txBox="1"/>
          <p:nvPr/>
        </p:nvSpPr>
        <p:spPr>
          <a:xfrm>
            <a:off x="6944775" y="3095627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著色問題的解</a:t>
            </a:r>
          </a:p>
        </p:txBody>
      </p:sp>
      <p:sp>
        <p:nvSpPr>
          <p:cNvPr id="223" name="文字方塊 222"/>
          <p:cNvSpPr txBox="1"/>
          <p:nvPr/>
        </p:nvSpPr>
        <p:spPr>
          <a:xfrm>
            <a:off x="4884249" y="5823538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幾乎走訪所有狀態空間樹的節點</a:t>
            </a:r>
          </a:p>
        </p:txBody>
      </p:sp>
    </p:spTree>
    <p:extLst>
      <p:ext uri="{BB962C8B-B14F-4D97-AF65-F5344CB8AC3E}">
        <p14:creationId xmlns:p14="http://schemas.microsoft.com/office/powerpoint/2010/main" val="106261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65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000"/>
                            </p:stCondLst>
                            <p:childTnLst>
                              <p:par>
                                <p:cTn id="1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0500"/>
                            </p:stCondLst>
                            <p:childTnLst>
                              <p:par>
                                <p:cTn id="1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1500"/>
                            </p:stCondLst>
                            <p:childTnLst>
                              <p:par>
                                <p:cTn id="1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2000"/>
                            </p:stCondLst>
                            <p:childTnLst>
                              <p:par>
                                <p:cTn id="1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1" grpId="0"/>
      <p:bldP spid="112" grpId="0"/>
      <p:bldP spid="113" grpId="0"/>
      <p:bldP spid="128" grpId="0" animBg="1"/>
      <p:bldP spid="129" grpId="0" animBg="1"/>
      <p:bldP spid="130" grpId="0" animBg="1"/>
      <p:bldP spid="131" grpId="0" animBg="1"/>
      <p:bldP spid="180" grpId="0" animBg="1"/>
      <p:bldP spid="188" grpId="0" animBg="1"/>
      <p:bldP spid="196" grpId="0"/>
      <p:bldP spid="197" grpId="0"/>
      <p:bldP spid="198" grpId="0" animBg="1"/>
      <p:bldP spid="220" grpId="0" animBg="1"/>
      <p:bldP spid="221" grpId="0" animBg="1"/>
      <p:bldP spid="222" grpId="0"/>
      <p:bldP spid="2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(1/11)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Travelling salesman problem, TSP</a:t>
            </a:r>
          </a:p>
          <a:p>
            <a:pPr lvl="1"/>
            <a:r>
              <a:rPr lang="zh-TW" altLang="en-US" dirty="0"/>
              <a:t>售貨員</a:t>
            </a:r>
            <a:r>
              <a:rPr lang="en-US" altLang="zh-TW" dirty="0"/>
              <a:t>(salesman)</a:t>
            </a:r>
            <a:r>
              <a:rPr lang="zh-TW" altLang="en-US" dirty="0"/>
              <a:t>計畫在</a:t>
            </a:r>
            <a:r>
              <a:rPr lang="en-US" altLang="zh-TW" dirty="0"/>
              <a:t>20</a:t>
            </a:r>
            <a:r>
              <a:rPr lang="zh-TW" altLang="en-US" dirty="0"/>
              <a:t>座城市間旅行並推銷產品</a:t>
            </a:r>
            <a:endParaRPr lang="en-US" altLang="zh-TW" dirty="0"/>
          </a:p>
          <a:p>
            <a:pPr lvl="1"/>
            <a:r>
              <a:rPr lang="zh-TW" altLang="en-US" dirty="0"/>
              <a:t>從家鄉出發，拜訪每一座城市一次後，</a:t>
            </a:r>
            <a:r>
              <a:rPr lang="zh-TW" altLang="en-US" dirty="0">
                <a:solidFill>
                  <a:srgbClr val="C00000"/>
                </a:solidFill>
              </a:rPr>
              <a:t>再回到家鄉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>
                <a:solidFill>
                  <a:srgbClr val="0000FF"/>
                </a:solidFill>
              </a:rPr>
              <a:t>目標</a:t>
            </a:r>
            <a:r>
              <a:rPr lang="zh-TW" altLang="en-US" dirty="0"/>
              <a:t>：縮短旅行時間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C00000"/>
                </a:solidFill>
              </a:rPr>
              <a:t>最短</a:t>
            </a:r>
            <a:r>
              <a:rPr lang="zh-TW" altLang="en-US" dirty="0"/>
              <a:t>路徑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旅程</a:t>
            </a:r>
            <a:r>
              <a:rPr lang="en-US" altLang="zh-TW" dirty="0">
                <a:solidFill>
                  <a:srgbClr val="0000FF"/>
                </a:solidFill>
              </a:rPr>
              <a:t>(tour)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zh-TW" dirty="0"/>
              <a:t>一條路徑</a:t>
            </a:r>
            <a:endParaRPr lang="en-US" altLang="zh-TW" dirty="0"/>
          </a:p>
          <a:p>
            <a:pPr lvl="1"/>
            <a:r>
              <a:rPr lang="zh-TW" altLang="zh-TW" dirty="0"/>
              <a:t>由某一個頂點出發，經過所有頂點一次之後，再回到該頂點</a:t>
            </a:r>
            <a:endParaRPr lang="en-US" altLang="zh-TW" dirty="0"/>
          </a:p>
          <a:p>
            <a:pPr lvl="1"/>
            <a:r>
              <a:rPr lang="zh-TW" altLang="zh-TW" dirty="0">
                <a:solidFill>
                  <a:srgbClr val="C00000"/>
                </a:solidFill>
              </a:rPr>
              <a:t>漢米爾頓迴路</a:t>
            </a:r>
            <a:r>
              <a:rPr lang="en-US" altLang="zh-TW" dirty="0">
                <a:solidFill>
                  <a:srgbClr val="C00000"/>
                </a:solidFill>
              </a:rPr>
              <a:t> (Hamiltonian circuit)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3597210" y="356096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56841" y="347905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5318565" y="356085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3597210" y="48007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318565" y="480064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10" idx="0"/>
            <a:endCxn id="7" idx="4"/>
          </p:cNvCxnSpPr>
          <p:nvPr/>
        </p:nvCxnSpPr>
        <p:spPr>
          <a:xfrm flipV="1">
            <a:off x="3741210" y="3848969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7" idx="5"/>
            <a:endCxn id="11" idx="1"/>
          </p:cNvCxnSpPr>
          <p:nvPr/>
        </p:nvCxnSpPr>
        <p:spPr>
          <a:xfrm>
            <a:off x="3843033" y="3806792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7" idx="7"/>
            <a:endCxn id="9" idx="1"/>
          </p:cNvCxnSpPr>
          <p:nvPr/>
        </p:nvCxnSpPr>
        <p:spPr>
          <a:xfrm flipV="1">
            <a:off x="3843033" y="3603027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9" idx="2"/>
            <a:endCxn id="7" idx="6"/>
          </p:cNvCxnSpPr>
          <p:nvPr/>
        </p:nvCxnSpPr>
        <p:spPr>
          <a:xfrm flipH="1">
            <a:off x="3885210" y="3704850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5"/>
            <a:endCxn id="11" idx="7"/>
          </p:cNvCxnSpPr>
          <p:nvPr/>
        </p:nvCxnSpPr>
        <p:spPr>
          <a:xfrm>
            <a:off x="5564388" y="3806673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1" idx="0"/>
            <a:endCxn id="9" idx="4"/>
          </p:cNvCxnSpPr>
          <p:nvPr/>
        </p:nvCxnSpPr>
        <p:spPr>
          <a:xfrm flipV="1">
            <a:off x="5462565" y="3848850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11" idx="3"/>
            <a:endCxn id="10" idx="5"/>
          </p:cNvCxnSpPr>
          <p:nvPr/>
        </p:nvCxnSpPr>
        <p:spPr>
          <a:xfrm flipH="1">
            <a:off x="3843033" y="5046467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10" idx="7"/>
            <a:endCxn id="9" idx="3"/>
          </p:cNvCxnSpPr>
          <p:nvPr/>
        </p:nvCxnSpPr>
        <p:spPr>
          <a:xfrm flipV="1">
            <a:off x="3843033" y="3806673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9" idx="4"/>
            <a:endCxn id="10" idx="6"/>
          </p:cNvCxnSpPr>
          <p:nvPr/>
        </p:nvCxnSpPr>
        <p:spPr>
          <a:xfrm flipH="1">
            <a:off x="3885210" y="3848850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5290402" y="347534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289496" y="471736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3562854" y="471736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3483305" y="41400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472935" y="36653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472935" y="32943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4601887" y="38957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751928" y="4175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4838619" y="45530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4472935" y="50038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5516387" y="4175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5174129" y="4175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圓角矩形圖說文字 58"/>
          <p:cNvSpPr/>
          <p:nvPr/>
        </p:nvSpPr>
        <p:spPr>
          <a:xfrm>
            <a:off x="2326274" y="2766045"/>
            <a:ext cx="837065" cy="392159"/>
          </a:xfrm>
          <a:prstGeom prst="wedgeRoundRectCallout">
            <a:avLst>
              <a:gd name="adj1" fmla="val 96617"/>
              <a:gd name="adj2" fmla="val 1571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城市</a:t>
            </a:r>
          </a:p>
        </p:txBody>
      </p:sp>
      <p:sp>
        <p:nvSpPr>
          <p:cNvPr id="60" name="圓角矩形圖說文字 59"/>
          <p:cNvSpPr/>
          <p:nvPr/>
        </p:nvSpPr>
        <p:spPr>
          <a:xfrm>
            <a:off x="6035826" y="3463930"/>
            <a:ext cx="1511088" cy="392159"/>
          </a:xfrm>
          <a:prstGeom prst="wedgeRoundRectCallout">
            <a:avLst>
              <a:gd name="adj1" fmla="val -69248"/>
              <a:gd name="adj2" fmla="val 1728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時間或距離</a:t>
            </a:r>
          </a:p>
        </p:txBody>
      </p:sp>
      <p:sp>
        <p:nvSpPr>
          <p:cNvPr id="61" name="圓角矩形圖說文字 60"/>
          <p:cNvSpPr/>
          <p:nvPr/>
        </p:nvSpPr>
        <p:spPr>
          <a:xfrm>
            <a:off x="2106278" y="3564003"/>
            <a:ext cx="1060986" cy="392159"/>
          </a:xfrm>
          <a:prstGeom prst="wedgeRoundRectCallout">
            <a:avLst>
              <a:gd name="adj1" fmla="val 94967"/>
              <a:gd name="adj2" fmla="val 10355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單行道</a:t>
            </a:r>
          </a:p>
        </p:txBody>
      </p:sp>
    </p:spTree>
    <p:extLst>
      <p:ext uri="{BB962C8B-B14F-4D97-AF65-F5344CB8AC3E}">
        <p14:creationId xmlns:p14="http://schemas.microsoft.com/office/powerpoint/2010/main" val="380234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(2/11)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暴力法</a:t>
            </a:r>
            <a:r>
              <a:rPr lang="zh-TW" altLang="en-US" dirty="0"/>
              <a:t>解售貨員旅行問題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" name="橢圓 7"/>
          <p:cNvSpPr/>
          <p:nvPr/>
        </p:nvSpPr>
        <p:spPr>
          <a:xfrm>
            <a:off x="1861055" y="339322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1950807" y="5472726"/>
                <a:ext cx="5237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×…×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807" y="5472726"/>
                <a:ext cx="5237139" cy="276999"/>
              </a:xfrm>
              <a:prstGeom prst="rect">
                <a:avLst/>
              </a:prstGeom>
              <a:blipFill rotWithShape="0">
                <a:blip r:embed="rId2"/>
                <a:stretch>
                  <a:fillRect r="-698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/>
          <p:cNvSpPr txBox="1"/>
          <p:nvPr/>
        </p:nvSpPr>
        <p:spPr>
          <a:xfrm>
            <a:off x="1822954" y="330458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2149055" y="2361060"/>
            <a:ext cx="1061733" cy="2728130"/>
            <a:chOff x="2149055" y="2361060"/>
            <a:chExt cx="1061733" cy="2728130"/>
          </a:xfrm>
        </p:grpSpPr>
        <p:cxnSp>
          <p:nvCxnSpPr>
            <p:cNvPr id="15" name="直線接點 14"/>
            <p:cNvCxnSpPr>
              <a:stCxn id="8" idx="6"/>
              <a:endCxn id="25" idx="2"/>
            </p:cNvCxnSpPr>
            <p:nvPr/>
          </p:nvCxnSpPr>
          <p:spPr>
            <a:xfrm flipV="1">
              <a:off x="2149055" y="2591539"/>
              <a:ext cx="732976" cy="9456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>
              <a:stCxn id="8" idx="6"/>
              <a:endCxn id="27" idx="2"/>
            </p:cNvCxnSpPr>
            <p:nvPr/>
          </p:nvCxnSpPr>
          <p:spPr>
            <a:xfrm flipV="1">
              <a:off x="2149055" y="3141400"/>
              <a:ext cx="732976" cy="3958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橢圓 24"/>
            <p:cNvSpPr/>
            <p:nvPr/>
          </p:nvSpPr>
          <p:spPr>
            <a:xfrm>
              <a:off x="2882031" y="244753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/>
          </p:nvSpPr>
          <p:spPr>
            <a:xfrm>
              <a:off x="2882031" y="299740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/>
            <p:cNvSpPr/>
            <p:nvPr/>
          </p:nvSpPr>
          <p:spPr>
            <a:xfrm>
              <a:off x="2882031" y="352945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2882031" y="48011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4" name="直線接點 33"/>
            <p:cNvCxnSpPr>
              <a:stCxn id="8" idx="6"/>
              <a:endCxn id="28" idx="2"/>
            </p:cNvCxnSpPr>
            <p:nvPr/>
          </p:nvCxnSpPr>
          <p:spPr>
            <a:xfrm>
              <a:off x="2149055" y="3537220"/>
              <a:ext cx="732976" cy="136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>
              <a:stCxn id="8" idx="6"/>
              <a:endCxn id="29" idx="2"/>
            </p:cNvCxnSpPr>
            <p:nvPr/>
          </p:nvCxnSpPr>
          <p:spPr>
            <a:xfrm>
              <a:off x="2149055" y="3537220"/>
              <a:ext cx="732976" cy="14079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2843930" y="23610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2846586" y="291092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2843930" y="344812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2835914" y="471985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4" name="群組 63"/>
            <p:cNvGrpSpPr/>
            <p:nvPr/>
          </p:nvGrpSpPr>
          <p:grpSpPr>
            <a:xfrm>
              <a:off x="3004023" y="4212705"/>
              <a:ext cx="36000" cy="247233"/>
              <a:chOff x="6835781" y="3827014"/>
              <a:chExt cx="36000" cy="247233"/>
            </a:xfrm>
          </p:grpSpPr>
          <p:sp>
            <p:nvSpPr>
              <p:cNvPr id="60" name="橢圓 59"/>
              <p:cNvSpPr/>
              <p:nvPr/>
            </p:nvSpPr>
            <p:spPr>
              <a:xfrm>
                <a:off x="6835781" y="382701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6835781" y="393011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6835781" y="403824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10" name="群組 9"/>
          <p:cNvGrpSpPr/>
          <p:nvPr/>
        </p:nvGrpSpPr>
        <p:grpSpPr>
          <a:xfrm>
            <a:off x="3170031" y="2007215"/>
            <a:ext cx="1067146" cy="990185"/>
            <a:chOff x="3170031" y="2007215"/>
            <a:chExt cx="1067146" cy="990185"/>
          </a:xfrm>
        </p:grpSpPr>
        <p:cxnSp>
          <p:nvCxnSpPr>
            <p:cNvPr id="17" name="直線接點 16"/>
            <p:cNvCxnSpPr>
              <a:stCxn id="25" idx="6"/>
              <a:endCxn id="30" idx="2"/>
            </p:cNvCxnSpPr>
            <p:nvPr/>
          </p:nvCxnSpPr>
          <p:spPr>
            <a:xfrm flipV="1">
              <a:off x="3170031" y="2236024"/>
              <a:ext cx="737037" cy="355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25" idx="6"/>
              <a:endCxn id="31" idx="2"/>
            </p:cNvCxnSpPr>
            <p:nvPr/>
          </p:nvCxnSpPr>
          <p:spPr>
            <a:xfrm>
              <a:off x="3170031" y="2591539"/>
              <a:ext cx="737037" cy="2618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橢圓 29"/>
            <p:cNvSpPr/>
            <p:nvPr/>
          </p:nvSpPr>
          <p:spPr>
            <a:xfrm>
              <a:off x="3907068" y="2092024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3907068" y="270940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864959" y="262806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3864959" y="200721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5" name="群組 64"/>
            <p:cNvGrpSpPr/>
            <p:nvPr/>
          </p:nvGrpSpPr>
          <p:grpSpPr>
            <a:xfrm>
              <a:off x="4029060" y="2421501"/>
              <a:ext cx="36000" cy="247233"/>
              <a:chOff x="6835781" y="3827014"/>
              <a:chExt cx="36000" cy="247233"/>
            </a:xfrm>
          </p:grpSpPr>
          <p:sp>
            <p:nvSpPr>
              <p:cNvPr id="66" name="橢圓 65"/>
              <p:cNvSpPr/>
              <p:nvPr/>
            </p:nvSpPr>
            <p:spPr>
              <a:xfrm>
                <a:off x="6835781" y="382701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6835781" y="393011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橢圓 67"/>
              <p:cNvSpPr/>
              <p:nvPr/>
            </p:nvSpPr>
            <p:spPr>
              <a:xfrm>
                <a:off x="6835781" y="403824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11" name="群組 10"/>
          <p:cNvGrpSpPr/>
          <p:nvPr/>
        </p:nvGrpSpPr>
        <p:grpSpPr>
          <a:xfrm>
            <a:off x="5141739" y="2010692"/>
            <a:ext cx="2164143" cy="374095"/>
            <a:chOff x="5141739" y="2010692"/>
            <a:chExt cx="2164143" cy="374095"/>
          </a:xfrm>
        </p:grpSpPr>
        <p:sp>
          <p:nvSpPr>
            <p:cNvPr id="9" name="文字方塊 8"/>
            <p:cNvSpPr txBox="1"/>
            <p:nvPr/>
          </p:nvSpPr>
          <p:spPr>
            <a:xfrm>
              <a:off x="6941680" y="201069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橢圓 44"/>
            <p:cNvSpPr/>
            <p:nvPr/>
          </p:nvSpPr>
          <p:spPr>
            <a:xfrm>
              <a:off x="6098333" y="209678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6979781" y="2092024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7" name="直線接點 46"/>
            <p:cNvCxnSpPr>
              <a:stCxn id="45" idx="6"/>
              <a:endCxn id="46" idx="2"/>
            </p:cNvCxnSpPr>
            <p:nvPr/>
          </p:nvCxnSpPr>
          <p:spPr>
            <a:xfrm flipV="1">
              <a:off x="6386333" y="2236024"/>
              <a:ext cx="593448" cy="4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字方塊 57"/>
            <p:cNvSpPr txBox="1"/>
            <p:nvPr/>
          </p:nvSpPr>
          <p:spPr>
            <a:xfrm>
              <a:off x="6056224" y="2010692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9" name="群組 68"/>
            <p:cNvGrpSpPr/>
            <p:nvPr/>
          </p:nvGrpSpPr>
          <p:grpSpPr>
            <a:xfrm>
              <a:off x="5141739" y="2106552"/>
              <a:ext cx="36000" cy="247233"/>
              <a:chOff x="6835781" y="3827014"/>
              <a:chExt cx="36000" cy="247233"/>
            </a:xfrm>
            <a:scene3d>
              <a:camera prst="orthographicFront">
                <a:rot lat="0" lon="0" rev="5400000"/>
              </a:camera>
              <a:lightRig rig="threePt" dir="t"/>
            </a:scene3d>
          </p:grpSpPr>
          <p:sp>
            <p:nvSpPr>
              <p:cNvPr id="70" name="橢圓 69"/>
              <p:cNvSpPr/>
              <p:nvPr/>
            </p:nvSpPr>
            <p:spPr>
              <a:xfrm>
                <a:off x="6835781" y="382701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" name="橢圓 70"/>
              <p:cNvSpPr/>
              <p:nvPr/>
            </p:nvSpPr>
            <p:spPr>
              <a:xfrm>
                <a:off x="6835781" y="393011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2" name="橢圓 71"/>
              <p:cNvSpPr/>
              <p:nvPr/>
            </p:nvSpPr>
            <p:spPr>
              <a:xfrm>
                <a:off x="6835781" y="403824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346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(3/11)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符合最佳化原則？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066201" y="181841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025832" y="17364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3787556" y="18182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066201" y="30582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787556" y="305808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>
            <a:stCxn id="10" idx="0"/>
            <a:endCxn id="7" idx="4"/>
          </p:cNvCxnSpPr>
          <p:nvPr/>
        </p:nvCxnSpPr>
        <p:spPr>
          <a:xfrm flipV="1">
            <a:off x="2210201" y="2106410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7" idx="5"/>
            <a:endCxn id="11" idx="1"/>
          </p:cNvCxnSpPr>
          <p:nvPr/>
        </p:nvCxnSpPr>
        <p:spPr>
          <a:xfrm>
            <a:off x="2312024" y="2064233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7" idx="7"/>
            <a:endCxn id="9" idx="1"/>
          </p:cNvCxnSpPr>
          <p:nvPr/>
        </p:nvCxnSpPr>
        <p:spPr>
          <a:xfrm flipV="1">
            <a:off x="2312024" y="1860468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9" idx="2"/>
            <a:endCxn id="7" idx="6"/>
          </p:cNvCxnSpPr>
          <p:nvPr/>
        </p:nvCxnSpPr>
        <p:spPr>
          <a:xfrm flipH="1">
            <a:off x="2354201" y="1962291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5"/>
            <a:endCxn id="11" idx="7"/>
          </p:cNvCxnSpPr>
          <p:nvPr/>
        </p:nvCxnSpPr>
        <p:spPr>
          <a:xfrm>
            <a:off x="4033379" y="2064114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1" idx="0"/>
            <a:endCxn id="9" idx="4"/>
          </p:cNvCxnSpPr>
          <p:nvPr/>
        </p:nvCxnSpPr>
        <p:spPr>
          <a:xfrm flipV="1">
            <a:off x="3931556" y="2106291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1" idx="3"/>
            <a:endCxn id="10" idx="5"/>
          </p:cNvCxnSpPr>
          <p:nvPr/>
        </p:nvCxnSpPr>
        <p:spPr>
          <a:xfrm flipH="1">
            <a:off x="2312024" y="3303908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0" idx="7"/>
            <a:endCxn id="9" idx="3"/>
          </p:cNvCxnSpPr>
          <p:nvPr/>
        </p:nvCxnSpPr>
        <p:spPr>
          <a:xfrm flipV="1">
            <a:off x="2312024" y="2064114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9" idx="4"/>
            <a:endCxn id="10" idx="6"/>
          </p:cNvCxnSpPr>
          <p:nvPr/>
        </p:nvCxnSpPr>
        <p:spPr>
          <a:xfrm flipH="1">
            <a:off x="2354201" y="2106291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3759393" y="173278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758487" y="297480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031845" y="297480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952296" y="239752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941926" y="19227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941926" y="15518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070878" y="21532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220919" y="24324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307610" y="28105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41926" y="32613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985378" y="24324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643120" y="24324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5041290" y="181841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000921" y="17364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橢圓 50"/>
          <p:cNvSpPr/>
          <p:nvPr/>
        </p:nvSpPr>
        <p:spPr>
          <a:xfrm>
            <a:off x="6762645" y="18182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橢圓 51"/>
          <p:cNvSpPr/>
          <p:nvPr/>
        </p:nvSpPr>
        <p:spPr>
          <a:xfrm>
            <a:off x="5041290" y="30582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/>
          <p:cNvSpPr/>
          <p:nvPr/>
        </p:nvSpPr>
        <p:spPr>
          <a:xfrm>
            <a:off x="6762645" y="305808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4" name="直線單箭頭接點 53"/>
          <p:cNvCxnSpPr>
            <a:stCxn id="49" idx="5"/>
            <a:endCxn id="53" idx="1"/>
          </p:cNvCxnSpPr>
          <p:nvPr/>
        </p:nvCxnSpPr>
        <p:spPr>
          <a:xfrm>
            <a:off x="5287113" y="2064233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51" idx="2"/>
            <a:endCxn id="49" idx="6"/>
          </p:cNvCxnSpPr>
          <p:nvPr/>
        </p:nvCxnSpPr>
        <p:spPr>
          <a:xfrm flipH="1">
            <a:off x="5329290" y="1962291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53" idx="3"/>
            <a:endCxn id="52" idx="5"/>
          </p:cNvCxnSpPr>
          <p:nvPr/>
        </p:nvCxnSpPr>
        <p:spPr>
          <a:xfrm flipH="1">
            <a:off x="5287113" y="3303908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52" idx="7"/>
            <a:endCxn id="51" idx="3"/>
          </p:cNvCxnSpPr>
          <p:nvPr/>
        </p:nvCxnSpPr>
        <p:spPr>
          <a:xfrm flipV="1">
            <a:off x="5287113" y="2064114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6734482" y="173278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733576" y="297480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006934" y="297480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5917015" y="19227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045967" y="21532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282699" y="28105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5917015" y="32613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364505" y="1316624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21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5043098" y="4258412"/>
            <a:ext cx="364202" cy="369914"/>
            <a:chOff x="5043098" y="4258412"/>
            <a:chExt cx="364202" cy="369914"/>
          </a:xfrm>
        </p:grpSpPr>
        <p:sp>
          <p:nvSpPr>
            <p:cNvPr id="69" name="橢圓 68"/>
            <p:cNvSpPr/>
            <p:nvPr/>
          </p:nvSpPr>
          <p:spPr>
            <a:xfrm>
              <a:off x="5083467" y="434032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5043098" y="425841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6776659" y="4254701"/>
            <a:ext cx="364202" cy="373506"/>
            <a:chOff x="6776659" y="4254701"/>
            <a:chExt cx="364202" cy="373506"/>
          </a:xfrm>
        </p:grpSpPr>
        <p:sp>
          <p:nvSpPr>
            <p:cNvPr id="71" name="橢圓 70"/>
            <p:cNvSpPr/>
            <p:nvPr/>
          </p:nvSpPr>
          <p:spPr>
            <a:xfrm>
              <a:off x="6804822" y="434020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/>
            <p:cNvSpPr txBox="1"/>
            <p:nvPr/>
          </p:nvSpPr>
          <p:spPr>
            <a:xfrm>
              <a:off x="6776659" y="42547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6775753" y="5496717"/>
            <a:ext cx="364202" cy="371284"/>
            <a:chOff x="6775753" y="5496717"/>
            <a:chExt cx="364202" cy="371284"/>
          </a:xfrm>
        </p:grpSpPr>
        <p:sp>
          <p:nvSpPr>
            <p:cNvPr id="73" name="橢圓 72"/>
            <p:cNvSpPr/>
            <p:nvPr/>
          </p:nvSpPr>
          <p:spPr>
            <a:xfrm>
              <a:off x="6804822" y="558000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6775753" y="549671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5049111" y="5496717"/>
            <a:ext cx="364202" cy="371403"/>
            <a:chOff x="5049111" y="5496717"/>
            <a:chExt cx="364202" cy="371403"/>
          </a:xfrm>
        </p:grpSpPr>
        <p:sp>
          <p:nvSpPr>
            <p:cNvPr id="72" name="橢圓 71"/>
            <p:cNvSpPr/>
            <p:nvPr/>
          </p:nvSpPr>
          <p:spPr>
            <a:xfrm>
              <a:off x="5083467" y="558012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5049111" y="549671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5371467" y="4444682"/>
            <a:ext cx="1433355" cy="369332"/>
            <a:chOff x="5371467" y="4444682"/>
            <a:chExt cx="1433355" cy="369332"/>
          </a:xfrm>
        </p:grpSpPr>
        <p:cxnSp>
          <p:nvCxnSpPr>
            <p:cNvPr id="75" name="直線單箭頭接點 74"/>
            <p:cNvCxnSpPr>
              <a:stCxn id="71" idx="2"/>
              <a:endCxn id="69" idx="6"/>
            </p:cNvCxnSpPr>
            <p:nvPr/>
          </p:nvCxnSpPr>
          <p:spPr>
            <a:xfrm flipH="1">
              <a:off x="5371467" y="4484207"/>
              <a:ext cx="1433355" cy="1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字方塊 80"/>
            <p:cNvSpPr txBox="1"/>
            <p:nvPr/>
          </p:nvSpPr>
          <p:spPr>
            <a:xfrm>
              <a:off x="5959192" y="444468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5329290" y="4586030"/>
            <a:ext cx="1517709" cy="1036267"/>
            <a:chOff x="5329290" y="4586030"/>
            <a:chExt cx="1517709" cy="1036267"/>
          </a:xfrm>
        </p:grpSpPr>
        <p:cxnSp>
          <p:nvCxnSpPr>
            <p:cNvPr id="77" name="直線單箭頭接點 76"/>
            <p:cNvCxnSpPr>
              <a:stCxn id="72" idx="7"/>
              <a:endCxn id="71" idx="3"/>
            </p:cNvCxnSpPr>
            <p:nvPr/>
          </p:nvCxnSpPr>
          <p:spPr>
            <a:xfrm flipV="1">
              <a:off x="5329290" y="4586030"/>
              <a:ext cx="1517709" cy="103626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字方塊 81"/>
            <p:cNvSpPr txBox="1"/>
            <p:nvPr/>
          </p:nvSpPr>
          <p:spPr>
            <a:xfrm>
              <a:off x="6088144" y="46751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5329290" y="5783241"/>
            <a:ext cx="1517709" cy="369332"/>
            <a:chOff x="5329290" y="5783241"/>
            <a:chExt cx="1517709" cy="369332"/>
          </a:xfrm>
        </p:grpSpPr>
        <p:cxnSp>
          <p:nvCxnSpPr>
            <p:cNvPr id="76" name="直線單箭頭接點 75"/>
            <p:cNvCxnSpPr>
              <a:stCxn id="73" idx="3"/>
              <a:endCxn id="72" idx="5"/>
            </p:cNvCxnSpPr>
            <p:nvPr/>
          </p:nvCxnSpPr>
          <p:spPr>
            <a:xfrm flipH="1">
              <a:off x="5329290" y="5825824"/>
              <a:ext cx="1517709" cy="1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字方塊 83"/>
            <p:cNvSpPr txBox="1"/>
            <p:nvPr/>
          </p:nvSpPr>
          <p:spPr>
            <a:xfrm>
              <a:off x="5959192" y="578324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文字方塊 84"/>
          <p:cNvSpPr txBox="1"/>
          <p:nvPr/>
        </p:nvSpPr>
        <p:spPr>
          <a:xfrm>
            <a:off x="5406682" y="6056530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12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群組 34"/>
          <p:cNvGrpSpPr/>
          <p:nvPr/>
        </p:nvGrpSpPr>
        <p:grpSpPr>
          <a:xfrm>
            <a:off x="2096135" y="4251516"/>
            <a:ext cx="364202" cy="369914"/>
            <a:chOff x="2096135" y="4251516"/>
            <a:chExt cx="364202" cy="369914"/>
          </a:xfrm>
        </p:grpSpPr>
        <p:sp>
          <p:nvSpPr>
            <p:cNvPr id="86" name="橢圓 85"/>
            <p:cNvSpPr/>
            <p:nvPr/>
          </p:nvSpPr>
          <p:spPr>
            <a:xfrm>
              <a:off x="2136504" y="433343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2096135" y="42515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3829696" y="4247805"/>
            <a:ext cx="364202" cy="373506"/>
            <a:chOff x="3829696" y="4247805"/>
            <a:chExt cx="364202" cy="373506"/>
          </a:xfrm>
        </p:grpSpPr>
        <p:sp>
          <p:nvSpPr>
            <p:cNvPr id="88" name="橢圓 87"/>
            <p:cNvSpPr/>
            <p:nvPr/>
          </p:nvSpPr>
          <p:spPr>
            <a:xfrm>
              <a:off x="3857859" y="4333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文字方塊 99"/>
            <p:cNvSpPr txBox="1"/>
            <p:nvPr/>
          </p:nvSpPr>
          <p:spPr>
            <a:xfrm>
              <a:off x="3829696" y="42478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3828790" y="5489821"/>
            <a:ext cx="364202" cy="371284"/>
            <a:chOff x="3828790" y="5489821"/>
            <a:chExt cx="364202" cy="371284"/>
          </a:xfrm>
        </p:grpSpPr>
        <p:sp>
          <p:nvSpPr>
            <p:cNvPr id="90" name="橢圓 89"/>
            <p:cNvSpPr/>
            <p:nvPr/>
          </p:nvSpPr>
          <p:spPr>
            <a:xfrm>
              <a:off x="3857859" y="557310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1" name="文字方塊 100"/>
            <p:cNvSpPr txBox="1"/>
            <p:nvPr/>
          </p:nvSpPr>
          <p:spPr>
            <a:xfrm>
              <a:off x="3828790" y="548982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102148" y="5489821"/>
            <a:ext cx="364202" cy="371403"/>
            <a:chOff x="2102148" y="5489821"/>
            <a:chExt cx="364202" cy="371403"/>
          </a:xfrm>
        </p:grpSpPr>
        <p:sp>
          <p:nvSpPr>
            <p:cNvPr id="89" name="橢圓 88"/>
            <p:cNvSpPr/>
            <p:nvPr/>
          </p:nvSpPr>
          <p:spPr>
            <a:xfrm>
              <a:off x="2136504" y="557322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2102148" y="548982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2022599" y="4621430"/>
            <a:ext cx="300082" cy="951794"/>
            <a:chOff x="2022599" y="4621430"/>
            <a:chExt cx="300082" cy="951794"/>
          </a:xfrm>
        </p:grpSpPr>
        <p:cxnSp>
          <p:nvCxnSpPr>
            <p:cNvPr id="91" name="直線單箭頭接點 90"/>
            <p:cNvCxnSpPr>
              <a:stCxn id="89" idx="0"/>
              <a:endCxn id="86" idx="4"/>
            </p:cNvCxnSpPr>
            <p:nvPr/>
          </p:nvCxnSpPr>
          <p:spPr>
            <a:xfrm flipV="1">
              <a:off x="2280504" y="4621430"/>
              <a:ext cx="0" cy="9517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字方塊 102"/>
            <p:cNvSpPr txBox="1"/>
            <p:nvPr/>
          </p:nvSpPr>
          <p:spPr>
            <a:xfrm>
              <a:off x="2022599" y="49125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2424504" y="4621311"/>
            <a:ext cx="1577355" cy="1095913"/>
            <a:chOff x="2424504" y="4621311"/>
            <a:chExt cx="1577355" cy="1095913"/>
          </a:xfrm>
        </p:grpSpPr>
        <p:cxnSp>
          <p:nvCxnSpPr>
            <p:cNvPr id="99" name="直線單箭頭接點 98"/>
            <p:cNvCxnSpPr>
              <a:stCxn id="88" idx="4"/>
              <a:endCxn id="89" idx="6"/>
            </p:cNvCxnSpPr>
            <p:nvPr/>
          </p:nvCxnSpPr>
          <p:spPr>
            <a:xfrm flipH="1">
              <a:off x="2424504" y="4621311"/>
              <a:ext cx="1577355" cy="10959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文字方塊 105"/>
            <p:cNvSpPr txBox="1"/>
            <p:nvPr/>
          </p:nvSpPr>
          <p:spPr>
            <a:xfrm>
              <a:off x="3291222" y="49474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3713423" y="4621311"/>
            <a:ext cx="300082" cy="951794"/>
            <a:chOff x="3713423" y="4621311"/>
            <a:chExt cx="300082" cy="951794"/>
          </a:xfrm>
        </p:grpSpPr>
        <p:cxnSp>
          <p:nvCxnSpPr>
            <p:cNvPr id="96" name="直線單箭頭接點 95"/>
            <p:cNvCxnSpPr>
              <a:stCxn id="90" idx="0"/>
              <a:endCxn id="88" idx="4"/>
            </p:cNvCxnSpPr>
            <p:nvPr/>
          </p:nvCxnSpPr>
          <p:spPr>
            <a:xfrm flipV="1">
              <a:off x="4001859" y="4621311"/>
              <a:ext cx="0" cy="9517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字方塊 109"/>
            <p:cNvSpPr txBox="1"/>
            <p:nvPr/>
          </p:nvSpPr>
          <p:spPr>
            <a:xfrm>
              <a:off x="3713423" y="49474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" name="文字方塊 110"/>
          <p:cNvSpPr txBox="1"/>
          <p:nvPr/>
        </p:nvSpPr>
        <p:spPr>
          <a:xfrm>
            <a:off x="2430650" y="6060840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17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482947" y="3718982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出發，經過所有點回到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7" name="群組 46"/>
          <p:cNvGrpSpPr/>
          <p:nvPr/>
        </p:nvGrpSpPr>
        <p:grpSpPr>
          <a:xfrm>
            <a:off x="5959809" y="3722402"/>
            <a:ext cx="2170160" cy="445245"/>
            <a:chOff x="5959809" y="3722402"/>
            <a:chExt cx="2170160" cy="445245"/>
          </a:xfrm>
        </p:grpSpPr>
        <p:sp>
          <p:nvSpPr>
            <p:cNvPr id="113" name="上-下雙向箭號 112"/>
            <p:cNvSpPr/>
            <p:nvPr/>
          </p:nvSpPr>
          <p:spPr>
            <a:xfrm>
              <a:off x="5959809" y="3722402"/>
              <a:ext cx="236199" cy="445245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6149940" y="3723395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符合最佳化原則</a:t>
              </a:r>
              <a:endParaRPr lang="zh-TW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532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111" grpId="0"/>
      <p:bldP spid="1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(4/11)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採用</a:t>
            </a:r>
            <a:r>
              <a:rPr lang="zh-TW" altLang="en-US" dirty="0">
                <a:solidFill>
                  <a:srgbClr val="0000FF"/>
                </a:solidFill>
              </a:rPr>
              <a:t>動態規劃演算法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52776" y="3549091"/>
            <a:ext cx="80570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所有頂點的集合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的一個子集合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出發，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經過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中的所有頂點一次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，回到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的最短路徑長度</a:t>
            </a:r>
          </a:p>
        </p:txBody>
      </p:sp>
      <p:sp>
        <p:nvSpPr>
          <p:cNvPr id="8" name="橢圓 7"/>
          <p:cNvSpPr/>
          <p:nvPr/>
        </p:nvSpPr>
        <p:spPr>
          <a:xfrm>
            <a:off x="1624713" y="178136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584344" y="169945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3346068" y="178124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1624713" y="302116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346068" y="30210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11" idx="0"/>
            <a:endCxn id="8" idx="4"/>
          </p:cNvCxnSpPr>
          <p:nvPr/>
        </p:nvCxnSpPr>
        <p:spPr>
          <a:xfrm flipV="1">
            <a:off x="1768713" y="2069366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8" idx="5"/>
            <a:endCxn id="12" idx="1"/>
          </p:cNvCxnSpPr>
          <p:nvPr/>
        </p:nvCxnSpPr>
        <p:spPr>
          <a:xfrm>
            <a:off x="1870536" y="2027189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8" idx="7"/>
            <a:endCxn id="10" idx="1"/>
          </p:cNvCxnSpPr>
          <p:nvPr/>
        </p:nvCxnSpPr>
        <p:spPr>
          <a:xfrm flipV="1">
            <a:off x="1870536" y="1823424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0" idx="2"/>
            <a:endCxn id="8" idx="6"/>
          </p:cNvCxnSpPr>
          <p:nvPr/>
        </p:nvCxnSpPr>
        <p:spPr>
          <a:xfrm flipH="1">
            <a:off x="1912713" y="1925247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0" idx="5"/>
            <a:endCxn id="12" idx="7"/>
          </p:cNvCxnSpPr>
          <p:nvPr/>
        </p:nvCxnSpPr>
        <p:spPr>
          <a:xfrm>
            <a:off x="3591891" y="2027070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2" idx="0"/>
            <a:endCxn id="10" idx="4"/>
          </p:cNvCxnSpPr>
          <p:nvPr/>
        </p:nvCxnSpPr>
        <p:spPr>
          <a:xfrm flipV="1">
            <a:off x="3490068" y="2069247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2" idx="3"/>
            <a:endCxn id="11" idx="5"/>
          </p:cNvCxnSpPr>
          <p:nvPr/>
        </p:nvCxnSpPr>
        <p:spPr>
          <a:xfrm flipH="1">
            <a:off x="1870536" y="3266864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1" idx="7"/>
            <a:endCxn id="10" idx="3"/>
          </p:cNvCxnSpPr>
          <p:nvPr/>
        </p:nvCxnSpPr>
        <p:spPr>
          <a:xfrm flipV="1">
            <a:off x="1870536" y="2027070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0" idx="4"/>
            <a:endCxn id="11" idx="6"/>
          </p:cNvCxnSpPr>
          <p:nvPr/>
        </p:nvCxnSpPr>
        <p:spPr>
          <a:xfrm flipH="1">
            <a:off x="1912713" y="2069247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317905" y="169574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316999" y="293775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590357" y="293775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510808" y="23604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500438" y="188572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500438" y="15147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2629390" y="21161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779431" y="23954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866122" y="277347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500438" y="32242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543890" y="23954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3201632" y="23954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4366995" y="1695741"/>
          <a:ext cx="2869635" cy="168048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8897" y="4743595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125936" y="4745474"/>
            <a:ext cx="4362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6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 = 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2132450" y="5142181"/>
            <a:ext cx="4416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 = 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458897" y="5765802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125936" y="5765802"/>
            <a:ext cx="5110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6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8 + 6 = 20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2132450" y="6197242"/>
            <a:ext cx="5219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4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 +  = </a:t>
            </a:r>
          </a:p>
        </p:txBody>
      </p:sp>
      <p:grpSp>
        <p:nvGrpSpPr>
          <p:cNvPr id="42" name="群組 41"/>
          <p:cNvGrpSpPr/>
          <p:nvPr/>
        </p:nvGrpSpPr>
        <p:grpSpPr>
          <a:xfrm>
            <a:off x="7298558" y="5772984"/>
            <a:ext cx="1510339" cy="798696"/>
            <a:chOff x="7213150" y="3122978"/>
            <a:chExt cx="1510339" cy="798696"/>
          </a:xfrm>
        </p:grpSpPr>
        <p:sp>
          <p:nvSpPr>
            <p:cNvPr id="43" name="右大括弧 42"/>
            <p:cNvSpPr/>
            <p:nvPr/>
          </p:nvSpPr>
          <p:spPr>
            <a:xfrm>
              <a:off x="7213150" y="3122978"/>
              <a:ext cx="262688" cy="798696"/>
            </a:xfrm>
            <a:prstGeom prst="rightBrace">
              <a:avLst>
                <a:gd name="adj1" fmla="val 3420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7472826" y="3171023"/>
              <a:ext cx="12506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minimum</a:t>
              </a:r>
            </a:p>
            <a:p>
              <a:pPr algn="ctr"/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最小值</a:t>
              </a: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6619541" y="4808906"/>
            <a:ext cx="1510339" cy="798696"/>
            <a:chOff x="7213150" y="3122978"/>
            <a:chExt cx="1510339" cy="798696"/>
          </a:xfrm>
        </p:grpSpPr>
        <p:sp>
          <p:nvSpPr>
            <p:cNvPr id="46" name="右大括弧 45"/>
            <p:cNvSpPr/>
            <p:nvPr/>
          </p:nvSpPr>
          <p:spPr>
            <a:xfrm>
              <a:off x="7213150" y="3122978"/>
              <a:ext cx="262688" cy="798696"/>
            </a:xfrm>
            <a:prstGeom prst="rightBrace">
              <a:avLst>
                <a:gd name="adj1" fmla="val 3420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7472826" y="3171023"/>
              <a:ext cx="12506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minimum</a:t>
              </a:r>
            </a:p>
            <a:p>
              <a:pPr algn="ctr"/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最小值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082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5" grpId="0"/>
      <p:bldP spid="36" grpId="0"/>
      <p:bldP spid="37" grpId="0"/>
      <p:bldP spid="38" grpId="0"/>
      <p:bldP spid="39" grpId="0"/>
      <p:bldP spid="4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(5/11)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60732" y="3385212"/>
          <a:ext cx="7293539" cy="168048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0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7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64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909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/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/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/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/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/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/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/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/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802181" y="151384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761812" y="14319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2523536" y="151372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802181" y="275363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2523536" y="275351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11" idx="0"/>
            <a:endCxn id="8" idx="4"/>
          </p:cNvCxnSpPr>
          <p:nvPr/>
        </p:nvCxnSpPr>
        <p:spPr>
          <a:xfrm flipV="1">
            <a:off x="946181" y="1801844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8" idx="5"/>
            <a:endCxn id="12" idx="1"/>
          </p:cNvCxnSpPr>
          <p:nvPr/>
        </p:nvCxnSpPr>
        <p:spPr>
          <a:xfrm>
            <a:off x="1048004" y="1759667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8" idx="7"/>
            <a:endCxn id="10" idx="1"/>
          </p:cNvCxnSpPr>
          <p:nvPr/>
        </p:nvCxnSpPr>
        <p:spPr>
          <a:xfrm flipV="1">
            <a:off x="1048004" y="1555902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0" idx="2"/>
            <a:endCxn id="8" idx="6"/>
          </p:cNvCxnSpPr>
          <p:nvPr/>
        </p:nvCxnSpPr>
        <p:spPr>
          <a:xfrm flipH="1">
            <a:off x="1090181" y="1657725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0" idx="5"/>
            <a:endCxn id="12" idx="7"/>
          </p:cNvCxnSpPr>
          <p:nvPr/>
        </p:nvCxnSpPr>
        <p:spPr>
          <a:xfrm>
            <a:off x="2769359" y="1759548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2" idx="0"/>
            <a:endCxn id="10" idx="4"/>
          </p:cNvCxnSpPr>
          <p:nvPr/>
        </p:nvCxnSpPr>
        <p:spPr>
          <a:xfrm flipV="1">
            <a:off x="2667536" y="1801725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2" idx="3"/>
            <a:endCxn id="11" idx="5"/>
          </p:cNvCxnSpPr>
          <p:nvPr/>
        </p:nvCxnSpPr>
        <p:spPr>
          <a:xfrm flipH="1">
            <a:off x="1048004" y="2999342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1" idx="7"/>
            <a:endCxn id="10" idx="3"/>
          </p:cNvCxnSpPr>
          <p:nvPr/>
        </p:nvCxnSpPr>
        <p:spPr>
          <a:xfrm flipV="1">
            <a:off x="1048004" y="1759548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0" idx="4"/>
            <a:endCxn id="11" idx="6"/>
          </p:cNvCxnSpPr>
          <p:nvPr/>
        </p:nvCxnSpPr>
        <p:spPr>
          <a:xfrm flipH="1">
            <a:off x="1090181" y="1801725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495373" y="142821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494467" y="267023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67825" y="267023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88276" y="20929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677906" y="1618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677906" y="12472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806858" y="184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956899" y="21279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043590" y="25059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677906" y="29567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721358" y="21279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379100" y="21279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7870542" y="3709374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圓角矩形 34"/>
          <p:cNvSpPr/>
          <p:nvPr/>
        </p:nvSpPr>
        <p:spPr>
          <a:xfrm>
            <a:off x="6021144" y="4386936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圓角矩形 35"/>
          <p:cNvSpPr/>
          <p:nvPr/>
        </p:nvSpPr>
        <p:spPr>
          <a:xfrm>
            <a:off x="2871399" y="4725321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圓角矩形 36"/>
          <p:cNvSpPr/>
          <p:nvPr/>
        </p:nvSpPr>
        <p:spPr>
          <a:xfrm>
            <a:off x="2176504" y="4043192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693530" y="5456345"/>
            <a:ext cx="2201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{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361156" y="5456345"/>
            <a:ext cx="2268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{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96108" y="5456345"/>
            <a:ext cx="2393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{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399628" y="6053226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82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0" grpId="0"/>
      <p:bldP spid="4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(6/11)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所有情況的時間複雜度</a:t>
            </a:r>
            <a:r>
              <a:rPr lang="en-US" altLang="zh-TW" dirty="0"/>
              <a:t>(</a:t>
            </a:r>
            <a:r>
              <a:rPr lang="zh-TW" altLang="en-US" dirty="0"/>
              <a:t>最佳化二元搜尋樹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</a:t>
            </a:r>
            <a:r>
              <a:rPr lang="zh-TW" altLang="zh-TW" dirty="0"/>
              <a:t>每個</a:t>
            </a:r>
            <a:r>
              <a:rPr lang="en-US" altLang="zh-TW" i="1" dirty="0" err="1"/>
              <a:t>v</a:t>
            </a:r>
            <a:r>
              <a:rPr lang="en-US" altLang="zh-TW" i="1" baseline="-25000" dirty="0" err="1"/>
              <a:t>j</a:t>
            </a:r>
            <a:r>
              <a:rPr lang="zh-TW" altLang="en-US" dirty="0"/>
              <a:t>需要</a:t>
            </a:r>
            <a:r>
              <a:rPr lang="zh-TW" altLang="zh-TW" dirty="0"/>
              <a:t>執行</a:t>
            </a:r>
            <a:r>
              <a:rPr lang="zh-TW" altLang="en-US" dirty="0"/>
              <a:t>多少指令完成計算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</a:t>
            </a:r>
            <a:r>
              <a:rPr lang="en-US" altLang="zh-TW" i="1" dirty="0"/>
              <a:t>n</a:t>
            </a:r>
            <a:r>
              <a:rPr lang="zh-TW" altLang="en-US" dirty="0"/>
              <a:t>個頂點數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2"/>
          <a:stretch/>
        </p:blipFill>
        <p:spPr bwMode="auto">
          <a:xfrm>
            <a:off x="1119880" y="2543742"/>
            <a:ext cx="6761163" cy="2723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圓角矩形圖說文字 7"/>
              <p:cNvSpPr/>
              <p:nvPr/>
            </p:nvSpPr>
            <p:spPr>
              <a:xfrm>
                <a:off x="6592330" y="2120514"/>
                <a:ext cx="1118286" cy="630195"/>
              </a:xfrm>
              <a:prstGeom prst="wedgeRoundRectCallout">
                <a:avLst>
                  <a:gd name="adj1" fmla="val -119745"/>
                  <a:gd name="adj2" fmla="val 165095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  <m: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圓角矩形圖說文字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330" y="2120514"/>
                <a:ext cx="1118286" cy="630195"/>
              </a:xfrm>
              <a:prstGeom prst="wedgeRoundRectCallout">
                <a:avLst>
                  <a:gd name="adj1" fmla="val -119745"/>
                  <a:gd name="adj2" fmla="val 165095"/>
                  <a:gd name="adj3" fmla="val 16667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圓角矩形圖說文字 8"/>
              <p:cNvSpPr/>
              <p:nvPr/>
            </p:nvSpPr>
            <p:spPr>
              <a:xfrm>
                <a:off x="516341" y="4184121"/>
                <a:ext cx="1602259" cy="459045"/>
              </a:xfrm>
              <a:prstGeom prst="wedgeRoundRectCallout">
                <a:avLst>
                  <a:gd name="adj1" fmla="val 88481"/>
                  <a:gd name="adj2" fmla="val -108127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 −</m:t>
                      </m:r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 −</m:t>
                      </m:r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圓角矩形圖說文字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41" y="4184121"/>
                <a:ext cx="1602259" cy="459045"/>
              </a:xfrm>
              <a:prstGeom prst="wedgeRoundRectCallout">
                <a:avLst>
                  <a:gd name="adj1" fmla="val 88481"/>
                  <a:gd name="adj2" fmla="val -108127"/>
                  <a:gd name="adj3" fmla="val 16667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圓角矩形圖說文字 9"/>
              <p:cNvSpPr/>
              <p:nvPr/>
            </p:nvSpPr>
            <p:spPr>
              <a:xfrm>
                <a:off x="2190788" y="4548644"/>
                <a:ext cx="531351" cy="459045"/>
              </a:xfrm>
              <a:prstGeom prst="wedgeRoundRectCallout">
                <a:avLst>
                  <a:gd name="adj1" fmla="val 127527"/>
                  <a:gd name="adj2" fmla="val -101397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圓角矩形圖說文字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88" y="4548644"/>
                <a:ext cx="531351" cy="459045"/>
              </a:xfrm>
              <a:prstGeom prst="wedgeRoundRectCallout">
                <a:avLst>
                  <a:gd name="adj1" fmla="val 127527"/>
                  <a:gd name="adj2" fmla="val -101397"/>
                  <a:gd name="adj3" fmla="val 16667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224015" y="5436324"/>
                <a:ext cx="6848350" cy="872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zh-TW" alt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𝚯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d>
                        </m:e>
                      </m:box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015" y="5436324"/>
                <a:ext cx="6848350" cy="87299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77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(7/11)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solidFill>
                      <a:srgbClr val="0000FF"/>
                    </a:solidFill>
                  </a:rPr>
                  <a:t>Travelling salesman problem, TSP</a:t>
                </a:r>
              </a:p>
              <a:p>
                <a:pPr lvl="1"/>
                <a:r>
                  <a:rPr lang="zh-TW" altLang="en-US" dirty="0"/>
                  <a:t>暴力法：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 – 1)!</a:t>
                </a:r>
              </a:p>
              <a:p>
                <a:pPr lvl="1"/>
                <a:r>
                  <a:rPr lang="zh-TW" altLang="en-US" dirty="0"/>
                  <a:t>動態規劃：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𝚯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992015" y="30561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951646" y="29741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2713370" y="305598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992015" y="42958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2713370" y="429578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>
            <a:stCxn id="10" idx="0"/>
            <a:endCxn id="7" idx="4"/>
          </p:cNvCxnSpPr>
          <p:nvPr/>
        </p:nvCxnSpPr>
        <p:spPr>
          <a:xfrm flipV="1">
            <a:off x="1136015" y="3344105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7" idx="5"/>
            <a:endCxn id="11" idx="1"/>
          </p:cNvCxnSpPr>
          <p:nvPr/>
        </p:nvCxnSpPr>
        <p:spPr>
          <a:xfrm>
            <a:off x="1237838" y="3301928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7" idx="7"/>
            <a:endCxn id="9" idx="1"/>
          </p:cNvCxnSpPr>
          <p:nvPr/>
        </p:nvCxnSpPr>
        <p:spPr>
          <a:xfrm flipV="1">
            <a:off x="1237838" y="3098163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9" idx="2"/>
            <a:endCxn id="7" idx="6"/>
          </p:cNvCxnSpPr>
          <p:nvPr/>
        </p:nvCxnSpPr>
        <p:spPr>
          <a:xfrm flipH="1">
            <a:off x="1280015" y="3199986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5"/>
            <a:endCxn id="11" idx="7"/>
          </p:cNvCxnSpPr>
          <p:nvPr/>
        </p:nvCxnSpPr>
        <p:spPr>
          <a:xfrm>
            <a:off x="2959193" y="3301809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1" idx="0"/>
            <a:endCxn id="9" idx="4"/>
          </p:cNvCxnSpPr>
          <p:nvPr/>
        </p:nvCxnSpPr>
        <p:spPr>
          <a:xfrm flipV="1">
            <a:off x="2857370" y="3343986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1" idx="3"/>
            <a:endCxn id="10" idx="5"/>
          </p:cNvCxnSpPr>
          <p:nvPr/>
        </p:nvCxnSpPr>
        <p:spPr>
          <a:xfrm flipH="1">
            <a:off x="1237838" y="4541603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0" idx="7"/>
            <a:endCxn id="9" idx="3"/>
          </p:cNvCxnSpPr>
          <p:nvPr/>
        </p:nvCxnSpPr>
        <p:spPr>
          <a:xfrm flipV="1">
            <a:off x="1237838" y="3301809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9" idx="4"/>
            <a:endCxn id="10" idx="6"/>
          </p:cNvCxnSpPr>
          <p:nvPr/>
        </p:nvCxnSpPr>
        <p:spPr>
          <a:xfrm flipH="1">
            <a:off x="1280015" y="3343986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2685207" y="297048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684301" y="42124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957659" y="42124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878110" y="363521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867740" y="31604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867740" y="27895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996692" y="33909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2146733" y="36701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233424" y="40482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867740" y="44990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911192" y="36701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568934" y="36701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308087" y="242541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找到最佳解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6259999" y="242541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找到一組解</a:t>
            </a:r>
          </a:p>
        </p:txBody>
      </p:sp>
      <p:grpSp>
        <p:nvGrpSpPr>
          <p:cNvPr id="42" name="群組 41"/>
          <p:cNvGrpSpPr/>
          <p:nvPr/>
        </p:nvGrpSpPr>
        <p:grpSpPr>
          <a:xfrm>
            <a:off x="5878237" y="2970480"/>
            <a:ext cx="2097763" cy="1613419"/>
            <a:chOff x="5878237" y="2970480"/>
            <a:chExt cx="2097763" cy="1613419"/>
          </a:xfrm>
        </p:grpSpPr>
        <p:sp>
          <p:nvSpPr>
            <p:cNvPr id="35" name="橢圓 34"/>
            <p:cNvSpPr/>
            <p:nvPr/>
          </p:nvSpPr>
          <p:spPr>
            <a:xfrm>
              <a:off x="5918606" y="305610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5878237" y="297419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橢圓 36"/>
            <p:cNvSpPr/>
            <p:nvPr/>
          </p:nvSpPr>
          <p:spPr>
            <a:xfrm>
              <a:off x="7639961" y="305598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>
            <a:xfrm>
              <a:off x="5918606" y="429589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橢圓 38"/>
            <p:cNvSpPr/>
            <p:nvPr/>
          </p:nvSpPr>
          <p:spPr>
            <a:xfrm>
              <a:off x="7639961" y="429578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/>
            <p:cNvCxnSpPr>
              <a:stCxn id="38" idx="0"/>
              <a:endCxn id="35" idx="4"/>
            </p:cNvCxnSpPr>
            <p:nvPr/>
          </p:nvCxnSpPr>
          <p:spPr>
            <a:xfrm flipV="1">
              <a:off x="6062606" y="3344105"/>
              <a:ext cx="0" cy="951794"/>
            </a:xfrm>
            <a:prstGeom prst="straightConnector1">
              <a:avLst/>
            </a:prstGeom>
            <a:ln w="2857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5" idx="5"/>
              <a:endCxn id="39" idx="1"/>
            </p:cNvCxnSpPr>
            <p:nvPr/>
          </p:nvCxnSpPr>
          <p:spPr>
            <a:xfrm>
              <a:off x="6164429" y="3301928"/>
              <a:ext cx="1517709" cy="1036029"/>
            </a:xfrm>
            <a:prstGeom prst="straightConnector1">
              <a:avLst/>
            </a:prstGeom>
            <a:ln w="2857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37" idx="2"/>
              <a:endCxn id="35" idx="6"/>
            </p:cNvCxnSpPr>
            <p:nvPr/>
          </p:nvCxnSpPr>
          <p:spPr>
            <a:xfrm flipH="1">
              <a:off x="6206606" y="3199986"/>
              <a:ext cx="1433355" cy="119"/>
            </a:xfrm>
            <a:prstGeom prst="straightConnector1">
              <a:avLst/>
            </a:prstGeom>
            <a:ln w="2857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>
              <a:stCxn id="39" idx="0"/>
              <a:endCxn id="37" idx="4"/>
            </p:cNvCxnSpPr>
            <p:nvPr/>
          </p:nvCxnSpPr>
          <p:spPr>
            <a:xfrm flipV="1">
              <a:off x="7783961" y="3343986"/>
              <a:ext cx="0" cy="951794"/>
            </a:xfrm>
            <a:prstGeom prst="straightConnector1">
              <a:avLst/>
            </a:prstGeom>
            <a:ln w="2857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>
              <a:stCxn id="39" idx="3"/>
              <a:endCxn id="38" idx="5"/>
            </p:cNvCxnSpPr>
            <p:nvPr/>
          </p:nvCxnSpPr>
          <p:spPr>
            <a:xfrm flipH="1">
              <a:off x="6164429" y="4541603"/>
              <a:ext cx="1517709" cy="119"/>
            </a:xfrm>
            <a:prstGeom prst="straightConnector1">
              <a:avLst/>
            </a:prstGeom>
            <a:ln w="2857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單箭頭接點 46"/>
            <p:cNvCxnSpPr>
              <a:stCxn id="38" idx="7"/>
              <a:endCxn id="37" idx="3"/>
            </p:cNvCxnSpPr>
            <p:nvPr/>
          </p:nvCxnSpPr>
          <p:spPr>
            <a:xfrm flipV="1">
              <a:off x="6164429" y="3301809"/>
              <a:ext cx="1517709" cy="1036267"/>
            </a:xfrm>
            <a:prstGeom prst="straightConnector1">
              <a:avLst/>
            </a:prstGeom>
            <a:ln w="2857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/>
            <p:cNvSpPr txBox="1"/>
            <p:nvPr/>
          </p:nvSpPr>
          <p:spPr>
            <a:xfrm>
              <a:off x="7611798" y="29704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7610892" y="421249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5884250" y="421249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向右箭號 60"/>
          <p:cNvSpPr/>
          <p:nvPr/>
        </p:nvSpPr>
        <p:spPr>
          <a:xfrm>
            <a:off x="4313193" y="3635217"/>
            <a:ext cx="562232" cy="4693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5852791" y="4845275"/>
            <a:ext cx="2234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5878237" y="5200276"/>
            <a:ext cx="2234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6772959" y="556257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876079" y="5966385"/>
            <a:ext cx="2234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群組 65"/>
          <p:cNvGrpSpPr/>
          <p:nvPr/>
        </p:nvGrpSpPr>
        <p:grpSpPr>
          <a:xfrm>
            <a:off x="8055062" y="4947827"/>
            <a:ext cx="660554" cy="1418668"/>
            <a:chOff x="7213150" y="3122978"/>
            <a:chExt cx="660554" cy="1418668"/>
          </a:xfrm>
        </p:grpSpPr>
        <p:sp>
          <p:nvSpPr>
            <p:cNvPr id="67" name="右大括弧 66"/>
            <p:cNvSpPr/>
            <p:nvPr/>
          </p:nvSpPr>
          <p:spPr>
            <a:xfrm>
              <a:off x="7213150" y="3122978"/>
              <a:ext cx="262688" cy="1418668"/>
            </a:xfrm>
            <a:prstGeom prst="rightBrace">
              <a:avLst>
                <a:gd name="adj1" fmla="val 3420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7475838" y="3632257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4!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704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61" grpId="0" animBg="1"/>
      <p:bldP spid="62" grpId="0"/>
      <p:bldP spid="63" grpId="0"/>
      <p:bldP spid="64" grpId="0"/>
      <p:bldP spid="6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(8/11)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  <p:cxnSp>
        <p:nvCxnSpPr>
          <p:cNvPr id="8" name="直線接點 7"/>
          <p:cNvCxnSpPr>
            <a:stCxn id="15" idx="2"/>
            <a:endCxn id="11" idx="6"/>
          </p:cNvCxnSpPr>
          <p:nvPr/>
        </p:nvCxnSpPr>
        <p:spPr>
          <a:xfrm flipH="1">
            <a:off x="3194726" y="2057824"/>
            <a:ext cx="7871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13" idx="6"/>
            <a:endCxn id="17" idx="2"/>
          </p:cNvCxnSpPr>
          <p:nvPr/>
        </p:nvCxnSpPr>
        <p:spPr>
          <a:xfrm>
            <a:off x="4341851" y="2940055"/>
            <a:ext cx="78640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13" idx="2"/>
            <a:endCxn id="14" idx="6"/>
          </p:cNvCxnSpPr>
          <p:nvPr/>
        </p:nvCxnSpPr>
        <p:spPr>
          <a:xfrm flipH="1">
            <a:off x="3194726" y="2940055"/>
            <a:ext cx="7871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橢圓 10"/>
          <p:cNvSpPr/>
          <p:nvPr/>
        </p:nvSpPr>
        <p:spPr>
          <a:xfrm>
            <a:off x="2834726" y="187782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832625" y="182946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3981851" y="2760055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834726" y="2760055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981851" y="187782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128252" y="188134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5128252" y="2760055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15" idx="6"/>
            <a:endCxn id="16" idx="2"/>
          </p:cNvCxnSpPr>
          <p:nvPr/>
        </p:nvCxnSpPr>
        <p:spPr>
          <a:xfrm>
            <a:off x="4341851" y="2057824"/>
            <a:ext cx="786401" cy="3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7" idx="0"/>
            <a:endCxn id="16" idx="4"/>
          </p:cNvCxnSpPr>
          <p:nvPr/>
        </p:nvCxnSpPr>
        <p:spPr>
          <a:xfrm flipV="1">
            <a:off x="5308252" y="2241349"/>
            <a:ext cx="0" cy="5187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1" idx="5"/>
            <a:endCxn id="13" idx="1"/>
          </p:cNvCxnSpPr>
          <p:nvPr/>
        </p:nvCxnSpPr>
        <p:spPr>
          <a:xfrm>
            <a:off x="3142005" y="2185103"/>
            <a:ext cx="892567" cy="6276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14" idx="0"/>
            <a:endCxn id="11" idx="4"/>
          </p:cNvCxnSpPr>
          <p:nvPr/>
        </p:nvCxnSpPr>
        <p:spPr>
          <a:xfrm flipV="1">
            <a:off x="3014726" y="2237824"/>
            <a:ext cx="0" cy="5222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13" idx="0"/>
            <a:endCxn id="15" idx="4"/>
          </p:cNvCxnSpPr>
          <p:nvPr/>
        </p:nvCxnSpPr>
        <p:spPr>
          <a:xfrm flipV="1">
            <a:off x="4161851" y="2237824"/>
            <a:ext cx="0" cy="5222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14" idx="7"/>
            <a:endCxn id="15" idx="3"/>
          </p:cNvCxnSpPr>
          <p:nvPr/>
        </p:nvCxnSpPr>
        <p:spPr>
          <a:xfrm flipV="1">
            <a:off x="3142005" y="2185103"/>
            <a:ext cx="892567" cy="6276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橢圓 52"/>
          <p:cNvSpPr/>
          <p:nvPr/>
        </p:nvSpPr>
        <p:spPr>
          <a:xfrm>
            <a:off x="6274652" y="187782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/>
          <p:cNvSpPr/>
          <p:nvPr/>
        </p:nvSpPr>
        <p:spPr>
          <a:xfrm>
            <a:off x="6274652" y="2760055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5" name="直線接點 54"/>
          <p:cNvCxnSpPr>
            <a:stCxn id="17" idx="6"/>
            <a:endCxn id="54" idx="2"/>
          </p:cNvCxnSpPr>
          <p:nvPr/>
        </p:nvCxnSpPr>
        <p:spPr>
          <a:xfrm>
            <a:off x="5488252" y="2940055"/>
            <a:ext cx="7864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>
            <a:stCxn id="16" idx="6"/>
            <a:endCxn id="53" idx="2"/>
          </p:cNvCxnSpPr>
          <p:nvPr/>
        </p:nvCxnSpPr>
        <p:spPr>
          <a:xfrm flipV="1">
            <a:off x="5488252" y="2057824"/>
            <a:ext cx="786400" cy="3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>
            <a:stCxn id="54" idx="0"/>
            <a:endCxn id="53" idx="4"/>
          </p:cNvCxnSpPr>
          <p:nvPr/>
        </p:nvCxnSpPr>
        <p:spPr>
          <a:xfrm flipV="1">
            <a:off x="6454652" y="2237824"/>
            <a:ext cx="0" cy="5222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5119739" y="18294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266139" y="182946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109620" y="27175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258123" y="27210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973338" y="18294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3977649" y="273148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2820296" y="273148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3442252" y="4067018"/>
            <a:ext cx="2676469" cy="1292209"/>
            <a:chOff x="3442252" y="4067018"/>
            <a:chExt cx="2676469" cy="1292209"/>
          </a:xfrm>
        </p:grpSpPr>
        <p:cxnSp>
          <p:nvCxnSpPr>
            <p:cNvPr id="68" name="直線接點 67"/>
            <p:cNvCxnSpPr>
              <a:stCxn id="75" idx="2"/>
              <a:endCxn id="71" idx="6"/>
            </p:cNvCxnSpPr>
            <p:nvPr/>
          </p:nvCxnSpPr>
          <p:spPr>
            <a:xfrm flipH="1">
              <a:off x="3816682" y="4296996"/>
              <a:ext cx="78712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/>
            <p:cNvCxnSpPr>
              <a:stCxn id="75" idx="5"/>
              <a:endCxn id="77" idx="1"/>
            </p:cNvCxnSpPr>
            <p:nvPr/>
          </p:nvCxnSpPr>
          <p:spPr>
            <a:xfrm>
              <a:off x="4911086" y="4424275"/>
              <a:ext cx="891843" cy="62767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橢圓 70"/>
            <p:cNvSpPr/>
            <p:nvPr/>
          </p:nvSpPr>
          <p:spPr>
            <a:xfrm>
              <a:off x="3456682" y="411699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454581" y="406863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橢圓 73"/>
            <p:cNvSpPr/>
            <p:nvPr/>
          </p:nvSpPr>
          <p:spPr>
            <a:xfrm>
              <a:off x="3456682" y="499922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4603807" y="411699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5750208" y="412052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橢圓 76"/>
            <p:cNvSpPr/>
            <p:nvPr/>
          </p:nvSpPr>
          <p:spPr>
            <a:xfrm>
              <a:off x="5750208" y="499922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接點 77"/>
            <p:cNvCxnSpPr>
              <a:stCxn id="75" idx="6"/>
              <a:endCxn id="76" idx="2"/>
            </p:cNvCxnSpPr>
            <p:nvPr/>
          </p:nvCxnSpPr>
          <p:spPr>
            <a:xfrm>
              <a:off x="4963807" y="4296996"/>
              <a:ext cx="786401" cy="352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接點 78"/>
            <p:cNvCxnSpPr>
              <a:stCxn id="77" idx="0"/>
              <a:endCxn id="76" idx="4"/>
            </p:cNvCxnSpPr>
            <p:nvPr/>
          </p:nvCxnSpPr>
          <p:spPr>
            <a:xfrm flipV="1">
              <a:off x="5930208" y="4480521"/>
              <a:ext cx="0" cy="51870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接點 80"/>
            <p:cNvCxnSpPr>
              <a:stCxn id="74" idx="0"/>
              <a:endCxn id="71" idx="4"/>
            </p:cNvCxnSpPr>
            <p:nvPr/>
          </p:nvCxnSpPr>
          <p:spPr>
            <a:xfrm flipV="1">
              <a:off x="3636682" y="4476996"/>
              <a:ext cx="0" cy="52223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>
              <a:stCxn id="74" idx="7"/>
              <a:endCxn id="75" idx="3"/>
            </p:cNvCxnSpPr>
            <p:nvPr/>
          </p:nvCxnSpPr>
          <p:spPr>
            <a:xfrm flipV="1">
              <a:off x="3763961" y="4424275"/>
              <a:ext cx="892567" cy="62767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字方塊 83"/>
            <p:cNvSpPr txBox="1"/>
            <p:nvPr/>
          </p:nvSpPr>
          <p:spPr>
            <a:xfrm>
              <a:off x="5741695" y="40686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5750208" y="497065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4595293" y="406701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3442252" y="497065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931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(9/11)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建立狀態空間樹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第</a:t>
            </a:r>
            <a:r>
              <a:rPr lang="en-US" altLang="zh-TW" dirty="0"/>
              <a:t>0</a:t>
            </a:r>
            <a:r>
              <a:rPr lang="zh-TW" altLang="en-US" dirty="0"/>
              <a:t>層：起始節點</a:t>
            </a:r>
            <a:endParaRPr lang="en-US" altLang="zh-TW" dirty="0"/>
          </a:p>
          <a:p>
            <a:pPr lvl="1"/>
            <a:r>
              <a:rPr lang="zh-TW" altLang="en-US" dirty="0"/>
              <a:t>第</a:t>
            </a:r>
            <a:r>
              <a:rPr lang="en-US" altLang="zh-TW" dirty="0"/>
              <a:t>1</a:t>
            </a:r>
            <a:r>
              <a:rPr lang="zh-TW" altLang="en-US" dirty="0"/>
              <a:t>層：除了第</a:t>
            </a:r>
            <a:r>
              <a:rPr lang="en-US" altLang="zh-TW" dirty="0"/>
              <a:t>0</a:t>
            </a:r>
            <a:r>
              <a:rPr lang="zh-TW" altLang="en-US" dirty="0"/>
              <a:t>層節點之外的所有節點</a:t>
            </a:r>
            <a:endParaRPr lang="en-US" altLang="zh-TW" dirty="0"/>
          </a:p>
          <a:p>
            <a:pPr lvl="1"/>
            <a:r>
              <a:rPr lang="zh-TW" altLang="en-US" dirty="0"/>
              <a:t>第</a:t>
            </a:r>
            <a:r>
              <a:rPr lang="en-US" altLang="zh-TW" dirty="0"/>
              <a:t>2</a:t>
            </a:r>
            <a:r>
              <a:rPr lang="zh-TW" altLang="en-US" dirty="0"/>
              <a:t>層：除了前一層的節點之外的所有節點</a:t>
            </a:r>
            <a:endParaRPr lang="en-US" altLang="zh-TW" dirty="0"/>
          </a:p>
          <a:p>
            <a:pPr lvl="1"/>
            <a:r>
              <a:rPr lang="en-US" altLang="zh-TW" dirty="0"/>
              <a:t>…</a:t>
            </a:r>
          </a:p>
          <a:p>
            <a:pPr lvl="1"/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</a:rPr>
              <a:t>Backtrack</a:t>
            </a:r>
            <a:r>
              <a:rPr lang="zh-TW" altLang="en-US" dirty="0">
                <a:solidFill>
                  <a:srgbClr val="0000FF"/>
                </a:solidFill>
              </a:rPr>
              <a:t>條件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路徑上第</a:t>
            </a:r>
            <a:r>
              <a:rPr lang="en-US" altLang="zh-TW" i="1" dirty="0" err="1"/>
              <a:t>i</a:t>
            </a:r>
            <a:r>
              <a:rPr lang="zh-TW" altLang="en-US" dirty="0"/>
              <a:t>個節點必須與第</a:t>
            </a:r>
            <a:r>
              <a:rPr lang="en-US" altLang="zh-TW" i="1" dirty="0" err="1"/>
              <a:t>i</a:t>
            </a:r>
            <a:r>
              <a:rPr lang="en-US" altLang="zh-TW" dirty="0"/>
              <a:t> – 1</a:t>
            </a:r>
            <a:r>
              <a:rPr lang="zh-TW" altLang="en-US" dirty="0"/>
              <a:t>個節點相連</a:t>
            </a:r>
            <a:endParaRPr lang="en-US" altLang="zh-TW" dirty="0"/>
          </a:p>
          <a:p>
            <a:pPr lvl="1"/>
            <a:r>
              <a:rPr lang="zh-TW" altLang="en-US" dirty="0"/>
              <a:t>路徑上第</a:t>
            </a:r>
            <a:r>
              <a:rPr lang="en-US" altLang="zh-TW" i="1" dirty="0"/>
              <a:t>n</a:t>
            </a:r>
            <a:r>
              <a:rPr lang="en-US" altLang="zh-TW" dirty="0"/>
              <a:t> – 1</a:t>
            </a:r>
            <a:r>
              <a:rPr lang="zh-TW" altLang="en-US" dirty="0"/>
              <a:t>個節點必須與第</a:t>
            </a:r>
            <a:r>
              <a:rPr lang="en-US" altLang="zh-TW" dirty="0"/>
              <a:t>0</a:t>
            </a:r>
            <a:r>
              <a:rPr lang="zh-TW" altLang="en-US" dirty="0"/>
              <a:t>個節點相連</a:t>
            </a:r>
            <a:endParaRPr lang="en-US" altLang="zh-TW" dirty="0"/>
          </a:p>
          <a:p>
            <a:pPr lvl="1"/>
            <a:r>
              <a:rPr lang="zh-TW" altLang="en-US" dirty="0"/>
              <a:t>路徑上第</a:t>
            </a:r>
            <a:r>
              <a:rPr lang="en-US" altLang="zh-TW" i="1" dirty="0" err="1"/>
              <a:t>i</a:t>
            </a:r>
            <a:r>
              <a:rPr lang="zh-TW" altLang="en-US" dirty="0"/>
              <a:t>個節點不可以與前</a:t>
            </a:r>
            <a:r>
              <a:rPr lang="en-US" altLang="zh-TW" i="1" dirty="0" err="1"/>
              <a:t>i</a:t>
            </a:r>
            <a:r>
              <a:rPr lang="en-US" altLang="zh-TW" dirty="0"/>
              <a:t> – 1</a:t>
            </a:r>
            <a:r>
              <a:rPr lang="zh-TW" altLang="en-US" dirty="0"/>
              <a:t>個節點重複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23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(10/11)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 dirty="0"/>
          </a:p>
        </p:txBody>
      </p:sp>
      <p:cxnSp>
        <p:nvCxnSpPr>
          <p:cNvPr id="24" name="直線接點 23"/>
          <p:cNvCxnSpPr>
            <a:stCxn id="30" idx="0"/>
            <a:endCxn id="42" idx="4"/>
          </p:cNvCxnSpPr>
          <p:nvPr/>
        </p:nvCxnSpPr>
        <p:spPr>
          <a:xfrm flipH="1" flipV="1">
            <a:off x="4708290" y="2377920"/>
            <a:ext cx="950784" cy="48561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42" idx="4"/>
            <a:endCxn id="31" idx="0"/>
          </p:cNvCxnSpPr>
          <p:nvPr/>
        </p:nvCxnSpPr>
        <p:spPr>
          <a:xfrm>
            <a:off x="4708290" y="2377920"/>
            <a:ext cx="1901568" cy="48561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53" idx="0"/>
            <a:endCxn id="28" idx="4"/>
          </p:cNvCxnSpPr>
          <p:nvPr/>
        </p:nvCxnSpPr>
        <p:spPr>
          <a:xfrm flipV="1">
            <a:off x="2804956" y="3223538"/>
            <a:ext cx="0" cy="4118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26" idx="0"/>
            <a:endCxn id="42" idx="4"/>
          </p:cNvCxnSpPr>
          <p:nvPr/>
        </p:nvCxnSpPr>
        <p:spPr>
          <a:xfrm flipV="1">
            <a:off x="4708290" y="2377920"/>
            <a:ext cx="0" cy="48561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 flipV="1">
            <a:off x="2802292" y="2377920"/>
            <a:ext cx="1903334" cy="48561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29" idx="0"/>
            <a:endCxn id="42" idx="4"/>
          </p:cNvCxnSpPr>
          <p:nvPr/>
        </p:nvCxnSpPr>
        <p:spPr>
          <a:xfrm flipV="1">
            <a:off x="3753959" y="2377920"/>
            <a:ext cx="954331" cy="48561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56" idx="0"/>
            <a:endCxn id="28" idx="4"/>
          </p:cNvCxnSpPr>
          <p:nvPr/>
        </p:nvCxnSpPr>
        <p:spPr>
          <a:xfrm flipV="1">
            <a:off x="2290499" y="3223538"/>
            <a:ext cx="514457" cy="4118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>
            <a:stCxn id="57" idx="0"/>
            <a:endCxn id="28" idx="4"/>
          </p:cNvCxnSpPr>
          <p:nvPr/>
        </p:nvCxnSpPr>
        <p:spPr>
          <a:xfrm flipV="1">
            <a:off x="1776042" y="3223538"/>
            <a:ext cx="1028914" cy="4118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54" idx="0"/>
            <a:endCxn id="28" idx="4"/>
          </p:cNvCxnSpPr>
          <p:nvPr/>
        </p:nvCxnSpPr>
        <p:spPr>
          <a:xfrm flipH="1" flipV="1">
            <a:off x="2804956" y="3223538"/>
            <a:ext cx="514457" cy="4118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55" idx="0"/>
            <a:endCxn id="28" idx="4"/>
          </p:cNvCxnSpPr>
          <p:nvPr/>
        </p:nvCxnSpPr>
        <p:spPr>
          <a:xfrm flipH="1" flipV="1">
            <a:off x="2804956" y="3223538"/>
            <a:ext cx="1028914" cy="4118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/>
          <p:cNvGrpSpPr/>
          <p:nvPr/>
        </p:nvGrpSpPr>
        <p:grpSpPr>
          <a:xfrm>
            <a:off x="4524088" y="1978262"/>
            <a:ext cx="364202" cy="399658"/>
            <a:chOff x="4524088" y="1877379"/>
            <a:chExt cx="364202" cy="399658"/>
          </a:xfrm>
        </p:grpSpPr>
        <p:sp>
          <p:nvSpPr>
            <p:cNvPr id="42" name="橢圓 41"/>
            <p:cNvSpPr/>
            <p:nvPr/>
          </p:nvSpPr>
          <p:spPr>
            <a:xfrm>
              <a:off x="4528290" y="191703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524088" y="187737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3567549" y="2823880"/>
            <a:ext cx="377026" cy="399658"/>
            <a:chOff x="3567549" y="2722997"/>
            <a:chExt cx="377026" cy="399658"/>
          </a:xfrm>
        </p:grpSpPr>
        <p:sp>
          <p:nvSpPr>
            <p:cNvPr id="29" name="橢圓 28"/>
            <p:cNvSpPr/>
            <p:nvPr/>
          </p:nvSpPr>
          <p:spPr>
            <a:xfrm>
              <a:off x="3573959" y="276265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3567549" y="2722997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4518760" y="2843709"/>
            <a:ext cx="369530" cy="379829"/>
            <a:chOff x="4518760" y="2742826"/>
            <a:chExt cx="369530" cy="379829"/>
          </a:xfrm>
        </p:grpSpPr>
        <p:sp>
          <p:nvSpPr>
            <p:cNvPr id="26" name="橢圓 25"/>
            <p:cNvSpPr/>
            <p:nvPr/>
          </p:nvSpPr>
          <p:spPr>
            <a:xfrm>
              <a:off x="4528290" y="276265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4518760" y="274282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2623175" y="2823880"/>
            <a:ext cx="377026" cy="399658"/>
            <a:chOff x="2623175" y="2722997"/>
            <a:chExt cx="377026" cy="399658"/>
          </a:xfrm>
        </p:grpSpPr>
        <p:sp>
          <p:nvSpPr>
            <p:cNvPr id="28" name="橢圓 27"/>
            <p:cNvSpPr/>
            <p:nvPr/>
          </p:nvSpPr>
          <p:spPr>
            <a:xfrm>
              <a:off x="2624956" y="276265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2623175" y="2722997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5464297" y="2823880"/>
            <a:ext cx="374777" cy="399658"/>
            <a:chOff x="5464297" y="2722997"/>
            <a:chExt cx="374777" cy="399658"/>
          </a:xfrm>
        </p:grpSpPr>
        <p:sp>
          <p:nvSpPr>
            <p:cNvPr id="30" name="橢圓 29"/>
            <p:cNvSpPr/>
            <p:nvPr/>
          </p:nvSpPr>
          <p:spPr>
            <a:xfrm>
              <a:off x="5479074" y="276265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5464297" y="272299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群組 90"/>
          <p:cNvGrpSpPr/>
          <p:nvPr/>
        </p:nvGrpSpPr>
        <p:grpSpPr>
          <a:xfrm>
            <a:off x="6324590" y="1212990"/>
            <a:ext cx="2661314" cy="1290593"/>
            <a:chOff x="5659074" y="4413203"/>
            <a:chExt cx="2661314" cy="1290593"/>
          </a:xfrm>
        </p:grpSpPr>
        <p:cxnSp>
          <p:nvCxnSpPr>
            <p:cNvPr id="72" name="直線接點 71"/>
            <p:cNvCxnSpPr>
              <a:stCxn id="73" idx="6"/>
              <a:endCxn id="76" idx="2"/>
            </p:cNvCxnSpPr>
            <p:nvPr/>
          </p:nvCxnSpPr>
          <p:spPr>
            <a:xfrm>
              <a:off x="6027587" y="5523796"/>
              <a:ext cx="78640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橢圓 72"/>
            <p:cNvSpPr/>
            <p:nvPr/>
          </p:nvSpPr>
          <p:spPr>
            <a:xfrm>
              <a:off x="5667587" y="534379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/>
            <p:cNvSpPr/>
            <p:nvPr/>
          </p:nvSpPr>
          <p:spPr>
            <a:xfrm>
              <a:off x="5667587" y="446156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/>
            <p:cNvSpPr/>
            <p:nvPr/>
          </p:nvSpPr>
          <p:spPr>
            <a:xfrm>
              <a:off x="6813988" y="446509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/>
            <p:cNvSpPr/>
            <p:nvPr/>
          </p:nvSpPr>
          <p:spPr>
            <a:xfrm>
              <a:off x="6813988" y="534379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7" name="直線接點 76"/>
            <p:cNvCxnSpPr>
              <a:stCxn id="74" idx="6"/>
              <a:endCxn id="75" idx="2"/>
            </p:cNvCxnSpPr>
            <p:nvPr/>
          </p:nvCxnSpPr>
          <p:spPr>
            <a:xfrm>
              <a:off x="6027587" y="4641565"/>
              <a:ext cx="786401" cy="352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接點 77"/>
            <p:cNvCxnSpPr>
              <a:stCxn id="76" idx="0"/>
              <a:endCxn id="75" idx="4"/>
            </p:cNvCxnSpPr>
            <p:nvPr/>
          </p:nvCxnSpPr>
          <p:spPr>
            <a:xfrm flipV="1">
              <a:off x="6993988" y="4825090"/>
              <a:ext cx="0" cy="51870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接點 78"/>
            <p:cNvCxnSpPr>
              <a:stCxn id="73" idx="0"/>
              <a:endCxn id="74" idx="4"/>
            </p:cNvCxnSpPr>
            <p:nvPr/>
          </p:nvCxnSpPr>
          <p:spPr>
            <a:xfrm flipV="1">
              <a:off x="5847587" y="4821565"/>
              <a:ext cx="0" cy="52223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橢圓 79"/>
            <p:cNvSpPr/>
            <p:nvPr/>
          </p:nvSpPr>
          <p:spPr>
            <a:xfrm>
              <a:off x="7960388" y="446156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7960388" y="534379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2" name="直線接點 81"/>
            <p:cNvCxnSpPr>
              <a:stCxn id="76" idx="6"/>
              <a:endCxn id="81" idx="2"/>
            </p:cNvCxnSpPr>
            <p:nvPr/>
          </p:nvCxnSpPr>
          <p:spPr>
            <a:xfrm>
              <a:off x="7173988" y="5523796"/>
              <a:ext cx="7864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>
              <a:stCxn id="75" idx="6"/>
              <a:endCxn id="80" idx="2"/>
            </p:cNvCxnSpPr>
            <p:nvPr/>
          </p:nvCxnSpPr>
          <p:spPr>
            <a:xfrm flipV="1">
              <a:off x="7173988" y="4641565"/>
              <a:ext cx="786400" cy="352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/>
            <p:cNvCxnSpPr>
              <a:stCxn id="81" idx="0"/>
              <a:endCxn id="80" idx="4"/>
            </p:cNvCxnSpPr>
            <p:nvPr/>
          </p:nvCxnSpPr>
          <p:spPr>
            <a:xfrm flipV="1">
              <a:off x="8140388" y="4821565"/>
              <a:ext cx="0" cy="52223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字方塊 84"/>
            <p:cNvSpPr txBox="1"/>
            <p:nvPr/>
          </p:nvSpPr>
          <p:spPr>
            <a:xfrm>
              <a:off x="6805475" y="4413203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7951875" y="441320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6795356" y="53012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7943859" y="530476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5659074" y="4413203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5663385" y="531522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2" name="十字形 91"/>
          <p:cNvSpPr/>
          <p:nvPr/>
        </p:nvSpPr>
        <p:spPr>
          <a:xfrm>
            <a:off x="3609959" y="322353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十字形 92"/>
          <p:cNvSpPr/>
          <p:nvPr/>
        </p:nvSpPr>
        <p:spPr>
          <a:xfrm>
            <a:off x="4580516" y="322353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十字形 93"/>
          <p:cNvSpPr/>
          <p:nvPr/>
        </p:nvSpPr>
        <p:spPr>
          <a:xfrm>
            <a:off x="5524873" y="3223538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6425656" y="2823880"/>
            <a:ext cx="364202" cy="399658"/>
            <a:chOff x="6425656" y="2722997"/>
            <a:chExt cx="364202" cy="399658"/>
          </a:xfrm>
        </p:grpSpPr>
        <p:sp>
          <p:nvSpPr>
            <p:cNvPr id="31" name="橢圓 30"/>
            <p:cNvSpPr/>
            <p:nvPr/>
          </p:nvSpPr>
          <p:spPr>
            <a:xfrm>
              <a:off x="6429858" y="276265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6425656" y="272299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596042" y="3584987"/>
            <a:ext cx="364202" cy="410367"/>
            <a:chOff x="1596042" y="3484104"/>
            <a:chExt cx="364202" cy="410367"/>
          </a:xfrm>
        </p:grpSpPr>
        <p:sp>
          <p:nvSpPr>
            <p:cNvPr id="57" name="橢圓 56"/>
            <p:cNvSpPr/>
            <p:nvPr/>
          </p:nvSpPr>
          <p:spPr>
            <a:xfrm>
              <a:off x="1596042" y="353447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1596042" y="3484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2088984" y="3584987"/>
            <a:ext cx="381515" cy="410367"/>
            <a:chOff x="2088984" y="3484104"/>
            <a:chExt cx="381515" cy="410367"/>
          </a:xfrm>
        </p:grpSpPr>
        <p:sp>
          <p:nvSpPr>
            <p:cNvPr id="56" name="橢圓 55"/>
            <p:cNvSpPr/>
            <p:nvPr/>
          </p:nvSpPr>
          <p:spPr>
            <a:xfrm>
              <a:off x="2110499" y="353447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文字方塊 99"/>
            <p:cNvSpPr txBox="1"/>
            <p:nvPr/>
          </p:nvSpPr>
          <p:spPr>
            <a:xfrm>
              <a:off x="2088984" y="348410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1" name="直線接點 100"/>
          <p:cNvCxnSpPr>
            <a:stCxn id="97" idx="0"/>
            <a:endCxn id="56" idx="4"/>
          </p:cNvCxnSpPr>
          <p:nvPr/>
        </p:nvCxnSpPr>
        <p:spPr>
          <a:xfrm flipV="1">
            <a:off x="2286010" y="3995354"/>
            <a:ext cx="4489" cy="3426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>
            <a:stCxn id="98" idx="0"/>
            <a:endCxn id="97" idx="4"/>
          </p:cNvCxnSpPr>
          <p:nvPr/>
        </p:nvCxnSpPr>
        <p:spPr>
          <a:xfrm flipV="1">
            <a:off x="2286010" y="4698007"/>
            <a:ext cx="0" cy="3513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>
            <a:stCxn id="99" idx="0"/>
            <a:endCxn id="98" idx="4"/>
          </p:cNvCxnSpPr>
          <p:nvPr/>
        </p:nvCxnSpPr>
        <p:spPr>
          <a:xfrm flipV="1">
            <a:off x="2286010" y="5409334"/>
            <a:ext cx="0" cy="3513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/>
          <p:cNvGrpSpPr/>
          <p:nvPr/>
        </p:nvGrpSpPr>
        <p:grpSpPr>
          <a:xfrm>
            <a:off x="2618653" y="3577838"/>
            <a:ext cx="366303" cy="417516"/>
            <a:chOff x="2618653" y="3476955"/>
            <a:chExt cx="366303" cy="417516"/>
          </a:xfrm>
        </p:grpSpPr>
        <p:sp>
          <p:nvSpPr>
            <p:cNvPr id="53" name="橢圓 52"/>
            <p:cNvSpPr/>
            <p:nvPr/>
          </p:nvSpPr>
          <p:spPr>
            <a:xfrm>
              <a:off x="2624956" y="353447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2618653" y="347695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2106010" y="4305646"/>
            <a:ext cx="364202" cy="392361"/>
            <a:chOff x="2106010" y="4204763"/>
            <a:chExt cx="364202" cy="392361"/>
          </a:xfrm>
        </p:grpSpPr>
        <p:sp>
          <p:nvSpPr>
            <p:cNvPr id="97" name="橢圓 96"/>
            <p:cNvSpPr/>
            <p:nvPr/>
          </p:nvSpPr>
          <p:spPr>
            <a:xfrm>
              <a:off x="2106010" y="423712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文字方塊 116"/>
            <p:cNvSpPr txBox="1"/>
            <p:nvPr/>
          </p:nvSpPr>
          <p:spPr>
            <a:xfrm>
              <a:off x="2106010" y="420476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3137312" y="3586710"/>
            <a:ext cx="364202" cy="408644"/>
            <a:chOff x="3137312" y="3485827"/>
            <a:chExt cx="364202" cy="408644"/>
          </a:xfrm>
        </p:grpSpPr>
        <p:sp>
          <p:nvSpPr>
            <p:cNvPr id="54" name="橢圓 53"/>
            <p:cNvSpPr/>
            <p:nvPr/>
          </p:nvSpPr>
          <p:spPr>
            <a:xfrm>
              <a:off x="3139413" y="353447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8" name="文字方塊 117"/>
            <p:cNvSpPr txBox="1"/>
            <p:nvPr/>
          </p:nvSpPr>
          <p:spPr>
            <a:xfrm>
              <a:off x="3137312" y="348582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2088984" y="5020946"/>
            <a:ext cx="377026" cy="388388"/>
            <a:chOff x="2088984" y="4920063"/>
            <a:chExt cx="377026" cy="388388"/>
          </a:xfrm>
        </p:grpSpPr>
        <p:sp>
          <p:nvSpPr>
            <p:cNvPr id="98" name="橢圓 97"/>
            <p:cNvSpPr/>
            <p:nvPr/>
          </p:nvSpPr>
          <p:spPr>
            <a:xfrm>
              <a:off x="2106010" y="494845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2088984" y="492006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3652820" y="3594036"/>
            <a:ext cx="364202" cy="401318"/>
            <a:chOff x="3652820" y="3493153"/>
            <a:chExt cx="364202" cy="401318"/>
          </a:xfrm>
        </p:grpSpPr>
        <p:sp>
          <p:nvSpPr>
            <p:cNvPr id="55" name="橢圓 54"/>
            <p:cNvSpPr/>
            <p:nvPr/>
          </p:nvSpPr>
          <p:spPr>
            <a:xfrm>
              <a:off x="3653870" y="353447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3652820" y="349315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2101808" y="5730546"/>
            <a:ext cx="364202" cy="390115"/>
            <a:chOff x="2101808" y="5629663"/>
            <a:chExt cx="364202" cy="390115"/>
          </a:xfrm>
        </p:grpSpPr>
        <p:sp>
          <p:nvSpPr>
            <p:cNvPr id="99" name="橢圓 98"/>
            <p:cNvSpPr/>
            <p:nvPr/>
          </p:nvSpPr>
          <p:spPr>
            <a:xfrm>
              <a:off x="2106010" y="565977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2101808" y="562966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3" name="十字形 122"/>
          <p:cNvSpPr/>
          <p:nvPr/>
        </p:nvSpPr>
        <p:spPr>
          <a:xfrm>
            <a:off x="2656754" y="400468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十字形 123"/>
          <p:cNvSpPr/>
          <p:nvPr/>
        </p:nvSpPr>
        <p:spPr>
          <a:xfrm>
            <a:off x="1629587" y="400468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十字形 124"/>
          <p:cNvSpPr/>
          <p:nvPr/>
        </p:nvSpPr>
        <p:spPr>
          <a:xfrm>
            <a:off x="3689870" y="4007406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8" name="直線接點 127"/>
          <p:cNvCxnSpPr>
            <a:stCxn id="126" idx="0"/>
          </p:cNvCxnSpPr>
          <p:nvPr/>
        </p:nvCxnSpPr>
        <p:spPr>
          <a:xfrm flipV="1">
            <a:off x="3307165" y="4000050"/>
            <a:ext cx="4489" cy="3426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>
            <a:stCxn id="127" idx="0"/>
            <a:endCxn id="126" idx="4"/>
          </p:cNvCxnSpPr>
          <p:nvPr/>
        </p:nvCxnSpPr>
        <p:spPr>
          <a:xfrm flipV="1">
            <a:off x="3307165" y="4702703"/>
            <a:ext cx="0" cy="3513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群組 10"/>
          <p:cNvGrpSpPr/>
          <p:nvPr/>
        </p:nvGrpSpPr>
        <p:grpSpPr>
          <a:xfrm>
            <a:off x="3127165" y="4310342"/>
            <a:ext cx="364202" cy="392361"/>
            <a:chOff x="3127165" y="4209459"/>
            <a:chExt cx="364202" cy="392361"/>
          </a:xfrm>
        </p:grpSpPr>
        <p:sp>
          <p:nvSpPr>
            <p:cNvPr id="126" name="橢圓 125"/>
            <p:cNvSpPr/>
            <p:nvPr/>
          </p:nvSpPr>
          <p:spPr>
            <a:xfrm>
              <a:off x="3127165" y="424182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3127165" y="420945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3110139" y="5025642"/>
            <a:ext cx="377026" cy="388388"/>
            <a:chOff x="3110139" y="4924759"/>
            <a:chExt cx="377026" cy="388388"/>
          </a:xfrm>
        </p:grpSpPr>
        <p:sp>
          <p:nvSpPr>
            <p:cNvPr id="127" name="橢圓 126"/>
            <p:cNvSpPr/>
            <p:nvPr/>
          </p:nvSpPr>
          <p:spPr>
            <a:xfrm>
              <a:off x="3127165" y="495314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1" name="文字方塊 130"/>
            <p:cNvSpPr txBox="1"/>
            <p:nvPr/>
          </p:nvSpPr>
          <p:spPr>
            <a:xfrm>
              <a:off x="3110139" y="492475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2" name="十字形 131"/>
          <p:cNvSpPr/>
          <p:nvPr/>
        </p:nvSpPr>
        <p:spPr>
          <a:xfrm>
            <a:off x="3175413" y="5414030"/>
            <a:ext cx="288000" cy="288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文字方塊 132"/>
          <p:cNvSpPr txBox="1"/>
          <p:nvPr/>
        </p:nvSpPr>
        <p:spPr>
          <a:xfrm>
            <a:off x="1120547" y="27949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1119130" y="3548123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1125858" y="4292686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1113491" y="5048479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332503" y="20702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103912" y="2787783"/>
            <a:ext cx="776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 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12704" y="3528145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1120547" y="20702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/>
              <p:cNvSpPr txBox="1"/>
              <p:nvPr/>
            </p:nvSpPr>
            <p:spPr>
              <a:xfrm>
                <a:off x="3928690" y="6111319"/>
                <a:ext cx="5065426" cy="390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4" name="文字方塊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690" y="6111319"/>
                <a:ext cx="5065426" cy="390620"/>
              </a:xfrm>
              <a:prstGeom prst="rect">
                <a:avLst/>
              </a:prstGeom>
              <a:blipFill rotWithShape="0">
                <a:blip r:embed="rId2"/>
                <a:stretch>
                  <a:fillRect l="-602" t="-1563" r="-361" b="-203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文字方塊 144"/>
          <p:cNvSpPr txBox="1"/>
          <p:nvPr/>
        </p:nvSpPr>
        <p:spPr>
          <a:xfrm>
            <a:off x="1110946" y="5760064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17321" y="4317952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-154" y="5043935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文字方塊 147"/>
          <p:cNvSpPr txBox="1"/>
          <p:nvPr/>
        </p:nvSpPr>
        <p:spPr>
          <a:xfrm>
            <a:off x="12703" y="5760064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文字方塊 148"/>
          <p:cNvSpPr txBox="1"/>
          <p:nvPr/>
        </p:nvSpPr>
        <p:spPr>
          <a:xfrm>
            <a:off x="12703" y="6341258"/>
            <a:ext cx="1189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</a:t>
            </a:r>
            <a:r>
              <a:rPr lang="en-US" altLang="zh-TW" sz="20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57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500"/>
                            </p:stCondLst>
                            <p:childTnLst>
                              <p:par>
                                <p:cTn id="1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00"/>
                            </p:stCondLst>
                            <p:childTnLst>
                              <p:par>
                                <p:cTn id="1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000"/>
                            </p:stCondLst>
                            <p:childTnLst>
                              <p:par>
                                <p:cTn id="2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500"/>
                            </p:stCondLst>
                            <p:childTnLst>
                              <p:par>
                                <p:cTn id="2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3" grpId="0" animBg="1"/>
      <p:bldP spid="94" grpId="0" animBg="1"/>
      <p:bldP spid="123" grpId="0" animBg="1"/>
      <p:bldP spid="124" grpId="0" animBg="1"/>
      <p:bldP spid="125" grpId="0" animBg="1"/>
      <p:bldP spid="132" grpId="0" animBg="1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2" grpId="0"/>
      <p:bldP spid="144" grpId="0"/>
      <p:bldP spid="145" grpId="0"/>
      <p:bldP spid="146" grpId="0"/>
      <p:bldP spid="147" grpId="0"/>
      <p:bldP spid="148" grpId="0"/>
      <p:bldP spid="14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漢米爾頓迴路 </a:t>
            </a:r>
            <a:r>
              <a:rPr lang="en-US" altLang="zh-TW" dirty="0"/>
              <a:t>(11/11)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0" name="橢圓 9"/>
          <p:cNvSpPr/>
          <p:nvPr/>
        </p:nvSpPr>
        <p:spPr>
          <a:xfrm>
            <a:off x="6333103" y="124511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479504" y="1248639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7479504" y="2127345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>
            <a:stCxn id="10" idx="6"/>
            <a:endCxn id="11" idx="2"/>
          </p:cNvCxnSpPr>
          <p:nvPr/>
        </p:nvCxnSpPr>
        <p:spPr>
          <a:xfrm>
            <a:off x="6693103" y="1425114"/>
            <a:ext cx="786401" cy="3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2" idx="0"/>
            <a:endCxn id="11" idx="4"/>
          </p:cNvCxnSpPr>
          <p:nvPr/>
        </p:nvCxnSpPr>
        <p:spPr>
          <a:xfrm flipV="1">
            <a:off x="7659504" y="1608639"/>
            <a:ext cx="0" cy="5187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橢圓 15"/>
          <p:cNvSpPr/>
          <p:nvPr/>
        </p:nvSpPr>
        <p:spPr>
          <a:xfrm>
            <a:off x="8625904" y="124511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8625904" y="2127345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12" idx="6"/>
            <a:endCxn id="17" idx="2"/>
          </p:cNvCxnSpPr>
          <p:nvPr/>
        </p:nvCxnSpPr>
        <p:spPr>
          <a:xfrm>
            <a:off x="7839504" y="2307345"/>
            <a:ext cx="7864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1" idx="6"/>
            <a:endCxn id="16" idx="2"/>
          </p:cNvCxnSpPr>
          <p:nvPr/>
        </p:nvCxnSpPr>
        <p:spPr>
          <a:xfrm flipV="1">
            <a:off x="7839504" y="1425114"/>
            <a:ext cx="786400" cy="3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0"/>
            <a:endCxn id="16" idx="4"/>
          </p:cNvCxnSpPr>
          <p:nvPr/>
        </p:nvCxnSpPr>
        <p:spPr>
          <a:xfrm flipV="1">
            <a:off x="8805904" y="1605114"/>
            <a:ext cx="0" cy="5222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472344" y="120819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8618744" y="12081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462225" y="209622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8610728" y="209975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324590" y="119675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線接點 26"/>
          <p:cNvCxnSpPr>
            <a:stCxn id="11" idx="5"/>
            <a:endCxn id="17" idx="1"/>
          </p:cNvCxnSpPr>
          <p:nvPr/>
        </p:nvCxnSpPr>
        <p:spPr>
          <a:xfrm>
            <a:off x="7786783" y="1555918"/>
            <a:ext cx="891842" cy="6241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12" idx="7"/>
            <a:endCxn id="16" idx="3"/>
          </p:cNvCxnSpPr>
          <p:nvPr/>
        </p:nvCxnSpPr>
        <p:spPr>
          <a:xfrm flipV="1">
            <a:off x="7786783" y="1552393"/>
            <a:ext cx="891842" cy="6276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8" idx="0"/>
            <a:endCxn id="44" idx="4"/>
          </p:cNvCxnSpPr>
          <p:nvPr/>
        </p:nvCxnSpPr>
        <p:spPr>
          <a:xfrm flipH="1" flipV="1">
            <a:off x="4238733" y="2441305"/>
            <a:ext cx="1420341" cy="4059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0"/>
            <a:endCxn id="44" idx="4"/>
          </p:cNvCxnSpPr>
          <p:nvPr/>
        </p:nvCxnSpPr>
        <p:spPr>
          <a:xfrm flipH="1" flipV="1">
            <a:off x="4238733" y="2441305"/>
            <a:ext cx="469557" cy="4059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6" idx="0"/>
            <a:endCxn id="44" idx="4"/>
          </p:cNvCxnSpPr>
          <p:nvPr/>
        </p:nvCxnSpPr>
        <p:spPr>
          <a:xfrm flipV="1">
            <a:off x="2804956" y="2441305"/>
            <a:ext cx="1433777" cy="4059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7" idx="0"/>
            <a:endCxn id="44" idx="4"/>
          </p:cNvCxnSpPr>
          <p:nvPr/>
        </p:nvCxnSpPr>
        <p:spPr>
          <a:xfrm flipV="1">
            <a:off x="3753959" y="2441305"/>
            <a:ext cx="484774" cy="4059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8" idx="0"/>
            <a:endCxn id="36" idx="4"/>
          </p:cNvCxnSpPr>
          <p:nvPr/>
        </p:nvCxnSpPr>
        <p:spPr>
          <a:xfrm flipV="1">
            <a:off x="2531453" y="3207300"/>
            <a:ext cx="273503" cy="4118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9" idx="0"/>
            <a:endCxn id="36" idx="4"/>
          </p:cNvCxnSpPr>
          <p:nvPr/>
        </p:nvCxnSpPr>
        <p:spPr>
          <a:xfrm flipV="1">
            <a:off x="2016996" y="3207300"/>
            <a:ext cx="787960" cy="4118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46" idx="0"/>
            <a:endCxn id="36" idx="4"/>
          </p:cNvCxnSpPr>
          <p:nvPr/>
        </p:nvCxnSpPr>
        <p:spPr>
          <a:xfrm flipH="1" flipV="1">
            <a:off x="2804956" y="3207300"/>
            <a:ext cx="242611" cy="4118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7" idx="0"/>
            <a:endCxn id="36" idx="4"/>
          </p:cNvCxnSpPr>
          <p:nvPr/>
        </p:nvCxnSpPr>
        <p:spPr>
          <a:xfrm flipH="1" flipV="1">
            <a:off x="2804956" y="3207300"/>
            <a:ext cx="757068" cy="4118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4058733" y="2035310"/>
            <a:ext cx="364202" cy="405995"/>
            <a:chOff x="4058733" y="1950665"/>
            <a:chExt cx="364202" cy="405995"/>
          </a:xfrm>
        </p:grpSpPr>
        <p:sp>
          <p:nvSpPr>
            <p:cNvPr id="44" name="橢圓 43"/>
            <p:cNvSpPr/>
            <p:nvPr/>
          </p:nvSpPr>
          <p:spPr>
            <a:xfrm>
              <a:off x="4058733" y="1996660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4058733" y="195066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564723" y="2800393"/>
            <a:ext cx="377026" cy="406907"/>
            <a:chOff x="3564723" y="2715748"/>
            <a:chExt cx="377026" cy="406907"/>
          </a:xfrm>
        </p:grpSpPr>
        <p:sp>
          <p:nvSpPr>
            <p:cNvPr id="37" name="橢圓 36"/>
            <p:cNvSpPr/>
            <p:nvPr/>
          </p:nvSpPr>
          <p:spPr>
            <a:xfrm>
              <a:off x="3573959" y="276265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564723" y="271574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4515934" y="2820222"/>
            <a:ext cx="372356" cy="387078"/>
            <a:chOff x="4515934" y="2735577"/>
            <a:chExt cx="372356" cy="387078"/>
          </a:xfrm>
        </p:grpSpPr>
        <p:sp>
          <p:nvSpPr>
            <p:cNvPr id="35" name="橢圓 34"/>
            <p:cNvSpPr/>
            <p:nvPr/>
          </p:nvSpPr>
          <p:spPr>
            <a:xfrm>
              <a:off x="4528290" y="276265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4515934" y="273557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2620349" y="2800393"/>
            <a:ext cx="377026" cy="406907"/>
            <a:chOff x="2620349" y="2715748"/>
            <a:chExt cx="377026" cy="406907"/>
          </a:xfrm>
        </p:grpSpPr>
        <p:sp>
          <p:nvSpPr>
            <p:cNvPr id="36" name="橢圓 35"/>
            <p:cNvSpPr/>
            <p:nvPr/>
          </p:nvSpPr>
          <p:spPr>
            <a:xfrm>
              <a:off x="2624956" y="276265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2620349" y="271574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461471" y="2800393"/>
            <a:ext cx="377603" cy="406907"/>
            <a:chOff x="5461471" y="2715748"/>
            <a:chExt cx="377603" cy="406907"/>
          </a:xfrm>
        </p:grpSpPr>
        <p:sp>
          <p:nvSpPr>
            <p:cNvPr id="38" name="橢圓 37"/>
            <p:cNvSpPr/>
            <p:nvPr/>
          </p:nvSpPr>
          <p:spPr>
            <a:xfrm>
              <a:off x="5479074" y="276265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5461471" y="27157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1836996" y="3568749"/>
            <a:ext cx="364202" cy="410367"/>
            <a:chOff x="1836996" y="3484104"/>
            <a:chExt cx="364202" cy="410367"/>
          </a:xfrm>
        </p:grpSpPr>
        <p:sp>
          <p:nvSpPr>
            <p:cNvPr id="49" name="橢圓 48"/>
            <p:cNvSpPr/>
            <p:nvPr/>
          </p:nvSpPr>
          <p:spPr>
            <a:xfrm>
              <a:off x="1836996" y="353447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1836996" y="3484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2329938" y="3568749"/>
            <a:ext cx="381515" cy="410367"/>
            <a:chOff x="2329938" y="3484104"/>
            <a:chExt cx="381515" cy="410367"/>
          </a:xfrm>
        </p:grpSpPr>
        <p:sp>
          <p:nvSpPr>
            <p:cNvPr id="48" name="橢圓 47"/>
            <p:cNvSpPr/>
            <p:nvPr/>
          </p:nvSpPr>
          <p:spPr>
            <a:xfrm>
              <a:off x="2351453" y="353447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2329938" y="348410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8" name="直線接點 67"/>
          <p:cNvCxnSpPr>
            <a:stCxn id="64" idx="0"/>
            <a:endCxn id="48" idx="4"/>
          </p:cNvCxnSpPr>
          <p:nvPr/>
        </p:nvCxnSpPr>
        <p:spPr>
          <a:xfrm flipV="1">
            <a:off x="2295919" y="3979116"/>
            <a:ext cx="235534" cy="32213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94" idx="0"/>
            <a:endCxn id="48" idx="4"/>
          </p:cNvCxnSpPr>
          <p:nvPr/>
        </p:nvCxnSpPr>
        <p:spPr>
          <a:xfrm flipH="1" flipV="1">
            <a:off x="2531453" y="3979116"/>
            <a:ext cx="727762" cy="3167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65" idx="0"/>
            <a:endCxn id="48" idx="4"/>
          </p:cNvCxnSpPr>
          <p:nvPr/>
        </p:nvCxnSpPr>
        <p:spPr>
          <a:xfrm flipH="1" flipV="1">
            <a:off x="2531453" y="3979116"/>
            <a:ext cx="245285" cy="3189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群組 14"/>
          <p:cNvGrpSpPr/>
          <p:nvPr/>
        </p:nvGrpSpPr>
        <p:grpSpPr>
          <a:xfrm>
            <a:off x="1628908" y="4258542"/>
            <a:ext cx="366192" cy="399496"/>
            <a:chOff x="1628908" y="4173897"/>
            <a:chExt cx="366192" cy="399496"/>
          </a:xfrm>
        </p:grpSpPr>
        <p:sp>
          <p:nvSpPr>
            <p:cNvPr id="66" name="橢圓 65"/>
            <p:cNvSpPr/>
            <p:nvPr/>
          </p:nvSpPr>
          <p:spPr>
            <a:xfrm>
              <a:off x="1635100" y="421339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1628908" y="417389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2865466" y="3570472"/>
            <a:ext cx="364202" cy="408644"/>
            <a:chOff x="2865466" y="3485827"/>
            <a:chExt cx="364202" cy="408644"/>
          </a:xfrm>
        </p:grpSpPr>
        <p:sp>
          <p:nvSpPr>
            <p:cNvPr id="46" name="橢圓 45"/>
            <p:cNvSpPr/>
            <p:nvPr/>
          </p:nvSpPr>
          <p:spPr>
            <a:xfrm>
              <a:off x="2867567" y="353447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2865466" y="348582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2111828" y="4269774"/>
            <a:ext cx="364202" cy="391478"/>
            <a:chOff x="2111828" y="4185129"/>
            <a:chExt cx="364202" cy="391478"/>
          </a:xfrm>
        </p:grpSpPr>
        <p:sp>
          <p:nvSpPr>
            <p:cNvPr id="64" name="橢圓 63"/>
            <p:cNvSpPr/>
            <p:nvPr/>
          </p:nvSpPr>
          <p:spPr>
            <a:xfrm>
              <a:off x="2115919" y="4216607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2111828" y="418512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1" name="群組 70"/>
          <p:cNvGrpSpPr/>
          <p:nvPr/>
        </p:nvGrpSpPr>
        <p:grpSpPr>
          <a:xfrm>
            <a:off x="3380974" y="3577798"/>
            <a:ext cx="364202" cy="401318"/>
            <a:chOff x="3380974" y="3493153"/>
            <a:chExt cx="364202" cy="401318"/>
          </a:xfrm>
        </p:grpSpPr>
        <p:sp>
          <p:nvSpPr>
            <p:cNvPr id="47" name="橢圓 46"/>
            <p:cNvSpPr/>
            <p:nvPr/>
          </p:nvSpPr>
          <p:spPr>
            <a:xfrm>
              <a:off x="3382024" y="3534471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3380974" y="349315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2586876" y="4254035"/>
            <a:ext cx="369862" cy="404003"/>
            <a:chOff x="2586876" y="4169390"/>
            <a:chExt cx="369862" cy="404003"/>
          </a:xfrm>
        </p:grpSpPr>
        <p:sp>
          <p:nvSpPr>
            <p:cNvPr id="65" name="橢圓 64"/>
            <p:cNvSpPr/>
            <p:nvPr/>
          </p:nvSpPr>
          <p:spPr>
            <a:xfrm>
              <a:off x="2596738" y="4213393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2586876" y="416939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十字形 78"/>
          <p:cNvSpPr/>
          <p:nvPr/>
        </p:nvSpPr>
        <p:spPr>
          <a:xfrm>
            <a:off x="1927591" y="398184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9" name="直線接點 98"/>
          <p:cNvCxnSpPr>
            <a:stCxn id="66" idx="0"/>
            <a:endCxn id="48" idx="4"/>
          </p:cNvCxnSpPr>
          <p:nvPr/>
        </p:nvCxnSpPr>
        <p:spPr>
          <a:xfrm flipV="1">
            <a:off x="1815100" y="3979116"/>
            <a:ext cx="716353" cy="3189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>
            <a:stCxn id="104" idx="0"/>
          </p:cNvCxnSpPr>
          <p:nvPr/>
        </p:nvCxnSpPr>
        <p:spPr>
          <a:xfrm flipV="1">
            <a:off x="2046676" y="4658038"/>
            <a:ext cx="732251" cy="3189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108"/>
          <p:cNvCxnSpPr>
            <a:stCxn id="102" idx="0"/>
          </p:cNvCxnSpPr>
          <p:nvPr/>
        </p:nvCxnSpPr>
        <p:spPr>
          <a:xfrm flipV="1">
            <a:off x="2527495" y="4658038"/>
            <a:ext cx="251432" cy="32213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3" idx="0"/>
          </p:cNvCxnSpPr>
          <p:nvPr/>
        </p:nvCxnSpPr>
        <p:spPr>
          <a:xfrm flipH="1" flipV="1">
            <a:off x="2778927" y="4658038"/>
            <a:ext cx="229387" cy="3189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105" idx="0"/>
          </p:cNvCxnSpPr>
          <p:nvPr/>
        </p:nvCxnSpPr>
        <p:spPr>
          <a:xfrm flipH="1" flipV="1">
            <a:off x="2778927" y="4658038"/>
            <a:ext cx="711864" cy="3167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群組 44"/>
          <p:cNvGrpSpPr/>
          <p:nvPr/>
        </p:nvGrpSpPr>
        <p:grpSpPr>
          <a:xfrm>
            <a:off x="3071786" y="4256365"/>
            <a:ext cx="367429" cy="399496"/>
            <a:chOff x="3071786" y="4171720"/>
            <a:chExt cx="367429" cy="399496"/>
          </a:xfrm>
        </p:grpSpPr>
        <p:sp>
          <p:nvSpPr>
            <p:cNvPr id="94" name="橢圓 93"/>
            <p:cNvSpPr/>
            <p:nvPr/>
          </p:nvSpPr>
          <p:spPr>
            <a:xfrm>
              <a:off x="3079215" y="4211216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6" name="文字方塊 125"/>
            <p:cNvSpPr txBox="1"/>
            <p:nvPr/>
          </p:nvSpPr>
          <p:spPr>
            <a:xfrm>
              <a:off x="3071786" y="417172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1843006" y="4937635"/>
            <a:ext cx="383670" cy="399325"/>
            <a:chOff x="1843006" y="4852990"/>
            <a:chExt cx="383670" cy="399325"/>
          </a:xfrm>
        </p:grpSpPr>
        <p:sp>
          <p:nvSpPr>
            <p:cNvPr id="104" name="橢圓 103"/>
            <p:cNvSpPr/>
            <p:nvPr/>
          </p:nvSpPr>
          <p:spPr>
            <a:xfrm>
              <a:off x="1866676" y="489231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文字方塊 126"/>
            <p:cNvSpPr txBox="1"/>
            <p:nvPr/>
          </p:nvSpPr>
          <p:spPr>
            <a:xfrm>
              <a:off x="1843006" y="485299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2335948" y="4937635"/>
            <a:ext cx="377026" cy="402539"/>
            <a:chOff x="2335948" y="4852990"/>
            <a:chExt cx="377026" cy="402539"/>
          </a:xfrm>
        </p:grpSpPr>
        <p:sp>
          <p:nvSpPr>
            <p:cNvPr id="102" name="橢圓 101"/>
            <p:cNvSpPr/>
            <p:nvPr/>
          </p:nvSpPr>
          <p:spPr>
            <a:xfrm>
              <a:off x="2347495" y="4895529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8" name="文字方塊 127"/>
            <p:cNvSpPr txBox="1"/>
            <p:nvPr/>
          </p:nvSpPr>
          <p:spPr>
            <a:xfrm>
              <a:off x="2335948" y="4852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22052" y="4939358"/>
            <a:ext cx="366262" cy="397602"/>
            <a:chOff x="2822052" y="4854713"/>
            <a:chExt cx="366262" cy="397602"/>
          </a:xfrm>
        </p:grpSpPr>
        <p:sp>
          <p:nvSpPr>
            <p:cNvPr id="103" name="橢圓 102"/>
            <p:cNvSpPr/>
            <p:nvPr/>
          </p:nvSpPr>
          <p:spPr>
            <a:xfrm>
              <a:off x="2828314" y="4892315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9" name="文字方塊 128"/>
            <p:cNvSpPr txBox="1"/>
            <p:nvPr/>
          </p:nvSpPr>
          <p:spPr>
            <a:xfrm>
              <a:off x="2822052" y="485471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3300492" y="4946684"/>
            <a:ext cx="370299" cy="388099"/>
            <a:chOff x="3300492" y="4862039"/>
            <a:chExt cx="370299" cy="388099"/>
          </a:xfrm>
        </p:grpSpPr>
        <p:sp>
          <p:nvSpPr>
            <p:cNvPr id="105" name="橢圓 104"/>
            <p:cNvSpPr/>
            <p:nvPr/>
          </p:nvSpPr>
          <p:spPr>
            <a:xfrm>
              <a:off x="3310791" y="4890138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3300492" y="486203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7" name="十字形 136"/>
          <p:cNvSpPr/>
          <p:nvPr/>
        </p:nvSpPr>
        <p:spPr>
          <a:xfrm>
            <a:off x="1740361" y="4679158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十字形 137"/>
          <p:cNvSpPr/>
          <p:nvPr/>
        </p:nvSpPr>
        <p:spPr>
          <a:xfrm>
            <a:off x="2201168" y="4669099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十字形 138"/>
          <p:cNvSpPr/>
          <p:nvPr/>
        </p:nvSpPr>
        <p:spPr>
          <a:xfrm>
            <a:off x="1944996" y="5352219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十字形 139"/>
          <p:cNvSpPr/>
          <p:nvPr/>
        </p:nvSpPr>
        <p:spPr>
          <a:xfrm>
            <a:off x="2448439" y="5352219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十字形 140"/>
          <p:cNvSpPr/>
          <p:nvPr/>
        </p:nvSpPr>
        <p:spPr>
          <a:xfrm>
            <a:off x="2937001" y="535050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6" name="十字形 145"/>
          <p:cNvSpPr/>
          <p:nvPr/>
        </p:nvSpPr>
        <p:spPr>
          <a:xfrm>
            <a:off x="3429959" y="5347646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文字方塊 146"/>
          <p:cNvSpPr txBox="1"/>
          <p:nvPr/>
        </p:nvSpPr>
        <p:spPr>
          <a:xfrm>
            <a:off x="6151743" y="2647245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找不到漢米爾頓迴路的解</a:t>
            </a:r>
          </a:p>
        </p:txBody>
      </p:sp>
      <p:sp>
        <p:nvSpPr>
          <p:cNvPr id="148" name="文字方塊 147"/>
          <p:cNvSpPr txBox="1"/>
          <p:nvPr/>
        </p:nvSpPr>
        <p:spPr>
          <a:xfrm>
            <a:off x="5030511" y="5765010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需要走訪比指數次方還多的節點</a:t>
            </a:r>
          </a:p>
        </p:txBody>
      </p:sp>
    </p:spTree>
    <p:extLst>
      <p:ext uri="{BB962C8B-B14F-4D97-AF65-F5344CB8AC3E}">
        <p14:creationId xmlns:p14="http://schemas.microsoft.com/office/powerpoint/2010/main" val="1750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65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500"/>
                            </p:stCondLst>
                            <p:childTnLst>
                              <p:par>
                                <p:cTn id="1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6" grpId="0" animBg="1"/>
      <p:bldP spid="147" grpId="0"/>
      <p:bldP spid="14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758" y="2187376"/>
            <a:ext cx="3255238" cy="2815152"/>
          </a:xfrm>
          <a:prstGeom prst="rect">
            <a:avLst/>
          </a:prstGeom>
        </p:spPr>
      </p:pic>
      <p:sp>
        <p:nvSpPr>
          <p:cNvPr id="8" name="圓角矩形圖說文字 7"/>
          <p:cNvSpPr/>
          <p:nvPr/>
        </p:nvSpPr>
        <p:spPr>
          <a:xfrm>
            <a:off x="4916389" y="1651396"/>
            <a:ext cx="2561214" cy="481915"/>
          </a:xfrm>
          <a:prstGeom prst="wedgeRoundRectCallout">
            <a:avLst>
              <a:gd name="adj1" fmla="val -53082"/>
              <a:gd name="adj2" fmla="val 20524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最大載重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15KG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圖說文字 8"/>
          <p:cNvSpPr/>
          <p:nvPr/>
        </p:nvSpPr>
        <p:spPr>
          <a:xfrm>
            <a:off x="685799" y="1173456"/>
            <a:ext cx="2075936" cy="955879"/>
          </a:xfrm>
          <a:prstGeom prst="wedgeRoundRectCallout">
            <a:avLst>
              <a:gd name="adj1" fmla="val 80646"/>
              <a:gd name="adj2" fmla="val 710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12KG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448961" y="2332931"/>
            <a:ext cx="2075936" cy="955879"/>
          </a:xfrm>
          <a:prstGeom prst="wedgeRoundRectCallout">
            <a:avLst>
              <a:gd name="adj1" fmla="val 76181"/>
              <a:gd name="adj2" fmla="val 619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895854" y="3696293"/>
            <a:ext cx="2075936" cy="955879"/>
          </a:xfrm>
          <a:prstGeom prst="wedgeRoundRectCallout">
            <a:avLst>
              <a:gd name="adj1" fmla="val 99098"/>
              <a:gd name="adj2" fmla="val 535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4KG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圓角矩形圖說文字 11"/>
          <p:cNvSpPr/>
          <p:nvPr/>
        </p:nvSpPr>
        <p:spPr>
          <a:xfrm>
            <a:off x="6324590" y="4046649"/>
            <a:ext cx="2075936" cy="955879"/>
          </a:xfrm>
          <a:prstGeom prst="wedgeRoundRectCallout">
            <a:avLst>
              <a:gd name="adj1" fmla="val -65783"/>
              <a:gd name="adj2" fmla="val -427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圓角矩形圖說文字 12"/>
          <p:cNvSpPr/>
          <p:nvPr/>
        </p:nvSpPr>
        <p:spPr>
          <a:xfrm>
            <a:off x="6489347" y="2875205"/>
            <a:ext cx="2075936" cy="955879"/>
          </a:xfrm>
          <a:prstGeom prst="wedgeRoundRectCallout">
            <a:avLst>
              <a:gd name="adj1" fmla="val -65783"/>
              <a:gd name="adj2" fmla="val -427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1936417" y="5786079"/>
                <a:ext cx="71154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417" y="5786079"/>
                <a:ext cx="711541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8621" r="-7759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343928" y="5002528"/>
                <a:ext cx="34311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28" y="5002528"/>
                <a:ext cx="3431132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355"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3481951" y="5581188"/>
                <a:ext cx="1700850" cy="78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951" y="5581188"/>
                <a:ext cx="1700850" cy="78470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087167" y="5547616"/>
                <a:ext cx="1071062" cy="78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167" y="5547616"/>
                <a:ext cx="1071062" cy="78470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圓角矩形圖說文字 18"/>
          <p:cNvSpPr/>
          <p:nvPr/>
        </p:nvSpPr>
        <p:spPr>
          <a:xfrm>
            <a:off x="2338984" y="6270487"/>
            <a:ext cx="899525" cy="481915"/>
          </a:xfrm>
          <a:prstGeom prst="wedgeRoundRectCallout">
            <a:avLst>
              <a:gd name="adj1" fmla="val 89096"/>
              <a:gd name="adj2" fmla="val -1088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</a:t>
            </a:r>
          </a:p>
        </p:txBody>
      </p:sp>
      <p:sp>
        <p:nvSpPr>
          <p:cNvPr id="20" name="圓角矩形圖說文字 19"/>
          <p:cNvSpPr/>
          <p:nvPr/>
        </p:nvSpPr>
        <p:spPr>
          <a:xfrm>
            <a:off x="7488359" y="6270487"/>
            <a:ext cx="1023983" cy="481915"/>
          </a:xfrm>
          <a:prstGeom prst="wedgeRoundRectCallout">
            <a:avLst>
              <a:gd name="adj1" fmla="val -80556"/>
              <a:gd name="adj2" fmla="val -1075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最大值</a:t>
            </a:r>
          </a:p>
        </p:txBody>
      </p:sp>
    </p:spTree>
    <p:extLst>
      <p:ext uri="{BB962C8B-B14F-4D97-AF65-F5344CB8AC3E}">
        <p14:creationId xmlns:p14="http://schemas.microsoft.com/office/powerpoint/2010/main" val="101426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5" grpId="0"/>
      <p:bldP spid="17" grpId="0"/>
      <p:bldP spid="18" grpId="0"/>
      <p:bldP spid="19" grpId="0" animBg="1"/>
      <p:bldP spid="2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(2/21)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符合最佳化原則？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1269550" y="1902939"/>
            <a:ext cx="1272746" cy="151370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l="5288" t="3942" r="65103" b="73892"/>
          <a:stretch/>
        </p:blipFill>
        <p:spPr>
          <a:xfrm>
            <a:off x="6878308" y="2350279"/>
            <a:ext cx="963827" cy="62401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4083459" y="2445833"/>
            <a:ext cx="679621" cy="42630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3102345" y="2393352"/>
            <a:ext cx="803189" cy="52320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4952331" y="2433018"/>
            <a:ext cx="667265" cy="45102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5808847" y="2369208"/>
            <a:ext cx="933018" cy="574589"/>
          </a:xfrm>
          <a:prstGeom prst="rect">
            <a:avLst/>
          </a:prstGeom>
        </p:spPr>
      </p:pic>
      <p:sp>
        <p:nvSpPr>
          <p:cNvPr id="15" name="文字方塊 14"/>
          <p:cNvSpPr txBox="1"/>
          <p:nvPr/>
        </p:nvSpPr>
        <p:spPr>
          <a:xfrm>
            <a:off x="4493837" y="1809841"/>
            <a:ext cx="2151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為最佳解的集合</a:t>
            </a:r>
          </a:p>
        </p:txBody>
      </p:sp>
      <p:grpSp>
        <p:nvGrpSpPr>
          <p:cNvPr id="13" name="群組 12"/>
          <p:cNvGrpSpPr/>
          <p:nvPr/>
        </p:nvGrpSpPr>
        <p:grpSpPr>
          <a:xfrm>
            <a:off x="3102345" y="2943797"/>
            <a:ext cx="4739790" cy="655271"/>
            <a:chOff x="3102345" y="2943797"/>
            <a:chExt cx="4739790" cy="655271"/>
          </a:xfrm>
        </p:grpSpPr>
        <p:sp>
          <p:nvSpPr>
            <p:cNvPr id="14" name="右大括弧 13"/>
            <p:cNvSpPr/>
            <p:nvPr/>
          </p:nvSpPr>
          <p:spPr>
            <a:xfrm rot="5400000">
              <a:off x="5340896" y="705246"/>
              <a:ext cx="262688" cy="4739790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923852" y="3198958"/>
              <a:ext cx="10967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個物品</a:t>
              </a:r>
              <a:endParaRPr lang="zh-TW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文字方塊 17"/>
          <p:cNvSpPr txBox="1"/>
          <p:nvPr/>
        </p:nvSpPr>
        <p:spPr>
          <a:xfrm>
            <a:off x="868440" y="5200086"/>
            <a:ext cx="1431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</a:t>
            </a:r>
            <a:r>
              <a:rPr lang="en-US" altLang="zh-TW" sz="2000" b="1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</a:t>
            </a:r>
            <a:r>
              <a:rPr lang="en-US" altLang="zh-TW" sz="2000" b="1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endParaRPr lang="zh-TW" altLang="en-US" sz="2000" b="1" i="1" baseline="-25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868440" y="3897935"/>
            <a:ext cx="1673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不包含</a:t>
            </a:r>
            <a:r>
              <a:rPr lang="en-US" altLang="zh-TW" sz="2000" b="1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</a:t>
            </a:r>
            <a:r>
              <a:rPr lang="en-US" altLang="zh-TW" sz="2000" b="1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endParaRPr lang="zh-TW" altLang="en-US" sz="2000" b="1" i="1" baseline="-25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4083459" y="3895674"/>
            <a:ext cx="679621" cy="426309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3102345" y="3843193"/>
            <a:ext cx="803189" cy="523204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4952331" y="3882859"/>
            <a:ext cx="667265" cy="451022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5808847" y="3819049"/>
            <a:ext cx="933018" cy="574589"/>
          </a:xfrm>
          <a:prstGeom prst="rect">
            <a:avLst/>
          </a:prstGeom>
        </p:spPr>
      </p:pic>
      <p:grpSp>
        <p:nvGrpSpPr>
          <p:cNvPr id="16" name="群組 15"/>
          <p:cNvGrpSpPr/>
          <p:nvPr/>
        </p:nvGrpSpPr>
        <p:grpSpPr>
          <a:xfrm>
            <a:off x="3102345" y="4393638"/>
            <a:ext cx="3595017" cy="650715"/>
            <a:chOff x="3102345" y="4393638"/>
            <a:chExt cx="3595017" cy="650715"/>
          </a:xfrm>
        </p:grpSpPr>
        <p:sp>
          <p:nvSpPr>
            <p:cNvPr id="24" name="右大括弧 23"/>
            <p:cNvSpPr/>
            <p:nvPr/>
          </p:nvSpPr>
          <p:spPr>
            <a:xfrm rot="5400000">
              <a:off x="4768510" y="2727473"/>
              <a:ext cx="262688" cy="3595017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4157597" y="4644243"/>
              <a:ext cx="14814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– 1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個物品</a:t>
              </a:r>
              <a:endParaRPr lang="zh-TW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6" name="圖片 25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4083459" y="5240688"/>
            <a:ext cx="679621" cy="426309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3102345" y="5188207"/>
            <a:ext cx="803189" cy="523204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4952331" y="5227873"/>
            <a:ext cx="667265" cy="451022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5808847" y="5164063"/>
            <a:ext cx="933018" cy="574589"/>
          </a:xfrm>
          <a:prstGeom prst="rect">
            <a:avLst/>
          </a:prstGeom>
        </p:spPr>
      </p:pic>
      <p:grpSp>
        <p:nvGrpSpPr>
          <p:cNvPr id="37" name="群組 36"/>
          <p:cNvGrpSpPr/>
          <p:nvPr/>
        </p:nvGrpSpPr>
        <p:grpSpPr>
          <a:xfrm>
            <a:off x="3102345" y="5738652"/>
            <a:ext cx="3595017" cy="650715"/>
            <a:chOff x="3102345" y="5738652"/>
            <a:chExt cx="3595017" cy="650715"/>
          </a:xfrm>
        </p:grpSpPr>
        <p:sp>
          <p:nvSpPr>
            <p:cNvPr id="30" name="右大括弧 29"/>
            <p:cNvSpPr/>
            <p:nvPr/>
          </p:nvSpPr>
          <p:spPr>
            <a:xfrm rot="5400000">
              <a:off x="4768510" y="4072487"/>
              <a:ext cx="262688" cy="3595017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4157597" y="5989257"/>
              <a:ext cx="14814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– 1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個物品</a:t>
              </a:r>
              <a:endParaRPr lang="zh-TW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32" name="圖片 31"/>
          <p:cNvPicPr>
            <a:picLocks noChangeAspect="1"/>
          </p:cNvPicPr>
          <p:nvPr/>
        </p:nvPicPr>
        <p:blipFill rotWithShape="1">
          <a:blip r:embed="rId2"/>
          <a:srcRect l="5288" t="3942" r="65103" b="73892"/>
          <a:stretch/>
        </p:blipFill>
        <p:spPr>
          <a:xfrm>
            <a:off x="6931116" y="5121175"/>
            <a:ext cx="963827" cy="624016"/>
          </a:xfrm>
          <a:prstGeom prst="rect">
            <a:avLst/>
          </a:prstGeom>
        </p:spPr>
      </p:pic>
      <p:sp>
        <p:nvSpPr>
          <p:cNvPr id="33" name="文字方塊 32"/>
          <p:cNvSpPr txBox="1"/>
          <p:nvPr/>
        </p:nvSpPr>
        <p:spPr>
          <a:xfrm>
            <a:off x="5639093" y="6001340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sz="2000" b="1" i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187647" y="5745191"/>
            <a:ext cx="450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TW" sz="2000" b="1" i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sz="2000" b="1" i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959830" y="4258008"/>
                <a:ext cx="16131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30" y="4258008"/>
                <a:ext cx="1613134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271404" y="5734385"/>
                <a:ext cx="285148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TW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04" y="5734385"/>
                <a:ext cx="2851486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8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  <p:bldP spid="33" grpId="0"/>
      <p:bldP spid="34" grpId="0"/>
      <p:bldP spid="35" grpId="0"/>
      <p:bldP spid="3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(3/21)</a:t>
            </a:r>
            <a:endParaRPr lang="zh-TW" altLang="en-US" dirty="0"/>
          </a:p>
        </p:txBody>
      </p:sp>
      <p:graphicFrame>
        <p:nvGraphicFramePr>
          <p:cNvPr id="26" name="內容版面配置區 25"/>
          <p:cNvGraphicFramePr>
            <a:graphicFrameLocks noGrp="1"/>
          </p:cNvGraphicFramePr>
          <p:nvPr>
            <p:ph idx="1"/>
          </p:nvPr>
        </p:nvGraphicFramePr>
        <p:xfrm>
          <a:off x="168024" y="4534712"/>
          <a:ext cx="8834424" cy="1981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1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7671282" y="2322580"/>
            <a:ext cx="1272746" cy="1513703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2469104" y="3055125"/>
            <a:ext cx="811960" cy="553998"/>
            <a:chOff x="2286010" y="4758642"/>
            <a:chExt cx="811960" cy="553998"/>
          </a:xfrm>
        </p:grpSpPr>
        <p:sp>
          <p:nvSpPr>
            <p:cNvPr id="9" name="立方體 8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471692" y="4758642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$20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934266" y="2890031"/>
            <a:ext cx="1047625" cy="714768"/>
            <a:chOff x="3751172" y="4593548"/>
            <a:chExt cx="1047625" cy="714768"/>
          </a:xfrm>
        </p:grpSpPr>
        <p:sp>
          <p:nvSpPr>
            <p:cNvPr id="13" name="立方體 12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5kg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858008" y="5031317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$30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635093" y="3069543"/>
            <a:ext cx="1047625" cy="526928"/>
            <a:chOff x="5451999" y="4773060"/>
            <a:chExt cx="1047625" cy="526928"/>
          </a:xfrm>
        </p:grpSpPr>
        <p:sp>
          <p:nvSpPr>
            <p:cNvPr id="17" name="立方體 16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729910" y="4776360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10kg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5668165" y="5022989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$80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/>
          <p:cNvSpPr txBox="1"/>
          <p:nvPr/>
        </p:nvSpPr>
        <p:spPr>
          <a:xfrm>
            <a:off x="4458078" y="4075748"/>
            <a:ext cx="17109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[3][15] = 110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348941" y="3767972"/>
            <a:ext cx="1596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[2][15] = 50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[2][5] = 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8476457" y="6121980"/>
            <a:ext cx="555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8532059" y="571569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3324310" y="572308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324310" y="532525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919182" y="532297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8533492" y="532913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07659" y="53235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56786" y="3172665"/>
            <a:ext cx="1596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[1][15] = 20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[1][10] = 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56786" y="3767972"/>
            <a:ext cx="14686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[1][5] = 20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[1][0]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69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(4/21)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  <p:graphicFrame>
        <p:nvGraphicFramePr>
          <p:cNvPr id="7" name="內容版面配置區 25"/>
          <p:cNvGraphicFramePr>
            <a:graphicFrameLocks/>
          </p:cNvGraphicFramePr>
          <p:nvPr/>
        </p:nvGraphicFramePr>
        <p:xfrm>
          <a:off x="151921" y="1420810"/>
          <a:ext cx="8834424" cy="1981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1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8460354" y="3008078"/>
            <a:ext cx="555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509781" y="260179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308207" y="26091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08207" y="221135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903079" y="220907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517389" y="221523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91556" y="2209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682497" y="3052330"/>
            <a:ext cx="2300630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 計算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個項目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3682497" y="2658611"/>
            <a:ext cx="2300630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 計算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個項目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3687213" y="2258373"/>
            <a:ext cx="2300630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 計算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個項目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95495" y="2255241"/>
            <a:ext cx="1257075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 – 1)</a:t>
            </a:r>
            <a:endParaRPr lang="zh-TW" altLang="en-US" sz="2000" b="1" baseline="30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94041" y="2658611"/>
            <a:ext cx="1257075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 – 2)</a:t>
            </a:r>
            <a:endParaRPr lang="zh-TW" altLang="en-US" sz="2000" b="1" baseline="30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398025" y="3052329"/>
            <a:ext cx="1257075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 – 3)</a:t>
            </a:r>
            <a:endParaRPr lang="zh-TW" altLang="en-US" sz="2000" b="1" baseline="30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2666240" y="4046806"/>
                <a:ext cx="3805785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40" y="4046806"/>
                <a:ext cx="3805785" cy="314766"/>
              </a:xfrm>
              <a:prstGeom prst="rect">
                <a:avLst/>
              </a:prstGeom>
              <a:blipFill rotWithShape="0">
                <a:blip r:embed="rId2"/>
                <a:stretch>
                  <a:fillRect l="-1120" t="-1961" r="-1120" b="-9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3589867" y="4761756"/>
                <a:ext cx="1990738" cy="3474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𝒎𝒊𝒏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𝒏𝑾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867" y="4761756"/>
                <a:ext cx="1990738" cy="347403"/>
              </a:xfrm>
              <a:prstGeom prst="rect">
                <a:avLst/>
              </a:prstGeom>
              <a:blipFill rotWithShape="0">
                <a:blip r:embed="rId3"/>
                <a:stretch>
                  <a:fillRect l="-2454" b="-1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圓角矩形圖說文字 22"/>
          <p:cNvSpPr/>
          <p:nvPr/>
        </p:nvSpPr>
        <p:spPr>
          <a:xfrm>
            <a:off x="5722440" y="5580728"/>
            <a:ext cx="2814363" cy="695804"/>
          </a:xfrm>
          <a:prstGeom prst="wedgeRoundRectCallout">
            <a:avLst>
              <a:gd name="adj1" fmla="val -73074"/>
              <a:gd name="adj2" fmla="val -1205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項目個數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很大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背包可容納重量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很小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圓角矩形圖說文字 23"/>
          <p:cNvSpPr/>
          <p:nvPr/>
        </p:nvSpPr>
        <p:spPr>
          <a:xfrm>
            <a:off x="1685900" y="5532430"/>
            <a:ext cx="2814363" cy="695804"/>
          </a:xfrm>
          <a:prstGeom prst="wedgeRoundRectCallout">
            <a:avLst>
              <a:gd name="adj1" fmla="val 53595"/>
              <a:gd name="adj2" fmla="val -1142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項目個數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很小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背包可容納重量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很大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03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(5/21)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假設只有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r>
              <a:rPr lang="zh-TW" altLang="en-US" dirty="0"/>
              <a:t>項物品時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8" name="橢圓 7"/>
          <p:cNvSpPr/>
          <p:nvPr/>
        </p:nvSpPr>
        <p:spPr>
          <a:xfrm>
            <a:off x="1967565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327565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687565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9" idx="4"/>
            <a:endCxn id="8" idx="0"/>
          </p:cNvCxnSpPr>
          <p:nvPr/>
        </p:nvCxnSpPr>
        <p:spPr>
          <a:xfrm flipH="1">
            <a:off x="214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1927426" y="381679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/>
          <p:cNvCxnSpPr>
            <a:stCxn id="9" idx="4"/>
            <a:endCxn id="10" idx="0"/>
          </p:cNvCxnSpPr>
          <p:nvPr/>
        </p:nvCxnSpPr>
        <p:spPr>
          <a:xfrm>
            <a:off x="2507565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419522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3779522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4139522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9" idx="4"/>
            <a:endCxn id="18" idx="0"/>
          </p:cNvCxnSpPr>
          <p:nvPr/>
        </p:nvCxnSpPr>
        <p:spPr>
          <a:xfrm flipH="1">
            <a:off x="359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9" idx="4"/>
            <a:endCxn id="20" idx="0"/>
          </p:cNvCxnSpPr>
          <p:nvPr/>
        </p:nvCxnSpPr>
        <p:spPr>
          <a:xfrm>
            <a:off x="3959522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871479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5231479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591479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4" idx="4"/>
            <a:endCxn id="23" idx="0"/>
          </p:cNvCxnSpPr>
          <p:nvPr/>
        </p:nvCxnSpPr>
        <p:spPr>
          <a:xfrm flipH="1">
            <a:off x="505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4"/>
            <a:endCxn id="25" idx="0"/>
          </p:cNvCxnSpPr>
          <p:nvPr/>
        </p:nvCxnSpPr>
        <p:spPr>
          <a:xfrm>
            <a:off x="5411479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6323436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6683436" y="3546391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7043436" y="427544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接點 30"/>
          <p:cNvCxnSpPr>
            <a:stCxn id="29" idx="4"/>
            <a:endCxn id="28" idx="0"/>
          </p:cNvCxnSpPr>
          <p:nvPr/>
        </p:nvCxnSpPr>
        <p:spPr>
          <a:xfrm flipH="1">
            <a:off x="6503436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9" idx="4"/>
            <a:endCxn id="30" idx="0"/>
          </p:cNvCxnSpPr>
          <p:nvPr/>
        </p:nvCxnSpPr>
        <p:spPr>
          <a:xfrm>
            <a:off x="6863436" y="3906391"/>
            <a:ext cx="360000" cy="36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3047565" y="271025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5951479" y="2710250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3" idx="4"/>
            <a:endCxn id="9" idx="0"/>
          </p:cNvCxnSpPr>
          <p:nvPr/>
        </p:nvCxnSpPr>
        <p:spPr>
          <a:xfrm flipH="1">
            <a:off x="2507565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3" idx="4"/>
            <a:endCxn id="19" idx="0"/>
          </p:cNvCxnSpPr>
          <p:nvPr/>
        </p:nvCxnSpPr>
        <p:spPr>
          <a:xfrm>
            <a:off x="3227565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4" idx="4"/>
            <a:endCxn id="24" idx="0"/>
          </p:cNvCxnSpPr>
          <p:nvPr/>
        </p:nvCxnSpPr>
        <p:spPr>
          <a:xfrm flipH="1">
            <a:off x="5411479" y="3070250"/>
            <a:ext cx="720000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4" idx="4"/>
            <a:endCxn id="29" idx="0"/>
          </p:cNvCxnSpPr>
          <p:nvPr/>
        </p:nvCxnSpPr>
        <p:spPr>
          <a:xfrm>
            <a:off x="6131479" y="3070250"/>
            <a:ext cx="731957" cy="476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4499522" y="1818504"/>
            <a:ext cx="360000" cy="360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>
            <a:stCxn id="47" idx="4"/>
            <a:endCxn id="33" idx="0"/>
          </p:cNvCxnSpPr>
          <p:nvPr/>
        </p:nvCxnSpPr>
        <p:spPr>
          <a:xfrm flipH="1">
            <a:off x="3227565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7" idx="4"/>
            <a:endCxn id="34" idx="0"/>
          </p:cNvCxnSpPr>
          <p:nvPr/>
        </p:nvCxnSpPr>
        <p:spPr>
          <a:xfrm>
            <a:off x="4679522" y="2178504"/>
            <a:ext cx="1451957" cy="531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2503239" y="296212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664353" y="205152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385361" y="378237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859123" y="379556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328916" y="37644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432824" y="296206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291397" y="20933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503420" y="30095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383354" y="30010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644709" y="38669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086333" y="3829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544668" y="38378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6983395" y="38297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1183225" y="4664579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2353642" y="465818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3139538" y="465818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038607" y="466457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5499363" y="463544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6215740" y="46396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4579234" y="466306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7043436" y="465818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883438" y="5284214"/>
            <a:ext cx="30059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暴力法</a:t>
            </a:r>
            <a:endParaRPr lang="en-US" altLang="zh-TW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列出所有子集合</a:t>
            </a:r>
            <a:endParaRPr lang="en-US" altLang="zh-TW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再選擇價值最高的子集合</a:t>
            </a:r>
          </a:p>
        </p:txBody>
      </p:sp>
      <p:sp>
        <p:nvSpPr>
          <p:cNvPr id="76" name="右大括弧 75"/>
          <p:cNvSpPr/>
          <p:nvPr/>
        </p:nvSpPr>
        <p:spPr>
          <a:xfrm rot="5400000">
            <a:off x="4255070" y="2030630"/>
            <a:ext cx="262688" cy="6213999"/>
          </a:xfrm>
          <a:prstGeom prst="rightBrace">
            <a:avLst>
              <a:gd name="adj1" fmla="val 57725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42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000"/>
                            </p:stCondLst>
                            <p:childTnLst>
                              <p:par>
                                <p:cTn id="1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500"/>
                            </p:stCondLst>
                            <p:childTnLst>
                              <p:par>
                                <p:cTn id="1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(6/21)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回溯法解</a:t>
            </a:r>
            <a:r>
              <a:rPr lang="en-US" altLang="zh-TW" dirty="0">
                <a:solidFill>
                  <a:srgbClr val="0000FF"/>
                </a:solidFill>
              </a:rPr>
              <a:t>0-1</a:t>
            </a:r>
            <a:r>
              <a:rPr lang="zh-TW" altLang="en-US" dirty="0">
                <a:solidFill>
                  <a:srgbClr val="0000FF"/>
                </a:solidFill>
              </a:rPr>
              <a:t>背包問題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en-US" altLang="zh-TW" dirty="0"/>
              <a:t>0-1</a:t>
            </a:r>
            <a:r>
              <a:rPr lang="zh-TW" altLang="en-US" dirty="0"/>
              <a:t>背包問題是</a:t>
            </a:r>
            <a:r>
              <a:rPr lang="zh-TW" altLang="en-US" dirty="0">
                <a:solidFill>
                  <a:srgbClr val="C00000"/>
                </a:solidFill>
              </a:rPr>
              <a:t>最佳化問題</a:t>
            </a:r>
            <a:endParaRPr lang="en-US" altLang="zh-TW" dirty="0">
              <a:solidFill>
                <a:srgbClr val="C00000"/>
              </a:solidFill>
            </a:endParaRPr>
          </a:p>
          <a:p>
            <a:pPr lvl="2"/>
            <a:r>
              <a:rPr lang="zh-TW" altLang="en-US" dirty="0"/>
              <a:t>等到</a:t>
            </a:r>
            <a:r>
              <a:rPr lang="zh-TW" altLang="en-US" dirty="0">
                <a:solidFill>
                  <a:srgbClr val="C00000"/>
                </a:solidFill>
              </a:rPr>
              <a:t>全部</a:t>
            </a:r>
            <a:r>
              <a:rPr lang="zh-TW" altLang="en-US" dirty="0"/>
              <a:t>的搜尋動作都完成後，才知道真正解答</a:t>
            </a:r>
            <a:endParaRPr lang="en-US" altLang="zh-TW" dirty="0"/>
          </a:p>
          <a:p>
            <a:pPr lvl="1"/>
            <a:r>
              <a:rPr lang="zh-TW" altLang="en-US" dirty="0"/>
              <a:t>策略改變</a:t>
            </a:r>
            <a:endParaRPr lang="en-US" altLang="zh-TW" dirty="0"/>
          </a:p>
          <a:p>
            <a:pPr lvl="2"/>
            <a:r>
              <a:rPr lang="zh-TW" altLang="en-US" dirty="0"/>
              <a:t>紀錄目前最佳解的值</a:t>
            </a:r>
            <a:endParaRPr lang="en-US" altLang="zh-TW" dirty="0"/>
          </a:p>
          <a:p>
            <a:pPr lvl="2"/>
            <a:r>
              <a:rPr lang="zh-TW" altLang="en-US" dirty="0"/>
              <a:t>累積獲益比目前最佳解好 </a:t>
            </a:r>
            <a:r>
              <a:rPr lang="zh-TW" altLang="en-US" dirty="0">
                <a:sym typeface="Symbol" panose="05050102010706020507" pitchFamily="18" charset="2"/>
              </a:rPr>
              <a:t> 更新目前最佳解的值</a:t>
            </a:r>
            <a:endParaRPr lang="en-US" altLang="zh-TW" dirty="0">
              <a:sym typeface="Symbol" panose="05050102010706020507" pitchFamily="18" charset="2"/>
            </a:endParaRPr>
          </a:p>
          <a:p>
            <a:pPr lvl="2"/>
            <a:r>
              <a:rPr lang="zh-TW" altLang="en-US" dirty="0">
                <a:sym typeface="Symbol" panose="05050102010706020507" pitchFamily="18" charset="2"/>
              </a:rPr>
              <a:t>利用貪婪演算法</a:t>
            </a:r>
            <a:r>
              <a:rPr lang="en-US" altLang="zh-TW" dirty="0">
                <a:sym typeface="Symbol" panose="05050102010706020507" pitchFamily="18" charset="2"/>
              </a:rPr>
              <a:t>Fractional</a:t>
            </a:r>
            <a:r>
              <a:rPr lang="zh-TW" altLang="en-US" dirty="0">
                <a:sym typeface="Symbol" panose="05050102010706020507" pitchFamily="18" charset="2"/>
              </a:rPr>
              <a:t> 背包問題的概念求獲益上限值</a:t>
            </a:r>
            <a:endParaRPr lang="en-US" altLang="zh-TW" dirty="0">
              <a:sym typeface="Symbol" panose="05050102010706020507" pitchFamily="18" charset="2"/>
            </a:endParaRPr>
          </a:p>
          <a:p>
            <a:pPr lvl="3"/>
            <a:r>
              <a:rPr lang="zh-TW" altLang="en-US" dirty="0">
                <a:solidFill>
                  <a:srgbClr val="C00000"/>
                </a:solidFill>
                <a:sym typeface="Symbol" panose="05050102010706020507" pitchFamily="18" charset="2"/>
              </a:rPr>
              <a:t>單位重量價值高的先拿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15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(7/21)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ym typeface="Symbol" panose="05050102010706020507" pitchFamily="18" charset="2"/>
              </a:rPr>
              <a:t>利用貪婪演算法</a:t>
            </a:r>
            <a:r>
              <a:rPr lang="en-US" altLang="zh-TW" dirty="0">
                <a:sym typeface="Symbol" panose="05050102010706020507" pitchFamily="18" charset="2"/>
              </a:rPr>
              <a:t>Fractional</a:t>
            </a:r>
            <a:r>
              <a:rPr lang="zh-TW" altLang="en-US" dirty="0">
                <a:sym typeface="Symbol" panose="05050102010706020507" pitchFamily="18" charset="2"/>
              </a:rPr>
              <a:t> 背包問題的概念求獲益上限值</a:t>
            </a:r>
            <a:endParaRPr lang="en-US" altLang="zh-TW" dirty="0">
              <a:sym typeface="Symbol" panose="05050102010706020507" pitchFamily="18" charset="2"/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  <a:sym typeface="Symbol" panose="05050102010706020507" pitchFamily="18" charset="2"/>
              </a:rPr>
              <a:t>單位重量價值高的先拿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2715466" y="2042564"/>
                <a:ext cx="3677802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466" y="2042564"/>
                <a:ext cx="3677802" cy="91711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群組 8"/>
          <p:cNvGrpSpPr/>
          <p:nvPr/>
        </p:nvGrpSpPr>
        <p:grpSpPr>
          <a:xfrm>
            <a:off x="152410" y="2461462"/>
            <a:ext cx="2638364" cy="2263476"/>
            <a:chOff x="152410" y="2461462"/>
            <a:chExt cx="2638364" cy="2263476"/>
          </a:xfrm>
        </p:grpSpPr>
        <p:sp>
          <p:nvSpPr>
            <p:cNvPr id="7" name="橢圓 6"/>
            <p:cNvSpPr/>
            <p:nvPr/>
          </p:nvSpPr>
          <p:spPr>
            <a:xfrm>
              <a:off x="516612" y="4364938"/>
              <a:ext cx="360000" cy="360000"/>
            </a:xfrm>
            <a:prstGeom prst="ellipse">
              <a:avLst/>
            </a:prstGeom>
            <a:solidFill>
              <a:srgbClr val="FFFFCC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975464" y="3740919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" name="直線接點 9"/>
            <p:cNvCxnSpPr>
              <a:stCxn id="8" idx="4"/>
              <a:endCxn id="7" idx="0"/>
            </p:cNvCxnSpPr>
            <p:nvPr/>
          </p:nvCxnSpPr>
          <p:spPr>
            <a:xfrm flipH="1">
              <a:off x="696612" y="4100919"/>
              <a:ext cx="458852" cy="26401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/>
            <p:cNvSpPr txBox="1"/>
            <p:nvPr/>
          </p:nvSpPr>
          <p:spPr>
            <a:xfrm>
              <a:off x="152410" y="43042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橢圓 27"/>
            <p:cNvSpPr/>
            <p:nvPr/>
          </p:nvSpPr>
          <p:spPr>
            <a:xfrm>
              <a:off x="1454510" y="310248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2430774" y="3102484"/>
              <a:ext cx="360000" cy="360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/>
            <p:cNvSpPr/>
            <p:nvPr/>
          </p:nvSpPr>
          <p:spPr>
            <a:xfrm>
              <a:off x="1961176" y="2501120"/>
              <a:ext cx="360000" cy="360000"/>
            </a:xfrm>
            <a:prstGeom prst="ellipse">
              <a:avLst/>
            </a:prstGeom>
            <a:solidFill>
              <a:srgbClr val="FFFF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C00000"/>
                </a:solidFill>
              </a:endParaRPr>
            </a:p>
          </p:txBody>
        </p:sp>
        <p:cxnSp>
          <p:nvCxnSpPr>
            <p:cNvPr id="35" name="直線接點 34"/>
            <p:cNvCxnSpPr>
              <a:stCxn id="34" idx="4"/>
              <a:endCxn id="28" idx="0"/>
            </p:cNvCxnSpPr>
            <p:nvPr/>
          </p:nvCxnSpPr>
          <p:spPr>
            <a:xfrm flipH="1">
              <a:off x="1634510" y="2861120"/>
              <a:ext cx="506666" cy="24136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34" idx="4"/>
              <a:endCxn id="29" idx="0"/>
            </p:cNvCxnSpPr>
            <p:nvPr/>
          </p:nvCxnSpPr>
          <p:spPr>
            <a:xfrm>
              <a:off x="2141176" y="2861120"/>
              <a:ext cx="469598" cy="24136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1672945" y="2461462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5" name="群組 74"/>
            <p:cNvGrpSpPr/>
            <p:nvPr/>
          </p:nvGrpSpPr>
          <p:grpSpPr>
            <a:xfrm>
              <a:off x="1341642" y="3432275"/>
              <a:ext cx="72489" cy="305425"/>
              <a:chOff x="1787437" y="2896499"/>
              <a:chExt cx="72489" cy="305425"/>
            </a:xfrm>
          </p:grpSpPr>
          <p:sp>
            <p:nvSpPr>
              <p:cNvPr id="72" name="橢圓 71"/>
              <p:cNvSpPr/>
              <p:nvPr/>
            </p:nvSpPr>
            <p:spPr>
              <a:xfrm>
                <a:off x="1787926" y="2896499"/>
                <a:ext cx="72000" cy="72000"/>
              </a:xfrm>
              <a:prstGeom prst="ellipse">
                <a:avLst/>
              </a:prstGeom>
              <a:solidFill>
                <a:srgbClr val="08509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3" name="橢圓 72"/>
              <p:cNvSpPr/>
              <p:nvPr/>
            </p:nvSpPr>
            <p:spPr>
              <a:xfrm>
                <a:off x="1787437" y="3011829"/>
                <a:ext cx="72000" cy="72000"/>
              </a:xfrm>
              <a:prstGeom prst="ellipse">
                <a:avLst/>
              </a:prstGeom>
              <a:solidFill>
                <a:srgbClr val="08509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4" name="橢圓 73"/>
              <p:cNvSpPr/>
              <p:nvPr/>
            </p:nvSpPr>
            <p:spPr>
              <a:xfrm>
                <a:off x="1787437" y="3129924"/>
                <a:ext cx="72000" cy="72000"/>
              </a:xfrm>
              <a:prstGeom prst="ellipse">
                <a:avLst/>
              </a:prstGeom>
              <a:solidFill>
                <a:srgbClr val="08509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76" name="文字方塊 75"/>
            <p:cNvSpPr txBox="1"/>
            <p:nvPr/>
          </p:nvSpPr>
          <p:spPr>
            <a:xfrm>
              <a:off x="871017" y="3044339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347620" y="372390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/>
              <p:cNvSpPr txBox="1"/>
              <p:nvPr/>
            </p:nvSpPr>
            <p:spPr>
              <a:xfrm>
                <a:off x="2668141" y="3353573"/>
                <a:ext cx="6318204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𝒑𝒐𝒓𝒇𝒊𝒕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𝒕𝒐𝒕𝒘𝒆𝒊𝒈𝒉𝒕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8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141" y="3353573"/>
                <a:ext cx="6318204" cy="99084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右大括弧 78"/>
          <p:cNvSpPr/>
          <p:nvPr/>
        </p:nvSpPr>
        <p:spPr>
          <a:xfrm rot="5400000">
            <a:off x="4811604" y="3321413"/>
            <a:ext cx="262688" cy="2285509"/>
          </a:xfrm>
          <a:prstGeom prst="rightBrace">
            <a:avLst>
              <a:gd name="adj1" fmla="val 57725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80" name="右大括弧 79"/>
          <p:cNvSpPr/>
          <p:nvPr/>
        </p:nvSpPr>
        <p:spPr>
          <a:xfrm rot="5400000">
            <a:off x="7241874" y="3490018"/>
            <a:ext cx="262688" cy="1959899"/>
          </a:xfrm>
          <a:prstGeom prst="rightBrace">
            <a:avLst>
              <a:gd name="adj1" fmla="val 57725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3528939" y="4673618"/>
            <a:ext cx="2828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個物品的總獲益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6447323" y="4673618"/>
            <a:ext cx="1851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可分配給第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物品的容量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7243682" y="2938978"/>
            <a:ext cx="1980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個物品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單位重量的價值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8610590" y="3665700"/>
            <a:ext cx="375755" cy="45032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文字方塊 84"/>
          <p:cNvSpPr txBox="1"/>
          <p:nvPr/>
        </p:nvSpPr>
        <p:spPr>
          <a:xfrm>
            <a:off x="1672945" y="5789031"/>
            <a:ext cx="60262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bound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目前最大獲益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TW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nonpromising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68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8" grpId="0"/>
      <p:bldP spid="79" grpId="0" animBg="1"/>
      <p:bldP spid="80" grpId="0" animBg="1"/>
      <p:bldP spid="81" grpId="0"/>
      <p:bldP spid="82" grpId="0"/>
      <p:bldP spid="83" grpId="0"/>
      <p:bldP spid="84" grpId="0" animBg="1"/>
      <p:bldP spid="8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(8/21)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6478922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/>
              <p:cNvSpPr txBox="1"/>
              <p:nvPr/>
            </p:nvSpPr>
            <p:spPr>
              <a:xfrm>
                <a:off x="2401227" y="5096866"/>
                <a:ext cx="6318204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𝒑𝒐𝒓𝒇𝒊𝒕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𝒕𝒐𝒕𝒘𝒆𝒊𝒈𝒉𝒕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66" name="文字方塊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27" y="5096866"/>
                <a:ext cx="6318204" cy="99084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2401227" y="3815436"/>
                <a:ext cx="3721083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27" y="3815436"/>
                <a:ext cx="3721083" cy="91711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6122310" y="4120102"/>
                <a:ext cx="18876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310" y="4120102"/>
                <a:ext cx="1887633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968" r="-2581"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/>
              <p:cNvSpPr txBox="1"/>
              <p:nvPr/>
            </p:nvSpPr>
            <p:spPr>
              <a:xfrm>
                <a:off x="3195220" y="6144003"/>
                <a:ext cx="4441472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den>
                          </m:f>
                        </m:e>
                      </m:box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𝟏𝟏𝟓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69" name="文字方塊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220" y="6144003"/>
                <a:ext cx="4441472" cy="373757"/>
              </a:xfrm>
              <a:prstGeom prst="rect">
                <a:avLst/>
              </a:prstGeom>
              <a:blipFill rotWithShape="0">
                <a:blip r:embed="rId10"/>
                <a:stretch>
                  <a:fillRect t="-1639"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字方塊 69"/>
          <p:cNvSpPr txBox="1"/>
          <p:nvPr/>
        </p:nvSpPr>
        <p:spPr>
          <a:xfrm>
            <a:off x="2637604" y="1664569"/>
            <a:ext cx="16241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0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7" grpId="0"/>
      <p:bldP spid="68" grpId="0"/>
      <p:bldP spid="6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(9/21)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2675983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7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2401227" y="5096866"/>
                <a:ext cx="6318204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𝒑𝒐𝒓𝒇𝒊𝒕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𝒕𝒐𝒕𝒘𝒆𝒊𝒈𝒉𝒕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27" y="5096866"/>
                <a:ext cx="6318204" cy="99084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2401227" y="3815436"/>
                <a:ext cx="3721083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27" y="3815436"/>
                <a:ext cx="3721083" cy="91711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6122310" y="4120102"/>
                <a:ext cx="14273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310" y="4120102"/>
                <a:ext cx="1427377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1282" r="-3846"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3257000" y="6144003"/>
                <a:ext cx="3851375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den>
                          </m:f>
                        </m:e>
                      </m:box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𝟏𝟏𝟓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000" y="6144003"/>
                <a:ext cx="3851375" cy="373757"/>
              </a:xfrm>
              <a:prstGeom prst="rect">
                <a:avLst/>
              </a:prstGeom>
              <a:blipFill rotWithShape="0">
                <a:blip r:embed="rId11"/>
                <a:stretch>
                  <a:fillRect l="-158" t="-1639" r="-1108"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字方塊 73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637604" y="1664569"/>
            <a:ext cx="16241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(10/21)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296154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2401227" y="5096866"/>
                <a:ext cx="6318204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𝒑𝒐𝒓𝒇𝒊𝒕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𝒕𝒐𝒕𝒘𝒆𝒊𝒈𝒉𝒕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27" y="5096866"/>
                <a:ext cx="6318204" cy="99084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2401227" y="4161424"/>
                <a:ext cx="3721083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27" y="4161424"/>
                <a:ext cx="3721083" cy="91711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6122310" y="4466090"/>
                <a:ext cx="4784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310" y="4466090"/>
                <a:ext cx="478401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5063" r="-11392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3257000" y="6144003"/>
                <a:ext cx="3237233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𝟕𝟎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den>
                          </m:f>
                        </m:e>
                      </m:box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𝟏𝟏𝟓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000" y="6144003"/>
                <a:ext cx="3237233" cy="373757"/>
              </a:xfrm>
              <a:prstGeom prst="rect">
                <a:avLst/>
              </a:prstGeom>
              <a:blipFill rotWithShape="0">
                <a:blip r:embed="rId10"/>
                <a:stretch>
                  <a:fillRect l="-377" t="-1639" r="-1507"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字方塊 73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62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70" grpId="0"/>
      <p:bldP spid="71" grpId="0"/>
      <p:bldP spid="72" grpId="0"/>
      <p:bldP spid="73" grpId="0"/>
      <p:bldP spid="74" grpId="0"/>
      <p:bldP spid="7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(11/21)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3907973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2917144" y="5015377"/>
            <a:ext cx="24691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17 &gt; 16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91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7" grpId="0" animBg="1"/>
      <p:bldP spid="7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(12/21)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9484047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4889507" y="4551175"/>
                <a:ext cx="3495316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𝒑𝒐𝒓𝒇𝒊𝒕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507" y="4551175"/>
                <a:ext cx="3495316" cy="99084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4889507" y="2986928"/>
                <a:ext cx="3721083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507" y="2986928"/>
                <a:ext cx="3721083" cy="91711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6197108" y="4029971"/>
                <a:ext cx="15812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108" y="4029971"/>
                <a:ext cx="1581267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1544" r="-3089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5771160" y="5689857"/>
                <a:ext cx="18890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𝟕𝟎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𝟖𝟎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160" y="5689857"/>
                <a:ext cx="1889043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1290" r="-2258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534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1" grpId="0"/>
      <p:bldP spid="72" grpId="0"/>
      <p:bldP spid="73" grpId="0"/>
      <p:bldP spid="7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(13/21)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7790855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016801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5" idx="4"/>
            <a:endCxn id="13" idx="0"/>
          </p:cNvCxnSpPr>
          <p:nvPr/>
        </p:nvCxnSpPr>
        <p:spPr>
          <a:xfrm flipH="1">
            <a:off x="3322801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十字形 57"/>
          <p:cNvSpPr/>
          <p:nvPr/>
        </p:nvSpPr>
        <p:spPr>
          <a:xfrm>
            <a:off x="3245691" y="6590302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53101" y="595248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4889507" y="4551175"/>
                <a:ext cx="15034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𝟖𝟎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507" y="4551175"/>
                <a:ext cx="1503425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3644" r="-3239"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4897702" y="4035445"/>
                <a:ext cx="19458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702" y="4035445"/>
                <a:ext cx="1945854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4375" t="-2000" r="-2500" b="-3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3756406" y="6075140"/>
                <a:ext cx="25293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𝒎𝒂𝒙𝒑𝒓𝒐𝒇𝒊𝒕</m:t>
                      </m:r>
                    </m:oMath>
                  </m:oMathPara>
                </a14:m>
                <a:endParaRPr lang="zh-TW" alt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406" y="6075140"/>
                <a:ext cx="2529347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1928" r="-3373" b="-3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1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8" grpId="0" animBg="1"/>
      <p:bldP spid="71" grpId="0"/>
      <p:bldP spid="72" grpId="0"/>
      <p:bldP spid="7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(14/21)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9874088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016801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758922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5" idx="4"/>
            <a:endCxn id="13" idx="0"/>
          </p:cNvCxnSpPr>
          <p:nvPr/>
        </p:nvCxnSpPr>
        <p:spPr>
          <a:xfrm flipH="1">
            <a:off x="3322801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3680418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十字形 57"/>
          <p:cNvSpPr/>
          <p:nvPr/>
        </p:nvSpPr>
        <p:spPr>
          <a:xfrm>
            <a:off x="3245691" y="6590302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十字形 58"/>
          <p:cNvSpPr/>
          <p:nvPr/>
        </p:nvSpPr>
        <p:spPr>
          <a:xfrm>
            <a:off x="4018702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53101" y="595248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809639" y="596578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4889507" y="4551175"/>
                <a:ext cx="15034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𝟕𝟎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507" y="4551175"/>
                <a:ext cx="1503425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3644" r="-3239"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4897702" y="4035445"/>
                <a:ext cx="17919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702" y="4035445"/>
                <a:ext cx="1791965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4762" t="-2000" r="-2721" b="-3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4433995" y="6083385"/>
                <a:ext cx="25293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𝒎𝒂𝒙𝒑𝒓𝒐𝒇𝒊𝒕</m:t>
                      </m:r>
                    </m:oMath>
                  </m:oMathPara>
                </a14:m>
                <a:endParaRPr lang="zh-TW" alt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995" y="6083385"/>
                <a:ext cx="2529347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1928" r="-3373" b="-3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331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9" grpId="0" animBg="1"/>
      <p:bldP spid="71" grpId="0"/>
      <p:bldP spid="72" grpId="0"/>
      <p:bldP spid="7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(15/21)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7485682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016801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758922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5" idx="4"/>
            <a:endCxn id="13" idx="0"/>
          </p:cNvCxnSpPr>
          <p:nvPr/>
        </p:nvCxnSpPr>
        <p:spPr>
          <a:xfrm flipH="1">
            <a:off x="3322801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3680418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5451704" y="3679965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8" idx="4"/>
            <a:endCxn id="35" idx="0"/>
          </p:cNvCxnSpPr>
          <p:nvPr/>
        </p:nvCxnSpPr>
        <p:spPr>
          <a:xfrm>
            <a:off x="4508119" y="3165219"/>
            <a:ext cx="1249585" cy="514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十字形 57"/>
          <p:cNvSpPr/>
          <p:nvPr/>
        </p:nvSpPr>
        <p:spPr>
          <a:xfrm>
            <a:off x="3245691" y="6590302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十字形 58"/>
          <p:cNvSpPr/>
          <p:nvPr/>
        </p:nvSpPr>
        <p:spPr>
          <a:xfrm>
            <a:off x="4018702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513928" y="369839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53101" y="595248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809639" y="596578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4947346" y="2451029"/>
                <a:ext cx="3721083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346" y="2451029"/>
                <a:ext cx="3721083" cy="91711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6254947" y="3494072"/>
                <a:ext cx="17351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947" y="3494072"/>
                <a:ext cx="1735155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1053" r="-2807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5700913" y="5778085"/>
                <a:ext cx="3466270" cy="890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altLang="zh-TW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sz="2000" b="1" dirty="0"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𝟗𝟖</m:t>
                    </m:r>
                  </m:oMath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913" y="5778085"/>
                <a:ext cx="3466270" cy="890244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4882906" y="4400095"/>
                <a:ext cx="3785523" cy="13765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𝒑𝒐𝒓𝒇𝒊𝒕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altLang="zh-TW" sz="2000" b="1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2000" b="1" dirty="0"/>
                  <a:t>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𝒕𝒐𝒕𝒘𝒆𝒊𝒈𝒉𝒕</m:t>
                        </m:r>
                      </m:e>
                    </m:d>
                    <m:r>
                      <a:rPr lang="en-US" altLang="zh-TW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ox>
                      <m:box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906" y="4400095"/>
                <a:ext cx="3785523" cy="1376531"/>
              </a:xfrm>
              <a:prstGeom prst="rect">
                <a:avLst/>
              </a:prstGeom>
              <a:blipFill rotWithShape="0">
                <a:blip r:embed="rId10"/>
                <a:stretch>
                  <a:fillRect b="-30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026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72" grpId="0"/>
      <p:bldP spid="73" grpId="0"/>
      <p:bldP spid="74" grpId="0"/>
      <p:bldP spid="7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(16/21)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312099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016801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758922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5" idx="4"/>
            <a:endCxn id="13" idx="0"/>
          </p:cNvCxnSpPr>
          <p:nvPr/>
        </p:nvCxnSpPr>
        <p:spPr>
          <a:xfrm flipH="1">
            <a:off x="3322801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3680418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橢圓 30"/>
          <p:cNvSpPr/>
          <p:nvPr/>
        </p:nvSpPr>
        <p:spPr>
          <a:xfrm>
            <a:off x="4911704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5451704" y="3679965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8" idx="4"/>
            <a:endCxn id="35" idx="0"/>
          </p:cNvCxnSpPr>
          <p:nvPr/>
        </p:nvCxnSpPr>
        <p:spPr>
          <a:xfrm>
            <a:off x="4508119" y="3165219"/>
            <a:ext cx="1249585" cy="514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5" idx="4"/>
            <a:endCxn id="31" idx="0"/>
          </p:cNvCxnSpPr>
          <p:nvPr/>
        </p:nvCxnSpPr>
        <p:spPr>
          <a:xfrm flipH="1">
            <a:off x="5217704" y="4291965"/>
            <a:ext cx="540000" cy="53118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十字形 57"/>
          <p:cNvSpPr/>
          <p:nvPr/>
        </p:nvSpPr>
        <p:spPr>
          <a:xfrm>
            <a:off x="3245691" y="6590302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十字形 58"/>
          <p:cNvSpPr/>
          <p:nvPr/>
        </p:nvSpPr>
        <p:spPr>
          <a:xfrm>
            <a:off x="4018702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513928" y="369839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53101" y="595248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809639" y="596578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973896" y="4834535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5324226" y="2451029"/>
                <a:ext cx="3721083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226" y="2451029"/>
                <a:ext cx="3721083" cy="91711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6631827" y="3494072"/>
                <a:ext cx="6322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827" y="3494072"/>
                <a:ext cx="632288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4808" r="-7692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6236148" y="5737044"/>
                <a:ext cx="2713563" cy="885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altLang="zh-TW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98</a:t>
                </a:r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148" y="5737044"/>
                <a:ext cx="2713563" cy="885948"/>
              </a:xfrm>
              <a:prstGeom prst="rect">
                <a:avLst/>
              </a:prstGeom>
              <a:blipFill rotWithShape="0">
                <a:blip r:embed="rId9"/>
                <a:stretch>
                  <a:fillRect l="-3820" b="-165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5103369" y="4149080"/>
                <a:ext cx="4005135" cy="1374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𝒑𝒐𝒓𝒇𝒊𝒕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altLang="zh-TW" sz="2000" b="1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2000" b="1" dirty="0"/>
                  <a:t>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𝒕𝒐𝒕𝒘𝒆𝒊𝒈𝒉𝒕</m:t>
                        </m:r>
                      </m:e>
                    </m:d>
                    <m:r>
                      <a:rPr lang="en-US" altLang="zh-TW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ox>
                      <m:boxPr>
                        <m:ctrlPr>
                          <a:rPr lang="en-US" altLang="zh-TW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endParaRPr lang="en-US" altLang="zh-TW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369" y="4149080"/>
                <a:ext cx="4005135" cy="1374672"/>
              </a:xfrm>
              <a:prstGeom prst="rect">
                <a:avLst/>
              </a:prstGeom>
              <a:blipFill>
                <a:blip r:embed="rId10"/>
                <a:stretch>
                  <a:fillRect r="-2283" b="-3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文字方塊 74"/>
          <p:cNvSpPr txBox="1"/>
          <p:nvPr/>
        </p:nvSpPr>
        <p:spPr>
          <a:xfrm>
            <a:off x="2573484" y="1667675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29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(17/21)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7039842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016801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758922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5" idx="4"/>
            <a:endCxn id="13" idx="0"/>
          </p:cNvCxnSpPr>
          <p:nvPr/>
        </p:nvCxnSpPr>
        <p:spPr>
          <a:xfrm flipH="1">
            <a:off x="3322801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3680418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4554087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911704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9" idx="0"/>
          </p:cNvCxnSpPr>
          <p:nvPr/>
        </p:nvCxnSpPr>
        <p:spPr>
          <a:xfrm flipH="1">
            <a:off x="4860087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5451704" y="3679965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8" idx="4"/>
            <a:endCxn id="35" idx="0"/>
          </p:cNvCxnSpPr>
          <p:nvPr/>
        </p:nvCxnSpPr>
        <p:spPr>
          <a:xfrm>
            <a:off x="4508119" y="3165219"/>
            <a:ext cx="1249585" cy="514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5" idx="4"/>
            <a:endCxn id="31" idx="0"/>
          </p:cNvCxnSpPr>
          <p:nvPr/>
        </p:nvCxnSpPr>
        <p:spPr>
          <a:xfrm flipH="1">
            <a:off x="5217704" y="4291965"/>
            <a:ext cx="540000" cy="53118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十字形 57"/>
          <p:cNvSpPr/>
          <p:nvPr/>
        </p:nvSpPr>
        <p:spPr>
          <a:xfrm>
            <a:off x="3245691" y="6590302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十字形 58"/>
          <p:cNvSpPr/>
          <p:nvPr/>
        </p:nvSpPr>
        <p:spPr>
          <a:xfrm>
            <a:off x="4018702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十字形 59"/>
          <p:cNvSpPr/>
          <p:nvPr/>
        </p:nvSpPr>
        <p:spPr>
          <a:xfrm>
            <a:off x="4782977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513928" y="369839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53101" y="595248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809639" y="596578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973896" y="4834535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4559623" y="596110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135032" y="6119677"/>
            <a:ext cx="24691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17 &gt; 16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32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60" grpId="0" animBg="1"/>
      <p:bldP spid="7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(18/21)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0335181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016801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758922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5" idx="4"/>
            <a:endCxn id="13" idx="0"/>
          </p:cNvCxnSpPr>
          <p:nvPr/>
        </p:nvCxnSpPr>
        <p:spPr>
          <a:xfrm flipH="1">
            <a:off x="3322801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3680418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4554087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5296208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911704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9" idx="0"/>
          </p:cNvCxnSpPr>
          <p:nvPr/>
        </p:nvCxnSpPr>
        <p:spPr>
          <a:xfrm flipH="1">
            <a:off x="4860087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30" idx="0"/>
          </p:cNvCxnSpPr>
          <p:nvPr/>
        </p:nvCxnSpPr>
        <p:spPr>
          <a:xfrm>
            <a:off x="5217704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5451704" y="3679965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8" idx="4"/>
            <a:endCxn id="35" idx="0"/>
          </p:cNvCxnSpPr>
          <p:nvPr/>
        </p:nvCxnSpPr>
        <p:spPr>
          <a:xfrm>
            <a:off x="4508119" y="3165219"/>
            <a:ext cx="1249585" cy="514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5" idx="4"/>
            <a:endCxn id="31" idx="0"/>
          </p:cNvCxnSpPr>
          <p:nvPr/>
        </p:nvCxnSpPr>
        <p:spPr>
          <a:xfrm flipH="1">
            <a:off x="5217704" y="4291965"/>
            <a:ext cx="540000" cy="53118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十字形 57"/>
          <p:cNvSpPr/>
          <p:nvPr/>
        </p:nvSpPr>
        <p:spPr>
          <a:xfrm>
            <a:off x="3245691" y="6590302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十字形 58"/>
          <p:cNvSpPr/>
          <p:nvPr/>
        </p:nvSpPr>
        <p:spPr>
          <a:xfrm>
            <a:off x="4018702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十字形 59"/>
          <p:cNvSpPr/>
          <p:nvPr/>
        </p:nvSpPr>
        <p:spPr>
          <a:xfrm>
            <a:off x="4782977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十字形 60"/>
          <p:cNvSpPr/>
          <p:nvPr/>
        </p:nvSpPr>
        <p:spPr>
          <a:xfrm>
            <a:off x="5555988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513928" y="369839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53101" y="595248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809639" y="596578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973896" y="4834535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4559623" y="596110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69" name="文字方塊 68"/>
          <p:cNvSpPr txBox="1"/>
          <p:nvPr/>
        </p:nvSpPr>
        <p:spPr>
          <a:xfrm>
            <a:off x="5366536" y="5959370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6184564" y="4936925"/>
                <a:ext cx="19458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564" y="4936925"/>
                <a:ext cx="1945854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4389" t="-2000" r="-2508" b="-3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6180064" y="5280782"/>
                <a:ext cx="15034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𝟗𝟎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064" y="5280782"/>
                <a:ext cx="1503425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4065" r="-3252" b="-7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6007117" y="6070260"/>
                <a:ext cx="25293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𝒎𝒂𝒙𝒑𝒓𝒐𝒇𝒊𝒕</m:t>
                      </m:r>
                    </m:oMath>
                  </m:oMathPara>
                </a14:m>
                <a:endParaRPr lang="zh-TW" alt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117" y="6070260"/>
                <a:ext cx="2529347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1928" r="-3373" b="-3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42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61" grpId="0" animBg="1"/>
      <p:bldP spid="71" grpId="0"/>
      <p:bldP spid="73" grpId="0"/>
      <p:bldP spid="7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(19/21)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437660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016801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758922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5" idx="4"/>
            <a:endCxn id="13" idx="0"/>
          </p:cNvCxnSpPr>
          <p:nvPr/>
        </p:nvCxnSpPr>
        <p:spPr>
          <a:xfrm flipH="1">
            <a:off x="3322801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3680418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4554087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5296208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911704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9" idx="0"/>
          </p:cNvCxnSpPr>
          <p:nvPr/>
        </p:nvCxnSpPr>
        <p:spPr>
          <a:xfrm flipH="1">
            <a:off x="4860087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30" idx="0"/>
          </p:cNvCxnSpPr>
          <p:nvPr/>
        </p:nvCxnSpPr>
        <p:spPr>
          <a:xfrm>
            <a:off x="5217704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5997444" y="48130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5451704" y="3679965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8" idx="4"/>
            <a:endCxn id="35" idx="0"/>
          </p:cNvCxnSpPr>
          <p:nvPr/>
        </p:nvCxnSpPr>
        <p:spPr>
          <a:xfrm>
            <a:off x="4508119" y="3165219"/>
            <a:ext cx="1249585" cy="514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5" idx="4"/>
            <a:endCxn id="31" idx="0"/>
          </p:cNvCxnSpPr>
          <p:nvPr/>
        </p:nvCxnSpPr>
        <p:spPr>
          <a:xfrm flipH="1">
            <a:off x="5217704" y="4291965"/>
            <a:ext cx="540000" cy="53118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35" idx="4"/>
            <a:endCxn id="34" idx="0"/>
          </p:cNvCxnSpPr>
          <p:nvPr/>
        </p:nvCxnSpPr>
        <p:spPr>
          <a:xfrm>
            <a:off x="5757704" y="4291965"/>
            <a:ext cx="545740" cy="5210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十字形 57"/>
          <p:cNvSpPr/>
          <p:nvPr/>
        </p:nvSpPr>
        <p:spPr>
          <a:xfrm>
            <a:off x="3245691" y="6590302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十字形 58"/>
          <p:cNvSpPr/>
          <p:nvPr/>
        </p:nvSpPr>
        <p:spPr>
          <a:xfrm>
            <a:off x="4018702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十字形 59"/>
          <p:cNvSpPr/>
          <p:nvPr/>
        </p:nvSpPr>
        <p:spPr>
          <a:xfrm>
            <a:off x="4782977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十字形 60"/>
          <p:cNvSpPr/>
          <p:nvPr/>
        </p:nvSpPr>
        <p:spPr>
          <a:xfrm>
            <a:off x="5555988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十字形 61"/>
          <p:cNvSpPr/>
          <p:nvPr/>
        </p:nvSpPr>
        <p:spPr>
          <a:xfrm>
            <a:off x="6257224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513928" y="369839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53101" y="595248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809639" y="596578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973896" y="4834535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6057223" y="4823151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$50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4559623" y="596110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69" name="文字方塊 68"/>
          <p:cNvSpPr txBox="1"/>
          <p:nvPr/>
        </p:nvSpPr>
        <p:spPr>
          <a:xfrm>
            <a:off x="5366536" y="5959370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5293332" y="2451029"/>
                <a:ext cx="3721083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332" y="2451029"/>
                <a:ext cx="3721083" cy="91711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6600933" y="3494072"/>
                <a:ext cx="14273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933" y="3494072"/>
                <a:ext cx="1427378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1709" r="-3419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5665593" y="5310528"/>
                <a:ext cx="3495316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𝒑𝒐𝒓𝒇𝒊𝒕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593" y="5310528"/>
                <a:ext cx="3495316" cy="99084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6530337" y="6435362"/>
                <a:ext cx="18890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337" y="6435362"/>
                <a:ext cx="1889043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968" r="-2581"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6615300" y="4912452"/>
                <a:ext cx="25293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𝒎𝒂𝒙𝒑𝒓𝒐𝒇𝒊𝒕</m:t>
                      </m:r>
                    </m:oMath>
                  </m:oMathPara>
                </a14:m>
                <a:endParaRPr lang="zh-TW" alt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300" y="4912452"/>
                <a:ext cx="2529347" cy="307777"/>
              </a:xfrm>
              <a:prstGeom prst="rect">
                <a:avLst/>
              </a:prstGeom>
              <a:blipFill rotWithShape="0">
                <a:blip r:embed="rId11"/>
                <a:stretch>
                  <a:fillRect l="-1928" r="-3373" b="-3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34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2" grpId="0" animBg="1"/>
      <p:bldP spid="71" grpId="0"/>
      <p:bldP spid="72" grpId="0"/>
      <p:bldP spid="75" grpId="0"/>
      <p:bldP spid="76" grpId="0"/>
      <p:bldP spid="7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(20/21)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0449482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016801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758922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5" idx="4"/>
            <a:endCxn id="13" idx="0"/>
          </p:cNvCxnSpPr>
          <p:nvPr/>
        </p:nvCxnSpPr>
        <p:spPr>
          <a:xfrm flipH="1">
            <a:off x="3322801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3680418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4554087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5296208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911704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9" idx="0"/>
          </p:cNvCxnSpPr>
          <p:nvPr/>
        </p:nvCxnSpPr>
        <p:spPr>
          <a:xfrm flipH="1">
            <a:off x="4860087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30" idx="0"/>
          </p:cNvCxnSpPr>
          <p:nvPr/>
        </p:nvCxnSpPr>
        <p:spPr>
          <a:xfrm>
            <a:off x="5217704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5997444" y="48130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5451704" y="3679965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7116360" y="255111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8" idx="4"/>
            <a:endCxn id="35" idx="0"/>
          </p:cNvCxnSpPr>
          <p:nvPr/>
        </p:nvCxnSpPr>
        <p:spPr>
          <a:xfrm>
            <a:off x="4508119" y="3165219"/>
            <a:ext cx="1249585" cy="514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5" idx="4"/>
            <a:endCxn id="31" idx="0"/>
          </p:cNvCxnSpPr>
          <p:nvPr/>
        </p:nvCxnSpPr>
        <p:spPr>
          <a:xfrm flipH="1">
            <a:off x="5217704" y="4291965"/>
            <a:ext cx="540000" cy="53118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35" idx="4"/>
            <a:endCxn id="34" idx="0"/>
          </p:cNvCxnSpPr>
          <p:nvPr/>
        </p:nvCxnSpPr>
        <p:spPr>
          <a:xfrm>
            <a:off x="5757704" y="4291965"/>
            <a:ext cx="545740" cy="5210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37" idx="4"/>
            <a:endCxn id="36" idx="0"/>
          </p:cNvCxnSpPr>
          <p:nvPr/>
        </p:nvCxnSpPr>
        <p:spPr>
          <a:xfrm>
            <a:off x="6013579" y="2132152"/>
            <a:ext cx="1408781" cy="4189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十字形 57"/>
          <p:cNvSpPr/>
          <p:nvPr/>
        </p:nvSpPr>
        <p:spPr>
          <a:xfrm>
            <a:off x="3245691" y="6590302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十字形 58"/>
          <p:cNvSpPr/>
          <p:nvPr/>
        </p:nvSpPr>
        <p:spPr>
          <a:xfrm>
            <a:off x="4018702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十字形 59"/>
          <p:cNvSpPr/>
          <p:nvPr/>
        </p:nvSpPr>
        <p:spPr>
          <a:xfrm>
            <a:off x="4782977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十字形 60"/>
          <p:cNvSpPr/>
          <p:nvPr/>
        </p:nvSpPr>
        <p:spPr>
          <a:xfrm>
            <a:off x="5555988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十字形 61"/>
          <p:cNvSpPr/>
          <p:nvPr/>
        </p:nvSpPr>
        <p:spPr>
          <a:xfrm>
            <a:off x="6257224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十字形 62"/>
          <p:cNvSpPr/>
          <p:nvPr/>
        </p:nvSpPr>
        <p:spPr>
          <a:xfrm>
            <a:off x="7376140" y="3186081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178583" y="2562105"/>
            <a:ext cx="4924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$82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513928" y="369839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53101" y="595248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809639" y="596578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973896" y="4834535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6057223" y="4823151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$50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4559623" y="596110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69" name="文字方塊 68"/>
          <p:cNvSpPr txBox="1"/>
          <p:nvPr/>
        </p:nvSpPr>
        <p:spPr>
          <a:xfrm>
            <a:off x="5366536" y="5959370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5178390" y="3409165"/>
                <a:ext cx="3721083" cy="917111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𝒕𝒐𝒕𝒘𝒆𝒊𝒈𝒉𝒕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𝒘𝒆𝒊𝒈𝒉𝒕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390" y="3409165"/>
                <a:ext cx="3721083" cy="91711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6503754" y="4331253"/>
                <a:ext cx="2195409" cy="307777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754" y="4331253"/>
                <a:ext cx="2195409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833" r="-2222"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3358495" y="5935867"/>
                <a:ext cx="4394986" cy="576183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den>
                          </m:f>
                        </m:e>
                      </m:box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𝟖𝟐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495" y="5935867"/>
                <a:ext cx="4394986" cy="576183"/>
              </a:xfrm>
              <a:prstGeom prst="rect">
                <a:avLst/>
              </a:prstGeom>
              <a:blipFill>
                <a:blip r:embed="rId9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2487415" y="4943436"/>
                <a:ext cx="6358279" cy="990849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𝒑𝒐𝒓𝒇𝒊𝒕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𝒕𝒐𝒕𝒘𝒆𝒊𝒈𝒉𝒕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415" y="4943436"/>
                <a:ext cx="6358279" cy="99084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4748906" y="3060480"/>
                <a:ext cx="252934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𝒃𝒐𝒖𝒏𝒅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𝒎𝒂𝒙𝒑𝒓𝒐𝒇𝒊𝒕</m:t>
                      </m:r>
                    </m:oMath>
                  </m:oMathPara>
                </a14:m>
                <a:endParaRPr lang="zh-TW" alt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906" y="3060480"/>
                <a:ext cx="2529346" cy="307777"/>
              </a:xfrm>
              <a:prstGeom prst="rect">
                <a:avLst/>
              </a:prstGeom>
              <a:blipFill rotWithShape="0">
                <a:blip r:embed="rId11"/>
                <a:stretch>
                  <a:fillRect l="-1928" r="-3373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93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63" grpId="0" animBg="1"/>
      <p:bldP spid="71" grpId="0" animBg="1"/>
      <p:bldP spid="72" grpId="0" animBg="1"/>
      <p:bldP spid="73" grpId="0" animBg="1"/>
      <p:bldP spid="74" grpId="0" animBg="1"/>
      <p:bldP spid="7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(21/21)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物品數量 </a:t>
            </a:r>
            <a:r>
              <a:rPr lang="en-US" altLang="zh-TW" i="1" dirty="0"/>
              <a:t>n</a:t>
            </a:r>
            <a:r>
              <a:rPr lang="en-US" altLang="zh-TW" dirty="0"/>
              <a:t> = 4</a:t>
            </a:r>
            <a:r>
              <a:rPr lang="zh-TW" altLang="en-US" dirty="0"/>
              <a:t>，背包容量</a:t>
            </a:r>
            <a:r>
              <a:rPr lang="en-US" altLang="zh-TW" i="1" dirty="0"/>
              <a:t>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5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box>
                                  <m:boxPr>
                                    <m:ctrlPr>
                                      <a:rPr lang="en-US" altLang="zh-TW" sz="18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f>
                                      <m:fPr>
                                        <m:ctrlPr>
                                          <a:rPr lang="en-US" altLang="zh-TW" sz="1800" b="1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TW" altLang="en-US" sz="18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426008"/>
                  </p:ext>
                </p:extLst>
              </p:nvPr>
            </p:nvGraphicFramePr>
            <p:xfrm>
              <a:off x="6987742" y="20938"/>
              <a:ext cx="2122164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541"/>
                    <a:gridCol w="530541"/>
                    <a:gridCol w="530541"/>
                    <a:gridCol w="530541"/>
                  </a:tblGrid>
                  <a:tr h="611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altLang="zh-TW" sz="1800" b="1" i="1" baseline="-25000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1800" b="1" i="1" baseline="-25000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1800" b="1" i="1" baseline="-25000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299" t="-990" r="-4598" b="-25544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$40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$30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$6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$10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1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$2</a:t>
                          </a:r>
                          <a:endParaRPr lang="zh-TW" altLang="en-US" sz="18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橢圓 7"/>
          <p:cNvSpPr/>
          <p:nvPr/>
        </p:nvSpPr>
        <p:spPr>
          <a:xfrm>
            <a:off x="4202119" y="2553219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50" y="1879411"/>
                <a:ext cx="1444819" cy="585288"/>
              </a:xfrm>
              <a:prstGeom prst="rect">
                <a:avLst/>
              </a:prstGeom>
              <a:blipFill rotWithShape="0">
                <a:blip r:embed="rId3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1" y="3040693"/>
                <a:ext cx="1444819" cy="585288"/>
              </a:xfrm>
              <a:prstGeom prst="rect">
                <a:avLst/>
              </a:prstGeom>
              <a:blipFill rotWithShape="0">
                <a:blip r:embed="rId4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3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8" y="4226074"/>
                <a:ext cx="1444819" cy="585288"/>
              </a:xfrm>
              <a:prstGeom prst="rect">
                <a:avLst/>
              </a:prstGeom>
              <a:blipFill rotWithShape="0">
                <a:blip r:embed="rId5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5353008"/>
                <a:ext cx="1444819" cy="585288"/>
              </a:xfrm>
              <a:prstGeom prst="rect">
                <a:avLst/>
              </a:prstGeom>
              <a:blipFill rotWithShape="0">
                <a:blip r:embed="rId6"/>
                <a:stretch>
                  <a:fillRect l="-3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016801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758922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74418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286010" y="4829376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830119" y="3685307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5" idx="4"/>
            <a:endCxn id="13" idx="0"/>
          </p:cNvCxnSpPr>
          <p:nvPr/>
        </p:nvCxnSpPr>
        <p:spPr>
          <a:xfrm flipH="1">
            <a:off x="3322801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3680418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4"/>
            <a:endCxn id="16" idx="0"/>
          </p:cNvCxnSpPr>
          <p:nvPr/>
        </p:nvCxnSpPr>
        <p:spPr>
          <a:xfrm flipH="1">
            <a:off x="2592010" y="4297307"/>
            <a:ext cx="544109" cy="5320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7" idx="4"/>
            <a:endCxn id="15" idx="0"/>
          </p:cNvCxnSpPr>
          <p:nvPr/>
        </p:nvCxnSpPr>
        <p:spPr>
          <a:xfrm>
            <a:off x="3136119" y="4297307"/>
            <a:ext cx="544299" cy="525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4554087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5296208" y="59479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911704" y="4823151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9" idx="0"/>
          </p:cNvCxnSpPr>
          <p:nvPr/>
        </p:nvCxnSpPr>
        <p:spPr>
          <a:xfrm flipH="1">
            <a:off x="4860087" y="5435151"/>
            <a:ext cx="357617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30" idx="0"/>
          </p:cNvCxnSpPr>
          <p:nvPr/>
        </p:nvCxnSpPr>
        <p:spPr>
          <a:xfrm>
            <a:off x="5217704" y="5435151"/>
            <a:ext cx="384504" cy="5127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5997444" y="481300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5451704" y="3679965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7116360" y="2551118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5707579" y="1520152"/>
            <a:ext cx="612000" cy="612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8" idx="4"/>
            <a:endCxn id="17" idx="0"/>
          </p:cNvCxnSpPr>
          <p:nvPr/>
        </p:nvCxnSpPr>
        <p:spPr>
          <a:xfrm flipH="1">
            <a:off x="3136119" y="3165219"/>
            <a:ext cx="1372000" cy="520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8" idx="4"/>
            <a:endCxn id="35" idx="0"/>
          </p:cNvCxnSpPr>
          <p:nvPr/>
        </p:nvCxnSpPr>
        <p:spPr>
          <a:xfrm>
            <a:off x="4508119" y="3165219"/>
            <a:ext cx="1249585" cy="5147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5" idx="4"/>
            <a:endCxn id="31" idx="0"/>
          </p:cNvCxnSpPr>
          <p:nvPr/>
        </p:nvCxnSpPr>
        <p:spPr>
          <a:xfrm flipH="1">
            <a:off x="5217704" y="4291965"/>
            <a:ext cx="540000" cy="53118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35" idx="4"/>
            <a:endCxn id="34" idx="0"/>
          </p:cNvCxnSpPr>
          <p:nvPr/>
        </p:nvCxnSpPr>
        <p:spPr>
          <a:xfrm>
            <a:off x="5757704" y="4291965"/>
            <a:ext cx="545740" cy="5210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7" idx="4"/>
            <a:endCxn id="8" idx="0"/>
          </p:cNvCxnSpPr>
          <p:nvPr/>
        </p:nvCxnSpPr>
        <p:spPr>
          <a:xfrm flipH="1">
            <a:off x="4508119" y="2132152"/>
            <a:ext cx="1505460" cy="4210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37" idx="4"/>
            <a:endCxn id="36" idx="0"/>
          </p:cNvCxnSpPr>
          <p:nvPr/>
        </p:nvCxnSpPr>
        <p:spPr>
          <a:xfrm>
            <a:off x="6013579" y="2132152"/>
            <a:ext cx="1408781" cy="4189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十字形 56"/>
          <p:cNvSpPr/>
          <p:nvPr/>
        </p:nvSpPr>
        <p:spPr>
          <a:xfrm>
            <a:off x="2514900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十字形 57"/>
          <p:cNvSpPr/>
          <p:nvPr/>
        </p:nvSpPr>
        <p:spPr>
          <a:xfrm>
            <a:off x="3245691" y="6590302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十字形 58"/>
          <p:cNvSpPr/>
          <p:nvPr/>
        </p:nvSpPr>
        <p:spPr>
          <a:xfrm>
            <a:off x="4018702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十字形 59"/>
          <p:cNvSpPr/>
          <p:nvPr/>
        </p:nvSpPr>
        <p:spPr>
          <a:xfrm>
            <a:off x="4782977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十字形 60"/>
          <p:cNvSpPr/>
          <p:nvPr/>
        </p:nvSpPr>
        <p:spPr>
          <a:xfrm>
            <a:off x="5555988" y="6588267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十字形 61"/>
          <p:cNvSpPr/>
          <p:nvPr/>
        </p:nvSpPr>
        <p:spPr>
          <a:xfrm>
            <a:off x="6257224" y="5458114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十字形 62"/>
          <p:cNvSpPr/>
          <p:nvPr/>
        </p:nvSpPr>
        <p:spPr>
          <a:xfrm>
            <a:off x="7376140" y="3186081"/>
            <a:ext cx="144000" cy="144000"/>
          </a:xfrm>
          <a:prstGeom prst="plus">
            <a:avLst>
              <a:gd name="adj" fmla="val 35726"/>
            </a:avLst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5721736" y="1531536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508438" y="1449154"/>
            <a:ext cx="8819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lnSpc>
                <a:spcPts val="1800"/>
              </a:lnSpc>
            </a:pP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216276" y="2559497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178583" y="2562105"/>
            <a:ext cx="4924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$82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839460" y="3698394"/>
            <a:ext cx="58368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$115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513928" y="369839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1306" y="482937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$120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3448354" y="484213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53101" y="5952484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809639" y="5965789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973896" y="4834535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$98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6057223" y="4823151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$50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4559623" y="5961106"/>
            <a:ext cx="595035" cy="451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69" name="文字方塊 68"/>
          <p:cNvSpPr txBox="1"/>
          <p:nvPr/>
        </p:nvSpPr>
        <p:spPr>
          <a:xfrm>
            <a:off x="5366536" y="5959370"/>
            <a:ext cx="4924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algn="ctr">
              <a:lnSpc>
                <a:spcPts val="14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573484" y="1664569"/>
            <a:ext cx="1752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maxprofit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636373" y="3759338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只需走訪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個節點</a:t>
            </a:r>
          </a:p>
        </p:txBody>
      </p:sp>
    </p:spTree>
    <p:extLst>
      <p:ext uri="{BB962C8B-B14F-4D97-AF65-F5344CB8AC3E}">
        <p14:creationId xmlns:p14="http://schemas.microsoft.com/office/powerpoint/2010/main" val="133996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回溯 </a:t>
            </a:r>
            <a:r>
              <a:rPr lang="en-US" altLang="zh-TW" dirty="0"/>
              <a:t>Backtracking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0-1</a:t>
            </a:r>
            <a:r>
              <a:rPr lang="zh-TW" altLang="en-US" dirty="0">
                <a:solidFill>
                  <a:srgbClr val="0000FF"/>
                </a:solidFill>
              </a:rPr>
              <a:t>背包問題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列出所有可能的組合，再找出最佳解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迷宮問題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沿著每一條路一直走，直到遇到死路後換一條路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暴力法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當資料量為</a:t>
            </a:r>
            <a:r>
              <a:rPr lang="en-US" altLang="zh-TW" i="1" dirty="0"/>
              <a:t>n</a:t>
            </a:r>
            <a:r>
              <a:rPr lang="zh-TW" altLang="en-US" dirty="0"/>
              <a:t>時，會有</a:t>
            </a:r>
            <a:r>
              <a:rPr lang="en-US" altLang="zh-TW" dirty="0"/>
              <a:t>2</a:t>
            </a:r>
            <a:r>
              <a:rPr lang="en-US" altLang="zh-TW" i="1" baseline="30000" dirty="0"/>
              <a:t>n</a:t>
            </a:r>
            <a:r>
              <a:rPr lang="zh-TW" altLang="en-US" dirty="0"/>
              <a:t>種組合</a:t>
            </a:r>
            <a:endParaRPr lang="en-US" altLang="zh-TW" dirty="0"/>
          </a:p>
          <a:p>
            <a:pPr lvl="1"/>
            <a:r>
              <a:rPr lang="en-US" altLang="zh-TW" i="1" dirty="0"/>
              <a:t>n</a:t>
            </a:r>
            <a:r>
              <a:rPr lang="zh-TW" altLang="en-US" dirty="0"/>
              <a:t>很小的時候才可行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產生所有組合的時候，可以找到死路的</a:t>
            </a:r>
            <a:r>
              <a:rPr lang="en-US" altLang="zh-TW" dirty="0"/>
              <a:t>“</a:t>
            </a:r>
            <a:r>
              <a:rPr lang="zh-TW" altLang="en-US" dirty="0">
                <a:solidFill>
                  <a:srgbClr val="C00000"/>
                </a:solidFill>
              </a:rPr>
              <a:t>路標</a:t>
            </a:r>
            <a:r>
              <a:rPr lang="en-US" altLang="zh-TW" dirty="0"/>
              <a:t>”</a:t>
            </a:r>
            <a:r>
              <a:rPr lang="zh-TW" altLang="en-US" dirty="0"/>
              <a:t>，可以省下不必要的計算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5792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回溯 </a:t>
            </a:r>
            <a:r>
              <a:rPr lang="en-US" altLang="zh-TW" dirty="0"/>
              <a:t>Backtracking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從一個物件集合中選出一</a:t>
            </a:r>
            <a:r>
              <a:rPr lang="zh-TW" altLang="en-US" dirty="0">
                <a:solidFill>
                  <a:srgbClr val="0000FF"/>
                </a:solidFill>
              </a:rPr>
              <a:t>序列</a:t>
            </a:r>
            <a:r>
              <a:rPr lang="zh-TW" altLang="en-US" dirty="0"/>
              <a:t>的物件，並且這序列要滿足一些</a:t>
            </a:r>
            <a:r>
              <a:rPr lang="zh-TW" altLang="en-US" dirty="0">
                <a:solidFill>
                  <a:srgbClr val="0000FF"/>
                </a:solidFill>
              </a:rPr>
              <a:t>指定條件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採用回溯技巧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i="1" dirty="0">
                <a:solidFill>
                  <a:srgbClr val="0000FF"/>
                </a:solidFill>
              </a:rPr>
              <a:t>n</a:t>
            </a:r>
            <a:r>
              <a:rPr lang="en-US" altLang="zh-TW" dirty="0">
                <a:solidFill>
                  <a:srgbClr val="0000FF"/>
                </a:solidFill>
              </a:rPr>
              <a:t>-Queen</a:t>
            </a:r>
          </a:p>
          <a:p>
            <a:pPr lvl="1"/>
            <a:r>
              <a:rPr lang="en-US" altLang="zh-TW" i="1" dirty="0"/>
              <a:t>n</a:t>
            </a:r>
            <a:r>
              <a:rPr lang="zh-TW" altLang="en-US" dirty="0"/>
              <a:t>個皇后放在一個</a:t>
            </a:r>
            <a:r>
              <a:rPr lang="en-US" altLang="zh-TW" i="1" dirty="0"/>
              <a:t>n</a:t>
            </a:r>
            <a:r>
              <a:rPr lang="zh-TW" altLang="en-US" dirty="0"/>
              <a:t> </a:t>
            </a:r>
            <a:r>
              <a:rPr lang="zh-TW" altLang="en-US" dirty="0">
                <a:sym typeface="Symbol" panose="05050102010706020507" pitchFamily="18" charset="2"/>
              </a:rPr>
              <a:t>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zh-TW" altLang="en-US" dirty="0">
                <a:sym typeface="Symbol" panose="05050102010706020507" pitchFamily="18" charset="2"/>
              </a:rPr>
              <a:t>的西洋棋盤上而彼此不互相攻擊</a:t>
            </a:r>
            <a:endParaRPr lang="en-US" altLang="zh-TW" dirty="0">
              <a:sym typeface="Symbol" panose="05050102010706020507" pitchFamily="18" charset="2"/>
            </a:endParaRPr>
          </a:p>
          <a:p>
            <a:pPr lvl="2"/>
            <a:r>
              <a:rPr lang="zh-TW" altLang="en-US" dirty="0">
                <a:sym typeface="Symbol" panose="05050102010706020507" pitchFamily="18" charset="2"/>
              </a:rPr>
              <a:t>任兩個皇后不會位於同一列、同一排、同一對角線上</a:t>
            </a:r>
            <a:endParaRPr lang="en-US" altLang="zh-TW" dirty="0">
              <a:sym typeface="Symbol" panose="05050102010706020507" pitchFamily="18" charset="2"/>
            </a:endParaRPr>
          </a:p>
          <a:p>
            <a:pPr lvl="1"/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序列</a:t>
            </a:r>
            <a:r>
              <a:rPr lang="zh-TW" altLang="en-US" dirty="0">
                <a:sym typeface="Symbol" panose="05050102010706020507" pitchFamily="18" charset="2"/>
              </a:rPr>
              <a:t>：能安全擺放皇后的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zh-TW" altLang="en-US" dirty="0">
                <a:sym typeface="Symbol" panose="05050102010706020507" pitchFamily="18" charset="2"/>
              </a:rPr>
              <a:t>個位置</a:t>
            </a:r>
            <a:endParaRPr lang="en-US" altLang="zh-TW" dirty="0">
              <a:sym typeface="Symbol" panose="05050102010706020507" pitchFamily="18" charset="2"/>
            </a:endParaRPr>
          </a:p>
          <a:p>
            <a:pPr lvl="1"/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指定條件</a:t>
            </a:r>
            <a:r>
              <a:rPr lang="zh-TW" altLang="en-US" dirty="0">
                <a:sym typeface="Symbol" panose="05050102010706020507" pitchFamily="18" charset="2"/>
              </a:rPr>
              <a:t>：任兩個皇后不會彼此攻擊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69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258" y="3522179"/>
            <a:ext cx="2947087" cy="293115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2" y="4315253"/>
            <a:ext cx="3094007" cy="212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3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回溯 </a:t>
            </a:r>
            <a:r>
              <a:rPr lang="en-US" altLang="zh-TW" dirty="0"/>
              <a:t>Backtracking 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利用</a:t>
            </a:r>
            <a:r>
              <a:rPr lang="zh-TW" altLang="en-US" dirty="0">
                <a:solidFill>
                  <a:srgbClr val="C00000"/>
                </a:solidFill>
              </a:rPr>
              <a:t>深度優先搜尋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C00000"/>
                </a:solidFill>
              </a:rPr>
              <a:t>D</a:t>
            </a:r>
            <a:r>
              <a:rPr lang="en-US" altLang="zh-TW" dirty="0"/>
              <a:t>epth-</a:t>
            </a:r>
            <a:r>
              <a:rPr lang="en-US" altLang="zh-TW" dirty="0">
                <a:solidFill>
                  <a:srgbClr val="C00000"/>
                </a:solidFill>
              </a:rPr>
              <a:t>F</a:t>
            </a:r>
            <a:r>
              <a:rPr lang="en-US" altLang="zh-TW" dirty="0"/>
              <a:t>irst </a:t>
            </a:r>
            <a:r>
              <a:rPr lang="en-US" altLang="zh-TW" dirty="0">
                <a:solidFill>
                  <a:srgbClr val="C00000"/>
                </a:solidFill>
              </a:rPr>
              <a:t>S</a:t>
            </a:r>
            <a:r>
              <a:rPr lang="en-US" altLang="zh-TW" dirty="0"/>
              <a:t>earch, </a:t>
            </a:r>
            <a:r>
              <a:rPr lang="en-US" altLang="zh-TW" dirty="0">
                <a:solidFill>
                  <a:srgbClr val="C00000"/>
                </a:solidFill>
              </a:rPr>
              <a:t>DFS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走到沒有路就往回走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5.2 </a:t>
            </a:r>
            <a:r>
              <a:rPr lang="en-US" altLang="zh-TW" i="1" dirty="0"/>
              <a:t>n</a:t>
            </a:r>
            <a:r>
              <a:rPr lang="en-US" altLang="zh-TW" dirty="0"/>
              <a:t>-Queen</a:t>
            </a:r>
          </a:p>
          <a:p>
            <a:r>
              <a:rPr lang="en-US" altLang="zh-TW" dirty="0"/>
              <a:t>5.4 Sum-of-Subsets</a:t>
            </a:r>
          </a:p>
          <a:p>
            <a:r>
              <a:rPr lang="en-US" altLang="zh-TW" dirty="0"/>
              <a:t>5.5 </a:t>
            </a:r>
            <a:r>
              <a:rPr lang="zh-TW" altLang="en-US" dirty="0"/>
              <a:t>圖形著色</a:t>
            </a:r>
            <a:endParaRPr lang="en-US" altLang="zh-TW" dirty="0"/>
          </a:p>
          <a:p>
            <a:r>
              <a:rPr lang="en-US" altLang="zh-TW" dirty="0"/>
              <a:t>5.6</a:t>
            </a:r>
            <a:r>
              <a:rPr lang="zh-TW" altLang="en-US" dirty="0"/>
              <a:t> 漢米爾頓迴路</a:t>
            </a:r>
            <a:endParaRPr lang="en-US" altLang="zh-TW" dirty="0"/>
          </a:p>
          <a:p>
            <a:r>
              <a:rPr lang="en-US" altLang="zh-TW" dirty="0"/>
              <a:t>5.7</a:t>
            </a:r>
            <a:r>
              <a:rPr lang="zh-TW" altLang="en-US" dirty="0"/>
              <a:t> </a:t>
            </a:r>
            <a:r>
              <a:rPr lang="en-US" altLang="zh-TW" dirty="0"/>
              <a:t>0-1</a:t>
            </a:r>
            <a:r>
              <a:rPr lang="zh-TW" altLang="en-US" dirty="0"/>
              <a:t>背包問題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2026/10/07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717515"/>
      </p:ext>
    </p:extLst>
  </p:cSld>
  <p:clrMapOvr>
    <a:masterClrMapping/>
  </p:clrMapOvr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9203</TotalTime>
  <Words>5943</Words>
  <Application>Microsoft Office PowerPoint</Application>
  <PresentationFormat>如螢幕大小 (4:3)</PresentationFormat>
  <Paragraphs>2165</Paragraphs>
  <Slides>70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70</vt:i4>
      </vt:variant>
    </vt:vector>
  </HeadingPairs>
  <TitlesOfParts>
    <vt:vector size="78" baseType="lpstr">
      <vt:lpstr>標楷體</vt:lpstr>
      <vt:lpstr>Arial</vt:lpstr>
      <vt:lpstr>Calibri</vt:lpstr>
      <vt:lpstr>Cambria Math</vt:lpstr>
      <vt:lpstr>Monotype Corsiva</vt:lpstr>
      <vt:lpstr>Symbol</vt:lpstr>
      <vt:lpstr>Times New Roman</vt:lpstr>
      <vt:lpstr>NCKU3</vt:lpstr>
      <vt:lpstr>ALGORITHMS 演算法</vt:lpstr>
      <vt:lpstr>回溯 Backtracking (1/4)</vt:lpstr>
      <vt:lpstr>回溯 Backtracking (2/4)</vt:lpstr>
      <vt:lpstr>回溯 Backtracking (3/4)</vt:lpstr>
      <vt:lpstr>回溯 Backtracking (4/4)</vt:lpstr>
      <vt:lpstr>DFS</vt:lpstr>
      <vt:lpstr>n-Queen (1/17)</vt:lpstr>
      <vt:lpstr>n-Queen (2/17)</vt:lpstr>
      <vt:lpstr>n-Queen (3/17)</vt:lpstr>
      <vt:lpstr>n-Queen (4/17)</vt:lpstr>
      <vt:lpstr>n-Queen (5/17)</vt:lpstr>
      <vt:lpstr>n-Queen (6/17)</vt:lpstr>
      <vt:lpstr>n-Queen (7/17)</vt:lpstr>
      <vt:lpstr>n-Queen (8/17)</vt:lpstr>
      <vt:lpstr>n-Queen (9/17)</vt:lpstr>
      <vt:lpstr>n-Queen (10/17)</vt:lpstr>
      <vt:lpstr>n-Queen (11/17)</vt:lpstr>
      <vt:lpstr>n-Queen (12/17)</vt:lpstr>
      <vt:lpstr>n-Queen (13/17)</vt:lpstr>
      <vt:lpstr>n-Queen (14/17)</vt:lpstr>
      <vt:lpstr>n-Queen (15/17)</vt:lpstr>
      <vt:lpstr>n-Queen (16/17)</vt:lpstr>
      <vt:lpstr>n-Queen (17/17)</vt:lpstr>
      <vt:lpstr>Sum-of-Subsets (1/6)</vt:lpstr>
      <vt:lpstr>Sum-of-Subsets (2/6)</vt:lpstr>
      <vt:lpstr>Sum-of-Subsets (3/6)</vt:lpstr>
      <vt:lpstr>Sum-of-Subsets (4/6)</vt:lpstr>
      <vt:lpstr>Sum-of-Subsets (5/6)</vt:lpstr>
      <vt:lpstr>Sum-of-Subsets (6/6)</vt:lpstr>
      <vt:lpstr>圖形著色 (1/6)</vt:lpstr>
      <vt:lpstr>圖形著色 (2/6)</vt:lpstr>
      <vt:lpstr>圖形著色 (3/6)</vt:lpstr>
      <vt:lpstr>圖形著色 (4/6)</vt:lpstr>
      <vt:lpstr>圖形著色 (5/6)</vt:lpstr>
      <vt:lpstr>圖形著色 (6/6)</vt:lpstr>
      <vt:lpstr>漢米爾頓迴路 (1/11)</vt:lpstr>
      <vt:lpstr>漢米爾頓迴路 (2/11)</vt:lpstr>
      <vt:lpstr>漢米爾頓迴路 (3/11)</vt:lpstr>
      <vt:lpstr>漢米爾頓迴路 (4/11)</vt:lpstr>
      <vt:lpstr>漢米爾頓迴路 (5/11)</vt:lpstr>
      <vt:lpstr>漢米爾頓迴路 (6/11)</vt:lpstr>
      <vt:lpstr>漢米爾頓迴路 (7/11)</vt:lpstr>
      <vt:lpstr>漢米爾頓迴路 (8/11)</vt:lpstr>
      <vt:lpstr>漢米爾頓迴路 (9/11)</vt:lpstr>
      <vt:lpstr>漢米爾頓迴路 (10/11)</vt:lpstr>
      <vt:lpstr>漢米爾頓迴路 (11/11)</vt:lpstr>
      <vt:lpstr>0-1背包問題 (1/21)</vt:lpstr>
      <vt:lpstr>0-1背包問題 (2/21)</vt:lpstr>
      <vt:lpstr>0-1背包問題 (3/21)</vt:lpstr>
      <vt:lpstr>0-1背包問題 (4/21)</vt:lpstr>
      <vt:lpstr>0-1背包問題 (5/21)</vt:lpstr>
      <vt:lpstr>0-1背包問題 (6/21)</vt:lpstr>
      <vt:lpstr>0-1背包問題 (7/21)</vt:lpstr>
      <vt:lpstr>0-1背包問題 (8/21)</vt:lpstr>
      <vt:lpstr>0-1背包問題 (9/21)</vt:lpstr>
      <vt:lpstr>0-1背包問題 (10/21)</vt:lpstr>
      <vt:lpstr>0-1背包問題 (11/21)</vt:lpstr>
      <vt:lpstr>0-1背包問題 (12/21)</vt:lpstr>
      <vt:lpstr>0-1背包問題 (13/21)</vt:lpstr>
      <vt:lpstr>0-1背包問題 (14/21)</vt:lpstr>
      <vt:lpstr>0-1背包問題 (15/21)</vt:lpstr>
      <vt:lpstr>0-1背包問題 (16/21)</vt:lpstr>
      <vt:lpstr>0-1背包問題 (17/21)</vt:lpstr>
      <vt:lpstr>0-1背包問題 (18/21)</vt:lpstr>
      <vt:lpstr>0-1背包問題 (19/21)</vt:lpstr>
      <vt:lpstr>0-1背包問題 (20/21)</vt:lpstr>
      <vt:lpstr>0-1背包問題 (21/21)</vt:lpstr>
      <vt:lpstr>回溯 Backtracking (1/3)</vt:lpstr>
      <vt:lpstr>回溯 Backtracking (2/3)</vt:lpstr>
      <vt:lpstr>回溯 Backtracking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71</cp:revision>
  <cp:lastPrinted>2022-09-24T09:12:24Z</cp:lastPrinted>
  <dcterms:created xsi:type="dcterms:W3CDTF">2018-01-10T03:26:15Z</dcterms:created>
  <dcterms:modified xsi:type="dcterms:W3CDTF">2026-10-09T02:19:26Z</dcterms:modified>
</cp:coreProperties>
</file>