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sldIdLst>
    <p:sldId id="365" r:id="rId2"/>
    <p:sldId id="366" r:id="rId3"/>
    <p:sldId id="367" r:id="rId4"/>
    <p:sldId id="368" r:id="rId5"/>
    <p:sldId id="369" r:id="rId6"/>
    <p:sldId id="370" r:id="rId7"/>
    <p:sldId id="371" r:id="rId8"/>
    <p:sldId id="372" r:id="rId9"/>
    <p:sldId id="373" r:id="rId10"/>
    <p:sldId id="374" r:id="rId11"/>
    <p:sldId id="375" r:id="rId12"/>
  </p:sldIdLst>
  <p:sldSz cx="9144000" cy="6858000" type="screen4x3"/>
  <p:notesSz cx="6807200" cy="9939338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CC"/>
    <a:srgbClr val="820000"/>
    <a:srgbClr val="700000"/>
    <a:srgbClr val="9E0000"/>
    <a:srgbClr val="323232"/>
    <a:srgbClr val="333399"/>
    <a:srgbClr val="CC00CC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0932" autoAdjust="0"/>
  </p:normalViewPr>
  <p:slideViewPr>
    <p:cSldViewPr>
      <p:cViewPr varScale="1">
        <p:scale>
          <a:sx n="82" d="100"/>
          <a:sy n="82" d="100"/>
        </p:scale>
        <p:origin x="145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5839" y="1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/>
          <a:lstStyle>
            <a:lvl1pPr algn="r">
              <a:defRPr sz="1200"/>
            </a:lvl1pPr>
          </a:lstStyle>
          <a:p>
            <a:fld id="{7F921807-99F1-4DF0-94D7-7548FA810751}" type="datetimeFigureOut">
              <a:rPr lang="zh-TW" altLang="en-US" smtClean="0"/>
              <a:pPr/>
              <a:t>2026/7/27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42" tIns="45921" rIns="91842" bIns="45921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0721" y="4721186"/>
            <a:ext cx="5445760" cy="4472703"/>
          </a:xfrm>
          <a:prstGeom prst="rect">
            <a:avLst/>
          </a:prstGeom>
        </p:spPr>
        <p:txBody>
          <a:bodyPr vert="horz" lIns="91842" tIns="45921" rIns="91842" bIns="45921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440647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5839" y="9440647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 anchor="b"/>
          <a:lstStyle>
            <a:lvl1pPr algn="r">
              <a:defRPr sz="1200"/>
            </a:lvl1pPr>
          </a:lstStyle>
          <a:p>
            <a:fld id="{6C24E503-88D4-45A6-8EBB-14391082A01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5129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DCA57-9D53-411D-9D3B-645A04C6A56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12202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E503-88D4-45A6-8EBB-14391082A01A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45296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E503-88D4-45A6-8EBB-14391082A01A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1481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/>
        </p:nvSpPr>
        <p:spPr>
          <a:xfrm>
            <a:off x="3233" y="2256530"/>
            <a:ext cx="9144000" cy="126032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81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2483768" y="4530498"/>
            <a:ext cx="6552728" cy="1676400"/>
          </a:xfrm>
        </p:spPr>
        <p:txBody>
          <a:bodyPr/>
          <a:lstStyle>
            <a:lvl1pPr marL="0" indent="0" algn="ctr">
              <a:buFontTx/>
              <a:buNone/>
              <a:defRPr b="1">
                <a:latin typeface="+mj-lt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082" name="Rectangle 10"/>
          <p:cNvSpPr>
            <a:spLocks noGrp="1" noChangeArrowheads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/>
              <a:t>2026/09/09</a:t>
            </a:r>
          </a:p>
        </p:txBody>
      </p:sp>
      <p:sp>
        <p:nvSpPr>
          <p:cNvPr id="3083" name="Rectangle 11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4008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308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2924896" y="2394158"/>
            <a:ext cx="6111600" cy="1860612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  <a:latin typeface="+mj-lt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18" name="矩形 17"/>
          <p:cNvSpPr/>
          <p:nvPr userDrawn="1"/>
        </p:nvSpPr>
        <p:spPr>
          <a:xfrm>
            <a:off x="3233" y="4254770"/>
            <a:ext cx="9144000" cy="126032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4300993" y="6581001"/>
            <a:ext cx="484624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800" b="1" i="1" dirty="0">
                <a:latin typeface="Monotype Corsiva" panose="03010101010201010101" pitchFamily="66" charset="0"/>
                <a:cs typeface="Nirmala UI" panose="020B0502040204020203" pitchFamily="34" charset="0"/>
              </a:rPr>
              <a:t>Interconnection Networks and Algorithm Application Lab.</a:t>
            </a:r>
            <a:endParaRPr lang="zh-TW" altLang="en-US" sz="1800" b="1" i="1" dirty="0">
              <a:latin typeface="Monotype Corsiva" panose="03010101010201010101" pitchFamily="66" charset="0"/>
              <a:cs typeface="Nirmala UI" panose="020B0502040204020203" pitchFamily="34" charset="0"/>
            </a:endParaRPr>
          </a:p>
        </p:txBody>
      </p:sp>
      <p:pic>
        <p:nvPicPr>
          <p:cNvPr id="12" name="Picture 2" descr="C:\Users\admin\Dropbox\世暘&amp;莉淳\相片\DSC_9359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92" y="2382770"/>
            <a:ext cx="2812457" cy="1872000"/>
          </a:xfrm>
          <a:prstGeom prst="rect">
            <a:avLst/>
          </a:prstGeom>
          <a:noFill/>
        </p:spPr>
      </p:pic>
      <p:pic>
        <p:nvPicPr>
          <p:cNvPr id="20" name="圖片 1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458" y="1161633"/>
            <a:ext cx="3566038" cy="108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7504" y="0"/>
            <a:ext cx="6861448" cy="1143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950" y="1268760"/>
            <a:ext cx="8928100" cy="532730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2026/09/09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3F35E6-A8E7-488D-BD9F-ED9A7F7FA10F}" type="slidenum">
              <a:rPr lang="en-US" altLang="zh-TW"/>
              <a:pPr/>
              <a:t>‹#›</a:t>
            </a:fld>
            <a:endParaRPr lang="en-US" altLang="zh-TW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2026/09/09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3183EC-7050-45EB-9E88-B86B53D28DC6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07950" y="1482725"/>
            <a:ext cx="4387850" cy="5113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482725"/>
            <a:ext cx="4387850" cy="5113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2026/09/09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B32F3C-BFB5-4433-80F2-31E4E599C271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2026/09/09</a:t>
            </a: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C71ADB-DDEF-4830-B9BC-5050A26247AE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2026/09/09</a:t>
            </a: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38238B-CE9D-4BC3-843E-48DE31256F23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2026/09/09</a:t>
            </a: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9989FA-7C75-4428-B4F8-334FD7721128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2026/09/09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4ED4DE-EAF4-4F9D-92A9-54CDF4DC4603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2026/09/09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DBED88-20FD-46BD-AA27-41E91F90C6D7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2026/09/09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5973D2-4DDA-41F5-8DAD-51687E6176F5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04025" y="0"/>
            <a:ext cx="2232025" cy="6596063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07950" y="0"/>
            <a:ext cx="6543675" cy="6596063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2026/09/09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6BEB42-A2EB-4830-8F53-FDF4A3AEB5C6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86816" y="0"/>
            <a:ext cx="6861448" cy="1143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96040" y="1250328"/>
            <a:ext cx="8940456" cy="534573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" y="6597650"/>
            <a:ext cx="19050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>
                <a:latin typeface="+mn-lt"/>
                <a:cs typeface="Angsana New" pitchFamily="18" charset="-34"/>
              </a:defRPr>
            </a:lvl1pPr>
          </a:lstStyle>
          <a:p>
            <a:r>
              <a:rPr lang="en-US" altLang="zh-TW"/>
              <a:t>2026/09/09</a:t>
            </a: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97650"/>
            <a:ext cx="28956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1">
                <a:latin typeface="+mn-lt"/>
                <a:cs typeface="Angsana New" pitchFamily="18" charset="-34"/>
              </a:defRPr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597650"/>
            <a:ext cx="19050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1">
                <a:latin typeface="+mn-lt"/>
                <a:cs typeface="Angsana New" pitchFamily="18" charset="-34"/>
              </a:defRPr>
            </a:lvl1pPr>
          </a:lstStyle>
          <a:p>
            <a:fld id="{88815D73-EF14-4780-98ED-F121D5ADB135}" type="slidenum">
              <a:rPr lang="en-US" altLang="zh-TW"/>
              <a:pPr/>
              <a:t>‹#›</a:t>
            </a:fld>
            <a:endParaRPr lang="en-US" altLang="zh-TW"/>
          </a:p>
        </p:txBody>
      </p:sp>
      <p:sp>
        <p:nvSpPr>
          <p:cNvPr id="16" name="矩形 15"/>
          <p:cNvSpPr/>
          <p:nvPr userDrawn="1"/>
        </p:nvSpPr>
        <p:spPr>
          <a:xfrm>
            <a:off x="0" y="1160664"/>
            <a:ext cx="9144000" cy="72000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 userDrawn="1"/>
        </p:nvSpPr>
        <p:spPr>
          <a:xfrm>
            <a:off x="4343620" y="935059"/>
            <a:ext cx="484624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800" b="1" i="1" dirty="0">
                <a:latin typeface="Monotype Corsiva" panose="03010101010201010101" pitchFamily="66" charset="0"/>
                <a:cs typeface="Nirmala UI" panose="020B0502040204020203" pitchFamily="34" charset="0"/>
              </a:rPr>
              <a:t>Interconnection Networks and Algorithm Application Lab.</a:t>
            </a:r>
            <a:endParaRPr lang="zh-TW" altLang="en-US" sz="1800" b="1" i="1" dirty="0">
              <a:latin typeface="Monotype Corsiva" panose="03010101010201010101" pitchFamily="66" charset="0"/>
              <a:cs typeface="Nirmala UI" panose="020B0502040204020203" pitchFamily="34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43" y="18248"/>
            <a:ext cx="2133600" cy="6461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chemeClr val="tx1"/>
          </a:solidFill>
          <a:latin typeface="+mj-lt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4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Blip>
          <a:blip r:embed="rId17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ALGORITHMS</a:t>
            </a:r>
            <a:br>
              <a:rPr lang="en-US" altLang="zh-TW" dirty="0"/>
            </a:br>
            <a:r>
              <a:rPr lang="zh-TW" altLang="en-US" dirty="0"/>
              <a:t>演算法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zh-TW" dirty="0"/>
              <a:t>Chapter 0</a:t>
            </a:r>
          </a:p>
          <a:p>
            <a:pPr algn="r"/>
            <a:r>
              <a:rPr lang="zh-TW" altLang="en-US" dirty="0"/>
              <a:t>通俗演算法</a:t>
            </a:r>
          </a:p>
        </p:txBody>
      </p:sp>
    </p:spTree>
    <p:extLst>
      <p:ext uri="{BB962C8B-B14F-4D97-AF65-F5344CB8AC3E}">
        <p14:creationId xmlns:p14="http://schemas.microsoft.com/office/powerpoint/2010/main" val="1714987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什麼是演算法？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韋氏辭典</a:t>
            </a:r>
            <a:endParaRPr lang="en-US" altLang="zh-TW" dirty="0"/>
          </a:p>
          <a:p>
            <a:pPr lvl="1"/>
            <a:r>
              <a:rPr lang="zh-TW" altLang="en-US" dirty="0"/>
              <a:t>在有限步驟內解決數學問題的程序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計算機科學領域</a:t>
            </a:r>
            <a:endParaRPr lang="en-US" altLang="zh-TW" dirty="0"/>
          </a:p>
          <a:p>
            <a:pPr lvl="1"/>
            <a:r>
              <a:rPr lang="zh-TW" altLang="en-US" dirty="0"/>
              <a:t>一個計算的具體步驟，常用於計算、資料處理和自動推理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簡言之</a:t>
            </a:r>
            <a:endParaRPr lang="en-US" altLang="zh-TW" dirty="0"/>
          </a:p>
          <a:p>
            <a:pPr lvl="1"/>
            <a:r>
              <a:rPr lang="zh-TW" altLang="en-US" dirty="0"/>
              <a:t>為了解決某一問題所設計的一組有限運算規則的集合，其中包含精確的問題輸入和輸出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白話來說</a:t>
            </a:r>
            <a:endParaRPr lang="en-US" altLang="zh-TW" dirty="0"/>
          </a:p>
          <a:p>
            <a:pPr lvl="1"/>
            <a:r>
              <a:rPr lang="zh-TW" altLang="en-US" dirty="0"/>
              <a:t>解決問題的方法</a:t>
            </a:r>
            <a:endParaRPr lang="en-US" altLang="zh-TW" dirty="0"/>
          </a:p>
          <a:p>
            <a:pPr lvl="1"/>
            <a:r>
              <a:rPr lang="zh-TW" altLang="en-US" dirty="0"/>
              <a:t>利用文字敘述、流程圖或虛擬碼的方式來表示解決問題的步驟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2026/09/09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376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演算法有什麼用？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提升生活品質</a:t>
            </a:r>
            <a:endParaRPr lang="en-US" altLang="zh-TW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2026/09/09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2089" y="1517450"/>
            <a:ext cx="3912201" cy="4617680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6053166" y="5713569"/>
            <a:ext cx="2749471" cy="400110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節省時間、空間或成本</a:t>
            </a:r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08958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生活中的演算法 </a:t>
            </a:r>
            <a:r>
              <a:rPr lang="en-US" altLang="zh-TW" dirty="0"/>
              <a:t>(1/6)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以到書局買書為例：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2026/09/09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91" y="1749925"/>
            <a:ext cx="8136924" cy="4495279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2286010" y="1749925"/>
            <a:ext cx="877163" cy="369332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未整理</a:t>
            </a:r>
          </a:p>
        </p:txBody>
      </p:sp>
      <p:sp>
        <p:nvSpPr>
          <p:cNvPr id="9" name="文字方塊 8"/>
          <p:cNvSpPr txBox="1"/>
          <p:nvPr/>
        </p:nvSpPr>
        <p:spPr>
          <a:xfrm>
            <a:off x="6324590" y="1749925"/>
            <a:ext cx="877163" cy="369332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已整理</a:t>
            </a:r>
          </a:p>
        </p:txBody>
      </p:sp>
    </p:spTree>
    <p:extLst>
      <p:ext uri="{BB962C8B-B14F-4D97-AF65-F5344CB8AC3E}">
        <p14:creationId xmlns:p14="http://schemas.microsoft.com/office/powerpoint/2010/main" val="1412575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生活中的演算法 </a:t>
            </a:r>
            <a:r>
              <a:rPr lang="en-US" altLang="zh-TW" dirty="0"/>
              <a:t>(2/6)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未整理過的購書清單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2026/09/09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804" y="2372081"/>
            <a:ext cx="5295541" cy="3093093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 rotWithShape="1">
          <a:blip r:embed="rId3"/>
          <a:srcRect r="48823"/>
          <a:stretch/>
        </p:blipFill>
        <p:spPr>
          <a:xfrm>
            <a:off x="152410" y="1995201"/>
            <a:ext cx="3415512" cy="3687048"/>
          </a:xfrm>
          <a:prstGeom prst="rect">
            <a:avLst/>
          </a:prstGeom>
        </p:spPr>
      </p:pic>
      <p:sp>
        <p:nvSpPr>
          <p:cNvPr id="9" name="文字方塊 8"/>
          <p:cNvSpPr txBox="1"/>
          <p:nvPr/>
        </p:nvSpPr>
        <p:spPr>
          <a:xfrm>
            <a:off x="5626858" y="5497583"/>
            <a:ext cx="3300904" cy="369332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貪婪演算法 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Greedy Algorithm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842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生活中的演算法 </a:t>
            </a:r>
            <a:r>
              <a:rPr lang="en-US" altLang="zh-TW" dirty="0"/>
              <a:t>(3/6)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整理購書清單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2026/09/09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 rotWithShape="1">
          <a:blip r:embed="rId2"/>
          <a:srcRect r="48823"/>
          <a:stretch/>
        </p:blipFill>
        <p:spPr>
          <a:xfrm>
            <a:off x="68123" y="1584600"/>
            <a:ext cx="2234357" cy="2412000"/>
          </a:xfrm>
          <a:prstGeom prst="rect">
            <a:avLst/>
          </a:prstGeom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2840" y="2359056"/>
            <a:ext cx="5213387" cy="31100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圖片 7"/>
          <p:cNvPicPr>
            <a:picLocks noChangeAspect="1"/>
          </p:cNvPicPr>
          <p:nvPr/>
        </p:nvPicPr>
        <p:blipFill rotWithShape="1">
          <a:blip r:embed="rId2"/>
          <a:srcRect l="48528"/>
          <a:stretch/>
        </p:blipFill>
        <p:spPr>
          <a:xfrm>
            <a:off x="6896770" y="4205050"/>
            <a:ext cx="2247230" cy="2412000"/>
          </a:xfrm>
          <a:prstGeom prst="rect">
            <a:avLst/>
          </a:prstGeom>
        </p:spPr>
      </p:pic>
      <p:sp>
        <p:nvSpPr>
          <p:cNvPr id="12" name="文字方塊 11"/>
          <p:cNvSpPr txBox="1"/>
          <p:nvPr/>
        </p:nvSpPr>
        <p:spPr>
          <a:xfrm>
            <a:off x="4940413" y="2359056"/>
            <a:ext cx="2505814" cy="369332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桶子排序法 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bucket sort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032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生活中的演算法 </a:t>
            </a:r>
            <a:r>
              <a:rPr lang="en-US" altLang="zh-TW" dirty="0"/>
              <a:t>(4/6)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尋找最佳化路徑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2026/09/09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790" y="2328604"/>
            <a:ext cx="5295600" cy="3128585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 rotWithShape="1">
          <a:blip r:embed="rId3"/>
          <a:srcRect l="48528"/>
          <a:stretch/>
        </p:blipFill>
        <p:spPr>
          <a:xfrm>
            <a:off x="138227" y="2135424"/>
            <a:ext cx="3274828" cy="3514943"/>
          </a:xfrm>
          <a:prstGeom prst="rect">
            <a:avLst/>
          </a:prstGeom>
        </p:spPr>
      </p:pic>
      <p:sp>
        <p:nvSpPr>
          <p:cNvPr id="9" name="文字方塊 8"/>
          <p:cNvSpPr txBox="1"/>
          <p:nvPr/>
        </p:nvSpPr>
        <p:spPr>
          <a:xfrm>
            <a:off x="5655640" y="5457189"/>
            <a:ext cx="3206968" cy="646331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旅行推銷員問題 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(TSP)</a:t>
            </a:r>
          </a:p>
          <a:p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travelling salesperson problem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5917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生活中的演算法 </a:t>
            </a:r>
            <a:r>
              <a:rPr lang="en-US" altLang="zh-TW" dirty="0"/>
              <a:t>(5/6)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書籍打包宅配</a:t>
            </a:r>
            <a:r>
              <a:rPr lang="en-US" altLang="zh-TW" dirty="0"/>
              <a:t>-</a:t>
            </a:r>
            <a:r>
              <a:rPr lang="zh-TW" altLang="en-US" dirty="0"/>
              <a:t>裝箱問題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2026/09/09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64" y="1998906"/>
            <a:ext cx="8883743" cy="1571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65" y="4517196"/>
            <a:ext cx="6838950" cy="140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字方塊 8"/>
          <p:cNvSpPr txBox="1"/>
          <p:nvPr/>
        </p:nvSpPr>
        <p:spPr>
          <a:xfrm>
            <a:off x="6934568" y="3559741"/>
            <a:ext cx="2069862" cy="646331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最先適配演算法</a:t>
            </a:r>
            <a:endParaRPr lang="en-US" altLang="zh-TW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First Fit Algorithm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6508250" y="5928806"/>
            <a:ext cx="2508059" cy="646331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動態規劃演算法</a:t>
            </a:r>
            <a:endParaRPr lang="en-US" altLang="zh-TW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Dynamic Programming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9292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生活中的演算法 </a:t>
            </a:r>
            <a:r>
              <a:rPr lang="en-US" altLang="zh-TW" dirty="0"/>
              <a:t>(6/6)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發票對獎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登記成績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2026/09/09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37" y="2573927"/>
            <a:ext cx="3098040" cy="1775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2092" y="1980115"/>
            <a:ext cx="3444949" cy="2369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向右箭號 6"/>
          <p:cNvSpPr/>
          <p:nvPr/>
        </p:nvSpPr>
        <p:spPr>
          <a:xfrm>
            <a:off x="3625701" y="3048959"/>
            <a:ext cx="1786269" cy="97819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桶子排序法</a:t>
            </a:r>
          </a:p>
        </p:txBody>
      </p:sp>
      <p:sp>
        <p:nvSpPr>
          <p:cNvPr id="10" name="文字方塊 9"/>
          <p:cNvSpPr txBox="1"/>
          <p:nvPr/>
        </p:nvSpPr>
        <p:spPr>
          <a:xfrm>
            <a:off x="851677" y="4620411"/>
            <a:ext cx="1481496" cy="369332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100 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 3 = 300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694353" y="1883610"/>
            <a:ext cx="2238818" cy="646331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搜尋演算法</a:t>
            </a:r>
            <a:endParaRPr lang="en-US" altLang="zh-TW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Searching Algorithm</a:t>
            </a:r>
            <a:endParaRPr lang="zh-TW" altLang="en-US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5399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最常用的演算法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排序演算法 </a:t>
            </a:r>
            <a:r>
              <a:rPr lang="en-US" altLang="zh-TW" dirty="0"/>
              <a:t>Sorting Algorithm</a:t>
            </a:r>
          </a:p>
          <a:p>
            <a:pPr lvl="1"/>
            <a:r>
              <a:rPr lang="zh-TW" altLang="en-US" dirty="0"/>
              <a:t>依照身高安排座位</a:t>
            </a:r>
            <a:endParaRPr lang="en-US" altLang="zh-TW" dirty="0"/>
          </a:p>
          <a:p>
            <a:pPr lvl="1"/>
            <a:r>
              <a:rPr lang="zh-TW" altLang="en-US" dirty="0"/>
              <a:t>成績排名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氣泡排序法 </a:t>
            </a:r>
            <a:r>
              <a:rPr lang="en-US" altLang="zh-TW" dirty="0"/>
              <a:t>bubble sort</a:t>
            </a:r>
          </a:p>
          <a:p>
            <a:r>
              <a:rPr lang="zh-TW" altLang="en-US" dirty="0"/>
              <a:t>插入排序法 </a:t>
            </a:r>
            <a:r>
              <a:rPr lang="en-US" altLang="zh-TW" dirty="0"/>
              <a:t>insertion sort</a:t>
            </a:r>
          </a:p>
          <a:p>
            <a:r>
              <a:rPr lang="zh-TW" altLang="en-US" dirty="0"/>
              <a:t>選擇排序法 </a:t>
            </a:r>
            <a:r>
              <a:rPr lang="en-US" altLang="zh-TW" dirty="0"/>
              <a:t>selection sort</a:t>
            </a:r>
          </a:p>
          <a:p>
            <a:r>
              <a:rPr lang="zh-TW" altLang="en-US" dirty="0"/>
              <a:t>合併排序法 </a:t>
            </a:r>
            <a:r>
              <a:rPr lang="en-US" altLang="zh-TW" dirty="0"/>
              <a:t>merge sort</a:t>
            </a:r>
          </a:p>
          <a:p>
            <a:r>
              <a:rPr lang="zh-TW" altLang="en-US" dirty="0"/>
              <a:t>快速排序法 </a:t>
            </a:r>
            <a:r>
              <a:rPr lang="en-US" altLang="zh-TW" dirty="0"/>
              <a:t>quick sort</a:t>
            </a:r>
          </a:p>
          <a:p>
            <a:r>
              <a:rPr lang="zh-TW" altLang="en-US" dirty="0"/>
              <a:t>堆積排序法 </a:t>
            </a:r>
            <a:r>
              <a:rPr lang="en-US" altLang="zh-TW" dirty="0"/>
              <a:t>heap sort</a:t>
            </a:r>
          </a:p>
          <a:p>
            <a:r>
              <a:rPr lang="zh-TW" altLang="en-US" dirty="0">
                <a:solidFill>
                  <a:srgbClr val="0000FF"/>
                </a:solidFill>
              </a:rPr>
              <a:t>交換排序法 </a:t>
            </a:r>
            <a:r>
              <a:rPr lang="en-US" altLang="zh-TW" dirty="0">
                <a:solidFill>
                  <a:srgbClr val="0000FF"/>
                </a:solidFill>
              </a:rPr>
              <a:t>exchange sort</a:t>
            </a:r>
          </a:p>
          <a:p>
            <a:r>
              <a:rPr lang="zh-TW" altLang="en-US" dirty="0">
                <a:solidFill>
                  <a:srgbClr val="C00000"/>
                </a:solidFill>
              </a:rPr>
              <a:t>記數排序法 </a:t>
            </a:r>
            <a:r>
              <a:rPr lang="en-US" altLang="zh-TW" dirty="0">
                <a:solidFill>
                  <a:srgbClr val="C00000"/>
                </a:solidFill>
              </a:rPr>
              <a:t>counting sort</a:t>
            </a:r>
          </a:p>
          <a:p>
            <a:r>
              <a:rPr lang="zh-TW" altLang="en-US" dirty="0">
                <a:solidFill>
                  <a:srgbClr val="C00000"/>
                </a:solidFill>
              </a:rPr>
              <a:t>基數排序法 </a:t>
            </a:r>
            <a:r>
              <a:rPr lang="en-US" altLang="zh-TW" dirty="0">
                <a:solidFill>
                  <a:srgbClr val="C00000"/>
                </a:solidFill>
              </a:rPr>
              <a:t>radix sort</a:t>
            </a:r>
          </a:p>
          <a:p>
            <a:r>
              <a:rPr lang="zh-TW" altLang="en-US" dirty="0">
                <a:solidFill>
                  <a:srgbClr val="C00000"/>
                </a:solidFill>
              </a:rPr>
              <a:t>桶子排序法 </a:t>
            </a:r>
            <a:r>
              <a:rPr lang="en-US" altLang="zh-TW" dirty="0">
                <a:solidFill>
                  <a:srgbClr val="C00000"/>
                </a:solidFill>
              </a:rPr>
              <a:t>bucket sort (Section 7.9)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2026/09/09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10</a:t>
            </a:fld>
            <a:endParaRPr lang="en-US" dirty="0"/>
          </a:p>
        </p:txBody>
      </p:sp>
      <p:cxnSp>
        <p:nvCxnSpPr>
          <p:cNvPr id="12" name="肘形接點 11"/>
          <p:cNvCxnSpPr/>
          <p:nvPr/>
        </p:nvCxnSpPr>
        <p:spPr>
          <a:xfrm>
            <a:off x="3346427" y="3309696"/>
            <a:ext cx="12700" cy="396000"/>
          </a:xfrm>
          <a:prstGeom prst="bentConnector3">
            <a:avLst>
              <a:gd name="adj1" fmla="val 1800000"/>
            </a:avLst>
          </a:prstGeom>
          <a:ln w="190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肘形接點 12"/>
          <p:cNvCxnSpPr/>
          <p:nvPr/>
        </p:nvCxnSpPr>
        <p:spPr>
          <a:xfrm>
            <a:off x="3346427" y="2961192"/>
            <a:ext cx="36000" cy="2196000"/>
          </a:xfrm>
          <a:prstGeom prst="bentConnector3">
            <a:avLst>
              <a:gd name="adj1" fmla="val 890406"/>
            </a:avLst>
          </a:prstGeom>
          <a:ln w="190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肘形接點 14"/>
          <p:cNvCxnSpPr/>
          <p:nvPr/>
        </p:nvCxnSpPr>
        <p:spPr>
          <a:xfrm>
            <a:off x="3364427" y="5518340"/>
            <a:ext cx="12700" cy="396000"/>
          </a:xfrm>
          <a:prstGeom prst="bentConnector3">
            <a:avLst>
              <a:gd name="adj1" fmla="val 1800000"/>
            </a:avLst>
          </a:prstGeom>
          <a:ln w="190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9264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提升生活品質的演算法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導航系統設計</a:t>
            </a:r>
            <a:endParaRPr lang="en-US" altLang="zh-TW" dirty="0"/>
          </a:p>
          <a:p>
            <a:pPr lvl="1"/>
            <a:r>
              <a:rPr lang="zh-TW" altLang="en-US" dirty="0"/>
              <a:t>最佳化行進路線</a:t>
            </a:r>
            <a:r>
              <a:rPr lang="en-US" altLang="zh-TW" dirty="0"/>
              <a:t>(</a:t>
            </a:r>
            <a:r>
              <a:rPr lang="zh-TW" altLang="en-US" dirty="0"/>
              <a:t>時間最少、距離最短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 err="1"/>
              <a:t>Diskstra</a:t>
            </a:r>
            <a:r>
              <a:rPr lang="en-US" altLang="zh-TW" dirty="0"/>
              <a:t> </a:t>
            </a:r>
            <a:r>
              <a:rPr lang="zh-TW" altLang="en-US" dirty="0"/>
              <a:t>演算法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搜尋引擎</a:t>
            </a:r>
            <a:endParaRPr lang="en-US" altLang="zh-TW" dirty="0"/>
          </a:p>
          <a:p>
            <a:pPr lvl="1"/>
            <a:r>
              <a:rPr lang="zh-TW" altLang="en-US" dirty="0"/>
              <a:t>迅速且準確的搜尋結果</a:t>
            </a:r>
            <a:endParaRPr lang="en-US" altLang="zh-TW" dirty="0"/>
          </a:p>
          <a:p>
            <a:pPr lvl="1"/>
            <a:r>
              <a:rPr lang="zh-TW" altLang="en-US" dirty="0"/>
              <a:t>字串比對演算法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2026/09/09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4688210"/>
      </p:ext>
    </p:extLst>
  </p:cSld>
  <p:clrMapOvr>
    <a:masterClrMapping/>
  </p:clrMapOvr>
</p:sld>
</file>

<file path=ppt/theme/theme1.xml><?xml version="1.0" encoding="utf-8"?>
<a:theme xmlns:a="http://schemas.openxmlformats.org/drawingml/2006/main" name="NCKU3">
  <a:themeElements>
    <a:clrScheme name="NCKU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NCKU3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CKU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簡報1" id="{1D2088C2-DF28-403B-A142-ABEFFB73DCD1}" vid="{F9685623-F412-4155-8B4F-1E431000369C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NTTU</Template>
  <TotalTime>8712</TotalTime>
  <Words>446</Words>
  <Application>Microsoft Office PowerPoint</Application>
  <PresentationFormat>如螢幕大小 (4:3)</PresentationFormat>
  <Paragraphs>113</Paragraphs>
  <Slides>11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7" baseType="lpstr">
      <vt:lpstr>標楷體</vt:lpstr>
      <vt:lpstr>Arial</vt:lpstr>
      <vt:lpstr>Calibri</vt:lpstr>
      <vt:lpstr>Monotype Corsiva</vt:lpstr>
      <vt:lpstr>Times New Roman</vt:lpstr>
      <vt:lpstr>NCKU3</vt:lpstr>
      <vt:lpstr>ALGORITHMS 演算法</vt:lpstr>
      <vt:lpstr>什麼是演算法？</vt:lpstr>
      <vt:lpstr>演算法有什麼用？</vt:lpstr>
      <vt:lpstr>生活中的演算法 (1/6)</vt:lpstr>
      <vt:lpstr>生活中的演算法 (2/6)</vt:lpstr>
      <vt:lpstr>生活中的演算法 (3/6)</vt:lpstr>
      <vt:lpstr>生活中的演算法 (4/6)</vt:lpstr>
      <vt:lpstr>生活中的演算法 (5/6)</vt:lpstr>
      <vt:lpstr>生活中的演算法 (6/6)</vt:lpstr>
      <vt:lpstr>最常用的演算法</vt:lpstr>
      <vt:lpstr>提升生活品質的演算法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資料結構 Data Structure</dc:title>
  <dc:creator>C.-W. Lee</dc:creator>
  <cp:lastModifiedBy>李佳衛</cp:lastModifiedBy>
  <cp:revision>60</cp:revision>
  <cp:lastPrinted>2022-09-24T09:12:24Z</cp:lastPrinted>
  <dcterms:created xsi:type="dcterms:W3CDTF">2018-01-10T03:26:15Z</dcterms:created>
  <dcterms:modified xsi:type="dcterms:W3CDTF">2026-07-27T01:54:30Z</dcterms:modified>
</cp:coreProperties>
</file>