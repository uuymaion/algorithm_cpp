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00"/>
  </p:notesMasterIdLst>
  <p:sldIdLst>
    <p:sldId id="365" r:id="rId2"/>
    <p:sldId id="366" r:id="rId3"/>
    <p:sldId id="367" r:id="rId4"/>
    <p:sldId id="368" r:id="rId5"/>
    <p:sldId id="369" r:id="rId6"/>
    <p:sldId id="370" r:id="rId7"/>
    <p:sldId id="371" r:id="rId8"/>
    <p:sldId id="372" r:id="rId9"/>
    <p:sldId id="373" r:id="rId10"/>
    <p:sldId id="374" r:id="rId11"/>
    <p:sldId id="375" r:id="rId12"/>
    <p:sldId id="376" r:id="rId13"/>
    <p:sldId id="377" r:id="rId14"/>
    <p:sldId id="378" r:id="rId15"/>
    <p:sldId id="379" r:id="rId16"/>
    <p:sldId id="380" r:id="rId17"/>
    <p:sldId id="381" r:id="rId18"/>
    <p:sldId id="382" r:id="rId19"/>
    <p:sldId id="383" r:id="rId20"/>
    <p:sldId id="384" r:id="rId21"/>
    <p:sldId id="385" r:id="rId22"/>
    <p:sldId id="386" r:id="rId23"/>
    <p:sldId id="387" r:id="rId24"/>
    <p:sldId id="388" r:id="rId25"/>
    <p:sldId id="389" r:id="rId26"/>
    <p:sldId id="390" r:id="rId27"/>
    <p:sldId id="391" r:id="rId28"/>
    <p:sldId id="392" r:id="rId29"/>
    <p:sldId id="393" r:id="rId30"/>
    <p:sldId id="394" r:id="rId31"/>
    <p:sldId id="395" r:id="rId32"/>
    <p:sldId id="396" r:id="rId33"/>
    <p:sldId id="397" r:id="rId34"/>
    <p:sldId id="398" r:id="rId35"/>
    <p:sldId id="399" r:id="rId36"/>
    <p:sldId id="400" r:id="rId37"/>
    <p:sldId id="401" r:id="rId38"/>
    <p:sldId id="402" r:id="rId39"/>
    <p:sldId id="403" r:id="rId40"/>
    <p:sldId id="404" r:id="rId41"/>
    <p:sldId id="405" r:id="rId42"/>
    <p:sldId id="406" r:id="rId43"/>
    <p:sldId id="407" r:id="rId44"/>
    <p:sldId id="408" r:id="rId45"/>
    <p:sldId id="409" r:id="rId46"/>
    <p:sldId id="410" r:id="rId47"/>
    <p:sldId id="411" r:id="rId48"/>
    <p:sldId id="412" r:id="rId49"/>
    <p:sldId id="413" r:id="rId50"/>
    <p:sldId id="414" r:id="rId51"/>
    <p:sldId id="415" r:id="rId52"/>
    <p:sldId id="416" r:id="rId53"/>
    <p:sldId id="417" r:id="rId54"/>
    <p:sldId id="418" r:id="rId55"/>
    <p:sldId id="419" r:id="rId56"/>
    <p:sldId id="420" r:id="rId57"/>
    <p:sldId id="421" r:id="rId58"/>
    <p:sldId id="422" r:id="rId59"/>
    <p:sldId id="423" r:id="rId60"/>
    <p:sldId id="424" r:id="rId61"/>
    <p:sldId id="425" r:id="rId62"/>
    <p:sldId id="426" r:id="rId63"/>
    <p:sldId id="427" r:id="rId64"/>
    <p:sldId id="428" r:id="rId65"/>
    <p:sldId id="429" r:id="rId66"/>
    <p:sldId id="430" r:id="rId67"/>
    <p:sldId id="431" r:id="rId68"/>
    <p:sldId id="432" r:id="rId69"/>
    <p:sldId id="433" r:id="rId70"/>
    <p:sldId id="434" r:id="rId71"/>
    <p:sldId id="435" r:id="rId72"/>
    <p:sldId id="436" r:id="rId73"/>
    <p:sldId id="437" r:id="rId74"/>
    <p:sldId id="438" r:id="rId75"/>
    <p:sldId id="439" r:id="rId76"/>
    <p:sldId id="440" r:id="rId77"/>
    <p:sldId id="441" r:id="rId78"/>
    <p:sldId id="442" r:id="rId79"/>
    <p:sldId id="443" r:id="rId80"/>
    <p:sldId id="444" r:id="rId81"/>
    <p:sldId id="445" r:id="rId82"/>
    <p:sldId id="446" r:id="rId83"/>
    <p:sldId id="447" r:id="rId84"/>
    <p:sldId id="448" r:id="rId85"/>
    <p:sldId id="449" r:id="rId86"/>
    <p:sldId id="450" r:id="rId87"/>
    <p:sldId id="451" r:id="rId88"/>
    <p:sldId id="452" r:id="rId89"/>
    <p:sldId id="453" r:id="rId90"/>
    <p:sldId id="454" r:id="rId91"/>
    <p:sldId id="455" r:id="rId92"/>
    <p:sldId id="456" r:id="rId93"/>
    <p:sldId id="457" r:id="rId94"/>
    <p:sldId id="458" r:id="rId95"/>
    <p:sldId id="459" r:id="rId96"/>
    <p:sldId id="460" r:id="rId97"/>
    <p:sldId id="461" r:id="rId98"/>
    <p:sldId id="462" r:id="rId99"/>
  </p:sldIdLst>
  <p:sldSz cx="9144000" cy="6858000" type="screen4x3"/>
  <p:notesSz cx="6807200" cy="9939338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FFCC"/>
    <a:srgbClr val="820000"/>
    <a:srgbClr val="700000"/>
    <a:srgbClr val="9E0000"/>
    <a:srgbClr val="323232"/>
    <a:srgbClr val="333399"/>
    <a:srgbClr val="CC00CC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0932" autoAdjust="0"/>
  </p:normalViewPr>
  <p:slideViewPr>
    <p:cSldViewPr>
      <p:cViewPr varScale="1">
        <p:scale>
          <a:sx n="82" d="100"/>
          <a:sy n="82" d="100"/>
        </p:scale>
        <p:origin x="145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viewProps" Target="view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9786" cy="496967"/>
          </a:xfrm>
          <a:prstGeom prst="rect">
            <a:avLst/>
          </a:prstGeom>
        </p:spPr>
        <p:txBody>
          <a:bodyPr vert="horz" lIns="91842" tIns="45921" rIns="91842" bIns="45921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55839" y="1"/>
            <a:ext cx="2949786" cy="496967"/>
          </a:xfrm>
          <a:prstGeom prst="rect">
            <a:avLst/>
          </a:prstGeom>
        </p:spPr>
        <p:txBody>
          <a:bodyPr vert="horz" lIns="91842" tIns="45921" rIns="91842" bIns="45921" rtlCol="0"/>
          <a:lstStyle>
            <a:lvl1pPr algn="r">
              <a:defRPr sz="1200"/>
            </a:lvl1pPr>
          </a:lstStyle>
          <a:p>
            <a:fld id="{7F921807-99F1-4DF0-94D7-7548FA810751}" type="datetimeFigureOut">
              <a:rPr lang="zh-TW" altLang="en-US" smtClean="0"/>
              <a:pPr/>
              <a:t>2026/9/16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842" tIns="45921" rIns="91842" bIns="45921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0721" y="4721186"/>
            <a:ext cx="5445760" cy="4472703"/>
          </a:xfrm>
          <a:prstGeom prst="rect">
            <a:avLst/>
          </a:prstGeom>
        </p:spPr>
        <p:txBody>
          <a:bodyPr vert="horz" lIns="91842" tIns="45921" rIns="91842" bIns="45921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440647"/>
            <a:ext cx="2949786" cy="496967"/>
          </a:xfrm>
          <a:prstGeom prst="rect">
            <a:avLst/>
          </a:prstGeom>
        </p:spPr>
        <p:txBody>
          <a:bodyPr vert="horz" lIns="91842" tIns="45921" rIns="91842" bIns="45921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5839" y="9440647"/>
            <a:ext cx="2949786" cy="496967"/>
          </a:xfrm>
          <a:prstGeom prst="rect">
            <a:avLst/>
          </a:prstGeom>
        </p:spPr>
        <p:txBody>
          <a:bodyPr vert="horz" lIns="91842" tIns="45921" rIns="91842" bIns="45921" rtlCol="0" anchor="b"/>
          <a:lstStyle>
            <a:lvl1pPr algn="r">
              <a:defRPr sz="1200"/>
            </a:lvl1pPr>
          </a:lstStyle>
          <a:p>
            <a:fld id="{6C24E503-88D4-45A6-8EBB-14391082A01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5129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DCA57-9D53-411D-9D3B-645A04C6A569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12202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4E503-88D4-45A6-8EBB-14391082A01A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69598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4E503-88D4-45A6-8EBB-14391082A01A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25917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DCA57-9D53-411D-9D3B-645A04C6A569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60026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DCA57-9D53-411D-9D3B-645A04C6A569}" type="slidenum">
              <a:rPr lang="zh-TW" altLang="en-US" smtClean="0"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34244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DCA57-9D53-411D-9D3B-645A04C6A569}" type="slidenum">
              <a:rPr lang="zh-TW" altLang="en-US" smtClean="0"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116102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DCA57-9D53-411D-9D3B-645A04C6A569}" type="slidenum">
              <a:rPr lang="zh-TW" altLang="en-US" smtClean="0"/>
              <a:t>61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50633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4E503-88D4-45A6-8EBB-14391082A01A}" type="slidenum">
              <a:rPr lang="zh-TW" altLang="en-US" smtClean="0"/>
              <a:pPr/>
              <a:t>90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890024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 userDrawn="1"/>
        </p:nvSpPr>
        <p:spPr>
          <a:xfrm>
            <a:off x="3233" y="2256530"/>
            <a:ext cx="9144000" cy="126032"/>
          </a:xfrm>
          <a:prstGeom prst="rect">
            <a:avLst/>
          </a:prstGeom>
          <a:gradFill flip="none" rotWithShape="1">
            <a:gsLst>
              <a:gs pos="0">
                <a:srgbClr val="820000">
                  <a:shade val="30000"/>
                  <a:satMod val="115000"/>
                </a:srgbClr>
              </a:gs>
              <a:gs pos="100000">
                <a:srgbClr val="82000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81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2483768" y="4530498"/>
            <a:ext cx="6552728" cy="1676400"/>
          </a:xfrm>
        </p:spPr>
        <p:txBody>
          <a:bodyPr/>
          <a:lstStyle>
            <a:lvl1pPr marL="0" indent="0" algn="ctr">
              <a:buFontTx/>
              <a:buNone/>
              <a:defRPr b="1">
                <a:latin typeface="+mj-lt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3082" name="Rectangle 10"/>
          <p:cNvSpPr>
            <a:spLocks noGrp="1" noChangeArrowheads="1"/>
          </p:cNvSpPr>
          <p:nvPr>
            <p:ph type="dt" sz="half" idx="2"/>
          </p:nvPr>
        </p:nvSpPr>
        <p:spPr>
          <a:xfrm>
            <a:off x="0" y="6400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TW"/>
              <a:t>2026/09/23</a:t>
            </a:r>
          </a:p>
        </p:txBody>
      </p:sp>
      <p:sp>
        <p:nvSpPr>
          <p:cNvPr id="3083" name="Rectangle 11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4008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sv-SE" altLang="zh-TW"/>
              <a:t>(c) 2026 Fall, C.-W. Lee</a:t>
            </a:r>
            <a:endParaRPr lang="en-US" altLang="zh-TW"/>
          </a:p>
        </p:txBody>
      </p:sp>
      <p:sp>
        <p:nvSpPr>
          <p:cNvPr id="308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2924896" y="2394158"/>
            <a:ext cx="6111600" cy="1860612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  <a:latin typeface="+mj-lt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18" name="矩形 17"/>
          <p:cNvSpPr/>
          <p:nvPr userDrawn="1"/>
        </p:nvSpPr>
        <p:spPr>
          <a:xfrm>
            <a:off x="3233" y="4254770"/>
            <a:ext cx="9144000" cy="126032"/>
          </a:xfrm>
          <a:prstGeom prst="rect">
            <a:avLst/>
          </a:prstGeom>
          <a:gradFill flip="none" rotWithShape="1">
            <a:gsLst>
              <a:gs pos="0">
                <a:srgbClr val="820000">
                  <a:shade val="30000"/>
                  <a:satMod val="115000"/>
                </a:srgbClr>
              </a:gs>
              <a:gs pos="100000">
                <a:srgbClr val="82000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 userDrawn="1"/>
        </p:nvSpPr>
        <p:spPr>
          <a:xfrm>
            <a:off x="4300993" y="6581001"/>
            <a:ext cx="484624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TW" sz="1800" b="1" i="1" dirty="0">
                <a:latin typeface="Monotype Corsiva" panose="03010101010201010101" pitchFamily="66" charset="0"/>
                <a:cs typeface="Nirmala UI" panose="020B0502040204020203" pitchFamily="34" charset="0"/>
              </a:rPr>
              <a:t>Interconnection Networks and Algorithm Application Lab.</a:t>
            </a:r>
            <a:endParaRPr lang="zh-TW" altLang="en-US" sz="1800" b="1" i="1" dirty="0">
              <a:latin typeface="Monotype Corsiva" panose="03010101010201010101" pitchFamily="66" charset="0"/>
              <a:cs typeface="Nirmala UI" panose="020B0502040204020203" pitchFamily="34" charset="0"/>
            </a:endParaRPr>
          </a:p>
        </p:txBody>
      </p:sp>
      <p:pic>
        <p:nvPicPr>
          <p:cNvPr id="12" name="Picture 2" descr="C:\Users\admin\Dropbox\世暘&amp;莉淳\相片\DSC_9359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92" y="2382770"/>
            <a:ext cx="2812457" cy="1872000"/>
          </a:xfrm>
          <a:prstGeom prst="rect">
            <a:avLst/>
          </a:prstGeom>
          <a:noFill/>
        </p:spPr>
      </p:pic>
      <p:pic>
        <p:nvPicPr>
          <p:cNvPr id="20" name="圖片 1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0458" y="1161633"/>
            <a:ext cx="3566038" cy="1080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7504" y="0"/>
            <a:ext cx="6861448" cy="1143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950" y="1268760"/>
            <a:ext cx="8928100" cy="532730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2026/09/23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Fall,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3F35E6-A8E7-488D-BD9F-ED9A7F7FA10F}" type="slidenum">
              <a:rPr lang="en-US" altLang="zh-TW"/>
              <a:pPr/>
              <a:t>‹#›</a:t>
            </a:fld>
            <a:endParaRPr lang="en-US" altLang="zh-TW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2026/09/23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Fall, C.-W. Lee</a:t>
            </a: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3183EC-7050-45EB-9E88-B86B53D28DC6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107950" y="1482725"/>
            <a:ext cx="4387850" cy="5113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482725"/>
            <a:ext cx="4387850" cy="5113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2026/09/23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Fall, C.-W. Lee</a:t>
            </a: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B32F3C-BFB5-4433-80F2-31E4E599C271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2026/09/23</a:t>
            </a: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Fall, C.-W. Lee</a:t>
            </a:r>
            <a:endParaRPr lang="en-US" altLang="zh-TW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C71ADB-DDEF-4830-B9BC-5050A26247AE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2026/09/23</a:t>
            </a: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Fall, C.-W. Lee</a:t>
            </a:r>
            <a:endParaRPr lang="en-US" alt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38238B-CE9D-4BC3-843E-48DE31256F23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2026/09/23</a:t>
            </a: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Fall, C.-W. Lee</a:t>
            </a:r>
            <a:endParaRPr lang="en-US" alt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9989FA-7C75-4428-B4F8-334FD7721128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2026/09/23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Fall, C.-W. Lee</a:t>
            </a: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4ED4DE-EAF4-4F9D-92A9-54CDF4DC4603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2026/09/23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Fall, C.-W. Lee</a:t>
            </a: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DBED88-20FD-46BD-AA27-41E91F90C6D7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2026/09/23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Fall, C.-W. Lee</a:t>
            </a: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5973D2-4DDA-41F5-8DAD-51687E6176F5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804025" y="0"/>
            <a:ext cx="2232025" cy="6596063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107950" y="0"/>
            <a:ext cx="6543675" cy="6596063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2026/09/23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Fall, C.-W. Lee</a:t>
            </a: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6BEB42-A2EB-4830-8F53-FDF4A3AEB5C6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86816" y="0"/>
            <a:ext cx="6861448" cy="1143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96040" y="1250328"/>
            <a:ext cx="8940456" cy="534573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6200" y="6597650"/>
            <a:ext cx="1905000" cy="260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1">
                <a:latin typeface="+mn-lt"/>
                <a:cs typeface="Angsana New" pitchFamily="18" charset="-34"/>
              </a:defRPr>
            </a:lvl1pPr>
          </a:lstStyle>
          <a:p>
            <a:r>
              <a:rPr lang="en-US" altLang="zh-TW"/>
              <a:t>2026/09/23</a:t>
            </a:r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00400" y="6597650"/>
            <a:ext cx="2895600" cy="260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1">
                <a:latin typeface="+mn-lt"/>
                <a:cs typeface="Angsana New" pitchFamily="18" charset="-34"/>
              </a:defRPr>
            </a:lvl1pPr>
          </a:lstStyle>
          <a:p>
            <a:r>
              <a:rPr lang="sv-SE" altLang="zh-TW"/>
              <a:t>(c) 2026 Fall, C.-W. Lee</a:t>
            </a:r>
            <a:endParaRPr lang="en-US" altLang="zh-TW"/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597650"/>
            <a:ext cx="1905000" cy="260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1">
                <a:latin typeface="+mn-lt"/>
                <a:cs typeface="Angsana New" pitchFamily="18" charset="-34"/>
              </a:defRPr>
            </a:lvl1pPr>
          </a:lstStyle>
          <a:p>
            <a:fld id="{88815D73-EF14-4780-98ED-F121D5ADB135}" type="slidenum">
              <a:rPr lang="en-US" altLang="zh-TW"/>
              <a:pPr/>
              <a:t>‹#›</a:t>
            </a:fld>
            <a:endParaRPr lang="en-US" altLang="zh-TW"/>
          </a:p>
        </p:txBody>
      </p:sp>
      <p:sp>
        <p:nvSpPr>
          <p:cNvPr id="16" name="矩形 15"/>
          <p:cNvSpPr/>
          <p:nvPr userDrawn="1"/>
        </p:nvSpPr>
        <p:spPr>
          <a:xfrm>
            <a:off x="0" y="1160664"/>
            <a:ext cx="9144000" cy="72000"/>
          </a:xfrm>
          <a:prstGeom prst="rect">
            <a:avLst/>
          </a:prstGeom>
          <a:gradFill flip="none" rotWithShape="1">
            <a:gsLst>
              <a:gs pos="0">
                <a:srgbClr val="820000">
                  <a:shade val="30000"/>
                  <a:satMod val="115000"/>
                </a:srgbClr>
              </a:gs>
              <a:gs pos="100000">
                <a:srgbClr val="82000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 userDrawn="1"/>
        </p:nvSpPr>
        <p:spPr>
          <a:xfrm>
            <a:off x="4343620" y="935059"/>
            <a:ext cx="484624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TW" sz="1800" b="1" i="1" dirty="0">
                <a:latin typeface="Monotype Corsiva" panose="03010101010201010101" pitchFamily="66" charset="0"/>
                <a:cs typeface="Nirmala UI" panose="020B0502040204020203" pitchFamily="34" charset="0"/>
              </a:rPr>
              <a:t>Interconnection Networks and Algorithm Application Lab.</a:t>
            </a:r>
            <a:endParaRPr lang="zh-TW" altLang="en-US" sz="1800" b="1" i="1" dirty="0">
              <a:latin typeface="Monotype Corsiva" panose="03010101010201010101" pitchFamily="66" charset="0"/>
              <a:cs typeface="Nirmala UI" panose="020B0502040204020203" pitchFamily="34" charset="0"/>
            </a:endParaRPr>
          </a:p>
        </p:txBody>
      </p:sp>
      <p:pic>
        <p:nvPicPr>
          <p:cNvPr id="2" name="圖片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043" y="18248"/>
            <a:ext cx="2133600" cy="64617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chemeClr val="tx1"/>
          </a:solidFill>
          <a:latin typeface="+mj-lt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Blip>
          <a:blip r:embed="rId14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Blip>
          <a:blip r:embed="rId15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Blip>
          <a:blip r:embed="rId17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53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0.png"/><Relationship Id="rId2" Type="http://schemas.openxmlformats.org/officeDocument/2006/relationships/image" Target="../media/image91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7" Type="http://schemas.openxmlformats.org/officeDocument/2006/relationships/image" Target="../media/image190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0.png"/><Relationship Id="rId5" Type="http://schemas.openxmlformats.org/officeDocument/2006/relationships/image" Target="../media/image170.png"/><Relationship Id="rId4" Type="http://schemas.openxmlformats.org/officeDocument/2006/relationships/image" Target="../media/image16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1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18" Type="http://schemas.openxmlformats.org/officeDocument/2006/relationships/image" Target="../media/image50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17" Type="http://schemas.openxmlformats.org/officeDocument/2006/relationships/image" Target="../media/image48.png"/><Relationship Id="rId2" Type="http://schemas.openxmlformats.org/officeDocument/2006/relationships/image" Target="../media/image24.png"/><Relationship Id="rId16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5" Type="http://schemas.openxmlformats.org/officeDocument/2006/relationships/image" Target="../media/image46.png"/><Relationship Id="rId10" Type="http://schemas.openxmlformats.org/officeDocument/2006/relationships/image" Target="../media/image41.png"/><Relationship Id="rId19" Type="http://schemas.openxmlformats.org/officeDocument/2006/relationships/image" Target="../media/image5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Relationship Id="rId14" Type="http://schemas.openxmlformats.org/officeDocument/2006/relationships/image" Target="../media/image45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70.png"/><Relationship Id="rId7" Type="http://schemas.openxmlformats.org/officeDocument/2006/relationships/image" Target="../media/image52.png"/><Relationship Id="rId2" Type="http://schemas.openxmlformats.org/officeDocument/2006/relationships/image" Target="../media/image4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0.png"/><Relationship Id="rId5" Type="http://schemas.openxmlformats.org/officeDocument/2006/relationships/image" Target="../media/image500.png"/><Relationship Id="rId4" Type="http://schemas.openxmlformats.org/officeDocument/2006/relationships/image" Target="../media/image480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7" Type="http://schemas.openxmlformats.org/officeDocument/2006/relationships/image" Target="../media/image5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0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7" Type="http://schemas.openxmlformats.org/officeDocument/2006/relationships/image" Target="../media/image5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0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7" Type="http://schemas.openxmlformats.org/officeDocument/2006/relationships/image" Target="../media/image5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0.png"/><Relationship Id="rId10" Type="http://schemas.openxmlformats.org/officeDocument/2006/relationships/image" Target="../media/image58.png"/><Relationship Id="rId9" Type="http://schemas.openxmlformats.org/officeDocument/2006/relationships/image" Target="../media/image57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7" Type="http://schemas.openxmlformats.org/officeDocument/2006/relationships/image" Target="../media/image5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0.png"/><Relationship Id="rId11" Type="http://schemas.openxmlformats.org/officeDocument/2006/relationships/image" Target="../media/image61.png"/><Relationship Id="rId10" Type="http://schemas.openxmlformats.org/officeDocument/2006/relationships/image" Target="../media/image60.png"/><Relationship Id="rId9" Type="http://schemas.openxmlformats.org/officeDocument/2006/relationships/image" Target="../media/image59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7" Type="http://schemas.openxmlformats.org/officeDocument/2006/relationships/image" Target="../media/image5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0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0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1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" Target="slide65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0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" Target="slide63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810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image" Target="../media/image74.png"/><Relationship Id="rId7" Type="http://schemas.openxmlformats.org/officeDocument/2006/relationships/image" Target="../media/image78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png"/><Relationship Id="rId11" Type="http://schemas.openxmlformats.org/officeDocument/2006/relationships/image" Target="../media/image82.png"/><Relationship Id="rId5" Type="http://schemas.openxmlformats.org/officeDocument/2006/relationships/image" Target="../media/image76.png"/><Relationship Id="rId10" Type="http://schemas.openxmlformats.org/officeDocument/2006/relationships/image" Target="../media/image81.png"/><Relationship Id="rId4" Type="http://schemas.openxmlformats.org/officeDocument/2006/relationships/image" Target="../media/image75.png"/><Relationship Id="rId9" Type="http://schemas.openxmlformats.org/officeDocument/2006/relationships/image" Target="../media/image80.pn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0.png"/><Relationship Id="rId13" Type="http://schemas.openxmlformats.org/officeDocument/2006/relationships/image" Target="../media/image800.png"/><Relationship Id="rId3" Type="http://schemas.openxmlformats.org/officeDocument/2006/relationships/image" Target="../media/image84.png"/><Relationship Id="rId7" Type="http://schemas.openxmlformats.org/officeDocument/2006/relationships/image" Target="../media/image700.png"/><Relationship Id="rId12" Type="http://schemas.openxmlformats.org/officeDocument/2006/relationships/image" Target="../media/image85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0.png"/><Relationship Id="rId11" Type="http://schemas.openxmlformats.org/officeDocument/2006/relationships/image" Target="../media/image780.png"/><Relationship Id="rId5" Type="http://schemas.openxmlformats.org/officeDocument/2006/relationships/image" Target="../media/image680.png"/><Relationship Id="rId10" Type="http://schemas.openxmlformats.org/officeDocument/2006/relationships/image" Target="../media/image770.png"/><Relationship Id="rId4" Type="http://schemas.openxmlformats.org/officeDocument/2006/relationships/image" Target="../media/image670.png"/><Relationship Id="rId9" Type="http://schemas.openxmlformats.org/officeDocument/2006/relationships/image" Target="../media/image760.png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0.png"/><Relationship Id="rId13" Type="http://schemas.openxmlformats.org/officeDocument/2006/relationships/image" Target="../media/image830.png"/><Relationship Id="rId3" Type="http://schemas.openxmlformats.org/officeDocument/2006/relationships/image" Target="../media/image86.png"/><Relationship Id="rId7" Type="http://schemas.openxmlformats.org/officeDocument/2006/relationships/image" Target="../media/image700.png"/><Relationship Id="rId12" Type="http://schemas.openxmlformats.org/officeDocument/2006/relationships/image" Target="../media/image87.png"/><Relationship Id="rId2" Type="http://schemas.openxmlformats.org/officeDocument/2006/relationships/image" Target="../media/image8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0.png"/><Relationship Id="rId11" Type="http://schemas.openxmlformats.org/officeDocument/2006/relationships/image" Target="../media/image811.png"/><Relationship Id="rId5" Type="http://schemas.openxmlformats.org/officeDocument/2006/relationships/image" Target="../media/image680.png"/><Relationship Id="rId10" Type="http://schemas.openxmlformats.org/officeDocument/2006/relationships/image" Target="../media/image770.png"/><Relationship Id="rId4" Type="http://schemas.openxmlformats.org/officeDocument/2006/relationships/image" Target="../media/image670.png"/><Relationship Id="rId9" Type="http://schemas.openxmlformats.org/officeDocument/2006/relationships/image" Target="../media/image760.png"/><Relationship Id="rId14" Type="http://schemas.openxmlformats.org/officeDocument/2006/relationships/image" Target="../media/image840.png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850.png"/><Relationship Id="rId7" Type="http://schemas.openxmlformats.org/officeDocument/2006/relationships/image" Target="../media/image89.png"/><Relationship Id="rId12" Type="http://schemas.openxmlformats.org/officeDocument/2006/relationships/image" Target="../media/image94.png"/><Relationship Id="rId2" Type="http://schemas.openxmlformats.org/officeDocument/2006/relationships/image" Target="../media/image8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png"/><Relationship Id="rId11" Type="http://schemas.openxmlformats.org/officeDocument/2006/relationships/image" Target="../media/image93.png"/><Relationship Id="rId5" Type="http://schemas.openxmlformats.org/officeDocument/2006/relationships/image" Target="../media/image870.png"/><Relationship Id="rId10" Type="http://schemas.openxmlformats.org/officeDocument/2006/relationships/image" Target="../media/image92.png"/><Relationship Id="rId4" Type="http://schemas.openxmlformats.org/officeDocument/2006/relationships/image" Target="../media/image860.png"/><Relationship Id="rId9" Type="http://schemas.openxmlformats.org/officeDocument/2006/relationships/image" Target="../media/image91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7.png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3" Type="http://schemas.openxmlformats.org/officeDocument/2006/relationships/image" Target="../media/image102.png"/><Relationship Id="rId7" Type="http://schemas.openxmlformats.org/officeDocument/2006/relationships/image" Target="../media/image106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5.png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0.png"/><Relationship Id="rId4" Type="http://schemas.openxmlformats.org/officeDocument/2006/relationships/image" Target="../media/image109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6.png"/><Relationship Id="rId5" Type="http://schemas.openxmlformats.org/officeDocument/2006/relationships/image" Target="../media/image115.png"/><Relationship Id="rId4" Type="http://schemas.openxmlformats.org/officeDocument/2006/relationships/image" Target="../media/image114.png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emf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ALGORITHMS</a:t>
            </a:r>
            <a:br>
              <a:rPr lang="en-US" altLang="zh-TW" dirty="0"/>
            </a:br>
            <a:r>
              <a:rPr lang="zh-TW" altLang="en-US" dirty="0"/>
              <a:t>演算法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zh-TW" dirty="0"/>
              <a:t>Chapter 3</a:t>
            </a:r>
          </a:p>
          <a:p>
            <a:pPr algn="r"/>
            <a:r>
              <a:rPr lang="en-US" altLang="zh-TW" dirty="0"/>
              <a:t>Dynamic Programming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14987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動態規劃 </a:t>
            </a:r>
            <a:r>
              <a:rPr lang="en-US" altLang="zh-TW" dirty="0"/>
              <a:t>DP (1/3)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各個擊破 </a:t>
            </a:r>
            <a:r>
              <a:rPr lang="en-US" altLang="zh-TW" dirty="0"/>
              <a:t>divide-and-conquer</a:t>
            </a:r>
          </a:p>
          <a:p>
            <a:pPr lvl="1"/>
            <a:r>
              <a:rPr lang="zh-TW" altLang="en-US" dirty="0"/>
              <a:t>是一種</a:t>
            </a:r>
            <a:r>
              <a:rPr lang="zh-TW" altLang="en-US" dirty="0">
                <a:solidFill>
                  <a:srgbClr val="C00000"/>
                </a:solidFill>
              </a:rPr>
              <a:t>由上而下</a:t>
            </a:r>
            <a:r>
              <a:rPr lang="en-US" altLang="zh-TW" dirty="0">
                <a:solidFill>
                  <a:srgbClr val="C00000"/>
                </a:solidFill>
              </a:rPr>
              <a:t>(top-down)</a:t>
            </a:r>
            <a:r>
              <a:rPr lang="zh-TW" altLang="en-US" dirty="0"/>
              <a:t>的計算方式</a:t>
            </a:r>
            <a:endParaRPr lang="en-US" altLang="zh-TW" dirty="0"/>
          </a:p>
          <a:p>
            <a:pPr lvl="2"/>
            <a:r>
              <a:rPr lang="zh-TW" altLang="en-US" dirty="0"/>
              <a:t>合併排序</a:t>
            </a:r>
            <a:r>
              <a:rPr lang="en-US" altLang="zh-TW" dirty="0"/>
              <a:t>(</a:t>
            </a:r>
            <a:r>
              <a:rPr lang="en-US" altLang="zh-TW" dirty="0" err="1"/>
              <a:t>mergesort</a:t>
            </a:r>
            <a:r>
              <a:rPr lang="en-US" altLang="zh-TW" dirty="0"/>
              <a:t>)</a:t>
            </a:r>
          </a:p>
          <a:p>
            <a:pPr lvl="3"/>
            <a:r>
              <a:rPr lang="zh-TW" altLang="en-US" dirty="0"/>
              <a:t>將需要排序的數字切成數個較小的單位</a:t>
            </a:r>
            <a:endParaRPr lang="en-US" altLang="zh-TW" dirty="0"/>
          </a:p>
          <a:p>
            <a:pPr lvl="3"/>
            <a:r>
              <a:rPr lang="zh-TW" altLang="en-US" dirty="0"/>
              <a:t>小單位彼此之間是毫無關聯的</a:t>
            </a:r>
            <a:endParaRPr lang="en-US" altLang="zh-TW" dirty="0"/>
          </a:p>
          <a:p>
            <a:pPr lvl="3"/>
            <a:r>
              <a:rPr lang="zh-TW" altLang="en-US" dirty="0"/>
              <a:t>小單位各自排序後，再與其他單位進行排序</a:t>
            </a:r>
            <a:endParaRPr lang="en-US" altLang="zh-TW" dirty="0"/>
          </a:p>
          <a:p>
            <a:pPr lvl="1"/>
            <a:r>
              <a:rPr lang="zh-TW" altLang="en-US" dirty="0"/>
              <a:t>演算法</a:t>
            </a:r>
            <a:r>
              <a:rPr lang="en-US" altLang="zh-TW" dirty="0"/>
              <a:t>1.6</a:t>
            </a:r>
            <a:r>
              <a:rPr lang="zh-TW" altLang="en-US" dirty="0"/>
              <a:t>：計算費氏數列第</a:t>
            </a:r>
            <a:r>
              <a:rPr lang="en-US" altLang="zh-TW" i="1" dirty="0"/>
              <a:t>n</a:t>
            </a:r>
            <a:r>
              <a:rPr lang="zh-TW" altLang="en-US" dirty="0"/>
              <a:t>項，時間複雜度隨</a:t>
            </a:r>
            <a:r>
              <a:rPr lang="en-US" altLang="zh-TW" i="1" dirty="0"/>
              <a:t>n</a:t>
            </a:r>
            <a:r>
              <a:rPr lang="zh-TW" altLang="en-US" dirty="0"/>
              <a:t>的大小指數成長</a:t>
            </a:r>
            <a:endParaRPr lang="en-US" altLang="zh-TW" dirty="0"/>
          </a:p>
          <a:p>
            <a:pPr lvl="2"/>
            <a:r>
              <a:rPr lang="zh-TW" altLang="en-US" dirty="0"/>
              <a:t>問題被切成數個較小且</a:t>
            </a:r>
            <a:r>
              <a:rPr lang="zh-TW" altLang="en-US" u="sng" dirty="0">
                <a:solidFill>
                  <a:srgbClr val="C00000"/>
                </a:solidFill>
              </a:rPr>
              <a:t>性質相同</a:t>
            </a:r>
            <a:r>
              <a:rPr lang="zh-TW" altLang="en-US" dirty="0"/>
              <a:t>的問題</a:t>
            </a:r>
            <a:endParaRPr lang="en-US" altLang="zh-TW" dirty="0"/>
          </a:p>
          <a:p>
            <a:pPr lvl="2"/>
            <a:r>
              <a:rPr lang="zh-TW" altLang="en-US" dirty="0"/>
              <a:t>缺乏效率</a:t>
            </a:r>
            <a:endParaRPr lang="en-US" altLang="zh-TW" dirty="0"/>
          </a:p>
          <a:p>
            <a:pPr lvl="1"/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6855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動態規劃 </a:t>
            </a:r>
            <a:r>
              <a:rPr lang="en-US" altLang="zh-TW" dirty="0"/>
              <a:t>DP (2/3)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與</a:t>
            </a:r>
            <a:r>
              <a:rPr lang="en-US" altLang="zh-TW" dirty="0"/>
              <a:t>divide-and-conquer</a:t>
            </a:r>
            <a:r>
              <a:rPr lang="zh-TW" altLang="en-US" dirty="0">
                <a:solidFill>
                  <a:srgbClr val="0000FF"/>
                </a:solidFill>
              </a:rPr>
              <a:t>相似處</a:t>
            </a:r>
            <a:endParaRPr lang="en-US" altLang="zh-TW" dirty="0">
              <a:solidFill>
                <a:srgbClr val="0000FF"/>
              </a:solidFill>
            </a:endParaRPr>
          </a:p>
          <a:p>
            <a:pPr lvl="1"/>
            <a:r>
              <a:rPr lang="zh-TW" altLang="en-US" dirty="0"/>
              <a:t>將問題切成數個</a:t>
            </a:r>
            <a:r>
              <a:rPr lang="zh-TW" altLang="en-US" dirty="0">
                <a:solidFill>
                  <a:srgbClr val="C00000"/>
                </a:solidFill>
              </a:rPr>
              <a:t>較小且性質相同</a:t>
            </a:r>
            <a:r>
              <a:rPr lang="zh-TW" altLang="en-US" dirty="0"/>
              <a:t>的問題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zh-TW" altLang="en-US" dirty="0"/>
              <a:t>與</a:t>
            </a:r>
            <a:r>
              <a:rPr lang="en-US" altLang="zh-TW" dirty="0"/>
              <a:t>divide-and-conquer</a:t>
            </a:r>
            <a:r>
              <a:rPr lang="zh-TW" altLang="en-US" dirty="0">
                <a:solidFill>
                  <a:srgbClr val="0000FF"/>
                </a:solidFill>
              </a:rPr>
              <a:t>相異處</a:t>
            </a:r>
            <a:endParaRPr lang="en-US" altLang="zh-TW" dirty="0">
              <a:solidFill>
                <a:srgbClr val="0000FF"/>
              </a:solidFill>
            </a:endParaRPr>
          </a:p>
          <a:p>
            <a:pPr lvl="1"/>
            <a:r>
              <a:rPr lang="zh-TW" altLang="en-US" dirty="0"/>
              <a:t>動態規劃會</a:t>
            </a:r>
            <a:r>
              <a:rPr lang="zh-TW" altLang="en-US" dirty="0">
                <a:solidFill>
                  <a:srgbClr val="C00000"/>
                </a:solidFill>
              </a:rPr>
              <a:t>先計算較小的問題</a:t>
            </a:r>
            <a:r>
              <a:rPr lang="zh-TW" altLang="en-US" dirty="0"/>
              <a:t>，並儲存計算的結果</a:t>
            </a:r>
            <a:endParaRPr lang="en-US" altLang="zh-TW" dirty="0"/>
          </a:p>
          <a:p>
            <a:pPr lvl="1"/>
            <a:r>
              <a:rPr lang="zh-TW" altLang="en-US" dirty="0">
                <a:solidFill>
                  <a:srgbClr val="C00000"/>
                </a:solidFill>
              </a:rPr>
              <a:t>由下而上</a:t>
            </a:r>
            <a:r>
              <a:rPr lang="en-US" altLang="zh-TW" dirty="0">
                <a:solidFill>
                  <a:srgbClr val="C00000"/>
                </a:solidFill>
              </a:rPr>
              <a:t>(bottom-up)</a:t>
            </a:r>
            <a:r>
              <a:rPr lang="zh-TW" altLang="en-US" dirty="0"/>
              <a:t>的演算法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動態規劃 </a:t>
            </a:r>
            <a:r>
              <a:rPr lang="en-US" altLang="zh-TW" dirty="0"/>
              <a:t>dynamic programming</a:t>
            </a:r>
          </a:p>
          <a:p>
            <a:pPr lvl="1"/>
            <a:r>
              <a:rPr lang="zh-TW" altLang="en-US" dirty="0"/>
              <a:t>來自於控制理論</a:t>
            </a:r>
            <a:endParaRPr lang="en-US" altLang="zh-TW" dirty="0"/>
          </a:p>
          <a:p>
            <a:pPr lvl="1"/>
            <a:r>
              <a:rPr lang="zh-TW" altLang="en-US" dirty="0"/>
              <a:t>使用陣列</a:t>
            </a:r>
            <a:r>
              <a:rPr lang="en-US" altLang="zh-TW" dirty="0"/>
              <a:t>(array)</a:t>
            </a:r>
            <a:r>
              <a:rPr lang="zh-TW" altLang="en-US" dirty="0"/>
              <a:t>的技巧來儲存計算的結果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680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動態規劃 </a:t>
            </a:r>
            <a:r>
              <a:rPr lang="en-US" altLang="zh-TW" dirty="0"/>
              <a:t>DP (3/3)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建構</a:t>
            </a:r>
            <a:r>
              <a:rPr lang="en-US" altLang="zh-TW" dirty="0"/>
              <a:t>dynamic</a:t>
            </a:r>
            <a:r>
              <a:rPr lang="zh-TW" altLang="en-US" dirty="0"/>
              <a:t> </a:t>
            </a:r>
            <a:r>
              <a:rPr lang="en-US" altLang="zh-TW" dirty="0"/>
              <a:t>programming</a:t>
            </a:r>
            <a:r>
              <a:rPr lang="zh-TW" altLang="en-US" dirty="0"/>
              <a:t>演算法步驟</a:t>
            </a:r>
            <a:endParaRPr lang="en-US" altLang="zh-TW" dirty="0"/>
          </a:p>
          <a:p>
            <a:pPr lvl="1"/>
            <a:r>
              <a:rPr lang="zh-TW" altLang="en-US" dirty="0"/>
              <a:t>建立一個</a:t>
            </a:r>
            <a:r>
              <a:rPr lang="zh-TW" altLang="en-US" dirty="0">
                <a:solidFill>
                  <a:srgbClr val="C00000"/>
                </a:solidFill>
              </a:rPr>
              <a:t>遞迴</a:t>
            </a:r>
            <a:r>
              <a:rPr lang="en-US" altLang="zh-TW" dirty="0">
                <a:solidFill>
                  <a:srgbClr val="C00000"/>
                </a:solidFill>
              </a:rPr>
              <a:t>(recursive)</a:t>
            </a:r>
            <a:r>
              <a:rPr lang="zh-TW" altLang="en-US" dirty="0"/>
              <a:t>機制</a:t>
            </a:r>
            <a:endParaRPr lang="en-US" altLang="zh-TW" dirty="0"/>
          </a:p>
          <a:p>
            <a:pPr lvl="2"/>
            <a:r>
              <a:rPr lang="zh-TW" altLang="en-US" dirty="0"/>
              <a:t>求取一個問題經過切割後，產生較小但性質相同問題的解</a:t>
            </a:r>
            <a:endParaRPr lang="en-US" altLang="zh-TW" dirty="0"/>
          </a:p>
          <a:p>
            <a:pPr lvl="1"/>
            <a:r>
              <a:rPr lang="zh-TW" altLang="en-US" dirty="0"/>
              <a:t>用</a:t>
            </a:r>
            <a:r>
              <a:rPr lang="zh-TW" altLang="en-US" dirty="0">
                <a:solidFill>
                  <a:srgbClr val="C00000"/>
                </a:solidFill>
              </a:rPr>
              <a:t>由下而上</a:t>
            </a:r>
            <a:r>
              <a:rPr lang="en-US" altLang="zh-TW" dirty="0">
                <a:solidFill>
                  <a:srgbClr val="C00000"/>
                </a:solidFill>
              </a:rPr>
              <a:t>(bottom-up)</a:t>
            </a:r>
            <a:r>
              <a:rPr lang="zh-TW" altLang="en-US" dirty="0"/>
              <a:t>的方式解題</a:t>
            </a:r>
            <a:endParaRPr lang="en-US" altLang="zh-TW" dirty="0"/>
          </a:p>
          <a:p>
            <a:pPr lvl="2"/>
            <a:r>
              <a:rPr lang="zh-TW" altLang="en-US" dirty="0"/>
              <a:t>由最小的問題開始，逐步向上求取最後整個問題的解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4381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二項式係數 </a:t>
            </a:r>
            <a:r>
              <a:rPr lang="en-US" altLang="zh-TW" dirty="0"/>
              <a:t>(1/8)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(</a:t>
            </a:r>
            <a:r>
              <a:rPr lang="en-US" altLang="zh-TW" i="1" dirty="0"/>
              <a:t>a</a:t>
            </a:r>
            <a:r>
              <a:rPr lang="en-US" altLang="zh-TW" dirty="0"/>
              <a:t> + </a:t>
            </a:r>
            <a:r>
              <a:rPr lang="en-US" altLang="zh-TW" i="1" dirty="0"/>
              <a:t>b</a:t>
            </a:r>
            <a:r>
              <a:rPr lang="en-US" altLang="zh-TW" dirty="0"/>
              <a:t>)</a:t>
            </a:r>
            <a:r>
              <a:rPr lang="en-US" altLang="zh-TW" baseline="30000" dirty="0"/>
              <a:t>2</a:t>
            </a:r>
            <a:r>
              <a:rPr lang="en-US" altLang="zh-TW" dirty="0"/>
              <a:t> = </a:t>
            </a:r>
            <a:r>
              <a:rPr lang="en-US" altLang="zh-TW" dirty="0">
                <a:solidFill>
                  <a:srgbClr val="C00000"/>
                </a:solidFill>
              </a:rPr>
              <a:t>1</a:t>
            </a:r>
            <a:r>
              <a:rPr lang="en-US" altLang="zh-TW" dirty="0"/>
              <a:t> </a:t>
            </a:r>
            <a:r>
              <a:rPr lang="en-US" altLang="zh-TW" dirty="0">
                <a:sym typeface="Symbol" panose="05050102010706020507" pitchFamily="18" charset="2"/>
              </a:rPr>
              <a:t> </a:t>
            </a:r>
            <a:r>
              <a:rPr lang="en-US" altLang="zh-TW" i="1" dirty="0">
                <a:sym typeface="Symbol" panose="05050102010706020507" pitchFamily="18" charset="2"/>
              </a:rPr>
              <a:t>a</a:t>
            </a:r>
            <a:r>
              <a:rPr lang="en-US" altLang="zh-TW" baseline="30000" dirty="0">
                <a:sym typeface="Symbol" panose="05050102010706020507" pitchFamily="18" charset="2"/>
              </a:rPr>
              <a:t>2</a:t>
            </a:r>
            <a:r>
              <a:rPr lang="en-US" altLang="zh-TW" dirty="0">
                <a:sym typeface="Symbol" panose="05050102010706020507" pitchFamily="18" charset="2"/>
              </a:rPr>
              <a:t> + </a:t>
            </a:r>
            <a:r>
              <a:rPr lang="en-US" altLang="zh-TW" dirty="0">
                <a:solidFill>
                  <a:srgbClr val="C00000"/>
                </a:solidFill>
                <a:sym typeface="Symbol" panose="05050102010706020507" pitchFamily="18" charset="2"/>
              </a:rPr>
              <a:t>2</a:t>
            </a:r>
            <a:r>
              <a:rPr lang="en-US" altLang="zh-TW" dirty="0">
                <a:sym typeface="Symbol" panose="05050102010706020507" pitchFamily="18" charset="2"/>
              </a:rPr>
              <a:t>  </a:t>
            </a:r>
            <a:r>
              <a:rPr lang="en-US" altLang="zh-TW" i="1" dirty="0">
                <a:sym typeface="Symbol" panose="05050102010706020507" pitchFamily="18" charset="2"/>
              </a:rPr>
              <a:t>a</a:t>
            </a:r>
            <a:r>
              <a:rPr lang="en-US" altLang="zh-TW" dirty="0">
                <a:sym typeface="Symbol" panose="05050102010706020507" pitchFamily="18" charset="2"/>
              </a:rPr>
              <a:t>  </a:t>
            </a:r>
            <a:r>
              <a:rPr lang="en-US" altLang="zh-TW" i="1" dirty="0">
                <a:sym typeface="Symbol" panose="05050102010706020507" pitchFamily="18" charset="2"/>
              </a:rPr>
              <a:t>b</a:t>
            </a:r>
            <a:r>
              <a:rPr lang="en-US" altLang="zh-TW" dirty="0">
                <a:sym typeface="Symbol" panose="05050102010706020507" pitchFamily="18" charset="2"/>
              </a:rPr>
              <a:t> + </a:t>
            </a:r>
            <a:r>
              <a:rPr lang="en-US" altLang="zh-TW" dirty="0">
                <a:solidFill>
                  <a:srgbClr val="C00000"/>
                </a:solidFill>
                <a:sym typeface="Symbol" panose="05050102010706020507" pitchFamily="18" charset="2"/>
              </a:rPr>
              <a:t>1</a:t>
            </a:r>
            <a:r>
              <a:rPr lang="en-US" altLang="zh-TW" dirty="0">
                <a:sym typeface="Symbol" panose="05050102010706020507" pitchFamily="18" charset="2"/>
              </a:rPr>
              <a:t>  </a:t>
            </a:r>
            <a:r>
              <a:rPr lang="en-US" altLang="zh-TW" i="1" dirty="0">
                <a:sym typeface="Symbol" panose="05050102010706020507" pitchFamily="18" charset="2"/>
              </a:rPr>
              <a:t>b</a:t>
            </a:r>
            <a:r>
              <a:rPr lang="en-US" altLang="zh-TW" baseline="30000" dirty="0">
                <a:sym typeface="Symbol" panose="05050102010706020507" pitchFamily="18" charset="2"/>
              </a:rPr>
              <a:t>2</a:t>
            </a:r>
          </a:p>
          <a:p>
            <a:r>
              <a:rPr lang="en-US" altLang="zh-TW" dirty="0">
                <a:sym typeface="Symbol" panose="05050102010706020507" pitchFamily="18" charset="2"/>
              </a:rPr>
              <a:t>(</a:t>
            </a:r>
            <a:r>
              <a:rPr lang="en-US" altLang="zh-TW" i="1" dirty="0">
                <a:sym typeface="Symbol" panose="05050102010706020507" pitchFamily="18" charset="2"/>
              </a:rPr>
              <a:t>a</a:t>
            </a:r>
            <a:r>
              <a:rPr lang="en-US" altLang="zh-TW" dirty="0">
                <a:sym typeface="Symbol" panose="05050102010706020507" pitchFamily="18" charset="2"/>
              </a:rPr>
              <a:t> + </a:t>
            </a:r>
            <a:r>
              <a:rPr lang="en-US" altLang="zh-TW" i="1" dirty="0">
                <a:sym typeface="Symbol" panose="05050102010706020507" pitchFamily="18" charset="2"/>
              </a:rPr>
              <a:t>b</a:t>
            </a:r>
            <a:r>
              <a:rPr lang="en-US" altLang="zh-TW" dirty="0">
                <a:sym typeface="Symbol" panose="05050102010706020507" pitchFamily="18" charset="2"/>
              </a:rPr>
              <a:t>)</a:t>
            </a:r>
            <a:r>
              <a:rPr lang="en-US" altLang="zh-TW" baseline="30000" dirty="0">
                <a:sym typeface="Symbol" panose="05050102010706020507" pitchFamily="18" charset="2"/>
              </a:rPr>
              <a:t>3</a:t>
            </a:r>
            <a:r>
              <a:rPr lang="en-US" altLang="zh-TW" dirty="0">
                <a:sym typeface="Symbol" panose="05050102010706020507" pitchFamily="18" charset="2"/>
              </a:rPr>
              <a:t> = </a:t>
            </a:r>
            <a:r>
              <a:rPr lang="en-US" altLang="zh-TW" dirty="0">
                <a:solidFill>
                  <a:srgbClr val="C00000"/>
                </a:solidFill>
              </a:rPr>
              <a:t>1</a:t>
            </a:r>
            <a:r>
              <a:rPr lang="en-US" altLang="zh-TW" dirty="0"/>
              <a:t> </a:t>
            </a:r>
            <a:r>
              <a:rPr lang="en-US" altLang="zh-TW" dirty="0">
                <a:sym typeface="Symbol" panose="05050102010706020507" pitchFamily="18" charset="2"/>
              </a:rPr>
              <a:t> </a:t>
            </a:r>
            <a:r>
              <a:rPr lang="en-US" altLang="zh-TW" i="1" dirty="0">
                <a:sym typeface="Symbol" panose="05050102010706020507" pitchFamily="18" charset="2"/>
              </a:rPr>
              <a:t>a</a:t>
            </a:r>
            <a:r>
              <a:rPr lang="en-US" altLang="zh-TW" baseline="30000" dirty="0">
                <a:sym typeface="Symbol" panose="05050102010706020507" pitchFamily="18" charset="2"/>
              </a:rPr>
              <a:t>3</a:t>
            </a:r>
            <a:r>
              <a:rPr lang="en-US" altLang="zh-TW" dirty="0">
                <a:sym typeface="Symbol" panose="05050102010706020507" pitchFamily="18" charset="2"/>
              </a:rPr>
              <a:t> + </a:t>
            </a:r>
            <a:r>
              <a:rPr lang="en-US" altLang="zh-TW" dirty="0">
                <a:solidFill>
                  <a:srgbClr val="C00000"/>
                </a:solidFill>
                <a:sym typeface="Symbol" panose="05050102010706020507" pitchFamily="18" charset="2"/>
              </a:rPr>
              <a:t>3</a:t>
            </a:r>
            <a:r>
              <a:rPr lang="en-US" altLang="zh-TW" dirty="0">
                <a:sym typeface="Symbol" panose="05050102010706020507" pitchFamily="18" charset="2"/>
              </a:rPr>
              <a:t>  </a:t>
            </a:r>
            <a:r>
              <a:rPr lang="en-US" altLang="zh-TW" i="1" dirty="0">
                <a:sym typeface="Symbol" panose="05050102010706020507" pitchFamily="18" charset="2"/>
              </a:rPr>
              <a:t>a</a:t>
            </a:r>
            <a:r>
              <a:rPr lang="en-US" altLang="zh-TW" baseline="30000" dirty="0">
                <a:sym typeface="Symbol" panose="05050102010706020507" pitchFamily="18" charset="2"/>
              </a:rPr>
              <a:t>2</a:t>
            </a:r>
            <a:r>
              <a:rPr lang="en-US" altLang="zh-TW" dirty="0">
                <a:sym typeface="Symbol" panose="05050102010706020507" pitchFamily="18" charset="2"/>
              </a:rPr>
              <a:t>  </a:t>
            </a:r>
            <a:r>
              <a:rPr lang="en-US" altLang="zh-TW" i="1" dirty="0">
                <a:sym typeface="Symbol" panose="05050102010706020507" pitchFamily="18" charset="2"/>
              </a:rPr>
              <a:t>b</a:t>
            </a:r>
            <a:r>
              <a:rPr lang="en-US" altLang="zh-TW" dirty="0">
                <a:sym typeface="Symbol" panose="05050102010706020507" pitchFamily="18" charset="2"/>
              </a:rPr>
              <a:t> + </a:t>
            </a:r>
            <a:r>
              <a:rPr lang="en-US" altLang="zh-TW" dirty="0">
                <a:solidFill>
                  <a:srgbClr val="C00000"/>
                </a:solidFill>
                <a:sym typeface="Symbol" panose="05050102010706020507" pitchFamily="18" charset="2"/>
              </a:rPr>
              <a:t>3</a:t>
            </a:r>
            <a:r>
              <a:rPr lang="en-US" altLang="zh-TW" dirty="0">
                <a:sym typeface="Symbol" panose="05050102010706020507" pitchFamily="18" charset="2"/>
              </a:rPr>
              <a:t>  </a:t>
            </a:r>
            <a:r>
              <a:rPr lang="en-US" altLang="zh-TW" i="1" dirty="0">
                <a:sym typeface="Symbol" panose="05050102010706020507" pitchFamily="18" charset="2"/>
              </a:rPr>
              <a:t>a</a:t>
            </a:r>
            <a:r>
              <a:rPr lang="en-US" altLang="zh-TW" dirty="0">
                <a:sym typeface="Symbol" panose="05050102010706020507" pitchFamily="18" charset="2"/>
              </a:rPr>
              <a:t>  </a:t>
            </a:r>
            <a:r>
              <a:rPr lang="en-US" altLang="zh-TW" i="1" dirty="0">
                <a:sym typeface="Symbol" panose="05050102010706020507" pitchFamily="18" charset="2"/>
              </a:rPr>
              <a:t>b</a:t>
            </a:r>
            <a:r>
              <a:rPr lang="en-US" altLang="zh-TW" baseline="30000" dirty="0">
                <a:sym typeface="Symbol" panose="05050102010706020507" pitchFamily="18" charset="2"/>
              </a:rPr>
              <a:t>2</a:t>
            </a:r>
            <a:r>
              <a:rPr lang="en-US" altLang="zh-TW" dirty="0">
                <a:sym typeface="Symbol" panose="05050102010706020507" pitchFamily="18" charset="2"/>
              </a:rPr>
              <a:t> + </a:t>
            </a:r>
            <a:r>
              <a:rPr lang="en-US" altLang="zh-TW" dirty="0">
                <a:solidFill>
                  <a:srgbClr val="C00000"/>
                </a:solidFill>
                <a:sym typeface="Symbol" panose="05050102010706020507" pitchFamily="18" charset="2"/>
              </a:rPr>
              <a:t>1</a:t>
            </a:r>
            <a:r>
              <a:rPr lang="en-US" altLang="zh-TW" dirty="0">
                <a:sym typeface="Symbol" panose="05050102010706020507" pitchFamily="18" charset="2"/>
              </a:rPr>
              <a:t>  </a:t>
            </a:r>
            <a:r>
              <a:rPr lang="en-US" altLang="zh-TW" i="1" dirty="0">
                <a:sym typeface="Symbol" panose="05050102010706020507" pitchFamily="18" charset="2"/>
              </a:rPr>
              <a:t>b</a:t>
            </a:r>
            <a:r>
              <a:rPr lang="en-US" altLang="zh-TW" baseline="30000" dirty="0">
                <a:sym typeface="Symbol" panose="05050102010706020507" pitchFamily="18" charset="2"/>
              </a:rPr>
              <a:t>3</a:t>
            </a:r>
          </a:p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714537">
            <a:off x="2969656" y="2713002"/>
            <a:ext cx="3231160" cy="3212399"/>
          </a:xfrm>
          <a:prstGeom prst="rect">
            <a:avLst/>
          </a:prstGeom>
        </p:spPr>
      </p:pic>
      <p:grpSp>
        <p:nvGrpSpPr>
          <p:cNvPr id="7" name="群組 6"/>
          <p:cNvGrpSpPr/>
          <p:nvPr/>
        </p:nvGrpSpPr>
        <p:grpSpPr>
          <a:xfrm>
            <a:off x="3001941" y="2148774"/>
            <a:ext cx="4206240" cy="1803803"/>
            <a:chOff x="3001941" y="2044672"/>
            <a:chExt cx="4206240" cy="1803803"/>
          </a:xfrm>
        </p:grpSpPr>
        <p:sp>
          <p:nvSpPr>
            <p:cNvPr id="10" name="文字方塊 9"/>
            <p:cNvSpPr txBox="1"/>
            <p:nvPr/>
          </p:nvSpPr>
          <p:spPr>
            <a:xfrm>
              <a:off x="4428783" y="2045043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文字方塊 10"/>
            <p:cNvSpPr txBox="1"/>
            <p:nvPr/>
          </p:nvSpPr>
          <p:spPr>
            <a:xfrm>
              <a:off x="4140589" y="2305750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文字方塊 11"/>
            <p:cNvSpPr txBox="1"/>
            <p:nvPr/>
          </p:nvSpPr>
          <p:spPr>
            <a:xfrm>
              <a:off x="4711678" y="2301834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文字方塊 12"/>
            <p:cNvSpPr txBox="1"/>
            <p:nvPr/>
          </p:nvSpPr>
          <p:spPr>
            <a:xfrm>
              <a:off x="3858574" y="2597627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文字方塊 13"/>
            <p:cNvSpPr txBox="1"/>
            <p:nvPr/>
          </p:nvSpPr>
          <p:spPr>
            <a:xfrm>
              <a:off x="4429663" y="2593711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文字方塊 14"/>
            <p:cNvSpPr txBox="1"/>
            <p:nvPr/>
          </p:nvSpPr>
          <p:spPr>
            <a:xfrm>
              <a:off x="4993694" y="2597627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3576559" y="2869885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文字方塊 17"/>
            <p:cNvSpPr txBox="1"/>
            <p:nvPr/>
          </p:nvSpPr>
          <p:spPr>
            <a:xfrm>
              <a:off x="4147648" y="2865969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文字方塊 18"/>
            <p:cNvSpPr txBox="1"/>
            <p:nvPr/>
          </p:nvSpPr>
          <p:spPr>
            <a:xfrm>
              <a:off x="4718737" y="2865969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文字方塊 19"/>
            <p:cNvSpPr txBox="1"/>
            <p:nvPr/>
          </p:nvSpPr>
          <p:spPr>
            <a:xfrm>
              <a:off x="5289826" y="2862053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文字方塊 20"/>
            <p:cNvSpPr txBox="1"/>
            <p:nvPr/>
          </p:nvSpPr>
          <p:spPr>
            <a:xfrm>
              <a:off x="3287485" y="3165714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文字方塊 21"/>
            <p:cNvSpPr txBox="1"/>
            <p:nvPr/>
          </p:nvSpPr>
          <p:spPr>
            <a:xfrm>
              <a:off x="3858574" y="3161798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文字方塊 22"/>
            <p:cNvSpPr txBox="1"/>
            <p:nvPr/>
          </p:nvSpPr>
          <p:spPr>
            <a:xfrm>
              <a:off x="4422605" y="3165714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文字方塊 23"/>
            <p:cNvSpPr txBox="1"/>
            <p:nvPr/>
          </p:nvSpPr>
          <p:spPr>
            <a:xfrm>
              <a:off x="4986636" y="3163828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文字方塊 24"/>
            <p:cNvSpPr txBox="1"/>
            <p:nvPr/>
          </p:nvSpPr>
          <p:spPr>
            <a:xfrm>
              <a:off x="5557725" y="3159912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文字方塊 26"/>
            <p:cNvSpPr txBox="1"/>
            <p:nvPr/>
          </p:nvSpPr>
          <p:spPr>
            <a:xfrm>
              <a:off x="3001941" y="3447834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文字方塊 27"/>
            <p:cNvSpPr txBox="1"/>
            <p:nvPr/>
          </p:nvSpPr>
          <p:spPr>
            <a:xfrm>
              <a:off x="3573030" y="3443918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文字方塊 28"/>
            <p:cNvSpPr txBox="1"/>
            <p:nvPr/>
          </p:nvSpPr>
          <p:spPr>
            <a:xfrm>
              <a:off x="4069101" y="3447834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文字方塊 29"/>
            <p:cNvSpPr txBox="1"/>
            <p:nvPr/>
          </p:nvSpPr>
          <p:spPr>
            <a:xfrm>
              <a:off x="4651380" y="3448365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文字方塊 30"/>
            <p:cNvSpPr txBox="1"/>
            <p:nvPr/>
          </p:nvSpPr>
          <p:spPr>
            <a:xfrm>
              <a:off x="5265717" y="3444449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文字方塊 31"/>
            <p:cNvSpPr txBox="1"/>
            <p:nvPr/>
          </p:nvSpPr>
          <p:spPr>
            <a:xfrm>
              <a:off x="5829748" y="3448365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矩形 32"/>
            <p:cNvSpPr/>
            <p:nvPr/>
          </p:nvSpPr>
          <p:spPr>
            <a:xfrm>
              <a:off x="6215482" y="2862053"/>
              <a:ext cx="984565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(</a:t>
              </a:r>
              <a:r>
                <a:rPr lang="en-US" altLang="zh-TW" sz="2000" b="1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a</a:t>
              </a:r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+ </a:t>
              </a:r>
              <a:r>
                <a:rPr lang="en-US" altLang="zh-TW" sz="2000" b="1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b</a:t>
              </a:r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)</a:t>
              </a:r>
              <a:r>
                <a:rPr lang="en-US" altLang="zh-TW" sz="20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3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矩形 33"/>
            <p:cNvSpPr/>
            <p:nvPr/>
          </p:nvSpPr>
          <p:spPr>
            <a:xfrm>
              <a:off x="6215481" y="2593711"/>
              <a:ext cx="984565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(</a:t>
              </a:r>
              <a:r>
                <a:rPr lang="en-US" altLang="zh-TW" sz="2000" b="1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a</a:t>
              </a:r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+ </a:t>
              </a:r>
              <a:r>
                <a:rPr lang="en-US" altLang="zh-TW" sz="2000" b="1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b</a:t>
              </a:r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)</a:t>
              </a:r>
              <a:r>
                <a:rPr lang="en-US" altLang="zh-TW" sz="20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2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6223616" y="3159912"/>
              <a:ext cx="984565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(</a:t>
              </a:r>
              <a:r>
                <a:rPr lang="en-US" altLang="zh-TW" sz="2000" b="1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a</a:t>
              </a:r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+ </a:t>
              </a:r>
              <a:r>
                <a:rPr lang="en-US" altLang="zh-TW" sz="2000" b="1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b</a:t>
              </a:r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)</a:t>
              </a:r>
              <a:r>
                <a:rPr lang="en-US" altLang="zh-TW" sz="20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4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矩形 35"/>
            <p:cNvSpPr/>
            <p:nvPr/>
          </p:nvSpPr>
          <p:spPr>
            <a:xfrm>
              <a:off x="6215480" y="2310611"/>
              <a:ext cx="984565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(</a:t>
              </a:r>
              <a:r>
                <a:rPr lang="en-US" altLang="zh-TW" sz="2000" b="1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a</a:t>
              </a:r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+ </a:t>
              </a:r>
              <a:r>
                <a:rPr lang="en-US" altLang="zh-TW" sz="2000" b="1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b</a:t>
              </a:r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)</a:t>
              </a:r>
              <a:r>
                <a:rPr lang="en-US" altLang="zh-TW" sz="20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矩形 36"/>
            <p:cNvSpPr/>
            <p:nvPr/>
          </p:nvSpPr>
          <p:spPr>
            <a:xfrm>
              <a:off x="6223616" y="2044672"/>
              <a:ext cx="984565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(</a:t>
              </a:r>
              <a:r>
                <a:rPr lang="en-US" altLang="zh-TW" sz="2000" b="1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a</a:t>
              </a:r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+ </a:t>
              </a:r>
              <a:r>
                <a:rPr lang="en-US" altLang="zh-TW" sz="2000" b="1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b</a:t>
              </a:r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)</a:t>
              </a:r>
              <a:r>
                <a:rPr lang="en-US" altLang="zh-TW" sz="20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0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036689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二項式係數 </a:t>
            </a:r>
            <a:r>
              <a:rPr lang="en-US" altLang="zh-TW" dirty="0"/>
              <a:t>(2/8)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ctr">
                  <a:buNone/>
                </a:pPr>
                <a:r>
                  <a:rPr lang="en-US" altLang="zh-TW" b="1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𝒃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𝟎</m:t>
                        </m:r>
                      </m:sup>
                    </m:sSup>
                    <m:r>
                      <a:rPr lang="en-US" altLang="zh-TW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altLang="zh-TW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zh-TW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𝟎</m:t>
                        </m:r>
                      </m:sup>
                    </m:sSup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</m:oMath>
                </a14:m>
                <a:endParaRPr lang="en-US" altLang="zh-TW" b="1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TW" b="1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p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box>
                            <m:boxPr>
                              <m:ctrlP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f>
                                <m:fPr>
                                  <m:ctrlP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  <m: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  <m:t>!</m:t>
                                  </m:r>
                                </m:num>
                                <m:den>
                                  <m: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  <m: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  <m:t>!</m:t>
                                  </m:r>
                                  <m:d>
                                    <m:dPr>
                                      <m:ctrlPr>
                                        <a:rPr lang="en-US" altLang="zh-TW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b="1" i="1" smtClean="0">
                                          <a:latin typeface="Cambria Math" panose="02040503050406030204" pitchFamily="18" charset="0"/>
                                        </a:rPr>
                                        <m:t>𝒏</m:t>
                                      </m:r>
                                      <m:r>
                                        <a:rPr lang="en-US" altLang="zh-TW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TW" b="1" i="1" smtClean="0">
                                          <a:latin typeface="Cambria Math" panose="02040503050406030204" pitchFamily="18" charset="0"/>
                                        </a:rPr>
                                        <m:t>𝒌</m:t>
                                      </m:r>
                                    </m:e>
                                  </m:d>
                                  <m: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  <m:t>!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p>
                                  <m: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p>
                                  <m: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  <m: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sup>
                              </m:sSup>
                            </m:e>
                          </m:box>
                        </m:e>
                      </m:nary>
                    </m:oMath>
                  </m:oMathPara>
                </a14:m>
                <a:endParaRPr lang="en-US" altLang="zh-TW" dirty="0"/>
              </a:p>
              <a:p>
                <a:endParaRPr lang="en-US" altLang="zh-TW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num>
                            <m:den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  <m:d>
                                <m:dPr>
                                  <m:ctrlP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  <m: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</m:d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sSup>
                        <m:sSup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𝟎</m:t>
                          </m:r>
                        </m:sup>
                      </m:sSup>
                      <m:r>
                        <a:rPr lang="en-US" altLang="zh-TW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num>
                            <m:den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  <m:d>
                                <m:dPr>
                                  <m:ctrlP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  <m: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d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sSup>
                        <m:sSup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altLang="zh-TW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num>
                            <m:den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  <m:d>
                                <m:d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e>
                              </m:d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TW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num>
                            <m:den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  <m:d>
                                <m:d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e>
                              </m:d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𝟎</m:t>
                          </m:r>
                        </m:sup>
                      </m:sSup>
                      <m:sSup>
                        <m:sSup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en-US" altLang="zh-TW" dirty="0"/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d>
                                  <m:dPr>
                                    <m:ctrlPr>
                                      <a:rPr lang="en-US" altLang="zh-TW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TW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b="1" i="1" smtClean="0">
                                              <a:latin typeface="Cambria Math" panose="02040503050406030204" pitchFamily="18" charset="0"/>
                                            </a:rPr>
                                            <m:t>𝒏</m:t>
                                          </m:r>
                                          <m:r>
                                            <a:rPr lang="en-US" altLang="zh-TW" b="1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altLang="zh-TW" b="1" i="1" smtClean="0"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altLang="zh-TW" b="1" i="1" smtClean="0">
                                              <a:latin typeface="Cambria Math" panose="02040503050406030204" pitchFamily="18" charset="0"/>
                                            </a:rPr>
                                            <m:t>𝒌</m:t>
                                          </m:r>
                                          <m:r>
                                            <a:rPr lang="en-US" altLang="zh-TW" b="1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altLang="zh-TW" b="1" i="1" smtClean="0"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  <m:r>
                                  <m:rPr>
                                    <m:brk m:alnAt="7"/>
                                  </m:rP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en-US" altLang="zh-TW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TW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b="1" i="1" smtClean="0">
                                              <a:latin typeface="Cambria Math" panose="02040503050406030204" pitchFamily="18" charset="0"/>
                                            </a:rPr>
                                            <m:t>𝒏</m:t>
                                          </m:r>
                                          <m:r>
                                            <a:rPr lang="en-US" altLang="zh-TW" b="1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altLang="zh-TW" b="1" i="1" smtClean="0"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altLang="zh-TW" b="1" i="1" smtClean="0">
                                              <a:latin typeface="Cambria Math" panose="02040503050406030204" pitchFamily="18" charset="0"/>
                                            </a:rPr>
                                            <m:t>𝒌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e>
                              <m:e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TW" b="1" i="0" smtClean="0">
                                    <a:latin typeface="Cambria Math" panose="02040503050406030204" pitchFamily="18" charset="0"/>
                                  </a:rPr>
                                  <m:t>𝐨𝐫</m:t>
                                </m:r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6</a:t>
            </a:fld>
            <a:endParaRPr lang="en-US" dirty="0"/>
          </a:p>
        </p:txBody>
      </p:sp>
      <p:cxnSp>
        <p:nvCxnSpPr>
          <p:cNvPr id="12" name="肘形接點 11"/>
          <p:cNvCxnSpPr/>
          <p:nvPr/>
        </p:nvCxnSpPr>
        <p:spPr>
          <a:xfrm rot="16200000" flipH="1">
            <a:off x="4419001" y="2851997"/>
            <a:ext cx="12700" cy="1980000"/>
          </a:xfrm>
          <a:prstGeom prst="bentConnector3">
            <a:avLst>
              <a:gd name="adj1" fmla="val 1800000"/>
            </a:avLst>
          </a:prstGeom>
          <a:ln w="19050"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肘形接點 13"/>
          <p:cNvCxnSpPr/>
          <p:nvPr/>
        </p:nvCxnSpPr>
        <p:spPr>
          <a:xfrm rot="16200000" flipH="1">
            <a:off x="4421660" y="722697"/>
            <a:ext cx="12700" cy="6264000"/>
          </a:xfrm>
          <a:prstGeom prst="bentConnector3">
            <a:avLst>
              <a:gd name="adj1" fmla="val 2578378"/>
            </a:avLst>
          </a:prstGeom>
          <a:ln w="19050"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橢圓 15"/>
          <p:cNvSpPr/>
          <p:nvPr/>
        </p:nvSpPr>
        <p:spPr>
          <a:xfrm>
            <a:off x="4307962" y="2075936"/>
            <a:ext cx="1283471" cy="772296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/>
              <p:cNvSpPr/>
              <p:nvPr/>
            </p:nvSpPr>
            <p:spPr>
              <a:xfrm>
                <a:off x="5282534" y="1711710"/>
                <a:ext cx="617798" cy="51219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altLang="zh-TW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b="1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b="1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8" name="矩形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2534" y="1711710"/>
                <a:ext cx="617798" cy="512191"/>
              </a:xfrm>
              <a:prstGeom prst="rect">
                <a:avLst/>
              </a:prstGeom>
              <a:blipFill rotWithShape="0">
                <a:blip r:embed="rId4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9404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二項式係數 </a:t>
            </a:r>
            <a:r>
              <a:rPr lang="en-US" altLang="zh-TW" dirty="0"/>
              <a:t>(3/8)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TW" altLang="en-US" dirty="0"/>
                  <a:t>演算法</a:t>
                </a:r>
                <a:r>
                  <a:rPr lang="en-US" altLang="zh-TW" dirty="0"/>
                  <a:t>3.1 </a:t>
                </a:r>
                <a:r>
                  <a:rPr lang="zh-TW" altLang="en-US" dirty="0"/>
                  <a:t>二項式係數</a:t>
                </a:r>
                <a:r>
                  <a:rPr lang="en-US" altLang="zh-TW" dirty="0"/>
                  <a:t>(divide-and-conquer)</a:t>
                </a:r>
              </a:p>
              <a:p>
                <a:r>
                  <a:rPr lang="zh-TW" altLang="en-US" dirty="0">
                    <a:solidFill>
                      <a:srgbClr val="0000FF"/>
                    </a:solidFill>
                  </a:rPr>
                  <a:t>問題：</a:t>
                </a:r>
                <a:r>
                  <a:rPr lang="zh-TW" altLang="en-US" dirty="0"/>
                  <a:t>計算二項式係數</a:t>
                </a:r>
                <a:endParaRPr lang="en-US" altLang="zh-TW" dirty="0"/>
              </a:p>
              <a:p>
                <a:r>
                  <a:rPr lang="zh-TW" altLang="en-US" dirty="0">
                    <a:solidFill>
                      <a:srgbClr val="0000FF"/>
                    </a:solidFill>
                  </a:rPr>
                  <a:t>輸入：</a:t>
                </a:r>
                <a:r>
                  <a:rPr lang="zh-TW" altLang="en-US" dirty="0"/>
                  <a:t>非負值的整數</a:t>
                </a:r>
                <a:r>
                  <a:rPr lang="en-US" altLang="zh-TW" i="1" dirty="0"/>
                  <a:t>n</a:t>
                </a:r>
                <a:r>
                  <a:rPr lang="zh-TW" altLang="en-US" dirty="0"/>
                  <a:t>及</a:t>
                </a:r>
                <a:r>
                  <a:rPr lang="en-US" altLang="zh-TW" i="1" dirty="0"/>
                  <a:t>k</a:t>
                </a:r>
                <a:r>
                  <a:rPr lang="zh-TW" altLang="en-US" dirty="0"/>
                  <a:t>，其中</a:t>
                </a:r>
                <a:r>
                  <a:rPr lang="en-US" altLang="zh-TW" i="1" dirty="0"/>
                  <a:t>k</a:t>
                </a:r>
                <a:r>
                  <a:rPr lang="zh-TW" altLang="en-US" dirty="0"/>
                  <a:t> </a:t>
                </a:r>
                <a:r>
                  <a:rPr lang="zh-TW" altLang="en-US" dirty="0">
                    <a:sym typeface="Symbol" panose="05050102010706020507" pitchFamily="18" charset="2"/>
                  </a:rPr>
                  <a:t> </a:t>
                </a:r>
                <a:r>
                  <a:rPr lang="en-US" altLang="zh-TW" i="1" dirty="0">
                    <a:sym typeface="Symbol" panose="05050102010706020507" pitchFamily="18" charset="2"/>
                  </a:rPr>
                  <a:t>n</a:t>
                </a:r>
              </a:p>
              <a:p>
                <a:r>
                  <a:rPr lang="zh-TW" altLang="en-US" dirty="0">
                    <a:solidFill>
                      <a:srgbClr val="0000FF"/>
                    </a:solidFill>
                    <a:sym typeface="Symbol" panose="05050102010706020507" pitchFamily="18" charset="2"/>
                  </a:rPr>
                  <a:t>輸出：</a:t>
                </a:r>
                <a:r>
                  <a:rPr lang="zh-TW" altLang="en-US" dirty="0">
                    <a:sym typeface="Symbol" panose="05050102010706020507" pitchFamily="18" charset="2"/>
                  </a:rPr>
                  <a:t>二項式係數之值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1" i="1" smtClean="0"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𝒏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𝒌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zh-TW" dirty="0">
                  <a:sym typeface="Symbol" panose="05050102010706020507" pitchFamily="18" charset="2"/>
                </a:endParaRPr>
              </a:p>
              <a:p>
                <a:endParaRPr lang="en-US" altLang="zh-TW" dirty="0">
                  <a:sym typeface="Symbol" panose="05050102010706020507" pitchFamily="18" charset="2"/>
                </a:endParaRPr>
              </a:p>
              <a:p>
                <a:endParaRPr lang="en-US" altLang="zh-TW" dirty="0">
                  <a:sym typeface="Symbol" panose="05050102010706020507" pitchFamily="18" charset="2"/>
                </a:endParaRPr>
              </a:p>
              <a:p>
                <a:endParaRPr lang="en-US" altLang="zh-TW" dirty="0">
                  <a:sym typeface="Symbol" panose="05050102010706020507" pitchFamily="18" charset="2"/>
                </a:endParaRPr>
              </a:p>
              <a:p>
                <a:endParaRPr lang="en-US" altLang="zh-TW" dirty="0">
                  <a:sym typeface="Symbol" panose="05050102010706020507" pitchFamily="18" charset="2"/>
                </a:endParaRPr>
              </a:p>
              <a:p>
                <a:endParaRPr lang="en-US" altLang="zh-TW" dirty="0">
                  <a:sym typeface="Symbol" panose="05050102010706020507" pitchFamily="18" charset="2"/>
                </a:endParaRPr>
              </a:p>
              <a:p>
                <a:endParaRPr lang="en-US" altLang="zh-TW" dirty="0">
                  <a:sym typeface="Symbol" panose="05050102010706020507" pitchFamily="18" charset="2"/>
                </a:endParaRPr>
              </a:p>
              <a:p>
                <a:endParaRPr lang="en-US" altLang="zh-TW" dirty="0">
                  <a:sym typeface="Symbol" panose="05050102010706020507" pitchFamily="18" charset="2"/>
                </a:endParaRPr>
              </a:p>
              <a:p>
                <a:r>
                  <a:rPr lang="en-US" altLang="zh-TW" i="1" dirty="0">
                    <a:sym typeface="Symbol" panose="05050102010706020507" pitchFamily="18" charset="2"/>
                  </a:rPr>
                  <a:t>bin</a:t>
                </a:r>
                <a:r>
                  <a:rPr lang="en-US" altLang="zh-TW" dirty="0">
                    <a:sym typeface="Symbol" panose="05050102010706020507" pitchFamily="18" charset="2"/>
                  </a:rPr>
                  <a:t>(</a:t>
                </a:r>
                <a:r>
                  <a:rPr lang="en-US" altLang="zh-TW" i="1" dirty="0">
                    <a:sym typeface="Symbol" panose="05050102010706020507" pitchFamily="18" charset="2"/>
                  </a:rPr>
                  <a:t>n</a:t>
                </a:r>
                <a:r>
                  <a:rPr lang="en-US" altLang="zh-TW" dirty="0">
                    <a:sym typeface="Symbol" panose="05050102010706020507" pitchFamily="18" charset="2"/>
                  </a:rPr>
                  <a:t> – 1, </a:t>
                </a:r>
                <a:r>
                  <a:rPr lang="en-US" altLang="zh-TW" i="1" dirty="0">
                    <a:sym typeface="Symbol" panose="05050102010706020507" pitchFamily="18" charset="2"/>
                  </a:rPr>
                  <a:t>k</a:t>
                </a:r>
                <a:r>
                  <a:rPr lang="en-US" altLang="zh-TW" dirty="0">
                    <a:sym typeface="Symbol" panose="05050102010706020507" pitchFamily="18" charset="2"/>
                  </a:rPr>
                  <a:t> – 1) = </a:t>
                </a:r>
                <a:r>
                  <a:rPr lang="en-US" altLang="zh-TW" i="1" dirty="0">
                    <a:sym typeface="Symbol" panose="05050102010706020507" pitchFamily="18" charset="2"/>
                  </a:rPr>
                  <a:t>bin</a:t>
                </a:r>
                <a:r>
                  <a:rPr lang="en-US" altLang="zh-TW" dirty="0">
                    <a:sym typeface="Symbol" panose="05050102010706020507" pitchFamily="18" charset="2"/>
                  </a:rPr>
                  <a:t>(</a:t>
                </a:r>
                <a:r>
                  <a:rPr lang="en-US" altLang="zh-TW" i="1" dirty="0">
                    <a:sym typeface="Symbol" panose="05050102010706020507" pitchFamily="18" charset="2"/>
                  </a:rPr>
                  <a:t>n</a:t>
                </a:r>
                <a:r>
                  <a:rPr lang="en-US" altLang="zh-TW" dirty="0">
                    <a:sym typeface="Symbol" panose="05050102010706020507" pitchFamily="18" charset="2"/>
                  </a:rPr>
                  <a:t> – 2, </a:t>
                </a:r>
                <a:r>
                  <a:rPr lang="en-US" altLang="zh-TW" i="1" dirty="0">
                    <a:sym typeface="Symbol" panose="05050102010706020507" pitchFamily="18" charset="2"/>
                  </a:rPr>
                  <a:t>k</a:t>
                </a:r>
                <a:r>
                  <a:rPr lang="en-US" altLang="zh-TW" dirty="0">
                    <a:sym typeface="Symbol" panose="05050102010706020507" pitchFamily="18" charset="2"/>
                  </a:rPr>
                  <a:t> – 2) + </a:t>
                </a:r>
                <a:r>
                  <a:rPr lang="en-US" altLang="zh-TW" i="1" u="sng" dirty="0">
                    <a:solidFill>
                      <a:srgbClr val="C00000"/>
                    </a:solidFill>
                    <a:sym typeface="Symbol" panose="05050102010706020507" pitchFamily="18" charset="2"/>
                  </a:rPr>
                  <a:t>bin</a:t>
                </a:r>
                <a:r>
                  <a:rPr lang="en-US" altLang="zh-TW" u="sng" dirty="0">
                    <a:solidFill>
                      <a:srgbClr val="C00000"/>
                    </a:solidFill>
                    <a:sym typeface="Symbol" panose="05050102010706020507" pitchFamily="18" charset="2"/>
                  </a:rPr>
                  <a:t>(</a:t>
                </a:r>
                <a:r>
                  <a:rPr lang="en-US" altLang="zh-TW" i="1" u="sng" dirty="0">
                    <a:solidFill>
                      <a:srgbClr val="C00000"/>
                    </a:solidFill>
                    <a:sym typeface="Symbol" panose="05050102010706020507" pitchFamily="18" charset="2"/>
                  </a:rPr>
                  <a:t>n</a:t>
                </a:r>
                <a:r>
                  <a:rPr lang="en-US" altLang="zh-TW" u="sng" dirty="0">
                    <a:solidFill>
                      <a:srgbClr val="C00000"/>
                    </a:solidFill>
                    <a:sym typeface="Symbol" panose="05050102010706020507" pitchFamily="18" charset="2"/>
                  </a:rPr>
                  <a:t> – 2, </a:t>
                </a:r>
                <a:r>
                  <a:rPr lang="en-US" altLang="zh-TW" i="1" u="sng" dirty="0">
                    <a:solidFill>
                      <a:srgbClr val="C00000"/>
                    </a:solidFill>
                    <a:sym typeface="Symbol" panose="05050102010706020507" pitchFamily="18" charset="2"/>
                  </a:rPr>
                  <a:t>k</a:t>
                </a:r>
                <a:r>
                  <a:rPr lang="en-US" altLang="zh-TW" u="sng" dirty="0">
                    <a:solidFill>
                      <a:srgbClr val="C00000"/>
                    </a:solidFill>
                    <a:sym typeface="Symbol" panose="05050102010706020507" pitchFamily="18" charset="2"/>
                  </a:rPr>
                  <a:t> – 1)</a:t>
                </a:r>
              </a:p>
              <a:p>
                <a:r>
                  <a:rPr lang="en-US" altLang="zh-TW" i="1" dirty="0">
                    <a:sym typeface="Symbol" panose="05050102010706020507" pitchFamily="18" charset="2"/>
                  </a:rPr>
                  <a:t>bin</a:t>
                </a:r>
                <a:r>
                  <a:rPr lang="en-US" altLang="zh-TW" dirty="0">
                    <a:sym typeface="Symbol" panose="05050102010706020507" pitchFamily="18" charset="2"/>
                  </a:rPr>
                  <a:t>(</a:t>
                </a:r>
                <a:r>
                  <a:rPr lang="en-US" altLang="zh-TW" i="1" dirty="0">
                    <a:sym typeface="Symbol" panose="05050102010706020507" pitchFamily="18" charset="2"/>
                  </a:rPr>
                  <a:t>n</a:t>
                </a:r>
                <a:r>
                  <a:rPr lang="en-US" altLang="zh-TW" dirty="0">
                    <a:sym typeface="Symbol" panose="05050102010706020507" pitchFamily="18" charset="2"/>
                  </a:rPr>
                  <a:t> – 1, </a:t>
                </a:r>
                <a:r>
                  <a:rPr lang="en-US" altLang="zh-TW" i="1" dirty="0">
                    <a:sym typeface="Symbol" panose="05050102010706020507" pitchFamily="18" charset="2"/>
                  </a:rPr>
                  <a:t>k</a:t>
                </a:r>
                <a:r>
                  <a:rPr lang="en-US" altLang="zh-TW" dirty="0">
                    <a:sym typeface="Symbol" panose="05050102010706020507" pitchFamily="18" charset="2"/>
                  </a:rPr>
                  <a:t>) = </a:t>
                </a:r>
                <a:r>
                  <a:rPr lang="en-US" altLang="zh-TW" i="1" u="sng" dirty="0">
                    <a:solidFill>
                      <a:srgbClr val="C00000"/>
                    </a:solidFill>
                    <a:sym typeface="Symbol" panose="05050102010706020507" pitchFamily="18" charset="2"/>
                  </a:rPr>
                  <a:t>bin</a:t>
                </a:r>
                <a:r>
                  <a:rPr lang="en-US" altLang="zh-TW" u="sng" dirty="0">
                    <a:solidFill>
                      <a:srgbClr val="C00000"/>
                    </a:solidFill>
                    <a:sym typeface="Symbol" panose="05050102010706020507" pitchFamily="18" charset="2"/>
                  </a:rPr>
                  <a:t>(</a:t>
                </a:r>
                <a:r>
                  <a:rPr lang="en-US" altLang="zh-TW" i="1" u="sng" dirty="0">
                    <a:solidFill>
                      <a:srgbClr val="C00000"/>
                    </a:solidFill>
                    <a:sym typeface="Symbol" panose="05050102010706020507" pitchFamily="18" charset="2"/>
                  </a:rPr>
                  <a:t>n</a:t>
                </a:r>
                <a:r>
                  <a:rPr lang="en-US" altLang="zh-TW" u="sng" dirty="0">
                    <a:solidFill>
                      <a:srgbClr val="C00000"/>
                    </a:solidFill>
                    <a:sym typeface="Symbol" panose="05050102010706020507" pitchFamily="18" charset="2"/>
                  </a:rPr>
                  <a:t> – 2, </a:t>
                </a:r>
                <a:r>
                  <a:rPr lang="en-US" altLang="zh-TW" i="1" u="sng" dirty="0">
                    <a:solidFill>
                      <a:srgbClr val="C00000"/>
                    </a:solidFill>
                    <a:sym typeface="Symbol" panose="05050102010706020507" pitchFamily="18" charset="2"/>
                  </a:rPr>
                  <a:t>k</a:t>
                </a:r>
                <a:r>
                  <a:rPr lang="en-US" altLang="zh-TW" u="sng" dirty="0">
                    <a:solidFill>
                      <a:srgbClr val="C00000"/>
                    </a:solidFill>
                    <a:sym typeface="Symbol" panose="05050102010706020507" pitchFamily="18" charset="2"/>
                  </a:rPr>
                  <a:t> – 1)</a:t>
                </a:r>
                <a:r>
                  <a:rPr lang="en-US" altLang="zh-TW" dirty="0">
                    <a:sym typeface="Symbol" panose="05050102010706020507" pitchFamily="18" charset="2"/>
                  </a:rPr>
                  <a:t> + </a:t>
                </a:r>
                <a:r>
                  <a:rPr lang="en-US" altLang="zh-TW" i="1" dirty="0">
                    <a:sym typeface="Symbol" panose="05050102010706020507" pitchFamily="18" charset="2"/>
                  </a:rPr>
                  <a:t>bin</a:t>
                </a:r>
                <a:r>
                  <a:rPr lang="en-US" altLang="zh-TW" dirty="0">
                    <a:sym typeface="Symbol" panose="05050102010706020507" pitchFamily="18" charset="2"/>
                  </a:rPr>
                  <a:t>(</a:t>
                </a:r>
                <a:r>
                  <a:rPr lang="en-US" altLang="zh-TW" i="1" dirty="0">
                    <a:sym typeface="Symbol" panose="05050102010706020507" pitchFamily="18" charset="2"/>
                  </a:rPr>
                  <a:t>n</a:t>
                </a:r>
                <a:r>
                  <a:rPr lang="en-US" altLang="zh-TW" dirty="0">
                    <a:sym typeface="Symbol" panose="05050102010706020507" pitchFamily="18" charset="2"/>
                  </a:rPr>
                  <a:t> – 2, </a:t>
                </a:r>
                <a:r>
                  <a:rPr lang="en-US" altLang="zh-TW" i="1" dirty="0">
                    <a:sym typeface="Symbol" panose="05050102010706020507" pitchFamily="18" charset="2"/>
                  </a:rPr>
                  <a:t>k</a:t>
                </a:r>
                <a:r>
                  <a:rPr lang="en-US" altLang="zh-TW" dirty="0">
                    <a:sym typeface="Symbol" panose="05050102010706020507" pitchFamily="18" charset="2"/>
                  </a:rPr>
                  <a:t>)</a:t>
                </a:r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414" t="-5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 cstate="print"/>
          <a:srcRect t="5000"/>
          <a:stretch>
            <a:fillRect/>
          </a:stretch>
        </p:blipFill>
        <p:spPr bwMode="auto">
          <a:xfrm>
            <a:off x="427291" y="2994852"/>
            <a:ext cx="5948796" cy="2235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/>
              <p:cNvSpPr txBox="1"/>
              <p:nvPr/>
            </p:nvSpPr>
            <p:spPr>
              <a:xfrm>
                <a:off x="6376087" y="4519483"/>
                <a:ext cx="1937005" cy="4619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b="1" dirty="0"/>
              </a:p>
            </p:txBody>
          </p:sp>
        </mc:Choice>
        <mc:Fallback xmlns=""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6087" y="4519483"/>
                <a:ext cx="1937005" cy="461921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圓角矩形圖說文字 8"/>
              <p:cNvSpPr/>
              <p:nvPr/>
            </p:nvSpPr>
            <p:spPr>
              <a:xfrm>
                <a:off x="5148064" y="1700808"/>
                <a:ext cx="1322173" cy="642750"/>
              </a:xfrm>
              <a:prstGeom prst="wedgeRoundRectCallout">
                <a:avLst>
                  <a:gd name="adj1" fmla="val -169259"/>
                  <a:gd name="adj2" fmla="val 112568"/>
                  <a:gd name="adj3" fmla="val 16667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altLang="zh-TW" sz="2000" b="1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𝟐</m:t>
                      </m:r>
                      <m:d>
                        <m:dPr>
                          <m:ctrlPr>
                            <a:rPr lang="en-US" altLang="zh-TW" sz="2000" b="1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000" b="1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2000" b="1" i="1" dirty="0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000" b="1" i="1" dirty="0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𝒌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TW" sz="2000" b="1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zh-TW" sz="2000" b="1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𝟏</m:t>
                      </m:r>
                    </m:oMath>
                  </m:oMathPara>
                </a14:m>
                <a:endParaRPr lang="zh-TW" altLang="en-US" sz="20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圓角矩形圖說文字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8064" y="1700808"/>
                <a:ext cx="1322173" cy="642750"/>
              </a:xfrm>
              <a:prstGeom prst="wedgeRoundRectCallout">
                <a:avLst>
                  <a:gd name="adj1" fmla="val -169259"/>
                  <a:gd name="adj2" fmla="val 112568"/>
                  <a:gd name="adj3" fmla="val 16667"/>
                </a:avLst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6707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二項式係數 </a:t>
            </a:r>
            <a:r>
              <a:rPr lang="en-US" altLang="zh-TW" dirty="0"/>
              <a:t>(4/8)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TW" altLang="en-US" dirty="0"/>
                  <a:t>採用</a:t>
                </a:r>
                <a:r>
                  <a:rPr lang="en-US" altLang="zh-TW" dirty="0">
                    <a:solidFill>
                      <a:srgbClr val="C00000"/>
                    </a:solidFill>
                  </a:rPr>
                  <a:t>dynamic</a:t>
                </a:r>
                <a:r>
                  <a:rPr lang="zh-TW" alt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C00000"/>
                    </a:solidFill>
                  </a:rPr>
                  <a:t>programming</a:t>
                </a:r>
                <a:r>
                  <a:rPr lang="zh-TW" altLang="en-US" dirty="0"/>
                  <a:t>方法</a:t>
                </a:r>
                <a:endParaRPr lang="en-US" altLang="zh-TW" dirty="0"/>
              </a:p>
              <a:p>
                <a:r>
                  <a:rPr lang="zh-TW" altLang="en-US" dirty="0"/>
                  <a:t>陣列</a:t>
                </a:r>
                <a:r>
                  <a:rPr lang="en-US" altLang="zh-TW" i="1" dirty="0"/>
                  <a:t>B</a:t>
                </a:r>
                <a:r>
                  <a:rPr lang="en-US" altLang="zh-TW" dirty="0"/>
                  <a:t>[</a:t>
                </a:r>
                <a:r>
                  <a:rPr lang="en-US" altLang="zh-TW" i="1" dirty="0" err="1"/>
                  <a:t>i</a:t>
                </a:r>
                <a:r>
                  <a:rPr lang="en-US" altLang="zh-TW" dirty="0"/>
                  <a:t>][</a:t>
                </a:r>
                <a:r>
                  <a:rPr lang="en-US" altLang="zh-TW" i="1" dirty="0"/>
                  <a:t>j</a:t>
                </a:r>
                <a:r>
                  <a:rPr lang="en-US" altLang="zh-TW" dirty="0"/>
                  <a:t>]</a:t>
                </a:r>
                <a:r>
                  <a:rPr lang="zh-TW" altLang="en-US" dirty="0"/>
                  <a:t>用來儲存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TW" altLang="en-US" dirty="0"/>
                  <a:t>之值</a:t>
                </a:r>
                <a:endParaRPr lang="en-US" altLang="zh-TW" dirty="0"/>
              </a:p>
              <a:p>
                <a:endParaRPr lang="en-US" altLang="zh-TW" dirty="0"/>
              </a:p>
              <a:p>
                <a:r>
                  <a:rPr lang="zh-TW" altLang="en-US" dirty="0"/>
                  <a:t>建構</a:t>
                </a:r>
                <a:r>
                  <a:rPr lang="en-US" altLang="zh-TW" dirty="0"/>
                  <a:t>DP</a:t>
                </a:r>
                <a:r>
                  <a:rPr lang="zh-TW" altLang="en-US" dirty="0"/>
                  <a:t>演算法的步驟</a:t>
                </a:r>
                <a:endParaRPr lang="en-US" altLang="zh-TW" dirty="0"/>
              </a:p>
              <a:p>
                <a:pPr lvl="1"/>
                <a:r>
                  <a:rPr lang="zh-TW" altLang="en-US" dirty="0"/>
                  <a:t>建立一個</a:t>
                </a:r>
                <a:r>
                  <a:rPr lang="zh-TW" altLang="en-US" dirty="0">
                    <a:solidFill>
                      <a:srgbClr val="C00000"/>
                    </a:solidFill>
                  </a:rPr>
                  <a:t>遞迴</a:t>
                </a:r>
                <a:r>
                  <a:rPr lang="zh-TW" altLang="en-US" dirty="0"/>
                  <a:t>呼叫</a:t>
                </a:r>
                <a:endParaRPr lang="en-US" altLang="zh-TW" dirty="0"/>
              </a:p>
              <a:p>
                <a:pPr marL="393192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TW" b="1" i="1" dirty="0">
                          <a:latin typeface="Cambria Math" panose="02040503050406030204" pitchFamily="18" charset="0"/>
                        </a:rPr>
                        <m:t>𝑩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1" i="1" dirty="0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</m:d>
                      <m:r>
                        <a:rPr lang="en-US" altLang="zh-TW" b="1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TW" b="1" i="1" dirty="0" smtClean="0"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US" altLang="zh-TW" b="1" i="1" dirty="0" smtClean="0">
                          <a:latin typeface="Cambria Math" panose="02040503050406030204" pitchFamily="18" charset="0"/>
                        </a:rPr>
                        <m:t>]=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TW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TW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  <m:r>
                                      <a:rPr lang="en-US" altLang="zh-TW" b="1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TW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</m:d>
                                <m:r>
                                  <m:rPr>
                                    <m:brk m:alnAt="7"/>
                                  </m:rP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]+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][</m:t>
                                </m:r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] 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TW">
                                    <a:latin typeface="Cambria Math" panose="02040503050406030204" pitchFamily="18" charset="0"/>
                                  </a:rPr>
                                  <m:t>𝐨𝐫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TW" dirty="0"/>
              </a:p>
              <a:p>
                <a:pPr lvl="1"/>
                <a:r>
                  <a:rPr lang="zh-TW" altLang="en-US" dirty="0">
                    <a:solidFill>
                      <a:srgbClr val="C00000"/>
                    </a:solidFill>
                  </a:rPr>
                  <a:t>由下而上</a:t>
                </a:r>
                <a:r>
                  <a:rPr lang="zh-TW" altLang="en-US" dirty="0"/>
                  <a:t>的方式，由陣列</a:t>
                </a:r>
                <a:r>
                  <a:rPr lang="en-US" altLang="zh-TW" i="1" dirty="0"/>
                  <a:t>B</a:t>
                </a:r>
                <a:r>
                  <a:rPr lang="zh-TW" altLang="en-US" dirty="0"/>
                  <a:t>一列一列依序處理</a:t>
                </a: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14" t="-5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025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二項式係數 </a:t>
            </a:r>
            <a:r>
              <a:rPr lang="en-US" altLang="zh-TW" dirty="0"/>
              <a:t>(5/8)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9</a:t>
            </a:fld>
            <a:endParaRPr lang="en-US" dirty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1369541" y="2059664"/>
          <a:ext cx="6096002" cy="43586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541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  <a:endParaRPr lang="zh-TW" altLang="en-US" sz="20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endParaRPr lang="zh-TW" altLang="en-US" sz="20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zh-TW" altLang="en-US" sz="20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20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3218935" y="1278646"/>
                <a:ext cx="5767410" cy="71019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𝑩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</m:e>
                      </m:d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TW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TW" b="1" i="1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  <m:r>
                                      <a:rPr lang="en-US" altLang="zh-TW" b="1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TW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</m:d>
                                <m:r>
                                  <m:rPr>
                                    <m:brk m:alnAt="7"/>
                                  </m:rP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]+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][</m:t>
                                </m:r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] 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TW">
                                    <a:latin typeface="Cambria Math" panose="02040503050406030204" pitchFamily="18" charset="0"/>
                                  </a:rPr>
                                  <m:t>𝐨𝐫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8935" y="1278646"/>
                <a:ext cx="5767410" cy="710194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字方塊 11"/>
          <p:cNvSpPr txBox="1"/>
          <p:nvPr/>
        </p:nvSpPr>
        <p:spPr>
          <a:xfrm>
            <a:off x="2596004" y="326801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橢圓 14"/>
          <p:cNvSpPr/>
          <p:nvPr/>
        </p:nvSpPr>
        <p:spPr>
          <a:xfrm>
            <a:off x="5892102" y="5328304"/>
            <a:ext cx="360000" cy="2160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7" name="群組 6"/>
          <p:cNvGrpSpPr/>
          <p:nvPr/>
        </p:nvGrpSpPr>
        <p:grpSpPr>
          <a:xfrm>
            <a:off x="1977080" y="2903491"/>
            <a:ext cx="994222" cy="564645"/>
            <a:chOff x="1977080" y="2803851"/>
            <a:chExt cx="994222" cy="564645"/>
          </a:xfrm>
        </p:grpSpPr>
        <p:sp>
          <p:nvSpPr>
            <p:cNvPr id="10" name="橢圓 9"/>
            <p:cNvSpPr/>
            <p:nvPr/>
          </p:nvSpPr>
          <p:spPr>
            <a:xfrm>
              <a:off x="1977080" y="2803851"/>
              <a:ext cx="432000" cy="288000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橢圓 10"/>
            <p:cNvSpPr/>
            <p:nvPr/>
          </p:nvSpPr>
          <p:spPr>
            <a:xfrm>
              <a:off x="2539302" y="2810029"/>
              <a:ext cx="432000" cy="288000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7" name="直線單箭頭接點 16"/>
            <p:cNvCxnSpPr>
              <a:stCxn id="11" idx="4"/>
              <a:endCxn id="12" idx="0"/>
            </p:cNvCxnSpPr>
            <p:nvPr/>
          </p:nvCxnSpPr>
          <p:spPr>
            <a:xfrm flipH="1">
              <a:off x="2752457" y="3098029"/>
              <a:ext cx="2845" cy="142353"/>
            </a:xfrm>
            <a:prstGeom prst="straightConnector1">
              <a:avLst/>
            </a:prstGeom>
            <a:ln w="19050">
              <a:solidFill>
                <a:schemeClr val="accent4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單箭頭接點 19"/>
            <p:cNvCxnSpPr>
              <a:stCxn id="10" idx="4"/>
              <a:endCxn id="24" idx="1"/>
            </p:cNvCxnSpPr>
            <p:nvPr/>
          </p:nvCxnSpPr>
          <p:spPr>
            <a:xfrm>
              <a:off x="2193080" y="3091851"/>
              <a:ext cx="402924" cy="276645"/>
            </a:xfrm>
            <a:prstGeom prst="straightConnector1">
              <a:avLst/>
            </a:prstGeom>
            <a:ln w="19050">
              <a:solidFill>
                <a:schemeClr val="accent4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群組 15"/>
          <p:cNvGrpSpPr/>
          <p:nvPr/>
        </p:nvGrpSpPr>
        <p:grpSpPr>
          <a:xfrm>
            <a:off x="5336058" y="4934115"/>
            <a:ext cx="916044" cy="502189"/>
            <a:chOff x="5336058" y="4834475"/>
            <a:chExt cx="916044" cy="502189"/>
          </a:xfrm>
        </p:grpSpPr>
        <p:sp>
          <p:nvSpPr>
            <p:cNvPr id="13" name="橢圓 12"/>
            <p:cNvSpPr/>
            <p:nvPr/>
          </p:nvSpPr>
          <p:spPr>
            <a:xfrm>
              <a:off x="5336058" y="4834475"/>
              <a:ext cx="360000" cy="216000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橢圓 13"/>
            <p:cNvSpPr/>
            <p:nvPr/>
          </p:nvSpPr>
          <p:spPr>
            <a:xfrm>
              <a:off x="5892102" y="4840653"/>
              <a:ext cx="360000" cy="216000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8" name="直線單箭頭接點 17"/>
            <p:cNvCxnSpPr>
              <a:stCxn id="14" idx="4"/>
              <a:endCxn id="15" idx="0"/>
            </p:cNvCxnSpPr>
            <p:nvPr/>
          </p:nvCxnSpPr>
          <p:spPr>
            <a:xfrm>
              <a:off x="6072102" y="5056653"/>
              <a:ext cx="0" cy="172011"/>
            </a:xfrm>
            <a:prstGeom prst="straightConnector1">
              <a:avLst/>
            </a:prstGeom>
            <a:ln w="19050">
              <a:solidFill>
                <a:schemeClr val="accent4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單箭頭接點 18"/>
            <p:cNvCxnSpPr>
              <a:stCxn id="13" idx="4"/>
              <a:endCxn id="15" idx="2"/>
            </p:cNvCxnSpPr>
            <p:nvPr/>
          </p:nvCxnSpPr>
          <p:spPr>
            <a:xfrm>
              <a:off x="5516058" y="5050475"/>
              <a:ext cx="376044" cy="286189"/>
            </a:xfrm>
            <a:prstGeom prst="straightConnector1">
              <a:avLst/>
            </a:prstGeom>
            <a:ln w="19050">
              <a:solidFill>
                <a:schemeClr val="accent4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圓角矩形圖說文字 22"/>
          <p:cNvSpPr/>
          <p:nvPr/>
        </p:nvSpPr>
        <p:spPr>
          <a:xfrm>
            <a:off x="3280719" y="2373283"/>
            <a:ext cx="3181865" cy="441104"/>
          </a:xfrm>
          <a:prstGeom prst="wedgeRoundRectCallout">
            <a:avLst>
              <a:gd name="adj1" fmla="val -62981"/>
              <a:gd name="adj2" fmla="val 18754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[2][1]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[1][0] +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[1][1]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2596004" y="326808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圓角矩形圖說文字 25"/>
          <p:cNvSpPr/>
          <p:nvPr/>
        </p:nvSpPr>
        <p:spPr>
          <a:xfrm>
            <a:off x="1889350" y="6012232"/>
            <a:ext cx="3917909" cy="441104"/>
          </a:xfrm>
          <a:prstGeom prst="wedgeRoundRectCallout">
            <a:avLst>
              <a:gd name="adj1" fmla="val 52350"/>
              <a:gd name="adj2" fmla="val -15701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</a:t>
            </a:r>
            <a:r>
              <a:rPr lang="en-US" altLang="zh-TW" sz="2000" b="1" i="1" dirty="0" err="1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][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]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</a:t>
            </a:r>
            <a:r>
              <a:rPr lang="en-US" altLang="zh-TW" sz="2000" b="1" i="1" dirty="0" err="1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– 1][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– 1] +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</a:t>
            </a:r>
            <a:r>
              <a:rPr lang="en-US" altLang="zh-TW" sz="2000" b="1" i="1" dirty="0" err="1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– 1][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]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6919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 animBg="1"/>
      <p:bldP spid="23" grpId="0" animBg="1"/>
      <p:bldP spid="24" grpId="0"/>
      <p:bldP spid="2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二項式係數 </a:t>
            </a:r>
            <a:r>
              <a:rPr lang="en-US" altLang="zh-TW" dirty="0"/>
              <a:t>(6/8)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TW" altLang="en-US" dirty="0"/>
                  <a:t>範例</a:t>
                </a:r>
                <a:r>
                  <a:rPr lang="en-US" altLang="zh-TW" dirty="0"/>
                  <a:t>3.1:</a:t>
                </a:r>
                <a:r>
                  <a:rPr lang="zh-TW" altLang="en-US" dirty="0"/>
                  <a:t> 求</a:t>
                </a:r>
                <a:r>
                  <a:rPr lang="en-US" altLang="zh-TW" i="1" dirty="0"/>
                  <a:t>B</a:t>
                </a:r>
                <a:r>
                  <a:rPr lang="en-US" altLang="zh-TW" dirty="0"/>
                  <a:t>[4][2]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4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10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369541" y="1960024"/>
          <a:ext cx="6096002" cy="43586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541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  <a:endParaRPr lang="zh-TW" altLang="en-US" sz="20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endParaRPr lang="zh-TW" altLang="en-US" sz="20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zh-TW" altLang="en-US" sz="20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20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橢圓 7"/>
          <p:cNvSpPr/>
          <p:nvPr/>
        </p:nvSpPr>
        <p:spPr>
          <a:xfrm>
            <a:off x="3095355" y="4001522"/>
            <a:ext cx="432000" cy="2880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/>
          <p:cNvSpPr txBox="1"/>
          <p:nvPr/>
        </p:nvSpPr>
        <p:spPr>
          <a:xfrm>
            <a:off x="2587767" y="315585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2587767" y="355596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3166463" y="355756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2576565" y="393213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5" name="直線接點 24"/>
          <p:cNvCxnSpPr/>
          <p:nvPr/>
        </p:nvCxnSpPr>
        <p:spPr>
          <a:xfrm flipH="1">
            <a:off x="2179023" y="2292587"/>
            <a:ext cx="11202" cy="4176000"/>
          </a:xfrm>
          <a:prstGeom prst="line">
            <a:avLst/>
          </a:prstGeom>
          <a:ln w="762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/>
          <p:cNvSpPr txBox="1"/>
          <p:nvPr/>
        </p:nvSpPr>
        <p:spPr>
          <a:xfrm>
            <a:off x="3154090" y="393213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2039950" y="2760658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2039950" y="3160768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2039950" y="3560878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2028748" y="393704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6" name="直線接點 25"/>
          <p:cNvCxnSpPr/>
          <p:nvPr/>
        </p:nvCxnSpPr>
        <p:spPr>
          <a:xfrm>
            <a:off x="1937945" y="2360548"/>
            <a:ext cx="5527598" cy="3958116"/>
          </a:xfrm>
          <a:prstGeom prst="line">
            <a:avLst/>
          </a:prstGeom>
          <a:ln w="762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/>
          <p:cNvSpPr txBox="1"/>
          <p:nvPr/>
        </p:nvSpPr>
        <p:spPr>
          <a:xfrm>
            <a:off x="2039950" y="2360548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2587767" y="275574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3160296" y="316221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3714280" y="355265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圓角矩形圖說文字 16"/>
          <p:cNvSpPr/>
          <p:nvPr/>
        </p:nvSpPr>
        <p:spPr>
          <a:xfrm>
            <a:off x="2576566" y="4876800"/>
            <a:ext cx="767526" cy="653143"/>
          </a:xfrm>
          <a:prstGeom prst="wedgeRoundRectCallout">
            <a:avLst>
              <a:gd name="adj1" fmla="val -90550"/>
              <a:gd name="adj2" fmla="val 9716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圓角矩形圖說文字 26"/>
          <p:cNvSpPr/>
          <p:nvPr/>
        </p:nvSpPr>
        <p:spPr>
          <a:xfrm>
            <a:off x="5244317" y="3479044"/>
            <a:ext cx="767526" cy="653143"/>
          </a:xfrm>
          <a:prstGeom prst="wedgeRoundRectCallout">
            <a:avLst>
              <a:gd name="adj1" fmla="val -90550"/>
              <a:gd name="adj2" fmla="val 9716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sz="20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zh-TW" altLang="en-US" sz="2000" b="1" i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0753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8" grpId="0"/>
      <p:bldP spid="21" grpId="0"/>
      <p:bldP spid="22" grpId="0"/>
      <p:bldP spid="10" grpId="0"/>
      <p:bldP spid="12" grpId="0"/>
      <p:bldP spid="14" grpId="0"/>
      <p:bldP spid="20" grpId="0"/>
      <p:bldP spid="9" grpId="0"/>
      <p:bldP spid="11" grpId="0"/>
      <p:bldP spid="16" grpId="0"/>
      <p:bldP spid="19" grpId="0"/>
      <p:bldP spid="17" grpId="0" animBg="1"/>
      <p:bldP spid="2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二項式係數 </a:t>
            </a:r>
            <a:r>
              <a:rPr lang="en-US" altLang="zh-TW" dirty="0"/>
              <a:t>(7/8)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1764484" y="3613707"/>
                <a:ext cx="5767410" cy="71019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𝑩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</m:e>
                      </m:d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TW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TW" b="1" i="1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  <m:r>
                                      <a:rPr lang="en-US" altLang="zh-TW" b="1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TW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</m:d>
                                <m:r>
                                  <m:rPr>
                                    <m:brk m:alnAt="7"/>
                                  </m:rP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]+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][</m:t>
                                </m:r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] 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TW">
                                    <a:latin typeface="Cambria Math" panose="02040503050406030204" pitchFamily="18" charset="0"/>
                                  </a:rPr>
                                  <m:t>𝐨𝐫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484" y="3613707"/>
                <a:ext cx="5767410" cy="710194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l="10508" t="14958" r="840" b="29715"/>
          <a:stretch/>
        </p:blipFill>
        <p:spPr bwMode="auto">
          <a:xfrm>
            <a:off x="2023885" y="4937939"/>
            <a:ext cx="5090984" cy="1155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 rotWithShape="1">
          <a:blip r:embed="rId4" cstate="print"/>
          <a:srcRect l="5177" t="30924" r="1766" b="14456"/>
          <a:stretch/>
        </p:blipFill>
        <p:spPr bwMode="auto">
          <a:xfrm>
            <a:off x="1880276" y="1714565"/>
            <a:ext cx="5535827" cy="1285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圓角矩形圖說文字 9"/>
          <p:cNvSpPr/>
          <p:nvPr/>
        </p:nvSpPr>
        <p:spPr>
          <a:xfrm>
            <a:off x="6814751" y="913195"/>
            <a:ext cx="1954779" cy="642750"/>
          </a:xfrm>
          <a:prstGeom prst="wedgeRoundRectCallout">
            <a:avLst>
              <a:gd name="adj1" fmla="val -74341"/>
              <a:gd name="adj2" fmla="val 7429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遞迴演算法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3.1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1" name="圓角矩形圖說文字 10"/>
          <p:cNvSpPr/>
          <p:nvPr/>
        </p:nvSpPr>
        <p:spPr>
          <a:xfrm>
            <a:off x="6985686" y="4264863"/>
            <a:ext cx="1705467" cy="642750"/>
          </a:xfrm>
          <a:prstGeom prst="wedgeRoundRectCallout">
            <a:avLst>
              <a:gd name="adj1" fmla="val -82359"/>
              <a:gd name="adj2" fmla="val 7700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DP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演算法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3.2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2" name="向下箭號 11"/>
          <p:cNvSpPr/>
          <p:nvPr/>
        </p:nvSpPr>
        <p:spPr>
          <a:xfrm>
            <a:off x="4424598" y="3241260"/>
            <a:ext cx="321276" cy="31179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向下箭號 12"/>
          <p:cNvSpPr/>
          <p:nvPr/>
        </p:nvSpPr>
        <p:spPr>
          <a:xfrm>
            <a:off x="4425477" y="4485208"/>
            <a:ext cx="321276" cy="31179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976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 animBg="1"/>
      <p:bldP spid="12" grpId="0" animBg="1"/>
      <p:bldP spid="1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二項式係數 </a:t>
            </a:r>
            <a:r>
              <a:rPr lang="en-US" altLang="zh-TW" dirty="0"/>
              <a:t>(8/8)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>
                <a:solidFill>
                  <a:srgbClr val="0000FF"/>
                </a:solidFill>
              </a:rPr>
              <a:t>for-</a:t>
            </a:r>
            <a:r>
              <a:rPr lang="en-US" altLang="zh-TW" i="1" dirty="0">
                <a:solidFill>
                  <a:srgbClr val="0000FF"/>
                </a:solidFill>
              </a:rPr>
              <a:t>j</a:t>
            </a:r>
            <a:r>
              <a:rPr lang="zh-TW" altLang="en-US" dirty="0"/>
              <a:t>迴圈執行次數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 rotWithShape="1">
          <a:blip r:embed="rId2" cstate="print"/>
          <a:srcRect l="10508" t="2591" r="840" b="29716"/>
          <a:stretch/>
        </p:blipFill>
        <p:spPr bwMode="auto">
          <a:xfrm>
            <a:off x="2023885" y="1435109"/>
            <a:ext cx="5090984" cy="14136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596677" y="3598871"/>
          <a:ext cx="8182801" cy="7924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7438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38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38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38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38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38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38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438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4389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438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zh-TW" altLang="en-US" sz="20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endParaRPr lang="zh-TW" altLang="en-US" sz="20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 + </a:t>
                      </a:r>
                      <a:r>
                        <a:rPr lang="en-US" altLang="zh-TW" sz="20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20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次數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+ 1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+ 1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+ 1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0" name="直線接點 9"/>
          <p:cNvCxnSpPr/>
          <p:nvPr/>
        </p:nvCxnSpPr>
        <p:spPr>
          <a:xfrm flipH="1">
            <a:off x="6534780" y="3326100"/>
            <a:ext cx="11202" cy="1332000"/>
          </a:xfrm>
          <a:prstGeom prst="line">
            <a:avLst/>
          </a:prstGeom>
          <a:ln w="762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4391045" y="3203566"/>
            <a:ext cx="21499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minimum(</a:t>
            </a:r>
            <a:r>
              <a:rPr lang="en-US" altLang="zh-TW" sz="20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altLang="zh-TW" sz="20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zh-TW" altLang="en-US" b="1" i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6534780" y="3198761"/>
            <a:ext cx="21499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minimum(</a:t>
            </a:r>
            <a:r>
              <a:rPr lang="en-US" altLang="zh-TW" sz="20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zh-TW" altLang="en-US" b="1" i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" name="群組 19"/>
          <p:cNvGrpSpPr/>
          <p:nvPr/>
        </p:nvGrpSpPr>
        <p:grpSpPr>
          <a:xfrm>
            <a:off x="1773156" y="4743291"/>
            <a:ext cx="5836598" cy="942534"/>
            <a:chOff x="1773156" y="4556215"/>
            <a:chExt cx="5836598" cy="94253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字方塊 12"/>
                <p:cNvSpPr txBox="1"/>
                <p:nvPr/>
              </p:nvSpPr>
              <p:spPr>
                <a:xfrm>
                  <a:off x="1773156" y="4556215"/>
                  <a:ext cx="583659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+…+</m:t>
                        </m:r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+…+</m:t>
                        </m:r>
                        <m:r>
                          <a:rPr lang="en-US" altLang="zh-TW" b="1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b="1" i="1"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TW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TW" b="1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TW" altLang="en-US" b="1" dirty="0"/>
                </a:p>
              </p:txBody>
            </p:sp>
          </mc:Choice>
          <mc:Fallback xmlns="">
            <p:sp>
              <p:nvSpPr>
                <p:cNvPr id="13" name="文字方塊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73156" y="4556215"/>
                  <a:ext cx="5836598" cy="276999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l="-522" t="-2174" r="-1045" b="-3260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左大括弧 13"/>
            <p:cNvSpPr/>
            <p:nvPr/>
          </p:nvSpPr>
          <p:spPr>
            <a:xfrm rot="16200000">
              <a:off x="5809639" y="3428935"/>
              <a:ext cx="297032" cy="3134220"/>
            </a:xfrm>
            <a:prstGeom prst="leftBrace">
              <a:avLst>
                <a:gd name="adj1" fmla="val 72814"/>
                <a:gd name="adj2" fmla="val 50000"/>
              </a:avLst>
            </a:prstGeom>
            <a:ln w="190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文字方塊 14"/>
            <p:cNvSpPr txBox="1"/>
            <p:nvPr/>
          </p:nvSpPr>
          <p:spPr>
            <a:xfrm>
              <a:off x="5417147" y="5098639"/>
              <a:ext cx="112883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TW" sz="20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– </a:t>
              </a:r>
              <a:r>
                <a:rPr lang="en-US" altLang="zh-TW" sz="2000" b="1" i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zh-TW" sz="20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+ 1</a:t>
              </a:r>
              <a:endParaRPr lang="zh-TW" altLang="en-US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/>
              <p:cNvSpPr txBox="1"/>
              <p:nvPr/>
            </p:nvSpPr>
            <p:spPr>
              <a:xfrm>
                <a:off x="1258972" y="5863447"/>
                <a:ext cx="6652527" cy="5257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d>
                        <m:dPr>
                          <m:ctrlP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)(</m:t>
                          </m:r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US" altLang="zh-TW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zh-TW" alt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𝚯</m:t>
                      </m:r>
                      <m:r>
                        <a:rPr lang="en-US" altLang="zh-TW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TW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𝒏𝒌</m:t>
                      </m:r>
                      <m:r>
                        <a:rPr lang="en-US" altLang="zh-TW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b="1" dirty="0"/>
              </a:p>
            </p:txBody>
          </p:sp>
        </mc:Choice>
        <mc:Fallback xmlns="">
          <p:sp>
            <p:nvSpPr>
              <p:cNvPr id="16" name="文字方塊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8972" y="5863447"/>
                <a:ext cx="6652527" cy="52578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圓角矩形圖說文字 16"/>
              <p:cNvSpPr/>
              <p:nvPr/>
            </p:nvSpPr>
            <p:spPr>
              <a:xfrm>
                <a:off x="2500574" y="4057946"/>
                <a:ext cx="2541382" cy="642750"/>
              </a:xfrm>
              <a:prstGeom prst="wedgeRoundRectCallout">
                <a:avLst>
                  <a:gd name="adj1" fmla="val 67774"/>
                  <a:gd name="adj2" fmla="val 228878"/>
                  <a:gd name="adj3" fmla="val 16667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TW" altLang="en-US" sz="2000" b="1" dirty="0">
                    <a:solidFill>
                      <a:srgbClr val="0000FF"/>
                    </a:solidFill>
                    <a:ea typeface="標楷體" panose="03000509000000000000" pitchFamily="65" charset="-120"/>
                    <a:cs typeface="Times New Roman" panose="02020603050405020304" pitchFamily="18" charset="0"/>
                  </a:rPr>
                  <a:t>演算</a:t>
                </a:r>
                <a:r>
                  <a:rPr lang="en-US" altLang="zh-TW" sz="2000" b="1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3.1</a:t>
                </a:r>
                <a:r>
                  <a:rPr lang="zh-TW" altLang="en-US" sz="2000" b="1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TW" sz="2000" b="1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𝟐</m:t>
                    </m:r>
                    <m:d>
                      <m:dPr>
                        <m:ctrlPr>
                          <a:rPr lang="en-US" altLang="zh-TW" sz="2000" b="1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sz="2000" b="1" i="1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sz="2000" b="1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𝒏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sz="2000" b="1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𝒌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TW" sz="2000" b="1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TW" sz="2000" b="1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𝟏</m:t>
                    </m:r>
                  </m:oMath>
                </a14:m>
                <a:endParaRPr lang="zh-TW" altLang="en-US" sz="20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圓角矩形圖說文字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0574" y="4057946"/>
                <a:ext cx="2541382" cy="642750"/>
              </a:xfrm>
              <a:prstGeom prst="wedgeRoundRectCallout">
                <a:avLst>
                  <a:gd name="adj1" fmla="val 67774"/>
                  <a:gd name="adj2" fmla="val 228878"/>
                  <a:gd name="adj3" fmla="val 16667"/>
                </a:avLst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群組 18"/>
          <p:cNvGrpSpPr/>
          <p:nvPr/>
        </p:nvGrpSpPr>
        <p:grpSpPr>
          <a:xfrm>
            <a:off x="3391930" y="332656"/>
            <a:ext cx="5218660" cy="1349588"/>
            <a:chOff x="3391930" y="145580"/>
            <a:chExt cx="5218660" cy="1349588"/>
          </a:xfrm>
        </p:grpSpPr>
        <p:sp>
          <p:nvSpPr>
            <p:cNvPr id="8" name="圓角矩形 7"/>
            <p:cNvSpPr/>
            <p:nvPr/>
          </p:nvSpPr>
          <p:spPr>
            <a:xfrm>
              <a:off x="3391930" y="1223319"/>
              <a:ext cx="2113005" cy="271849"/>
            </a:xfrm>
            <a:prstGeom prst="roundRect">
              <a:avLst/>
            </a:prstGeom>
            <a:no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rgbClr val="0000FF"/>
                </a:solidFill>
              </a:endParaRPr>
            </a:p>
          </p:txBody>
        </p:sp>
        <p:sp>
          <p:nvSpPr>
            <p:cNvPr id="18" name="圓角矩形圖說文字 17"/>
            <p:cNvSpPr/>
            <p:nvPr/>
          </p:nvSpPr>
          <p:spPr>
            <a:xfrm>
              <a:off x="5836264" y="145580"/>
              <a:ext cx="2774326" cy="642750"/>
            </a:xfrm>
            <a:prstGeom prst="wedgeRoundRectCallout">
              <a:avLst>
                <a:gd name="adj1" fmla="val -78350"/>
                <a:gd name="adj2" fmla="val 109684"/>
                <a:gd name="adj3" fmla="val 1666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0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影響</a:t>
              </a:r>
              <a:r>
                <a:rPr lang="en-US" altLang="zh-TW" sz="20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for-</a:t>
              </a:r>
              <a:r>
                <a:rPr lang="en-US" altLang="zh-TW" sz="2000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j</a:t>
              </a:r>
              <a:r>
                <a:rPr lang="zh-TW" altLang="en-US" sz="20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迴圈執行次數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9771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6" grpId="0"/>
      <p:bldP spid="1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dynamic programming</a:t>
            </a:r>
            <a:r>
              <a:rPr lang="zh-TW" altLang="en-US" dirty="0"/>
              <a:t>與</a:t>
            </a:r>
            <a:r>
              <a:rPr lang="en-US" altLang="zh-TW" dirty="0"/>
              <a:t>divide-and-conquer</a:t>
            </a:r>
            <a:r>
              <a:rPr lang="zh-TW" altLang="en-US" dirty="0">
                <a:solidFill>
                  <a:srgbClr val="0000FF"/>
                </a:solidFill>
              </a:rPr>
              <a:t>相似處</a:t>
            </a:r>
            <a:endParaRPr lang="en-US" altLang="zh-TW" dirty="0">
              <a:solidFill>
                <a:srgbClr val="0000FF"/>
              </a:solidFill>
            </a:endParaRPr>
          </a:p>
          <a:p>
            <a:pPr lvl="1"/>
            <a:r>
              <a:rPr lang="zh-TW" altLang="en-US" dirty="0"/>
              <a:t>將問題切成數個</a:t>
            </a:r>
            <a:r>
              <a:rPr lang="zh-TW" altLang="en-US" dirty="0">
                <a:solidFill>
                  <a:srgbClr val="C00000"/>
                </a:solidFill>
              </a:rPr>
              <a:t>較小且性質相同</a:t>
            </a:r>
            <a:r>
              <a:rPr lang="zh-TW" altLang="en-US" dirty="0"/>
              <a:t>的問題，再進行處理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en-US" altLang="zh-TW" dirty="0"/>
              <a:t>dynamic programming</a:t>
            </a:r>
            <a:r>
              <a:rPr lang="zh-TW" altLang="en-US" dirty="0"/>
              <a:t>與</a:t>
            </a:r>
            <a:r>
              <a:rPr lang="en-US" altLang="zh-TW" dirty="0"/>
              <a:t>divide-and-conquer</a:t>
            </a:r>
            <a:r>
              <a:rPr lang="zh-TW" altLang="en-US" dirty="0">
                <a:solidFill>
                  <a:srgbClr val="0000FF"/>
                </a:solidFill>
              </a:rPr>
              <a:t>相異處</a:t>
            </a:r>
            <a:endParaRPr lang="en-US" altLang="zh-TW" dirty="0">
              <a:solidFill>
                <a:srgbClr val="0000FF"/>
              </a:solidFill>
            </a:endParaRPr>
          </a:p>
          <a:p>
            <a:pPr lvl="1"/>
            <a:r>
              <a:rPr lang="en-US" altLang="zh-TW" dirty="0"/>
              <a:t>dynamic programming</a:t>
            </a:r>
          </a:p>
          <a:p>
            <a:pPr lvl="2"/>
            <a:r>
              <a:rPr lang="zh-TW" altLang="en-US" dirty="0"/>
              <a:t>是由最小的問題開始計算，循序逐步向上求取整個問題的解</a:t>
            </a:r>
            <a:endParaRPr lang="en-US" altLang="zh-TW" dirty="0"/>
          </a:p>
          <a:p>
            <a:pPr lvl="2"/>
            <a:r>
              <a:rPr lang="zh-TW" altLang="en-US" dirty="0">
                <a:solidFill>
                  <a:srgbClr val="C00000"/>
                </a:solidFill>
              </a:rPr>
              <a:t>由下而上</a:t>
            </a:r>
            <a:r>
              <a:rPr lang="en-US" altLang="zh-TW" dirty="0">
                <a:solidFill>
                  <a:srgbClr val="C00000"/>
                </a:solidFill>
              </a:rPr>
              <a:t>(bottom-up)</a:t>
            </a:r>
            <a:r>
              <a:rPr lang="zh-TW" altLang="en-US" dirty="0"/>
              <a:t>的演算法</a:t>
            </a:r>
            <a:endParaRPr lang="en-US" altLang="zh-TW" dirty="0"/>
          </a:p>
          <a:p>
            <a:pPr lvl="1"/>
            <a:r>
              <a:rPr lang="en-US" altLang="zh-TW" dirty="0"/>
              <a:t>divide-and-conquer</a:t>
            </a:r>
          </a:p>
          <a:p>
            <a:pPr lvl="2"/>
            <a:r>
              <a:rPr lang="zh-TW" altLang="en-US" dirty="0"/>
              <a:t>盲目遞迴和計算</a:t>
            </a:r>
            <a:endParaRPr lang="en-US" altLang="zh-TW" dirty="0"/>
          </a:p>
          <a:p>
            <a:pPr lvl="2"/>
            <a:r>
              <a:rPr lang="zh-TW" altLang="en-US" dirty="0">
                <a:solidFill>
                  <a:srgbClr val="C00000"/>
                </a:solidFill>
              </a:rPr>
              <a:t>由上而下</a:t>
            </a:r>
            <a:r>
              <a:rPr lang="en-US" altLang="zh-TW" dirty="0">
                <a:solidFill>
                  <a:srgbClr val="C00000"/>
                </a:solidFill>
              </a:rPr>
              <a:t>(top-down)</a:t>
            </a:r>
            <a:r>
              <a:rPr lang="zh-TW" altLang="en-US" dirty="0"/>
              <a:t>的演算法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當</a:t>
            </a:r>
            <a:r>
              <a:rPr lang="en-US" altLang="zh-TW" dirty="0"/>
              <a:t>divide-and-conquer</a:t>
            </a:r>
            <a:r>
              <a:rPr lang="zh-TW" altLang="en-US" dirty="0"/>
              <a:t>缺乏效率時，試著改以</a:t>
            </a:r>
            <a:r>
              <a:rPr lang="en-US" altLang="zh-TW" dirty="0"/>
              <a:t>dynamic programming</a:t>
            </a:r>
            <a:r>
              <a:rPr lang="zh-TW" altLang="en-US" dirty="0"/>
              <a:t>的技巧來解決</a:t>
            </a:r>
            <a:endParaRPr lang="en-US" altLang="zh-TW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3648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最短路徑演算法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航空公司飛行航班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64" y="1669040"/>
            <a:ext cx="8738744" cy="500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025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圖形理論 </a:t>
            </a:r>
            <a:r>
              <a:rPr lang="en-US" altLang="zh-TW" dirty="0"/>
              <a:t>(1/4)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圖形的表示法</a:t>
            </a:r>
            <a:endParaRPr lang="en-US" altLang="zh-TW" dirty="0"/>
          </a:p>
          <a:p>
            <a:pPr lvl="1"/>
            <a:r>
              <a:rPr lang="en-US" altLang="zh-TW" i="1" dirty="0"/>
              <a:t>G</a:t>
            </a:r>
            <a:r>
              <a:rPr lang="zh-TW" altLang="en-US" dirty="0"/>
              <a:t> </a:t>
            </a:r>
            <a:r>
              <a:rPr lang="en-US" altLang="zh-TW" dirty="0"/>
              <a:t>=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en-US" altLang="zh-TW" i="1" dirty="0"/>
              <a:t>V</a:t>
            </a:r>
            <a:r>
              <a:rPr lang="en-US" altLang="zh-TW" dirty="0"/>
              <a:t>, </a:t>
            </a:r>
            <a:r>
              <a:rPr lang="en-US" altLang="zh-TW" i="1" dirty="0"/>
              <a:t>E</a:t>
            </a:r>
            <a:r>
              <a:rPr lang="en-US" altLang="zh-TW" dirty="0"/>
              <a:t>)</a:t>
            </a:r>
          </a:p>
          <a:p>
            <a:pPr lvl="2"/>
            <a:r>
              <a:rPr lang="zh-TW" altLang="en-US" dirty="0"/>
              <a:t>由兩個集合組成</a:t>
            </a:r>
            <a:endParaRPr lang="en-US" altLang="zh-TW" dirty="0"/>
          </a:p>
          <a:p>
            <a:pPr lvl="2"/>
            <a:r>
              <a:rPr lang="en-US" altLang="zh-TW" dirty="0"/>
              <a:t>Vertices, </a:t>
            </a:r>
            <a:r>
              <a:rPr lang="en-US" altLang="zh-TW" i="1" dirty="0">
                <a:solidFill>
                  <a:srgbClr val="C00000"/>
                </a:solidFill>
              </a:rPr>
              <a:t>V</a:t>
            </a:r>
            <a:r>
              <a:rPr lang="zh-TW" altLang="en-US" dirty="0"/>
              <a:t>：</a:t>
            </a:r>
            <a:r>
              <a:rPr lang="zh-TW" altLang="en-US" dirty="0">
                <a:solidFill>
                  <a:srgbClr val="C00000"/>
                </a:solidFill>
              </a:rPr>
              <a:t>點</a:t>
            </a:r>
            <a:r>
              <a:rPr lang="zh-TW" altLang="en-US" dirty="0"/>
              <a:t>的集合</a:t>
            </a:r>
            <a:endParaRPr lang="en-US" altLang="zh-TW" dirty="0"/>
          </a:p>
          <a:p>
            <a:pPr lvl="2"/>
            <a:r>
              <a:rPr lang="en-US" altLang="zh-TW" dirty="0"/>
              <a:t>Edges, </a:t>
            </a:r>
            <a:r>
              <a:rPr lang="en-US" altLang="zh-TW" i="1" dirty="0">
                <a:solidFill>
                  <a:srgbClr val="C00000"/>
                </a:solidFill>
              </a:rPr>
              <a:t>E</a:t>
            </a:r>
            <a:r>
              <a:rPr lang="zh-TW" altLang="en-US" dirty="0"/>
              <a:t>：</a:t>
            </a:r>
            <a:r>
              <a:rPr lang="zh-TW" altLang="en-US" dirty="0">
                <a:solidFill>
                  <a:srgbClr val="C00000"/>
                </a:solidFill>
              </a:rPr>
              <a:t>邊</a:t>
            </a:r>
            <a:r>
              <a:rPr lang="zh-TW" altLang="en-US" dirty="0"/>
              <a:t>的集合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>
                <a:solidFill>
                  <a:srgbClr val="0000FF"/>
                </a:solidFill>
              </a:rPr>
              <a:t>無向圖</a:t>
            </a:r>
            <a:endParaRPr lang="en-US" altLang="zh-TW" dirty="0">
              <a:solidFill>
                <a:srgbClr val="0000FF"/>
              </a:solidFill>
            </a:endParaRPr>
          </a:p>
          <a:p>
            <a:pPr lvl="1"/>
            <a:r>
              <a:rPr lang="en-US" altLang="zh-TW" i="1" dirty="0"/>
              <a:t>V</a:t>
            </a:r>
            <a:r>
              <a:rPr lang="en-US" altLang="zh-TW" dirty="0"/>
              <a:t>(</a:t>
            </a:r>
            <a:r>
              <a:rPr lang="en-US" altLang="zh-TW" i="1" dirty="0"/>
              <a:t>G</a:t>
            </a:r>
            <a:r>
              <a:rPr lang="en-US" altLang="zh-TW" dirty="0"/>
              <a:t>) = {</a:t>
            </a:r>
            <a:r>
              <a:rPr lang="en-US" altLang="zh-TW" i="1" dirty="0"/>
              <a:t>a</a:t>
            </a:r>
            <a:r>
              <a:rPr lang="en-US" altLang="zh-TW" dirty="0"/>
              <a:t>, </a:t>
            </a:r>
            <a:r>
              <a:rPr lang="en-US" altLang="zh-TW" i="1" dirty="0"/>
              <a:t>b</a:t>
            </a:r>
            <a:r>
              <a:rPr lang="en-US" altLang="zh-TW" dirty="0"/>
              <a:t>, </a:t>
            </a:r>
            <a:r>
              <a:rPr lang="en-US" altLang="zh-TW" i="1" dirty="0"/>
              <a:t>c</a:t>
            </a:r>
            <a:r>
              <a:rPr lang="en-US" altLang="zh-TW" dirty="0"/>
              <a:t>, </a:t>
            </a:r>
            <a:r>
              <a:rPr lang="en-US" altLang="zh-TW" i="1" dirty="0"/>
              <a:t>d</a:t>
            </a:r>
            <a:r>
              <a:rPr lang="en-US" altLang="zh-TW" dirty="0"/>
              <a:t>}</a:t>
            </a:r>
          </a:p>
          <a:p>
            <a:pPr lvl="1"/>
            <a:r>
              <a:rPr lang="en-US" altLang="zh-TW" i="1" dirty="0"/>
              <a:t>E</a:t>
            </a:r>
            <a:r>
              <a:rPr lang="en-US" altLang="zh-TW" dirty="0"/>
              <a:t>(</a:t>
            </a:r>
            <a:r>
              <a:rPr lang="en-US" altLang="zh-TW" i="1" dirty="0"/>
              <a:t>G</a:t>
            </a:r>
            <a:r>
              <a:rPr lang="en-US" altLang="zh-TW" dirty="0"/>
              <a:t>)</a:t>
            </a:r>
            <a:r>
              <a:rPr lang="zh-TW" altLang="en-US" dirty="0"/>
              <a:t> </a:t>
            </a:r>
            <a:r>
              <a:rPr lang="en-US" altLang="zh-TW" dirty="0"/>
              <a:t>=</a:t>
            </a:r>
            <a:r>
              <a:rPr lang="zh-TW" altLang="en-US" dirty="0"/>
              <a:t> </a:t>
            </a:r>
            <a:r>
              <a:rPr lang="en-US" altLang="zh-TW" dirty="0"/>
              <a:t>{(</a:t>
            </a:r>
            <a:r>
              <a:rPr lang="en-US" altLang="zh-TW" i="1" dirty="0"/>
              <a:t>a</a:t>
            </a:r>
            <a:r>
              <a:rPr lang="en-US" altLang="zh-TW" dirty="0"/>
              <a:t>, </a:t>
            </a:r>
            <a:r>
              <a:rPr lang="en-US" altLang="zh-TW" i="1" dirty="0"/>
              <a:t>b</a:t>
            </a:r>
            <a:r>
              <a:rPr lang="en-US" altLang="zh-TW" dirty="0"/>
              <a:t>), (</a:t>
            </a:r>
            <a:r>
              <a:rPr lang="en-US" altLang="zh-TW" i="1" dirty="0"/>
              <a:t>a</a:t>
            </a:r>
            <a:r>
              <a:rPr lang="en-US" altLang="zh-TW" dirty="0"/>
              <a:t>, </a:t>
            </a:r>
            <a:r>
              <a:rPr lang="en-US" altLang="zh-TW" i="1" dirty="0"/>
              <a:t>c</a:t>
            </a:r>
            <a:r>
              <a:rPr lang="en-US" altLang="zh-TW" dirty="0"/>
              <a:t>), (</a:t>
            </a:r>
            <a:r>
              <a:rPr lang="en-US" altLang="zh-TW" i="1" dirty="0"/>
              <a:t>a</a:t>
            </a:r>
            <a:r>
              <a:rPr lang="en-US" altLang="zh-TW" dirty="0"/>
              <a:t>, </a:t>
            </a:r>
            <a:r>
              <a:rPr lang="en-US" altLang="zh-TW" i="1" dirty="0"/>
              <a:t>d</a:t>
            </a:r>
            <a:r>
              <a:rPr lang="en-US" altLang="zh-TW" dirty="0"/>
              <a:t>), (</a:t>
            </a:r>
            <a:r>
              <a:rPr lang="en-US" altLang="zh-TW" i="1" dirty="0"/>
              <a:t>b</a:t>
            </a:r>
            <a:r>
              <a:rPr lang="en-US" altLang="zh-TW" dirty="0"/>
              <a:t>, </a:t>
            </a:r>
            <a:r>
              <a:rPr lang="en-US" altLang="zh-TW" i="1" dirty="0"/>
              <a:t>c</a:t>
            </a:r>
            <a:r>
              <a:rPr lang="en-US" altLang="zh-TW" dirty="0"/>
              <a:t>), (</a:t>
            </a:r>
            <a:r>
              <a:rPr lang="en-US" altLang="zh-TW" i="1" dirty="0"/>
              <a:t>c</a:t>
            </a:r>
            <a:r>
              <a:rPr lang="en-US" altLang="zh-TW" dirty="0"/>
              <a:t>, </a:t>
            </a:r>
            <a:r>
              <a:rPr lang="en-US" altLang="zh-TW" i="1" dirty="0"/>
              <a:t>d</a:t>
            </a:r>
            <a:r>
              <a:rPr lang="en-US" altLang="zh-TW" dirty="0"/>
              <a:t>)}</a:t>
            </a:r>
          </a:p>
          <a:p>
            <a:endParaRPr lang="en-US" altLang="zh-TW" dirty="0">
              <a:solidFill>
                <a:srgbClr val="0000FF"/>
              </a:solidFill>
            </a:endParaRPr>
          </a:p>
          <a:p>
            <a:r>
              <a:rPr lang="zh-TW" altLang="en-US" dirty="0">
                <a:solidFill>
                  <a:srgbClr val="0000FF"/>
                </a:solidFill>
              </a:rPr>
              <a:t>有向圖</a:t>
            </a:r>
            <a:endParaRPr lang="en-US" altLang="zh-TW" dirty="0">
              <a:solidFill>
                <a:srgbClr val="0000FF"/>
              </a:solidFill>
            </a:endParaRPr>
          </a:p>
          <a:p>
            <a:pPr lvl="1"/>
            <a:r>
              <a:rPr lang="en-US" altLang="zh-TW" i="1" dirty="0"/>
              <a:t>V</a:t>
            </a:r>
            <a:r>
              <a:rPr lang="en-US" altLang="zh-TW" dirty="0"/>
              <a:t>(</a:t>
            </a:r>
            <a:r>
              <a:rPr lang="en-US" altLang="zh-TW" i="1" dirty="0"/>
              <a:t>G</a:t>
            </a:r>
            <a:r>
              <a:rPr lang="en-US" altLang="zh-TW" dirty="0"/>
              <a:t>) = {</a:t>
            </a:r>
            <a:r>
              <a:rPr lang="en-US" altLang="zh-TW" i="1" dirty="0"/>
              <a:t>a</a:t>
            </a:r>
            <a:r>
              <a:rPr lang="en-US" altLang="zh-TW" dirty="0"/>
              <a:t>, </a:t>
            </a:r>
            <a:r>
              <a:rPr lang="en-US" altLang="zh-TW" i="1" dirty="0"/>
              <a:t>b</a:t>
            </a:r>
            <a:r>
              <a:rPr lang="en-US" altLang="zh-TW" dirty="0"/>
              <a:t>, </a:t>
            </a:r>
            <a:r>
              <a:rPr lang="en-US" altLang="zh-TW" i="1" dirty="0"/>
              <a:t>c</a:t>
            </a:r>
            <a:r>
              <a:rPr lang="en-US" altLang="zh-TW" dirty="0"/>
              <a:t>, </a:t>
            </a:r>
            <a:r>
              <a:rPr lang="en-US" altLang="zh-TW" i="1" dirty="0"/>
              <a:t>d</a:t>
            </a:r>
            <a:r>
              <a:rPr lang="en-US" altLang="zh-TW" dirty="0"/>
              <a:t>}</a:t>
            </a:r>
          </a:p>
          <a:p>
            <a:pPr lvl="1"/>
            <a:r>
              <a:rPr lang="en-US" altLang="zh-TW" i="1" dirty="0"/>
              <a:t>E</a:t>
            </a:r>
            <a:r>
              <a:rPr lang="en-US" altLang="zh-TW" dirty="0"/>
              <a:t>(</a:t>
            </a:r>
            <a:r>
              <a:rPr lang="en-US" altLang="zh-TW" i="1" dirty="0"/>
              <a:t>G</a:t>
            </a:r>
            <a:r>
              <a:rPr lang="en-US" altLang="zh-TW" dirty="0"/>
              <a:t>) = {&lt;</a:t>
            </a:r>
            <a:r>
              <a:rPr lang="en-US" altLang="zh-TW" i="1" dirty="0"/>
              <a:t>a</a:t>
            </a:r>
            <a:r>
              <a:rPr lang="en-US" altLang="zh-TW" dirty="0"/>
              <a:t>, </a:t>
            </a:r>
            <a:r>
              <a:rPr lang="en-US" altLang="zh-TW" i="1" dirty="0"/>
              <a:t>b</a:t>
            </a:r>
            <a:r>
              <a:rPr lang="en-US" altLang="zh-TW" dirty="0"/>
              <a:t>&gt;, &lt;</a:t>
            </a:r>
            <a:r>
              <a:rPr lang="en-US" altLang="zh-TW" i="1" dirty="0"/>
              <a:t>a</a:t>
            </a:r>
            <a:r>
              <a:rPr lang="en-US" altLang="zh-TW" dirty="0"/>
              <a:t>, </a:t>
            </a:r>
            <a:r>
              <a:rPr lang="en-US" altLang="zh-TW" i="1" dirty="0"/>
              <a:t>d</a:t>
            </a:r>
            <a:r>
              <a:rPr lang="en-US" altLang="zh-TW" dirty="0"/>
              <a:t>&gt;, &lt;</a:t>
            </a:r>
            <a:r>
              <a:rPr lang="en-US" altLang="zh-TW" i="1" dirty="0"/>
              <a:t>c</a:t>
            </a:r>
            <a:r>
              <a:rPr lang="en-US" altLang="zh-TW" dirty="0"/>
              <a:t>, </a:t>
            </a:r>
            <a:r>
              <a:rPr lang="en-US" altLang="zh-TW" i="1" dirty="0"/>
              <a:t>a</a:t>
            </a:r>
            <a:r>
              <a:rPr lang="en-US" altLang="zh-TW" dirty="0"/>
              <a:t>&gt;, &lt;</a:t>
            </a:r>
            <a:r>
              <a:rPr lang="en-US" altLang="zh-TW" i="1" dirty="0"/>
              <a:t>c</a:t>
            </a:r>
            <a:r>
              <a:rPr lang="en-US" altLang="zh-TW" dirty="0"/>
              <a:t>, </a:t>
            </a:r>
            <a:r>
              <a:rPr lang="en-US" altLang="zh-TW" i="1" dirty="0"/>
              <a:t>b</a:t>
            </a:r>
            <a:r>
              <a:rPr lang="en-US" altLang="zh-TW" dirty="0"/>
              <a:t>&gt;, &lt;</a:t>
            </a:r>
            <a:r>
              <a:rPr lang="en-US" altLang="zh-TW" i="1" dirty="0"/>
              <a:t>d</a:t>
            </a:r>
            <a:r>
              <a:rPr lang="en-US" altLang="zh-TW" dirty="0"/>
              <a:t>, </a:t>
            </a:r>
            <a:r>
              <a:rPr lang="en-US" altLang="zh-TW" i="1" dirty="0"/>
              <a:t>c</a:t>
            </a:r>
            <a:r>
              <a:rPr lang="en-US" altLang="zh-TW" dirty="0"/>
              <a:t>&gt;}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15</a:t>
            </a:fld>
            <a:endParaRPr lang="en-US" dirty="0"/>
          </a:p>
        </p:txBody>
      </p:sp>
      <p:grpSp>
        <p:nvGrpSpPr>
          <p:cNvPr id="7" name="群組 6"/>
          <p:cNvGrpSpPr/>
          <p:nvPr/>
        </p:nvGrpSpPr>
        <p:grpSpPr>
          <a:xfrm>
            <a:off x="6041979" y="1814510"/>
            <a:ext cx="2013956" cy="3815386"/>
            <a:chOff x="5862806" y="1776559"/>
            <a:chExt cx="2013956" cy="3815386"/>
          </a:xfrm>
        </p:grpSpPr>
        <p:sp>
          <p:nvSpPr>
            <p:cNvPr id="8" name="橢圓 7"/>
            <p:cNvSpPr/>
            <p:nvPr/>
          </p:nvSpPr>
          <p:spPr>
            <a:xfrm>
              <a:off x="6133668" y="1926085"/>
              <a:ext cx="180000" cy="180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9" name="直線接點 8"/>
            <p:cNvCxnSpPr>
              <a:stCxn id="8" idx="6"/>
              <a:endCxn id="10" idx="2"/>
            </p:cNvCxnSpPr>
            <p:nvPr/>
          </p:nvCxnSpPr>
          <p:spPr>
            <a:xfrm>
              <a:off x="6313668" y="2016085"/>
              <a:ext cx="112834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橢圓 9"/>
            <p:cNvSpPr/>
            <p:nvPr/>
          </p:nvSpPr>
          <p:spPr>
            <a:xfrm>
              <a:off x="7442008" y="1926085"/>
              <a:ext cx="180000" cy="180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橢圓 10"/>
            <p:cNvSpPr/>
            <p:nvPr/>
          </p:nvSpPr>
          <p:spPr>
            <a:xfrm>
              <a:off x="6133668" y="3027391"/>
              <a:ext cx="180000" cy="180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橢圓 11"/>
            <p:cNvSpPr/>
            <p:nvPr/>
          </p:nvSpPr>
          <p:spPr>
            <a:xfrm>
              <a:off x="7442008" y="3027391"/>
              <a:ext cx="180000" cy="180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3" name="直線接點 12"/>
            <p:cNvCxnSpPr>
              <a:stCxn id="10" idx="4"/>
              <a:endCxn id="12" idx="0"/>
            </p:cNvCxnSpPr>
            <p:nvPr/>
          </p:nvCxnSpPr>
          <p:spPr>
            <a:xfrm>
              <a:off x="7532008" y="2106085"/>
              <a:ext cx="0" cy="92130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接點 13"/>
            <p:cNvCxnSpPr>
              <a:stCxn id="8" idx="4"/>
              <a:endCxn id="11" idx="0"/>
            </p:cNvCxnSpPr>
            <p:nvPr/>
          </p:nvCxnSpPr>
          <p:spPr>
            <a:xfrm>
              <a:off x="6223668" y="2106085"/>
              <a:ext cx="0" cy="92130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接點 14"/>
            <p:cNvCxnSpPr>
              <a:stCxn id="12" idx="2"/>
              <a:endCxn id="11" idx="6"/>
            </p:cNvCxnSpPr>
            <p:nvPr/>
          </p:nvCxnSpPr>
          <p:spPr>
            <a:xfrm flipH="1">
              <a:off x="6313668" y="3117391"/>
              <a:ext cx="112834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接點 15"/>
            <p:cNvCxnSpPr>
              <a:stCxn id="12" idx="1"/>
              <a:endCxn id="8" idx="5"/>
            </p:cNvCxnSpPr>
            <p:nvPr/>
          </p:nvCxnSpPr>
          <p:spPr>
            <a:xfrm flipH="1" flipV="1">
              <a:off x="6287308" y="2079725"/>
              <a:ext cx="1181060" cy="97402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文字方塊 16"/>
            <p:cNvSpPr txBox="1"/>
            <p:nvPr/>
          </p:nvSpPr>
          <p:spPr>
            <a:xfrm>
              <a:off x="5862806" y="1776559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TW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文字方塊 17"/>
            <p:cNvSpPr txBox="1"/>
            <p:nvPr/>
          </p:nvSpPr>
          <p:spPr>
            <a:xfrm>
              <a:off x="5863892" y="2882832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TW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文字方塊 18"/>
            <p:cNvSpPr txBox="1"/>
            <p:nvPr/>
          </p:nvSpPr>
          <p:spPr>
            <a:xfrm>
              <a:off x="7570824" y="2891458"/>
              <a:ext cx="29848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TW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文字方塊 19"/>
            <p:cNvSpPr txBox="1"/>
            <p:nvPr/>
          </p:nvSpPr>
          <p:spPr>
            <a:xfrm>
              <a:off x="7562770" y="1790152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TW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橢圓 20"/>
            <p:cNvSpPr/>
            <p:nvPr/>
          </p:nvSpPr>
          <p:spPr>
            <a:xfrm>
              <a:off x="6134754" y="4226462"/>
              <a:ext cx="180000" cy="180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22" name="直線接點 21"/>
            <p:cNvCxnSpPr>
              <a:stCxn id="21" idx="6"/>
              <a:endCxn id="23" idx="2"/>
            </p:cNvCxnSpPr>
            <p:nvPr/>
          </p:nvCxnSpPr>
          <p:spPr>
            <a:xfrm>
              <a:off x="6314754" y="4316462"/>
              <a:ext cx="112834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橢圓 22"/>
            <p:cNvSpPr/>
            <p:nvPr/>
          </p:nvSpPr>
          <p:spPr>
            <a:xfrm>
              <a:off x="7443094" y="4226462"/>
              <a:ext cx="180000" cy="180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橢圓 23"/>
            <p:cNvSpPr/>
            <p:nvPr/>
          </p:nvSpPr>
          <p:spPr>
            <a:xfrm>
              <a:off x="6134754" y="5327768"/>
              <a:ext cx="180000" cy="180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" name="橢圓 24"/>
            <p:cNvSpPr/>
            <p:nvPr/>
          </p:nvSpPr>
          <p:spPr>
            <a:xfrm>
              <a:off x="7443094" y="5327768"/>
              <a:ext cx="180000" cy="180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26" name="直線接點 25"/>
            <p:cNvCxnSpPr>
              <a:stCxn id="23" idx="4"/>
              <a:endCxn id="25" idx="0"/>
            </p:cNvCxnSpPr>
            <p:nvPr/>
          </p:nvCxnSpPr>
          <p:spPr>
            <a:xfrm>
              <a:off x="7533094" y="4406462"/>
              <a:ext cx="0" cy="921306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接點 26"/>
            <p:cNvCxnSpPr>
              <a:stCxn id="21" idx="4"/>
              <a:endCxn id="24" idx="0"/>
            </p:cNvCxnSpPr>
            <p:nvPr/>
          </p:nvCxnSpPr>
          <p:spPr>
            <a:xfrm>
              <a:off x="6224754" y="4406462"/>
              <a:ext cx="0" cy="921306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接點 27"/>
            <p:cNvCxnSpPr>
              <a:stCxn id="25" idx="2"/>
              <a:endCxn id="24" idx="6"/>
            </p:cNvCxnSpPr>
            <p:nvPr/>
          </p:nvCxnSpPr>
          <p:spPr>
            <a:xfrm flipH="1">
              <a:off x="6314754" y="5417768"/>
              <a:ext cx="112834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接點 28"/>
            <p:cNvCxnSpPr>
              <a:stCxn id="25" idx="1"/>
              <a:endCxn id="21" idx="5"/>
            </p:cNvCxnSpPr>
            <p:nvPr/>
          </p:nvCxnSpPr>
          <p:spPr>
            <a:xfrm flipH="1" flipV="1">
              <a:off x="6288394" y="4380102"/>
              <a:ext cx="1181060" cy="974026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文字方塊 29"/>
            <p:cNvSpPr txBox="1"/>
            <p:nvPr/>
          </p:nvSpPr>
          <p:spPr>
            <a:xfrm>
              <a:off x="5863892" y="4076936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TW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文字方塊 30"/>
            <p:cNvSpPr txBox="1"/>
            <p:nvPr/>
          </p:nvSpPr>
          <p:spPr>
            <a:xfrm>
              <a:off x="5864978" y="5183209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TW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文字方塊 31"/>
            <p:cNvSpPr txBox="1"/>
            <p:nvPr/>
          </p:nvSpPr>
          <p:spPr>
            <a:xfrm>
              <a:off x="7571910" y="5191835"/>
              <a:ext cx="29848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TW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文字方塊 32"/>
            <p:cNvSpPr txBox="1"/>
            <p:nvPr/>
          </p:nvSpPr>
          <p:spPr>
            <a:xfrm>
              <a:off x="7563856" y="4090529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TW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19180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圖形理論 </a:t>
            </a:r>
            <a:r>
              <a:rPr lang="en-US" altLang="zh-TW" dirty="0"/>
              <a:t>(2/4)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加權圖</a:t>
            </a:r>
            <a:r>
              <a:rPr lang="en-US" altLang="zh-TW" dirty="0"/>
              <a:t>(weighted graph)</a:t>
            </a:r>
          </a:p>
          <a:p>
            <a:pPr lvl="1"/>
            <a:r>
              <a:rPr lang="zh-TW" altLang="en-US" dirty="0"/>
              <a:t>每一個邊都對應到一個唯一的數值，稱為此邊的</a:t>
            </a:r>
            <a:r>
              <a:rPr lang="zh-TW" altLang="en-US" dirty="0">
                <a:solidFill>
                  <a:srgbClr val="0000FF"/>
                </a:solidFill>
              </a:rPr>
              <a:t>權重</a:t>
            </a:r>
            <a:r>
              <a:rPr lang="en-US" altLang="zh-TW" dirty="0">
                <a:solidFill>
                  <a:srgbClr val="0000FF"/>
                </a:solidFill>
              </a:rPr>
              <a:t>/</a:t>
            </a:r>
            <a:r>
              <a:rPr lang="zh-TW" altLang="en-US" dirty="0">
                <a:solidFill>
                  <a:srgbClr val="0000FF"/>
                </a:solidFill>
              </a:rPr>
              <a:t>加權</a:t>
            </a:r>
            <a:r>
              <a:rPr lang="en-US" altLang="zh-TW" dirty="0">
                <a:solidFill>
                  <a:srgbClr val="0000FF"/>
                </a:solidFill>
              </a:rPr>
              <a:t>(weight)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7" name="橢圓 6"/>
          <p:cNvSpPr/>
          <p:nvPr/>
        </p:nvSpPr>
        <p:spPr>
          <a:xfrm>
            <a:off x="1949848" y="2508536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" name="直線接點 7"/>
          <p:cNvCxnSpPr>
            <a:stCxn id="7" idx="6"/>
            <a:endCxn id="9" idx="2"/>
          </p:cNvCxnSpPr>
          <p:nvPr/>
        </p:nvCxnSpPr>
        <p:spPr>
          <a:xfrm>
            <a:off x="2129848" y="2598536"/>
            <a:ext cx="11283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橢圓 8"/>
          <p:cNvSpPr/>
          <p:nvPr/>
        </p:nvSpPr>
        <p:spPr>
          <a:xfrm>
            <a:off x="3258188" y="2508536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1949848" y="3609842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3258188" y="3609842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接點 11"/>
          <p:cNvCxnSpPr>
            <a:stCxn id="9" idx="4"/>
            <a:endCxn id="11" idx="0"/>
          </p:cNvCxnSpPr>
          <p:nvPr/>
        </p:nvCxnSpPr>
        <p:spPr>
          <a:xfrm>
            <a:off x="3348188" y="2688536"/>
            <a:ext cx="0" cy="9213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>
            <a:stCxn id="7" idx="4"/>
            <a:endCxn id="10" idx="0"/>
          </p:cNvCxnSpPr>
          <p:nvPr/>
        </p:nvCxnSpPr>
        <p:spPr>
          <a:xfrm>
            <a:off x="2039848" y="2688536"/>
            <a:ext cx="0" cy="9213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>
            <a:stCxn id="11" idx="2"/>
            <a:endCxn id="10" idx="6"/>
          </p:cNvCxnSpPr>
          <p:nvPr/>
        </p:nvCxnSpPr>
        <p:spPr>
          <a:xfrm flipH="1">
            <a:off x="2129848" y="3699842"/>
            <a:ext cx="11283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>
            <a:stCxn id="11" idx="1"/>
            <a:endCxn id="7" idx="5"/>
          </p:cNvCxnSpPr>
          <p:nvPr/>
        </p:nvCxnSpPr>
        <p:spPr>
          <a:xfrm flipH="1" flipV="1">
            <a:off x="2103488" y="2662176"/>
            <a:ext cx="1181060" cy="97402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/>
          <p:cNvSpPr txBox="1"/>
          <p:nvPr/>
        </p:nvSpPr>
        <p:spPr>
          <a:xfrm>
            <a:off x="1678986" y="235901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1680072" y="346528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3387004" y="3473909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3378950" y="237260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橢圓 19"/>
          <p:cNvSpPr/>
          <p:nvPr/>
        </p:nvSpPr>
        <p:spPr>
          <a:xfrm>
            <a:off x="5634421" y="2508536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1" name="直線接點 20"/>
          <p:cNvCxnSpPr>
            <a:stCxn id="20" idx="6"/>
            <a:endCxn id="22" idx="2"/>
          </p:cNvCxnSpPr>
          <p:nvPr/>
        </p:nvCxnSpPr>
        <p:spPr>
          <a:xfrm>
            <a:off x="5814421" y="2598536"/>
            <a:ext cx="1128340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橢圓 21"/>
          <p:cNvSpPr/>
          <p:nvPr/>
        </p:nvSpPr>
        <p:spPr>
          <a:xfrm>
            <a:off x="6942761" y="2508536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橢圓 22"/>
          <p:cNvSpPr/>
          <p:nvPr/>
        </p:nvSpPr>
        <p:spPr>
          <a:xfrm>
            <a:off x="5634421" y="3609842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橢圓 23"/>
          <p:cNvSpPr/>
          <p:nvPr/>
        </p:nvSpPr>
        <p:spPr>
          <a:xfrm>
            <a:off x="6942761" y="3609842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5" name="直線接點 24"/>
          <p:cNvCxnSpPr>
            <a:stCxn id="22" idx="4"/>
            <a:endCxn id="24" idx="0"/>
          </p:cNvCxnSpPr>
          <p:nvPr/>
        </p:nvCxnSpPr>
        <p:spPr>
          <a:xfrm>
            <a:off x="7032761" y="2688536"/>
            <a:ext cx="0" cy="92130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/>
          <p:cNvCxnSpPr>
            <a:stCxn id="20" idx="4"/>
            <a:endCxn id="23" idx="0"/>
          </p:cNvCxnSpPr>
          <p:nvPr/>
        </p:nvCxnSpPr>
        <p:spPr>
          <a:xfrm>
            <a:off x="5724421" y="2688536"/>
            <a:ext cx="0" cy="92130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>
            <a:stCxn id="24" idx="2"/>
            <a:endCxn id="23" idx="6"/>
          </p:cNvCxnSpPr>
          <p:nvPr/>
        </p:nvCxnSpPr>
        <p:spPr>
          <a:xfrm flipH="1">
            <a:off x="5814421" y="3699842"/>
            <a:ext cx="1128340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/>
          <p:cNvCxnSpPr>
            <a:stCxn id="24" idx="1"/>
            <a:endCxn id="20" idx="5"/>
          </p:cNvCxnSpPr>
          <p:nvPr/>
        </p:nvCxnSpPr>
        <p:spPr>
          <a:xfrm flipH="1" flipV="1">
            <a:off x="5788061" y="2662176"/>
            <a:ext cx="1181060" cy="97402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字方塊 28"/>
          <p:cNvSpPr txBox="1"/>
          <p:nvPr/>
        </p:nvSpPr>
        <p:spPr>
          <a:xfrm>
            <a:off x="5363559" y="235901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5364645" y="346528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071577" y="3473909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7063523" y="237260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/>
        </p:nvGraphicFramePr>
        <p:xfrm>
          <a:off x="1707508" y="4554253"/>
          <a:ext cx="1984348" cy="15849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96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60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60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1797852" y="414180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2295127" y="414335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2786587" y="4143359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3283862" y="414491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1383090" y="454502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1383090" y="494669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1383090" y="5346803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1383090" y="574157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1799208" y="455520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2295127" y="455520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文字方塊 43"/>
          <p:cNvSpPr txBox="1"/>
          <p:nvPr/>
        </p:nvSpPr>
        <p:spPr>
          <a:xfrm>
            <a:off x="2779521" y="455520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字方塊 44"/>
          <p:cNvSpPr txBox="1"/>
          <p:nvPr/>
        </p:nvSpPr>
        <p:spPr>
          <a:xfrm>
            <a:off x="3275440" y="455520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字方塊 45"/>
          <p:cNvSpPr txBox="1"/>
          <p:nvPr/>
        </p:nvSpPr>
        <p:spPr>
          <a:xfrm>
            <a:off x="1799208" y="495531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文字方塊 46"/>
          <p:cNvSpPr txBox="1"/>
          <p:nvPr/>
        </p:nvSpPr>
        <p:spPr>
          <a:xfrm>
            <a:off x="2295127" y="495531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文字方塊 47"/>
          <p:cNvSpPr txBox="1"/>
          <p:nvPr/>
        </p:nvSpPr>
        <p:spPr>
          <a:xfrm>
            <a:off x="2779521" y="495531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文字方塊 48"/>
          <p:cNvSpPr txBox="1"/>
          <p:nvPr/>
        </p:nvSpPr>
        <p:spPr>
          <a:xfrm>
            <a:off x="3266814" y="4955319"/>
            <a:ext cx="3674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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文字方塊 49"/>
          <p:cNvSpPr txBox="1"/>
          <p:nvPr/>
        </p:nvSpPr>
        <p:spPr>
          <a:xfrm>
            <a:off x="1799208" y="535542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文字方塊 50"/>
          <p:cNvSpPr txBox="1"/>
          <p:nvPr/>
        </p:nvSpPr>
        <p:spPr>
          <a:xfrm>
            <a:off x="2295127" y="535542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文字方塊 51"/>
          <p:cNvSpPr txBox="1"/>
          <p:nvPr/>
        </p:nvSpPr>
        <p:spPr>
          <a:xfrm>
            <a:off x="2779521" y="535542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文字方塊 52"/>
          <p:cNvSpPr txBox="1"/>
          <p:nvPr/>
        </p:nvSpPr>
        <p:spPr>
          <a:xfrm>
            <a:off x="3275440" y="535542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文字方塊 53"/>
          <p:cNvSpPr txBox="1"/>
          <p:nvPr/>
        </p:nvSpPr>
        <p:spPr>
          <a:xfrm>
            <a:off x="1799208" y="575553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文字方塊 54"/>
          <p:cNvSpPr txBox="1"/>
          <p:nvPr/>
        </p:nvSpPr>
        <p:spPr>
          <a:xfrm>
            <a:off x="2779521" y="575553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文字方塊 55"/>
          <p:cNvSpPr txBox="1"/>
          <p:nvPr/>
        </p:nvSpPr>
        <p:spPr>
          <a:xfrm>
            <a:off x="3275440" y="575553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7" name="表格 56"/>
          <p:cNvGraphicFramePr>
            <a:graphicFrameLocks noGrp="1"/>
          </p:cNvGraphicFramePr>
          <p:nvPr/>
        </p:nvGraphicFramePr>
        <p:xfrm>
          <a:off x="5456950" y="4551385"/>
          <a:ext cx="1984348" cy="15849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96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60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60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8" name="文字方塊 57"/>
          <p:cNvSpPr txBox="1"/>
          <p:nvPr/>
        </p:nvSpPr>
        <p:spPr>
          <a:xfrm>
            <a:off x="5547294" y="413893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文字方塊 58"/>
          <p:cNvSpPr txBox="1"/>
          <p:nvPr/>
        </p:nvSpPr>
        <p:spPr>
          <a:xfrm>
            <a:off x="6044569" y="414049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文字方塊 59"/>
          <p:cNvSpPr txBox="1"/>
          <p:nvPr/>
        </p:nvSpPr>
        <p:spPr>
          <a:xfrm>
            <a:off x="6536029" y="4140491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文字方塊 60"/>
          <p:cNvSpPr txBox="1"/>
          <p:nvPr/>
        </p:nvSpPr>
        <p:spPr>
          <a:xfrm>
            <a:off x="7033304" y="4142048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文字方塊 61"/>
          <p:cNvSpPr txBox="1"/>
          <p:nvPr/>
        </p:nvSpPr>
        <p:spPr>
          <a:xfrm>
            <a:off x="5132532" y="4542158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文字方塊 62"/>
          <p:cNvSpPr txBox="1"/>
          <p:nvPr/>
        </p:nvSpPr>
        <p:spPr>
          <a:xfrm>
            <a:off x="5132532" y="494382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5132532" y="5343935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5132532" y="573871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5548650" y="455234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文字方塊 66"/>
          <p:cNvSpPr txBox="1"/>
          <p:nvPr/>
        </p:nvSpPr>
        <p:spPr>
          <a:xfrm>
            <a:off x="6044569" y="455234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文字方塊 67"/>
          <p:cNvSpPr txBox="1"/>
          <p:nvPr/>
        </p:nvSpPr>
        <p:spPr>
          <a:xfrm>
            <a:off x="7024882" y="455234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文字方塊 68"/>
          <p:cNvSpPr txBox="1"/>
          <p:nvPr/>
        </p:nvSpPr>
        <p:spPr>
          <a:xfrm>
            <a:off x="6044569" y="495245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文字方塊 69"/>
          <p:cNvSpPr txBox="1"/>
          <p:nvPr/>
        </p:nvSpPr>
        <p:spPr>
          <a:xfrm>
            <a:off x="5548650" y="535256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文字方塊 70"/>
          <p:cNvSpPr txBox="1"/>
          <p:nvPr/>
        </p:nvSpPr>
        <p:spPr>
          <a:xfrm>
            <a:off x="6044569" y="535256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文字方塊 71"/>
          <p:cNvSpPr txBox="1"/>
          <p:nvPr/>
        </p:nvSpPr>
        <p:spPr>
          <a:xfrm>
            <a:off x="6528963" y="535256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文字方塊 72"/>
          <p:cNvSpPr txBox="1"/>
          <p:nvPr/>
        </p:nvSpPr>
        <p:spPr>
          <a:xfrm>
            <a:off x="6528963" y="575267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文字方塊 73"/>
          <p:cNvSpPr txBox="1"/>
          <p:nvPr/>
        </p:nvSpPr>
        <p:spPr>
          <a:xfrm>
            <a:off x="7024882" y="575267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文字方塊 74"/>
          <p:cNvSpPr txBox="1"/>
          <p:nvPr/>
        </p:nvSpPr>
        <p:spPr>
          <a:xfrm>
            <a:off x="1726922" y="294913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文字方塊 75"/>
          <p:cNvSpPr txBox="1"/>
          <p:nvPr/>
        </p:nvSpPr>
        <p:spPr>
          <a:xfrm>
            <a:off x="2537565" y="363620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文字方塊 76"/>
          <p:cNvSpPr txBox="1"/>
          <p:nvPr/>
        </p:nvSpPr>
        <p:spPr>
          <a:xfrm>
            <a:off x="2537565" y="226206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文字方塊 77"/>
          <p:cNvSpPr txBox="1"/>
          <p:nvPr/>
        </p:nvSpPr>
        <p:spPr>
          <a:xfrm>
            <a:off x="3322310" y="294913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文字方塊 78"/>
          <p:cNvSpPr txBox="1"/>
          <p:nvPr/>
        </p:nvSpPr>
        <p:spPr>
          <a:xfrm>
            <a:off x="2638760" y="2871497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文字方塊 79"/>
          <p:cNvSpPr txBox="1"/>
          <p:nvPr/>
        </p:nvSpPr>
        <p:spPr>
          <a:xfrm>
            <a:off x="2267876" y="5738711"/>
            <a:ext cx="3674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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文字方塊 80"/>
          <p:cNvSpPr txBox="1"/>
          <p:nvPr/>
        </p:nvSpPr>
        <p:spPr>
          <a:xfrm>
            <a:off x="5417022" y="294913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文字方塊 81"/>
          <p:cNvSpPr txBox="1"/>
          <p:nvPr/>
        </p:nvSpPr>
        <p:spPr>
          <a:xfrm>
            <a:off x="6227665" y="363620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文字方塊 82"/>
          <p:cNvSpPr txBox="1"/>
          <p:nvPr/>
        </p:nvSpPr>
        <p:spPr>
          <a:xfrm>
            <a:off x="6227665" y="226206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文字方塊 83"/>
          <p:cNvSpPr txBox="1"/>
          <p:nvPr/>
        </p:nvSpPr>
        <p:spPr>
          <a:xfrm>
            <a:off x="7012410" y="294913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文字方塊 84"/>
          <p:cNvSpPr txBox="1"/>
          <p:nvPr/>
        </p:nvSpPr>
        <p:spPr>
          <a:xfrm>
            <a:off x="6328860" y="2871497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文字方塊 85"/>
          <p:cNvSpPr txBox="1"/>
          <p:nvPr/>
        </p:nvSpPr>
        <p:spPr>
          <a:xfrm>
            <a:off x="5528638" y="4946693"/>
            <a:ext cx="3674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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文字方塊 86"/>
          <p:cNvSpPr txBox="1"/>
          <p:nvPr/>
        </p:nvSpPr>
        <p:spPr>
          <a:xfrm>
            <a:off x="5532726" y="5738711"/>
            <a:ext cx="3674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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文字方塊 87"/>
          <p:cNvSpPr txBox="1"/>
          <p:nvPr/>
        </p:nvSpPr>
        <p:spPr>
          <a:xfrm>
            <a:off x="6017318" y="5738711"/>
            <a:ext cx="3674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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文字方塊 88"/>
          <p:cNvSpPr txBox="1"/>
          <p:nvPr/>
        </p:nvSpPr>
        <p:spPr>
          <a:xfrm>
            <a:off x="6525043" y="4555209"/>
            <a:ext cx="3674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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文字方塊 89"/>
          <p:cNvSpPr txBox="1"/>
          <p:nvPr/>
        </p:nvSpPr>
        <p:spPr>
          <a:xfrm>
            <a:off x="7002411" y="5355429"/>
            <a:ext cx="3674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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文字方塊 90"/>
          <p:cNvSpPr txBox="1"/>
          <p:nvPr/>
        </p:nvSpPr>
        <p:spPr>
          <a:xfrm>
            <a:off x="6522291" y="4942268"/>
            <a:ext cx="3674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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文字方塊 91"/>
          <p:cNvSpPr txBox="1"/>
          <p:nvPr/>
        </p:nvSpPr>
        <p:spPr>
          <a:xfrm>
            <a:off x="7006883" y="4942268"/>
            <a:ext cx="3674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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8403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00"/>
                            </p:stCondLst>
                            <p:childTnLst>
                              <p:par>
                                <p:cTn id="7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500"/>
                            </p:stCondLst>
                            <p:childTnLst>
                              <p:par>
                                <p:cTn id="8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000"/>
                            </p:stCondLst>
                            <p:childTnLst>
                              <p:par>
                                <p:cTn id="8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2500"/>
                            </p:stCondLst>
                            <p:childTnLst>
                              <p:par>
                                <p:cTn id="8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3000"/>
                            </p:stCondLst>
                            <p:childTnLst>
                              <p:par>
                                <p:cTn id="9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500"/>
                            </p:stCondLst>
                            <p:childTnLst>
                              <p:par>
                                <p:cTn id="11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500"/>
                            </p:stCondLst>
                            <p:childTnLst>
                              <p:par>
                                <p:cTn id="1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1000"/>
                            </p:stCondLst>
                            <p:childTnLst>
                              <p:par>
                                <p:cTn id="1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8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3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66" grpId="0"/>
      <p:bldP spid="67" grpId="0"/>
      <p:bldP spid="68" grpId="0"/>
      <p:bldP spid="69" grpId="0"/>
      <p:bldP spid="70" grpId="0"/>
      <p:bldP spid="71" grpId="0"/>
      <p:bldP spid="72" grpId="0"/>
      <p:bldP spid="73" grpId="0"/>
      <p:bldP spid="74" grpId="0"/>
      <p:bldP spid="75" grpId="0"/>
      <p:bldP spid="76" grpId="0"/>
      <p:bldP spid="77" grpId="0"/>
      <p:bldP spid="78" grpId="0"/>
      <p:bldP spid="79" grpId="0"/>
      <p:bldP spid="80" grpId="0"/>
      <p:bldP spid="81" grpId="0"/>
      <p:bldP spid="82" grpId="0"/>
      <p:bldP spid="83" grpId="0"/>
      <p:bldP spid="84" grpId="0"/>
      <p:bldP spid="85" grpId="0"/>
      <p:bldP spid="86" grpId="0"/>
      <p:bldP spid="87" grpId="0"/>
      <p:bldP spid="88" grpId="0"/>
      <p:bldP spid="89" grpId="0"/>
      <p:bldP spid="90" grpId="0"/>
      <p:bldP spid="91" grpId="0"/>
      <p:bldP spid="9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圖形理論 </a:t>
            </a:r>
            <a:r>
              <a:rPr lang="en-US" altLang="zh-TW" dirty="0"/>
              <a:t>(3/4)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路徑</a:t>
            </a:r>
            <a:r>
              <a:rPr lang="en-US" altLang="zh-TW" dirty="0"/>
              <a:t>(path)</a:t>
            </a:r>
            <a:r>
              <a:rPr lang="zh-TW" altLang="en-US" dirty="0"/>
              <a:t>：</a:t>
            </a:r>
            <a:endParaRPr lang="en-US" altLang="zh-TW" dirty="0"/>
          </a:p>
          <a:p>
            <a:pPr lvl="1"/>
            <a:r>
              <a:rPr lang="en-US" altLang="zh-TW" i="1" dirty="0"/>
              <a:t>b</a:t>
            </a:r>
            <a:r>
              <a:rPr lang="en-US" altLang="zh-TW" dirty="0"/>
              <a:t> </a:t>
            </a:r>
            <a:r>
              <a:rPr lang="en-US" altLang="zh-TW" dirty="0">
                <a:sym typeface="Symbol"/>
              </a:rPr>
              <a:t> </a:t>
            </a:r>
            <a:r>
              <a:rPr lang="en-US" altLang="zh-TW" i="1" dirty="0">
                <a:sym typeface="Symbol"/>
              </a:rPr>
              <a:t>a</a:t>
            </a:r>
            <a:r>
              <a:rPr lang="en-US" altLang="zh-TW" dirty="0">
                <a:sym typeface="Symbol"/>
              </a:rPr>
              <a:t>  </a:t>
            </a:r>
            <a:r>
              <a:rPr lang="en-US" altLang="zh-TW" i="1" dirty="0">
                <a:sym typeface="Symbol"/>
              </a:rPr>
              <a:t>c</a:t>
            </a:r>
            <a:r>
              <a:rPr lang="en-US" altLang="zh-TW" dirty="0">
                <a:sym typeface="Symbol"/>
              </a:rPr>
              <a:t>  </a:t>
            </a:r>
            <a:r>
              <a:rPr lang="en-US" altLang="zh-TW" i="1" dirty="0">
                <a:sym typeface="Symbol"/>
              </a:rPr>
              <a:t>d</a:t>
            </a:r>
          </a:p>
          <a:p>
            <a:pPr lvl="1"/>
            <a:r>
              <a:rPr lang="en-US" altLang="zh-TW" i="1" dirty="0">
                <a:sym typeface="Symbol"/>
              </a:rPr>
              <a:t>d</a:t>
            </a:r>
            <a:r>
              <a:rPr lang="en-US" altLang="zh-TW" dirty="0">
                <a:sym typeface="Symbol"/>
              </a:rPr>
              <a:t>  </a:t>
            </a:r>
            <a:r>
              <a:rPr lang="en-US" altLang="zh-TW" i="1" dirty="0">
                <a:sym typeface="Symbol"/>
              </a:rPr>
              <a:t>c</a:t>
            </a:r>
            <a:r>
              <a:rPr lang="en-US" altLang="zh-TW" dirty="0">
                <a:sym typeface="Symbol"/>
              </a:rPr>
              <a:t>  </a:t>
            </a:r>
            <a:r>
              <a:rPr lang="en-US" altLang="zh-TW" i="1" dirty="0">
                <a:sym typeface="Symbol"/>
              </a:rPr>
              <a:t>a</a:t>
            </a:r>
            <a:r>
              <a:rPr lang="en-US" altLang="zh-TW" dirty="0">
                <a:sym typeface="Symbol"/>
              </a:rPr>
              <a:t>  </a:t>
            </a:r>
            <a:r>
              <a:rPr lang="en-US" altLang="zh-TW" i="1" dirty="0">
                <a:sym typeface="Symbol"/>
              </a:rPr>
              <a:t>b</a:t>
            </a:r>
          </a:p>
          <a:p>
            <a:endParaRPr lang="en-US" altLang="zh-TW" dirty="0">
              <a:sym typeface="Symbol"/>
            </a:endParaRPr>
          </a:p>
          <a:p>
            <a:r>
              <a:rPr lang="zh-TW" altLang="en-US" dirty="0">
                <a:sym typeface="Symbol"/>
              </a:rPr>
              <a:t>迴圈</a:t>
            </a:r>
            <a:r>
              <a:rPr lang="en-US" altLang="zh-TW" dirty="0">
                <a:sym typeface="Symbol"/>
              </a:rPr>
              <a:t>/</a:t>
            </a:r>
            <a:r>
              <a:rPr lang="zh-TW" altLang="en-US" dirty="0">
                <a:sym typeface="Symbol"/>
              </a:rPr>
              <a:t>環路</a:t>
            </a:r>
            <a:r>
              <a:rPr lang="en-US" altLang="zh-TW" dirty="0">
                <a:sym typeface="Symbol"/>
              </a:rPr>
              <a:t>(cycle)</a:t>
            </a:r>
            <a:r>
              <a:rPr lang="zh-TW" altLang="en-US" dirty="0">
                <a:sym typeface="Symbol"/>
              </a:rPr>
              <a:t>：</a:t>
            </a:r>
            <a:endParaRPr lang="en-US" altLang="zh-TW" dirty="0">
              <a:sym typeface="Symbol"/>
            </a:endParaRPr>
          </a:p>
          <a:p>
            <a:pPr lvl="1"/>
            <a:r>
              <a:rPr lang="zh-TW" altLang="en-US" dirty="0"/>
              <a:t>路徑的起點和終點相同</a:t>
            </a:r>
            <a:endParaRPr lang="en-US" altLang="zh-TW" dirty="0"/>
          </a:p>
          <a:p>
            <a:pPr lvl="1"/>
            <a:r>
              <a:rPr lang="en-US" altLang="zh-TW" i="1" dirty="0">
                <a:solidFill>
                  <a:srgbClr val="C00000"/>
                </a:solidFill>
              </a:rPr>
              <a:t>a</a:t>
            </a:r>
            <a:r>
              <a:rPr lang="en-US" altLang="zh-TW" dirty="0"/>
              <a:t> </a:t>
            </a:r>
            <a:r>
              <a:rPr lang="en-US" altLang="zh-TW" dirty="0">
                <a:sym typeface="Symbol"/>
              </a:rPr>
              <a:t> </a:t>
            </a:r>
            <a:r>
              <a:rPr lang="en-US" altLang="zh-TW" i="1" dirty="0">
                <a:sym typeface="Symbol"/>
              </a:rPr>
              <a:t>b</a:t>
            </a:r>
            <a:r>
              <a:rPr lang="en-US" altLang="zh-TW" dirty="0">
                <a:sym typeface="Symbol"/>
              </a:rPr>
              <a:t>  </a:t>
            </a:r>
            <a:r>
              <a:rPr lang="en-US" altLang="zh-TW" i="1" dirty="0">
                <a:sym typeface="Symbol"/>
              </a:rPr>
              <a:t>c</a:t>
            </a:r>
            <a:r>
              <a:rPr lang="en-US" altLang="zh-TW" dirty="0">
                <a:sym typeface="Symbol"/>
              </a:rPr>
              <a:t>  </a:t>
            </a:r>
            <a:r>
              <a:rPr lang="en-US" altLang="zh-TW" i="1" dirty="0">
                <a:sym typeface="Symbol"/>
              </a:rPr>
              <a:t>d</a:t>
            </a:r>
            <a:r>
              <a:rPr lang="en-US" altLang="zh-TW" dirty="0">
                <a:sym typeface="Symbol"/>
              </a:rPr>
              <a:t>  </a:t>
            </a:r>
            <a:r>
              <a:rPr lang="en-US" altLang="zh-TW" i="1" dirty="0">
                <a:solidFill>
                  <a:srgbClr val="C00000"/>
                </a:solidFill>
                <a:sym typeface="Symbol"/>
              </a:rPr>
              <a:t>a</a:t>
            </a:r>
          </a:p>
          <a:p>
            <a:pPr lvl="1"/>
            <a:r>
              <a:rPr lang="en-US" altLang="zh-TW" i="1" dirty="0">
                <a:solidFill>
                  <a:srgbClr val="C00000"/>
                </a:solidFill>
                <a:sym typeface="Symbol"/>
              </a:rPr>
              <a:t>d</a:t>
            </a:r>
            <a:r>
              <a:rPr lang="en-US" altLang="zh-TW" dirty="0">
                <a:sym typeface="Symbol"/>
              </a:rPr>
              <a:t>  </a:t>
            </a:r>
            <a:r>
              <a:rPr lang="en-US" altLang="zh-TW" i="1" dirty="0">
                <a:sym typeface="Symbol"/>
              </a:rPr>
              <a:t>c</a:t>
            </a:r>
            <a:r>
              <a:rPr lang="en-US" altLang="zh-TW" dirty="0">
                <a:sym typeface="Symbol"/>
              </a:rPr>
              <a:t>  </a:t>
            </a:r>
            <a:r>
              <a:rPr lang="en-US" altLang="zh-TW" i="1" dirty="0">
                <a:sym typeface="Symbol"/>
              </a:rPr>
              <a:t>a</a:t>
            </a:r>
            <a:r>
              <a:rPr lang="en-US" altLang="zh-TW" dirty="0">
                <a:sym typeface="Symbol"/>
              </a:rPr>
              <a:t>  </a:t>
            </a:r>
            <a:r>
              <a:rPr lang="en-US" altLang="zh-TW" i="1" dirty="0">
                <a:solidFill>
                  <a:srgbClr val="C00000"/>
                </a:solidFill>
                <a:sym typeface="Symbol"/>
              </a:rPr>
              <a:t>d</a:t>
            </a:r>
            <a:endParaRPr lang="zh-TW" altLang="en-US" dirty="0">
              <a:solidFill>
                <a:srgbClr val="C00000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7" name="橢圓 6"/>
          <p:cNvSpPr/>
          <p:nvPr/>
        </p:nvSpPr>
        <p:spPr>
          <a:xfrm>
            <a:off x="6133668" y="1926085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" name="直線接點 7"/>
          <p:cNvCxnSpPr>
            <a:stCxn id="7" idx="6"/>
            <a:endCxn id="9" idx="2"/>
          </p:cNvCxnSpPr>
          <p:nvPr/>
        </p:nvCxnSpPr>
        <p:spPr>
          <a:xfrm>
            <a:off x="6313668" y="2016085"/>
            <a:ext cx="11283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橢圓 8"/>
          <p:cNvSpPr/>
          <p:nvPr/>
        </p:nvSpPr>
        <p:spPr>
          <a:xfrm>
            <a:off x="7442008" y="1926085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6133668" y="3027391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7442008" y="3027391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接點 11"/>
          <p:cNvCxnSpPr>
            <a:stCxn id="9" idx="4"/>
            <a:endCxn id="11" idx="0"/>
          </p:cNvCxnSpPr>
          <p:nvPr/>
        </p:nvCxnSpPr>
        <p:spPr>
          <a:xfrm>
            <a:off x="7532008" y="2106085"/>
            <a:ext cx="0" cy="9213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>
            <a:stCxn id="7" idx="4"/>
            <a:endCxn id="10" idx="0"/>
          </p:cNvCxnSpPr>
          <p:nvPr/>
        </p:nvCxnSpPr>
        <p:spPr>
          <a:xfrm>
            <a:off x="6223668" y="2106085"/>
            <a:ext cx="0" cy="9213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>
            <a:stCxn id="11" idx="2"/>
            <a:endCxn id="10" idx="6"/>
          </p:cNvCxnSpPr>
          <p:nvPr/>
        </p:nvCxnSpPr>
        <p:spPr>
          <a:xfrm flipH="1">
            <a:off x="6313668" y="3117391"/>
            <a:ext cx="11283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>
            <a:stCxn id="11" idx="1"/>
            <a:endCxn id="7" idx="5"/>
          </p:cNvCxnSpPr>
          <p:nvPr/>
        </p:nvCxnSpPr>
        <p:spPr>
          <a:xfrm flipH="1" flipV="1">
            <a:off x="6287308" y="2079725"/>
            <a:ext cx="1181060" cy="97402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/>
          <p:cNvSpPr txBox="1"/>
          <p:nvPr/>
        </p:nvSpPr>
        <p:spPr>
          <a:xfrm>
            <a:off x="5862806" y="177655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5863892" y="288283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7570824" y="2891458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7562770" y="179015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橢圓 19"/>
          <p:cNvSpPr/>
          <p:nvPr/>
        </p:nvSpPr>
        <p:spPr>
          <a:xfrm>
            <a:off x="6134754" y="4226462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1" name="直線接點 20"/>
          <p:cNvCxnSpPr>
            <a:stCxn id="20" idx="6"/>
            <a:endCxn id="22" idx="2"/>
          </p:cNvCxnSpPr>
          <p:nvPr/>
        </p:nvCxnSpPr>
        <p:spPr>
          <a:xfrm>
            <a:off x="6314754" y="4316462"/>
            <a:ext cx="1128340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橢圓 21"/>
          <p:cNvSpPr/>
          <p:nvPr/>
        </p:nvSpPr>
        <p:spPr>
          <a:xfrm>
            <a:off x="7443094" y="4226462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橢圓 22"/>
          <p:cNvSpPr/>
          <p:nvPr/>
        </p:nvSpPr>
        <p:spPr>
          <a:xfrm>
            <a:off x="6134754" y="5327768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橢圓 23"/>
          <p:cNvSpPr/>
          <p:nvPr/>
        </p:nvSpPr>
        <p:spPr>
          <a:xfrm>
            <a:off x="7443094" y="5327768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5" name="直線接點 24"/>
          <p:cNvCxnSpPr>
            <a:stCxn id="22" idx="4"/>
            <a:endCxn id="24" idx="0"/>
          </p:cNvCxnSpPr>
          <p:nvPr/>
        </p:nvCxnSpPr>
        <p:spPr>
          <a:xfrm>
            <a:off x="7533094" y="4406462"/>
            <a:ext cx="0" cy="92130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/>
          <p:cNvCxnSpPr>
            <a:stCxn id="20" idx="4"/>
            <a:endCxn id="23" idx="0"/>
          </p:cNvCxnSpPr>
          <p:nvPr/>
        </p:nvCxnSpPr>
        <p:spPr>
          <a:xfrm>
            <a:off x="6224754" y="4406462"/>
            <a:ext cx="0" cy="92130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>
            <a:stCxn id="24" idx="2"/>
            <a:endCxn id="23" idx="6"/>
          </p:cNvCxnSpPr>
          <p:nvPr/>
        </p:nvCxnSpPr>
        <p:spPr>
          <a:xfrm flipH="1">
            <a:off x="6314754" y="5417768"/>
            <a:ext cx="1128340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/>
          <p:cNvCxnSpPr>
            <a:stCxn id="24" idx="1"/>
            <a:endCxn id="20" idx="5"/>
          </p:cNvCxnSpPr>
          <p:nvPr/>
        </p:nvCxnSpPr>
        <p:spPr>
          <a:xfrm flipH="1" flipV="1">
            <a:off x="6288394" y="4380102"/>
            <a:ext cx="1181060" cy="97402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字方塊 28"/>
          <p:cNvSpPr txBox="1"/>
          <p:nvPr/>
        </p:nvSpPr>
        <p:spPr>
          <a:xfrm>
            <a:off x="5863892" y="407693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5864978" y="518320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571910" y="5191835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7563856" y="409052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8245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2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5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50"/>
                            </p:stCondLst>
                            <p:childTnLst>
                              <p:par>
                                <p:cTn id="18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0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3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8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1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750"/>
                            </p:stCondLst>
                            <p:childTnLst>
                              <p:par>
                                <p:cTn id="34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6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9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44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47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250"/>
                            </p:stCondLst>
                            <p:childTnLst>
                              <p:par>
                                <p:cTn id="50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52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55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500"/>
                            </p:stCondLst>
                            <p:childTnLst>
                              <p:par>
                                <p:cTn id="58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60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63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4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4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7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8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50"/>
                            </p:stCondLst>
                            <p:childTnLst>
                              <p:par>
                                <p:cTn id="80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2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5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9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90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93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4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750"/>
                            </p:stCondLst>
                            <p:childTnLst>
                              <p:par>
                                <p:cTn id="96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7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98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0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01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2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000"/>
                            </p:stCondLst>
                            <p:childTnLst>
                              <p:par>
                                <p:cTn id="104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5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06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09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0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250"/>
                            </p:stCondLst>
                            <p:childTnLst>
                              <p:par>
                                <p:cTn id="112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3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14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17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8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1500"/>
                            </p:stCondLst>
                            <p:childTnLst>
                              <p:par>
                                <p:cTn id="120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1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22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4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25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6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0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41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2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4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45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250"/>
                            </p:stCondLst>
                            <p:childTnLst>
                              <p:par>
                                <p:cTn id="147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8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49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0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2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53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500"/>
                            </p:stCondLst>
                            <p:childTnLst>
                              <p:par>
                                <p:cTn id="155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6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57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8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0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61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750"/>
                            </p:stCondLst>
                            <p:childTnLst>
                              <p:par>
                                <p:cTn id="163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4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65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6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8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69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1000"/>
                            </p:stCondLst>
                            <p:childTnLst>
                              <p:par>
                                <p:cTn id="171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2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73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4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6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77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1250"/>
                            </p:stCondLst>
                            <p:childTnLst>
                              <p:par>
                                <p:cTn id="179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0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81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2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4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85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1500"/>
                            </p:stCondLst>
                            <p:childTnLst>
                              <p:par>
                                <p:cTn id="187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8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89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0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2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93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1750"/>
                            </p:stCondLst>
                            <p:childTnLst>
                              <p:par>
                                <p:cTn id="195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6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97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8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0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201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0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211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2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4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215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>
                            <p:stCondLst>
                              <p:cond delay="250"/>
                            </p:stCondLst>
                            <p:childTnLst>
                              <p:par>
                                <p:cTn id="217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8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219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0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2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223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4" fill="hold">
                            <p:stCondLst>
                              <p:cond delay="500"/>
                            </p:stCondLst>
                            <p:childTnLst>
                              <p:par>
                                <p:cTn id="225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6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227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8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0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231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>
                            <p:stCondLst>
                              <p:cond delay="750"/>
                            </p:stCondLst>
                            <p:childTnLst>
                              <p:par>
                                <p:cTn id="233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4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235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6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8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239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0" fill="hold">
                            <p:stCondLst>
                              <p:cond delay="1000"/>
                            </p:stCondLst>
                            <p:childTnLst>
                              <p:par>
                                <p:cTn id="241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2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243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4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6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247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8" fill="hold">
                            <p:stCondLst>
                              <p:cond delay="1250"/>
                            </p:stCondLst>
                            <p:childTnLst>
                              <p:par>
                                <p:cTn id="249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0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251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2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4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255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圖形理論 </a:t>
            </a:r>
            <a:r>
              <a:rPr lang="en-US" altLang="zh-TW" dirty="0"/>
              <a:t>(4/4)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0000FF"/>
                </a:solidFill>
              </a:rPr>
              <a:t>環狀圖</a:t>
            </a:r>
            <a:r>
              <a:rPr lang="en-US" altLang="zh-TW" dirty="0">
                <a:solidFill>
                  <a:srgbClr val="0000FF"/>
                </a:solidFill>
              </a:rPr>
              <a:t>(cyclic)</a:t>
            </a:r>
          </a:p>
          <a:p>
            <a:pPr lvl="1"/>
            <a:r>
              <a:rPr lang="zh-TW" altLang="en-US" dirty="0"/>
              <a:t>包含</a:t>
            </a:r>
            <a:r>
              <a:rPr lang="zh-TW" altLang="en-US" dirty="0">
                <a:solidFill>
                  <a:srgbClr val="C00000"/>
                </a:solidFill>
              </a:rPr>
              <a:t>環狀</a:t>
            </a:r>
            <a:r>
              <a:rPr lang="zh-TW" altLang="en-US" dirty="0"/>
              <a:t>的路徑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>
                <a:solidFill>
                  <a:srgbClr val="0000FF"/>
                </a:solidFill>
              </a:rPr>
              <a:t>非環狀圖</a:t>
            </a:r>
            <a:r>
              <a:rPr lang="en-US" altLang="zh-TW" dirty="0">
                <a:solidFill>
                  <a:srgbClr val="0000FF"/>
                </a:solidFill>
              </a:rPr>
              <a:t>(acyclic)</a:t>
            </a:r>
          </a:p>
          <a:p>
            <a:endParaRPr lang="en-US" altLang="zh-TW" dirty="0"/>
          </a:p>
          <a:p>
            <a:r>
              <a:rPr lang="zh-TW" altLang="en-US" dirty="0">
                <a:solidFill>
                  <a:srgbClr val="0000FF"/>
                </a:solidFill>
              </a:rPr>
              <a:t>簡單</a:t>
            </a:r>
            <a:r>
              <a:rPr lang="en-US" altLang="zh-TW" dirty="0">
                <a:solidFill>
                  <a:srgbClr val="0000FF"/>
                </a:solidFill>
              </a:rPr>
              <a:t>(simple)</a:t>
            </a:r>
            <a:r>
              <a:rPr lang="zh-TW" altLang="en-US" dirty="0">
                <a:solidFill>
                  <a:srgbClr val="0000FF"/>
                </a:solidFill>
              </a:rPr>
              <a:t>路徑</a:t>
            </a:r>
            <a:endParaRPr lang="en-US" altLang="zh-TW" dirty="0">
              <a:solidFill>
                <a:srgbClr val="0000FF"/>
              </a:solidFill>
            </a:endParaRPr>
          </a:p>
          <a:p>
            <a:pPr lvl="1"/>
            <a:r>
              <a:rPr lang="zh-TW" altLang="en-US" dirty="0"/>
              <a:t>同一頂點不會出現兩次</a:t>
            </a:r>
            <a:endParaRPr lang="en-US" altLang="zh-TW" dirty="0"/>
          </a:p>
          <a:p>
            <a:pPr lvl="1"/>
            <a:r>
              <a:rPr lang="en-US" altLang="zh-TW" i="1" dirty="0">
                <a:sym typeface="Symbol"/>
              </a:rPr>
              <a:t>d</a:t>
            </a:r>
            <a:r>
              <a:rPr lang="en-US" altLang="zh-TW" dirty="0">
                <a:sym typeface="Symbol"/>
              </a:rPr>
              <a:t>  </a:t>
            </a:r>
            <a:r>
              <a:rPr lang="en-US" altLang="zh-TW" i="1" dirty="0">
                <a:sym typeface="Symbol"/>
              </a:rPr>
              <a:t>c</a:t>
            </a:r>
            <a:r>
              <a:rPr lang="en-US" altLang="zh-TW" dirty="0">
                <a:sym typeface="Symbol"/>
              </a:rPr>
              <a:t>  </a:t>
            </a:r>
            <a:r>
              <a:rPr lang="en-US" altLang="zh-TW" i="1" dirty="0">
                <a:sym typeface="Symbol"/>
              </a:rPr>
              <a:t>a</a:t>
            </a:r>
            <a:r>
              <a:rPr lang="en-US" altLang="zh-TW" dirty="0">
                <a:sym typeface="Symbol"/>
              </a:rPr>
              <a:t>  </a:t>
            </a:r>
            <a:r>
              <a:rPr lang="en-US" altLang="zh-TW" i="1" dirty="0">
                <a:sym typeface="Symbol"/>
              </a:rPr>
              <a:t>b</a:t>
            </a:r>
          </a:p>
          <a:p>
            <a:pPr lvl="1"/>
            <a:r>
              <a:rPr lang="en-US" altLang="zh-TW" i="1" dirty="0">
                <a:solidFill>
                  <a:srgbClr val="C00000"/>
                </a:solidFill>
                <a:sym typeface="Symbol"/>
              </a:rPr>
              <a:t>a</a:t>
            </a:r>
            <a:r>
              <a:rPr lang="en-US" altLang="zh-TW" dirty="0">
                <a:sym typeface="Symbol"/>
              </a:rPr>
              <a:t>  </a:t>
            </a:r>
            <a:r>
              <a:rPr lang="en-US" altLang="zh-TW" i="1" dirty="0">
                <a:sym typeface="Symbol"/>
              </a:rPr>
              <a:t>b</a:t>
            </a:r>
            <a:r>
              <a:rPr lang="en-US" altLang="zh-TW" dirty="0">
                <a:sym typeface="Symbol"/>
              </a:rPr>
              <a:t>  </a:t>
            </a:r>
            <a:r>
              <a:rPr lang="en-US" altLang="zh-TW" i="1" dirty="0">
                <a:sym typeface="Symbol"/>
              </a:rPr>
              <a:t>c</a:t>
            </a:r>
            <a:r>
              <a:rPr lang="en-US" altLang="zh-TW" dirty="0">
                <a:sym typeface="Symbol"/>
              </a:rPr>
              <a:t>  </a:t>
            </a:r>
            <a:r>
              <a:rPr lang="en-US" altLang="zh-TW" i="1" dirty="0">
                <a:solidFill>
                  <a:srgbClr val="C00000"/>
                </a:solidFill>
                <a:sym typeface="Symbol"/>
              </a:rPr>
              <a:t>a</a:t>
            </a:r>
            <a:r>
              <a:rPr lang="en-US" altLang="zh-TW" dirty="0">
                <a:sym typeface="Symbol"/>
              </a:rPr>
              <a:t>  </a:t>
            </a:r>
            <a:r>
              <a:rPr lang="en-US" altLang="zh-TW" i="1" dirty="0">
                <a:sym typeface="Symbol"/>
              </a:rPr>
              <a:t>d</a:t>
            </a:r>
            <a:r>
              <a:rPr lang="zh-TW" altLang="en-US" i="1" dirty="0">
                <a:sym typeface="Symbol"/>
              </a:rPr>
              <a:t> </a:t>
            </a:r>
            <a:r>
              <a:rPr lang="en-US" altLang="zh-TW" dirty="0">
                <a:sym typeface="Symbol"/>
              </a:rPr>
              <a:t>(walk)</a:t>
            </a:r>
          </a:p>
          <a:p>
            <a:pPr lvl="1"/>
            <a:r>
              <a:rPr lang="zh-TW" altLang="en-US" dirty="0">
                <a:sym typeface="Symbol"/>
              </a:rPr>
              <a:t>不會出現環</a:t>
            </a:r>
            <a:endParaRPr lang="en-US" altLang="zh-TW" dirty="0">
              <a:sym typeface="Symbol"/>
            </a:endParaRPr>
          </a:p>
          <a:p>
            <a:endParaRPr lang="en-US" altLang="zh-TW" dirty="0">
              <a:sym typeface="Symbol"/>
            </a:endParaRPr>
          </a:p>
          <a:p>
            <a:r>
              <a:rPr lang="zh-TW" altLang="en-US" dirty="0">
                <a:solidFill>
                  <a:srgbClr val="0000FF"/>
                </a:solidFill>
                <a:sym typeface="Symbol"/>
              </a:rPr>
              <a:t>路徑長度</a:t>
            </a:r>
            <a:r>
              <a:rPr lang="en-US" altLang="zh-TW" dirty="0">
                <a:solidFill>
                  <a:srgbClr val="0000FF"/>
                </a:solidFill>
                <a:sym typeface="Symbol"/>
              </a:rPr>
              <a:t>(length)</a:t>
            </a:r>
          </a:p>
          <a:p>
            <a:pPr lvl="1"/>
            <a:r>
              <a:rPr lang="zh-TW" altLang="en-US" dirty="0"/>
              <a:t>非權重圖：路徑上有幾條邊</a:t>
            </a:r>
            <a:endParaRPr lang="en-US" altLang="zh-TW" dirty="0"/>
          </a:p>
          <a:p>
            <a:pPr lvl="1"/>
            <a:r>
              <a:rPr lang="zh-TW" altLang="en-US" dirty="0"/>
              <a:t>加權圖：路徑上所有邊的權重總和</a:t>
            </a:r>
            <a:endParaRPr lang="en-US" altLang="zh-TW" dirty="0"/>
          </a:p>
          <a:p>
            <a:pPr lvl="1"/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7" name="橢圓 6"/>
          <p:cNvSpPr/>
          <p:nvPr/>
        </p:nvSpPr>
        <p:spPr>
          <a:xfrm>
            <a:off x="5770345" y="1707414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" name="直線接點 7"/>
          <p:cNvCxnSpPr>
            <a:stCxn id="7" idx="6"/>
            <a:endCxn id="9" idx="2"/>
          </p:cNvCxnSpPr>
          <p:nvPr/>
        </p:nvCxnSpPr>
        <p:spPr>
          <a:xfrm>
            <a:off x="5950345" y="1797414"/>
            <a:ext cx="1128340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橢圓 8"/>
          <p:cNvSpPr/>
          <p:nvPr/>
        </p:nvSpPr>
        <p:spPr>
          <a:xfrm>
            <a:off x="7078685" y="1707414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5770345" y="2808720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7078685" y="2808720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接點 11"/>
          <p:cNvCxnSpPr>
            <a:stCxn id="9" idx="4"/>
            <a:endCxn id="11" idx="0"/>
          </p:cNvCxnSpPr>
          <p:nvPr/>
        </p:nvCxnSpPr>
        <p:spPr>
          <a:xfrm>
            <a:off x="7168685" y="1887414"/>
            <a:ext cx="0" cy="92130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>
            <a:stCxn id="7" idx="4"/>
            <a:endCxn id="10" idx="0"/>
          </p:cNvCxnSpPr>
          <p:nvPr/>
        </p:nvCxnSpPr>
        <p:spPr>
          <a:xfrm>
            <a:off x="5860345" y="1887414"/>
            <a:ext cx="0" cy="92130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>
            <a:stCxn id="11" idx="2"/>
            <a:endCxn id="10" idx="6"/>
          </p:cNvCxnSpPr>
          <p:nvPr/>
        </p:nvCxnSpPr>
        <p:spPr>
          <a:xfrm flipH="1">
            <a:off x="5950345" y="2898720"/>
            <a:ext cx="1128340" cy="0"/>
          </a:xfrm>
          <a:prstGeom prst="line">
            <a:avLst/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>
            <a:stCxn id="11" idx="1"/>
            <a:endCxn id="7" idx="5"/>
          </p:cNvCxnSpPr>
          <p:nvPr/>
        </p:nvCxnSpPr>
        <p:spPr>
          <a:xfrm flipH="1" flipV="1">
            <a:off x="5923985" y="1861054"/>
            <a:ext cx="1181060" cy="97402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/>
          <p:cNvSpPr txBox="1"/>
          <p:nvPr/>
        </p:nvSpPr>
        <p:spPr>
          <a:xfrm>
            <a:off x="5499483" y="1557888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5500569" y="266416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7207501" y="2672787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7199447" y="157148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5552946" y="214801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6363589" y="283508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6363589" y="146094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7148334" y="214801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6464784" y="207037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橢圓 24"/>
          <p:cNvSpPr/>
          <p:nvPr/>
        </p:nvSpPr>
        <p:spPr>
          <a:xfrm>
            <a:off x="5770345" y="3904837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6" name="直線接點 25"/>
          <p:cNvCxnSpPr>
            <a:stCxn id="25" idx="6"/>
            <a:endCxn id="27" idx="2"/>
          </p:cNvCxnSpPr>
          <p:nvPr/>
        </p:nvCxnSpPr>
        <p:spPr>
          <a:xfrm>
            <a:off x="5950345" y="3994837"/>
            <a:ext cx="1128340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橢圓 26"/>
          <p:cNvSpPr/>
          <p:nvPr/>
        </p:nvSpPr>
        <p:spPr>
          <a:xfrm>
            <a:off x="7078685" y="3904837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橢圓 27"/>
          <p:cNvSpPr/>
          <p:nvPr/>
        </p:nvSpPr>
        <p:spPr>
          <a:xfrm>
            <a:off x="5770345" y="5006143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橢圓 28"/>
          <p:cNvSpPr/>
          <p:nvPr/>
        </p:nvSpPr>
        <p:spPr>
          <a:xfrm>
            <a:off x="7078685" y="5006143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0" name="直線接點 29"/>
          <p:cNvCxnSpPr>
            <a:stCxn id="27" idx="4"/>
            <a:endCxn id="29" idx="0"/>
          </p:cNvCxnSpPr>
          <p:nvPr/>
        </p:nvCxnSpPr>
        <p:spPr>
          <a:xfrm>
            <a:off x="7168685" y="4084837"/>
            <a:ext cx="0" cy="92130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/>
          <p:cNvCxnSpPr>
            <a:stCxn id="25" idx="4"/>
            <a:endCxn id="28" idx="0"/>
          </p:cNvCxnSpPr>
          <p:nvPr/>
        </p:nvCxnSpPr>
        <p:spPr>
          <a:xfrm>
            <a:off x="5860345" y="4084837"/>
            <a:ext cx="0" cy="92130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字方塊 33"/>
          <p:cNvSpPr txBox="1"/>
          <p:nvPr/>
        </p:nvSpPr>
        <p:spPr>
          <a:xfrm>
            <a:off x="5499483" y="375531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5500569" y="486158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7207501" y="4870210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7199447" y="376890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5552946" y="434543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6363589" y="3658367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7148334" y="434543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2720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最短路徑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19</a:t>
            </a:fld>
            <a:endParaRPr lang="en-US" dirty="0"/>
          </a:p>
        </p:txBody>
      </p:sp>
      <p:grpSp>
        <p:nvGrpSpPr>
          <p:cNvPr id="7" name="群組 6"/>
          <p:cNvGrpSpPr/>
          <p:nvPr/>
        </p:nvGrpSpPr>
        <p:grpSpPr>
          <a:xfrm>
            <a:off x="1369380" y="1970119"/>
            <a:ext cx="916823" cy="369332"/>
            <a:chOff x="1369380" y="1970119"/>
            <a:chExt cx="916823" cy="369332"/>
          </a:xfrm>
        </p:grpSpPr>
        <p:cxnSp>
          <p:nvCxnSpPr>
            <p:cNvPr id="8" name="直線接點 7"/>
            <p:cNvCxnSpPr>
              <a:stCxn id="47" idx="2"/>
              <a:endCxn id="38" idx="6"/>
            </p:cNvCxnSpPr>
            <p:nvPr/>
          </p:nvCxnSpPr>
          <p:spPr>
            <a:xfrm flipH="1">
              <a:off x="1369380" y="2258297"/>
              <a:ext cx="916823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字方塊 8"/>
            <p:cNvSpPr txBox="1"/>
            <p:nvPr/>
          </p:nvSpPr>
          <p:spPr>
            <a:xfrm>
              <a:off x="1682064" y="197011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" name="群組 9"/>
          <p:cNvGrpSpPr/>
          <p:nvPr/>
        </p:nvGrpSpPr>
        <p:grpSpPr>
          <a:xfrm>
            <a:off x="1310533" y="1669486"/>
            <a:ext cx="419749" cy="486988"/>
            <a:chOff x="1310533" y="1669486"/>
            <a:chExt cx="419749" cy="486988"/>
          </a:xfrm>
        </p:grpSpPr>
        <p:cxnSp>
          <p:nvCxnSpPr>
            <p:cNvPr id="11" name="直線接點 10"/>
            <p:cNvCxnSpPr>
              <a:stCxn id="38" idx="7"/>
              <a:endCxn id="41" idx="3"/>
            </p:cNvCxnSpPr>
            <p:nvPr/>
          </p:nvCxnSpPr>
          <p:spPr>
            <a:xfrm flipV="1">
              <a:off x="1327203" y="1736700"/>
              <a:ext cx="403079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文字方塊 11"/>
            <p:cNvSpPr txBox="1"/>
            <p:nvPr/>
          </p:nvSpPr>
          <p:spPr>
            <a:xfrm>
              <a:off x="1310533" y="166948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3" name="群組 12"/>
          <p:cNvGrpSpPr/>
          <p:nvPr/>
        </p:nvGrpSpPr>
        <p:grpSpPr>
          <a:xfrm>
            <a:off x="1310533" y="2360120"/>
            <a:ext cx="419749" cy="445481"/>
            <a:chOff x="1310533" y="2360120"/>
            <a:chExt cx="419749" cy="445481"/>
          </a:xfrm>
        </p:grpSpPr>
        <p:cxnSp>
          <p:nvCxnSpPr>
            <p:cNvPr id="14" name="直線接點 13"/>
            <p:cNvCxnSpPr>
              <a:stCxn id="44" idx="1"/>
              <a:endCxn id="38" idx="5"/>
            </p:cNvCxnSpPr>
            <p:nvPr/>
          </p:nvCxnSpPr>
          <p:spPr>
            <a:xfrm flipH="1" flipV="1">
              <a:off x="1327203" y="2360120"/>
              <a:ext cx="403079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文字方塊 14"/>
            <p:cNvSpPr txBox="1"/>
            <p:nvPr/>
          </p:nvSpPr>
          <p:spPr>
            <a:xfrm>
              <a:off x="1310533" y="243626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6" name="群組 15"/>
          <p:cNvGrpSpPr/>
          <p:nvPr/>
        </p:nvGrpSpPr>
        <p:grpSpPr>
          <a:xfrm>
            <a:off x="1933928" y="1649459"/>
            <a:ext cx="411886" cy="507015"/>
            <a:chOff x="1933928" y="1649459"/>
            <a:chExt cx="411886" cy="507015"/>
          </a:xfrm>
        </p:grpSpPr>
        <p:cxnSp>
          <p:nvCxnSpPr>
            <p:cNvPr id="17" name="直線接點 16"/>
            <p:cNvCxnSpPr>
              <a:stCxn id="47" idx="1"/>
              <a:endCxn id="41" idx="5"/>
            </p:cNvCxnSpPr>
            <p:nvPr/>
          </p:nvCxnSpPr>
          <p:spPr>
            <a:xfrm flipH="1" flipV="1">
              <a:off x="1933928" y="1736700"/>
              <a:ext cx="394452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文字方塊 17"/>
            <p:cNvSpPr txBox="1"/>
            <p:nvPr/>
          </p:nvSpPr>
          <p:spPr>
            <a:xfrm>
              <a:off x="2045732" y="164945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9" name="群組 18"/>
          <p:cNvGrpSpPr/>
          <p:nvPr/>
        </p:nvGrpSpPr>
        <p:grpSpPr>
          <a:xfrm>
            <a:off x="1933928" y="2360120"/>
            <a:ext cx="411886" cy="425454"/>
            <a:chOff x="1933928" y="2360120"/>
            <a:chExt cx="411886" cy="425454"/>
          </a:xfrm>
        </p:grpSpPr>
        <p:cxnSp>
          <p:nvCxnSpPr>
            <p:cNvPr id="20" name="直線接點 19"/>
            <p:cNvCxnSpPr>
              <a:stCxn id="47" idx="3"/>
              <a:endCxn id="44" idx="7"/>
            </p:cNvCxnSpPr>
            <p:nvPr/>
          </p:nvCxnSpPr>
          <p:spPr>
            <a:xfrm flipH="1">
              <a:off x="1933928" y="2360120"/>
              <a:ext cx="394452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文字方塊 20"/>
            <p:cNvSpPr txBox="1"/>
            <p:nvPr/>
          </p:nvSpPr>
          <p:spPr>
            <a:xfrm>
              <a:off x="2045732" y="241624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2" name="群組 21"/>
          <p:cNvGrpSpPr/>
          <p:nvPr/>
        </p:nvGrpSpPr>
        <p:grpSpPr>
          <a:xfrm>
            <a:off x="2532026" y="1637220"/>
            <a:ext cx="627365" cy="519254"/>
            <a:chOff x="2532026" y="1637220"/>
            <a:chExt cx="627365" cy="519254"/>
          </a:xfrm>
        </p:grpSpPr>
        <p:cxnSp>
          <p:nvCxnSpPr>
            <p:cNvPr id="23" name="直線接點 22"/>
            <p:cNvCxnSpPr>
              <a:stCxn id="50" idx="3"/>
              <a:endCxn id="47" idx="7"/>
            </p:cNvCxnSpPr>
            <p:nvPr/>
          </p:nvCxnSpPr>
          <p:spPr>
            <a:xfrm flipH="1">
              <a:off x="2532026" y="1736700"/>
              <a:ext cx="627365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文字方塊 23"/>
            <p:cNvSpPr txBox="1"/>
            <p:nvPr/>
          </p:nvSpPr>
          <p:spPr>
            <a:xfrm>
              <a:off x="2667499" y="163722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5" name="群組 24"/>
          <p:cNvGrpSpPr/>
          <p:nvPr/>
        </p:nvGrpSpPr>
        <p:grpSpPr>
          <a:xfrm>
            <a:off x="2532026" y="2360120"/>
            <a:ext cx="627365" cy="413215"/>
            <a:chOff x="2532026" y="2360120"/>
            <a:chExt cx="627365" cy="413215"/>
          </a:xfrm>
        </p:grpSpPr>
        <p:cxnSp>
          <p:nvCxnSpPr>
            <p:cNvPr id="26" name="直線接點 25"/>
            <p:cNvCxnSpPr>
              <a:stCxn id="53" idx="1"/>
              <a:endCxn id="47" idx="5"/>
            </p:cNvCxnSpPr>
            <p:nvPr/>
          </p:nvCxnSpPr>
          <p:spPr>
            <a:xfrm flipH="1" flipV="1">
              <a:off x="2532026" y="2360120"/>
              <a:ext cx="627365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字方塊 26"/>
            <p:cNvSpPr txBox="1"/>
            <p:nvPr/>
          </p:nvSpPr>
          <p:spPr>
            <a:xfrm>
              <a:off x="2581239" y="240400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8" name="群組 27"/>
          <p:cNvGrpSpPr/>
          <p:nvPr/>
        </p:nvGrpSpPr>
        <p:grpSpPr>
          <a:xfrm>
            <a:off x="3363037" y="1649459"/>
            <a:ext cx="653245" cy="507015"/>
            <a:chOff x="3363037" y="1649459"/>
            <a:chExt cx="653245" cy="507015"/>
          </a:xfrm>
        </p:grpSpPr>
        <p:cxnSp>
          <p:nvCxnSpPr>
            <p:cNvPr id="29" name="直線接點 28"/>
            <p:cNvCxnSpPr>
              <a:stCxn id="56" idx="1"/>
              <a:endCxn id="50" idx="5"/>
            </p:cNvCxnSpPr>
            <p:nvPr/>
          </p:nvCxnSpPr>
          <p:spPr>
            <a:xfrm flipH="1" flipV="1">
              <a:off x="3363037" y="1736700"/>
              <a:ext cx="653245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文字方塊 29"/>
            <p:cNvSpPr txBox="1"/>
            <p:nvPr/>
          </p:nvSpPr>
          <p:spPr>
            <a:xfrm>
              <a:off x="3582748" y="164945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1" name="群組 30"/>
          <p:cNvGrpSpPr/>
          <p:nvPr/>
        </p:nvGrpSpPr>
        <p:grpSpPr>
          <a:xfrm>
            <a:off x="3363037" y="2360120"/>
            <a:ext cx="653245" cy="425454"/>
            <a:chOff x="3363037" y="2360120"/>
            <a:chExt cx="653245" cy="425454"/>
          </a:xfrm>
        </p:grpSpPr>
        <p:cxnSp>
          <p:nvCxnSpPr>
            <p:cNvPr id="32" name="直線接點 31"/>
            <p:cNvCxnSpPr>
              <a:stCxn id="56" idx="3"/>
              <a:endCxn id="53" idx="7"/>
            </p:cNvCxnSpPr>
            <p:nvPr/>
          </p:nvCxnSpPr>
          <p:spPr>
            <a:xfrm flipH="1">
              <a:off x="3363037" y="2360120"/>
              <a:ext cx="653245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文字方塊 32"/>
            <p:cNvSpPr txBox="1"/>
            <p:nvPr/>
          </p:nvSpPr>
          <p:spPr>
            <a:xfrm>
              <a:off x="3608626" y="241624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4" name="群組 33"/>
          <p:cNvGrpSpPr/>
          <p:nvPr/>
        </p:nvGrpSpPr>
        <p:grpSpPr>
          <a:xfrm>
            <a:off x="1976105" y="2773335"/>
            <a:ext cx="1141109" cy="369332"/>
            <a:chOff x="1976105" y="2773335"/>
            <a:chExt cx="1141109" cy="369332"/>
          </a:xfrm>
        </p:grpSpPr>
        <p:cxnSp>
          <p:nvCxnSpPr>
            <p:cNvPr id="35" name="直線接點 34"/>
            <p:cNvCxnSpPr>
              <a:stCxn id="53" idx="2"/>
              <a:endCxn id="44" idx="6"/>
            </p:cNvCxnSpPr>
            <p:nvPr/>
          </p:nvCxnSpPr>
          <p:spPr>
            <a:xfrm flipH="1">
              <a:off x="1976105" y="2854072"/>
              <a:ext cx="1141109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文字方塊 35"/>
            <p:cNvSpPr txBox="1"/>
            <p:nvPr/>
          </p:nvSpPr>
          <p:spPr>
            <a:xfrm>
              <a:off x="2381985" y="2773335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7" name="群組 36"/>
          <p:cNvGrpSpPr/>
          <p:nvPr/>
        </p:nvGrpSpPr>
        <p:grpSpPr>
          <a:xfrm>
            <a:off x="1043279" y="2030501"/>
            <a:ext cx="364202" cy="371796"/>
            <a:chOff x="1043279" y="2030501"/>
            <a:chExt cx="364202" cy="371796"/>
          </a:xfrm>
        </p:grpSpPr>
        <p:sp>
          <p:nvSpPr>
            <p:cNvPr id="38" name="橢圓 37"/>
            <p:cNvSpPr/>
            <p:nvPr/>
          </p:nvSpPr>
          <p:spPr>
            <a:xfrm>
              <a:off x="1081380" y="211429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9" name="文字方塊 38"/>
            <p:cNvSpPr txBox="1"/>
            <p:nvPr/>
          </p:nvSpPr>
          <p:spPr>
            <a:xfrm>
              <a:off x="1043279" y="203050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0" name="群組 39"/>
          <p:cNvGrpSpPr/>
          <p:nvPr/>
        </p:nvGrpSpPr>
        <p:grpSpPr>
          <a:xfrm>
            <a:off x="1650004" y="1407205"/>
            <a:ext cx="364202" cy="371672"/>
            <a:chOff x="1650004" y="1407205"/>
            <a:chExt cx="364202" cy="371672"/>
          </a:xfrm>
        </p:grpSpPr>
        <p:sp>
          <p:nvSpPr>
            <p:cNvPr id="41" name="橢圓 40"/>
            <p:cNvSpPr/>
            <p:nvPr/>
          </p:nvSpPr>
          <p:spPr>
            <a:xfrm>
              <a:off x="1688105" y="149087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2" name="文字方塊 41"/>
            <p:cNvSpPr txBox="1"/>
            <p:nvPr/>
          </p:nvSpPr>
          <p:spPr>
            <a:xfrm>
              <a:off x="1650004" y="1407205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3" name="群組 42"/>
          <p:cNvGrpSpPr/>
          <p:nvPr/>
        </p:nvGrpSpPr>
        <p:grpSpPr>
          <a:xfrm>
            <a:off x="1650004" y="2626276"/>
            <a:ext cx="364202" cy="371796"/>
            <a:chOff x="1650004" y="2626276"/>
            <a:chExt cx="364202" cy="371796"/>
          </a:xfrm>
        </p:grpSpPr>
        <p:sp>
          <p:nvSpPr>
            <p:cNvPr id="44" name="橢圓 43"/>
            <p:cNvSpPr/>
            <p:nvPr/>
          </p:nvSpPr>
          <p:spPr>
            <a:xfrm>
              <a:off x="1688105" y="2710072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5" name="文字方塊 44"/>
            <p:cNvSpPr txBox="1"/>
            <p:nvPr/>
          </p:nvSpPr>
          <p:spPr>
            <a:xfrm>
              <a:off x="1650004" y="262627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6" name="群組 45"/>
          <p:cNvGrpSpPr/>
          <p:nvPr/>
        </p:nvGrpSpPr>
        <p:grpSpPr>
          <a:xfrm>
            <a:off x="2239476" y="2030501"/>
            <a:ext cx="364202" cy="371796"/>
            <a:chOff x="2239476" y="2030501"/>
            <a:chExt cx="364202" cy="371796"/>
          </a:xfrm>
        </p:grpSpPr>
        <p:sp>
          <p:nvSpPr>
            <p:cNvPr id="47" name="橢圓 46"/>
            <p:cNvSpPr/>
            <p:nvPr/>
          </p:nvSpPr>
          <p:spPr>
            <a:xfrm>
              <a:off x="2286203" y="211429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8" name="文字方塊 47"/>
            <p:cNvSpPr txBox="1"/>
            <p:nvPr/>
          </p:nvSpPr>
          <p:spPr>
            <a:xfrm>
              <a:off x="2239476" y="203050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9" name="群組 48"/>
          <p:cNvGrpSpPr/>
          <p:nvPr/>
        </p:nvGrpSpPr>
        <p:grpSpPr>
          <a:xfrm>
            <a:off x="3079113" y="1407081"/>
            <a:ext cx="364202" cy="371796"/>
            <a:chOff x="3079113" y="1407081"/>
            <a:chExt cx="364202" cy="371796"/>
          </a:xfrm>
        </p:grpSpPr>
        <p:sp>
          <p:nvSpPr>
            <p:cNvPr id="50" name="橢圓 49"/>
            <p:cNvSpPr/>
            <p:nvPr/>
          </p:nvSpPr>
          <p:spPr>
            <a:xfrm>
              <a:off x="3117214" y="149087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1" name="文字方塊 50"/>
            <p:cNvSpPr txBox="1"/>
            <p:nvPr/>
          </p:nvSpPr>
          <p:spPr>
            <a:xfrm>
              <a:off x="3079113" y="140708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2" name="群組 51"/>
          <p:cNvGrpSpPr/>
          <p:nvPr/>
        </p:nvGrpSpPr>
        <p:grpSpPr>
          <a:xfrm>
            <a:off x="3069153" y="2626276"/>
            <a:ext cx="364202" cy="371796"/>
            <a:chOff x="3069153" y="2626276"/>
            <a:chExt cx="364202" cy="371796"/>
          </a:xfrm>
        </p:grpSpPr>
        <p:sp>
          <p:nvSpPr>
            <p:cNvPr id="53" name="橢圓 52"/>
            <p:cNvSpPr/>
            <p:nvPr/>
          </p:nvSpPr>
          <p:spPr>
            <a:xfrm>
              <a:off x="3117214" y="2710072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4" name="文字方塊 53"/>
            <p:cNvSpPr txBox="1"/>
            <p:nvPr/>
          </p:nvSpPr>
          <p:spPr>
            <a:xfrm>
              <a:off x="3069153" y="262627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5" name="群組 54"/>
          <p:cNvGrpSpPr/>
          <p:nvPr/>
        </p:nvGrpSpPr>
        <p:grpSpPr>
          <a:xfrm>
            <a:off x="3936004" y="2032019"/>
            <a:ext cx="364202" cy="370278"/>
            <a:chOff x="3936004" y="2032019"/>
            <a:chExt cx="364202" cy="370278"/>
          </a:xfrm>
        </p:grpSpPr>
        <p:sp>
          <p:nvSpPr>
            <p:cNvPr id="56" name="橢圓 55"/>
            <p:cNvSpPr/>
            <p:nvPr/>
          </p:nvSpPr>
          <p:spPr>
            <a:xfrm>
              <a:off x="3974105" y="211429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7" name="文字方塊 56"/>
            <p:cNvSpPr txBox="1"/>
            <p:nvPr/>
          </p:nvSpPr>
          <p:spPr>
            <a:xfrm>
              <a:off x="3936004" y="2032019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8" name="群組 57"/>
          <p:cNvGrpSpPr/>
          <p:nvPr/>
        </p:nvGrpSpPr>
        <p:grpSpPr>
          <a:xfrm>
            <a:off x="245018" y="4357798"/>
            <a:ext cx="970927" cy="995092"/>
            <a:chOff x="5342376" y="1526244"/>
            <a:chExt cx="970927" cy="995092"/>
          </a:xfrm>
        </p:grpSpPr>
        <p:grpSp>
          <p:nvGrpSpPr>
            <p:cNvPr id="59" name="群組 58"/>
            <p:cNvGrpSpPr/>
            <p:nvPr/>
          </p:nvGrpSpPr>
          <p:grpSpPr>
            <a:xfrm>
              <a:off x="5609630" y="1788525"/>
              <a:ext cx="419749" cy="486988"/>
              <a:chOff x="1310533" y="1669486"/>
              <a:chExt cx="419749" cy="486988"/>
            </a:xfrm>
          </p:grpSpPr>
          <p:cxnSp>
            <p:nvCxnSpPr>
              <p:cNvPr id="66" name="直線接點 65"/>
              <p:cNvCxnSpPr>
                <a:stCxn id="64" idx="7"/>
                <a:endCxn id="62" idx="3"/>
              </p:cNvCxnSpPr>
              <p:nvPr/>
            </p:nvCxnSpPr>
            <p:spPr>
              <a:xfrm flipV="1">
                <a:off x="1327203" y="1736700"/>
                <a:ext cx="403079" cy="419774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文字方塊 66"/>
              <p:cNvSpPr txBox="1"/>
              <p:nvPr/>
            </p:nvSpPr>
            <p:spPr>
              <a:xfrm>
                <a:off x="1310533" y="1669486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60" name="群組 59"/>
            <p:cNvGrpSpPr/>
            <p:nvPr/>
          </p:nvGrpSpPr>
          <p:grpSpPr>
            <a:xfrm>
              <a:off x="5342376" y="2149540"/>
              <a:ext cx="364202" cy="371796"/>
              <a:chOff x="1043279" y="2030501"/>
              <a:chExt cx="364202" cy="371796"/>
            </a:xfrm>
          </p:grpSpPr>
          <p:sp>
            <p:nvSpPr>
              <p:cNvPr id="64" name="橢圓 63"/>
              <p:cNvSpPr/>
              <p:nvPr/>
            </p:nvSpPr>
            <p:spPr>
              <a:xfrm>
                <a:off x="1081380" y="2114297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5" name="文字方塊 64"/>
              <p:cNvSpPr txBox="1"/>
              <p:nvPr/>
            </p:nvSpPr>
            <p:spPr>
              <a:xfrm>
                <a:off x="1043279" y="2030501"/>
                <a:ext cx="3642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TW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endParaRPr lang="zh-TW" altLang="en-US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61" name="群組 60"/>
            <p:cNvGrpSpPr/>
            <p:nvPr/>
          </p:nvGrpSpPr>
          <p:grpSpPr>
            <a:xfrm>
              <a:off x="5949101" y="1526244"/>
              <a:ext cx="364202" cy="371672"/>
              <a:chOff x="1650004" y="1407205"/>
              <a:chExt cx="364202" cy="371672"/>
            </a:xfrm>
          </p:grpSpPr>
          <p:sp>
            <p:nvSpPr>
              <p:cNvPr id="62" name="橢圓 61"/>
              <p:cNvSpPr/>
              <p:nvPr/>
            </p:nvSpPr>
            <p:spPr>
              <a:xfrm>
                <a:off x="1688105" y="1490877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3" name="文字方塊 62"/>
              <p:cNvSpPr txBox="1"/>
              <p:nvPr/>
            </p:nvSpPr>
            <p:spPr>
              <a:xfrm>
                <a:off x="1650004" y="1407205"/>
                <a:ext cx="3642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TW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TW" altLang="en-US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68" name="群組 67"/>
          <p:cNvGrpSpPr/>
          <p:nvPr/>
        </p:nvGrpSpPr>
        <p:grpSpPr>
          <a:xfrm>
            <a:off x="1450650" y="4385319"/>
            <a:ext cx="970927" cy="967571"/>
            <a:chOff x="5342376" y="2626715"/>
            <a:chExt cx="970927" cy="967571"/>
          </a:xfrm>
        </p:grpSpPr>
        <p:grpSp>
          <p:nvGrpSpPr>
            <p:cNvPr id="69" name="群組 68"/>
            <p:cNvGrpSpPr/>
            <p:nvPr/>
          </p:nvGrpSpPr>
          <p:grpSpPr>
            <a:xfrm>
              <a:off x="5609630" y="2956334"/>
              <a:ext cx="419749" cy="445481"/>
              <a:chOff x="1310533" y="2360120"/>
              <a:chExt cx="419749" cy="445481"/>
            </a:xfrm>
          </p:grpSpPr>
          <p:cxnSp>
            <p:nvCxnSpPr>
              <p:cNvPr id="76" name="直線接點 75"/>
              <p:cNvCxnSpPr>
                <a:stCxn id="72" idx="1"/>
                <a:endCxn id="74" idx="5"/>
              </p:cNvCxnSpPr>
              <p:nvPr/>
            </p:nvCxnSpPr>
            <p:spPr>
              <a:xfrm flipH="1" flipV="1">
                <a:off x="1327203" y="2360120"/>
                <a:ext cx="403079" cy="392129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7" name="文字方塊 76"/>
              <p:cNvSpPr txBox="1"/>
              <p:nvPr/>
            </p:nvSpPr>
            <p:spPr>
              <a:xfrm>
                <a:off x="1310533" y="2436269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70" name="群組 69"/>
            <p:cNvGrpSpPr/>
            <p:nvPr/>
          </p:nvGrpSpPr>
          <p:grpSpPr>
            <a:xfrm>
              <a:off x="5342376" y="2626715"/>
              <a:ext cx="364202" cy="371796"/>
              <a:chOff x="1043279" y="2030501"/>
              <a:chExt cx="364202" cy="371796"/>
            </a:xfrm>
          </p:grpSpPr>
          <p:sp>
            <p:nvSpPr>
              <p:cNvPr id="74" name="橢圓 73"/>
              <p:cNvSpPr/>
              <p:nvPr/>
            </p:nvSpPr>
            <p:spPr>
              <a:xfrm>
                <a:off x="1081380" y="2114297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75" name="文字方塊 74"/>
              <p:cNvSpPr txBox="1"/>
              <p:nvPr/>
            </p:nvSpPr>
            <p:spPr>
              <a:xfrm>
                <a:off x="1043279" y="2030501"/>
                <a:ext cx="3642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TW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endParaRPr lang="zh-TW" altLang="en-US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71" name="群組 70"/>
            <p:cNvGrpSpPr/>
            <p:nvPr/>
          </p:nvGrpSpPr>
          <p:grpSpPr>
            <a:xfrm>
              <a:off x="5949101" y="3222490"/>
              <a:ext cx="364202" cy="371796"/>
              <a:chOff x="1650004" y="2626276"/>
              <a:chExt cx="364202" cy="371796"/>
            </a:xfrm>
          </p:grpSpPr>
          <p:sp>
            <p:nvSpPr>
              <p:cNvPr id="72" name="橢圓 71"/>
              <p:cNvSpPr/>
              <p:nvPr/>
            </p:nvSpPr>
            <p:spPr>
              <a:xfrm>
                <a:off x="1688105" y="2710072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73" name="文字方塊 72"/>
              <p:cNvSpPr txBox="1"/>
              <p:nvPr/>
            </p:nvSpPr>
            <p:spPr>
              <a:xfrm>
                <a:off x="1650004" y="2626276"/>
                <a:ext cx="3642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TW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zh-TW" altLang="en-US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78" name="群組 77"/>
          <p:cNvGrpSpPr/>
          <p:nvPr/>
        </p:nvGrpSpPr>
        <p:grpSpPr>
          <a:xfrm>
            <a:off x="2802548" y="4307199"/>
            <a:ext cx="1560399" cy="995092"/>
            <a:chOff x="6643538" y="1523780"/>
            <a:chExt cx="1560399" cy="995092"/>
          </a:xfrm>
        </p:grpSpPr>
        <p:grpSp>
          <p:nvGrpSpPr>
            <p:cNvPr id="79" name="群組 78"/>
            <p:cNvGrpSpPr/>
            <p:nvPr/>
          </p:nvGrpSpPr>
          <p:grpSpPr>
            <a:xfrm>
              <a:off x="6910792" y="1786061"/>
              <a:ext cx="419749" cy="486988"/>
              <a:chOff x="1310533" y="1669486"/>
              <a:chExt cx="419749" cy="486988"/>
            </a:xfrm>
          </p:grpSpPr>
          <p:cxnSp>
            <p:nvCxnSpPr>
              <p:cNvPr id="92" name="直線接點 91"/>
              <p:cNvCxnSpPr>
                <a:stCxn id="88" idx="7"/>
                <a:endCxn id="86" idx="3"/>
              </p:cNvCxnSpPr>
              <p:nvPr/>
            </p:nvCxnSpPr>
            <p:spPr>
              <a:xfrm flipV="1">
                <a:off x="1327203" y="1736700"/>
                <a:ext cx="403079" cy="419774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3" name="文字方塊 92"/>
              <p:cNvSpPr txBox="1"/>
              <p:nvPr/>
            </p:nvSpPr>
            <p:spPr>
              <a:xfrm>
                <a:off x="1310533" y="1669486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80" name="群組 79"/>
            <p:cNvGrpSpPr/>
            <p:nvPr/>
          </p:nvGrpSpPr>
          <p:grpSpPr>
            <a:xfrm>
              <a:off x="7534187" y="1766034"/>
              <a:ext cx="411886" cy="507015"/>
              <a:chOff x="1933928" y="1649459"/>
              <a:chExt cx="411886" cy="507015"/>
            </a:xfrm>
          </p:grpSpPr>
          <p:cxnSp>
            <p:nvCxnSpPr>
              <p:cNvPr id="90" name="直線接點 89"/>
              <p:cNvCxnSpPr>
                <a:stCxn id="84" idx="1"/>
                <a:endCxn id="86" idx="5"/>
              </p:cNvCxnSpPr>
              <p:nvPr/>
            </p:nvCxnSpPr>
            <p:spPr>
              <a:xfrm flipH="1" flipV="1">
                <a:off x="1933928" y="1736700"/>
                <a:ext cx="394452" cy="419774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1" name="文字方塊 90"/>
              <p:cNvSpPr txBox="1"/>
              <p:nvPr/>
            </p:nvSpPr>
            <p:spPr>
              <a:xfrm>
                <a:off x="2045732" y="1649459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81" name="群組 80"/>
            <p:cNvGrpSpPr/>
            <p:nvPr/>
          </p:nvGrpSpPr>
          <p:grpSpPr>
            <a:xfrm>
              <a:off x="6643538" y="2147076"/>
              <a:ext cx="364202" cy="371796"/>
              <a:chOff x="1043279" y="2030501"/>
              <a:chExt cx="364202" cy="371796"/>
            </a:xfrm>
          </p:grpSpPr>
          <p:sp>
            <p:nvSpPr>
              <p:cNvPr id="88" name="橢圓 87"/>
              <p:cNvSpPr/>
              <p:nvPr/>
            </p:nvSpPr>
            <p:spPr>
              <a:xfrm>
                <a:off x="1081380" y="2114297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89" name="文字方塊 88"/>
              <p:cNvSpPr txBox="1"/>
              <p:nvPr/>
            </p:nvSpPr>
            <p:spPr>
              <a:xfrm>
                <a:off x="1043279" y="2030501"/>
                <a:ext cx="3642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TW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endParaRPr lang="zh-TW" altLang="en-US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82" name="群組 81"/>
            <p:cNvGrpSpPr/>
            <p:nvPr/>
          </p:nvGrpSpPr>
          <p:grpSpPr>
            <a:xfrm>
              <a:off x="7250263" y="1523780"/>
              <a:ext cx="364202" cy="371672"/>
              <a:chOff x="1650004" y="1407205"/>
              <a:chExt cx="364202" cy="371672"/>
            </a:xfrm>
          </p:grpSpPr>
          <p:sp>
            <p:nvSpPr>
              <p:cNvPr id="86" name="橢圓 85"/>
              <p:cNvSpPr/>
              <p:nvPr/>
            </p:nvSpPr>
            <p:spPr>
              <a:xfrm>
                <a:off x="1688105" y="1490877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87" name="文字方塊 86"/>
              <p:cNvSpPr txBox="1"/>
              <p:nvPr/>
            </p:nvSpPr>
            <p:spPr>
              <a:xfrm>
                <a:off x="1650004" y="1407205"/>
                <a:ext cx="3642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TW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TW" altLang="en-US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83" name="群組 82"/>
            <p:cNvGrpSpPr/>
            <p:nvPr/>
          </p:nvGrpSpPr>
          <p:grpSpPr>
            <a:xfrm>
              <a:off x="7839735" y="2147076"/>
              <a:ext cx="364202" cy="371796"/>
              <a:chOff x="2239476" y="2030501"/>
              <a:chExt cx="364202" cy="371796"/>
            </a:xfrm>
          </p:grpSpPr>
          <p:sp>
            <p:nvSpPr>
              <p:cNvPr id="84" name="橢圓 83"/>
              <p:cNvSpPr/>
              <p:nvPr/>
            </p:nvSpPr>
            <p:spPr>
              <a:xfrm>
                <a:off x="2286203" y="2114297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85" name="文字方塊 84"/>
              <p:cNvSpPr txBox="1"/>
              <p:nvPr/>
            </p:nvSpPr>
            <p:spPr>
              <a:xfrm>
                <a:off x="2239476" y="2030501"/>
                <a:ext cx="3642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TW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zh-TW" altLang="en-US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94" name="群組 93"/>
          <p:cNvGrpSpPr/>
          <p:nvPr/>
        </p:nvGrpSpPr>
        <p:grpSpPr>
          <a:xfrm>
            <a:off x="5572860" y="3314408"/>
            <a:ext cx="2390076" cy="1590867"/>
            <a:chOff x="5901079" y="3765672"/>
            <a:chExt cx="2390076" cy="1590867"/>
          </a:xfrm>
        </p:grpSpPr>
        <p:grpSp>
          <p:nvGrpSpPr>
            <p:cNvPr id="95" name="群組 94"/>
            <p:cNvGrpSpPr/>
            <p:nvPr/>
          </p:nvGrpSpPr>
          <p:grpSpPr>
            <a:xfrm>
              <a:off x="6168333" y="4027953"/>
              <a:ext cx="419749" cy="486988"/>
              <a:chOff x="1310533" y="1669486"/>
              <a:chExt cx="419749" cy="486988"/>
            </a:xfrm>
          </p:grpSpPr>
          <p:cxnSp>
            <p:nvCxnSpPr>
              <p:cNvPr id="114" name="直線接點 113"/>
              <p:cNvCxnSpPr>
                <a:stCxn id="108" idx="7"/>
                <a:endCxn id="106" idx="3"/>
              </p:cNvCxnSpPr>
              <p:nvPr/>
            </p:nvCxnSpPr>
            <p:spPr>
              <a:xfrm flipV="1">
                <a:off x="1327203" y="1736700"/>
                <a:ext cx="403079" cy="419774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5" name="文字方塊 114"/>
              <p:cNvSpPr txBox="1"/>
              <p:nvPr/>
            </p:nvSpPr>
            <p:spPr>
              <a:xfrm>
                <a:off x="1310533" y="1669486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96" name="群組 95"/>
            <p:cNvGrpSpPr/>
            <p:nvPr/>
          </p:nvGrpSpPr>
          <p:grpSpPr>
            <a:xfrm>
              <a:off x="6791728" y="4007926"/>
              <a:ext cx="411886" cy="507015"/>
              <a:chOff x="1933927" y="1649459"/>
              <a:chExt cx="411887" cy="507014"/>
            </a:xfrm>
          </p:grpSpPr>
          <p:cxnSp>
            <p:nvCxnSpPr>
              <p:cNvPr id="112" name="直線接點 111"/>
              <p:cNvCxnSpPr>
                <a:stCxn id="104" idx="1"/>
                <a:endCxn id="106" idx="5"/>
              </p:cNvCxnSpPr>
              <p:nvPr/>
            </p:nvCxnSpPr>
            <p:spPr>
              <a:xfrm flipH="1" flipV="1">
                <a:off x="1933927" y="1736700"/>
                <a:ext cx="394453" cy="419773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3" name="文字方塊 112"/>
              <p:cNvSpPr txBox="1"/>
              <p:nvPr/>
            </p:nvSpPr>
            <p:spPr>
              <a:xfrm>
                <a:off x="2045732" y="1649459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97" name="群組 96"/>
            <p:cNvGrpSpPr/>
            <p:nvPr/>
          </p:nvGrpSpPr>
          <p:grpSpPr>
            <a:xfrm>
              <a:off x="7389826" y="4718588"/>
              <a:ext cx="627365" cy="413214"/>
              <a:chOff x="2532026" y="2360120"/>
              <a:chExt cx="627365" cy="413215"/>
            </a:xfrm>
          </p:grpSpPr>
          <p:cxnSp>
            <p:nvCxnSpPr>
              <p:cNvPr id="110" name="直線接點 109"/>
              <p:cNvCxnSpPr>
                <a:stCxn id="102" idx="1"/>
                <a:endCxn id="104" idx="5"/>
              </p:cNvCxnSpPr>
              <p:nvPr/>
            </p:nvCxnSpPr>
            <p:spPr>
              <a:xfrm flipH="1" flipV="1">
                <a:off x="2532026" y="2360120"/>
                <a:ext cx="627365" cy="39213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1" name="文字方塊 110"/>
              <p:cNvSpPr txBox="1"/>
              <p:nvPr/>
            </p:nvSpPr>
            <p:spPr>
              <a:xfrm>
                <a:off x="2581239" y="2404003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98" name="群組 97"/>
            <p:cNvGrpSpPr/>
            <p:nvPr/>
          </p:nvGrpSpPr>
          <p:grpSpPr>
            <a:xfrm>
              <a:off x="5901079" y="4388968"/>
              <a:ext cx="364202" cy="371796"/>
              <a:chOff x="1043279" y="2030501"/>
              <a:chExt cx="364202" cy="371796"/>
            </a:xfrm>
          </p:grpSpPr>
          <p:sp>
            <p:nvSpPr>
              <p:cNvPr id="108" name="橢圓 107"/>
              <p:cNvSpPr/>
              <p:nvPr/>
            </p:nvSpPr>
            <p:spPr>
              <a:xfrm>
                <a:off x="1081380" y="2114297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9" name="文字方塊 108"/>
              <p:cNvSpPr txBox="1"/>
              <p:nvPr/>
            </p:nvSpPr>
            <p:spPr>
              <a:xfrm>
                <a:off x="1043279" y="2030501"/>
                <a:ext cx="3642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TW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endParaRPr lang="zh-TW" altLang="en-US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99" name="群組 98"/>
            <p:cNvGrpSpPr/>
            <p:nvPr/>
          </p:nvGrpSpPr>
          <p:grpSpPr>
            <a:xfrm>
              <a:off x="6507804" y="3765672"/>
              <a:ext cx="364202" cy="371672"/>
              <a:chOff x="1650004" y="1407205"/>
              <a:chExt cx="364202" cy="371672"/>
            </a:xfrm>
          </p:grpSpPr>
          <p:sp>
            <p:nvSpPr>
              <p:cNvPr id="106" name="橢圓 105"/>
              <p:cNvSpPr/>
              <p:nvPr/>
            </p:nvSpPr>
            <p:spPr>
              <a:xfrm>
                <a:off x="1688105" y="1490877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7" name="文字方塊 106"/>
              <p:cNvSpPr txBox="1"/>
              <p:nvPr/>
            </p:nvSpPr>
            <p:spPr>
              <a:xfrm>
                <a:off x="1650004" y="1407205"/>
                <a:ext cx="3642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TW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TW" altLang="en-US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00" name="群組 99"/>
            <p:cNvGrpSpPr/>
            <p:nvPr/>
          </p:nvGrpSpPr>
          <p:grpSpPr>
            <a:xfrm>
              <a:off x="7097276" y="4388968"/>
              <a:ext cx="364202" cy="371796"/>
              <a:chOff x="2239476" y="2030501"/>
              <a:chExt cx="364202" cy="371796"/>
            </a:xfrm>
          </p:grpSpPr>
          <p:sp>
            <p:nvSpPr>
              <p:cNvPr id="104" name="橢圓 103"/>
              <p:cNvSpPr/>
              <p:nvPr/>
            </p:nvSpPr>
            <p:spPr>
              <a:xfrm>
                <a:off x="2286203" y="2114297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5" name="文字方塊 104"/>
              <p:cNvSpPr txBox="1"/>
              <p:nvPr/>
            </p:nvSpPr>
            <p:spPr>
              <a:xfrm>
                <a:off x="2239476" y="2030501"/>
                <a:ext cx="3642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TW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zh-TW" altLang="en-US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01" name="群組 100"/>
            <p:cNvGrpSpPr/>
            <p:nvPr/>
          </p:nvGrpSpPr>
          <p:grpSpPr>
            <a:xfrm>
              <a:off x="7926953" y="4984743"/>
              <a:ext cx="364202" cy="371796"/>
              <a:chOff x="3069153" y="2626276"/>
              <a:chExt cx="364202" cy="371796"/>
            </a:xfrm>
          </p:grpSpPr>
          <p:sp>
            <p:nvSpPr>
              <p:cNvPr id="102" name="橢圓 101"/>
              <p:cNvSpPr/>
              <p:nvPr/>
            </p:nvSpPr>
            <p:spPr>
              <a:xfrm>
                <a:off x="3117214" y="2710072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3" name="文字方塊 102"/>
              <p:cNvSpPr txBox="1"/>
              <p:nvPr/>
            </p:nvSpPr>
            <p:spPr>
              <a:xfrm>
                <a:off x="3069153" y="2626276"/>
                <a:ext cx="3642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TW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endParaRPr lang="zh-TW" altLang="en-US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16" name="群組 115"/>
          <p:cNvGrpSpPr/>
          <p:nvPr/>
        </p:nvGrpSpPr>
        <p:grpSpPr>
          <a:xfrm>
            <a:off x="5572860" y="1736700"/>
            <a:ext cx="2400036" cy="995216"/>
            <a:chOff x="6620307" y="2591185"/>
            <a:chExt cx="2400036" cy="995216"/>
          </a:xfrm>
        </p:grpSpPr>
        <p:grpSp>
          <p:nvGrpSpPr>
            <p:cNvPr id="117" name="群組 116"/>
            <p:cNvGrpSpPr/>
            <p:nvPr/>
          </p:nvGrpSpPr>
          <p:grpSpPr>
            <a:xfrm>
              <a:off x="6887561" y="2853590"/>
              <a:ext cx="419749" cy="486988"/>
              <a:chOff x="1310533" y="1669486"/>
              <a:chExt cx="419749" cy="486988"/>
            </a:xfrm>
          </p:grpSpPr>
          <p:cxnSp>
            <p:nvCxnSpPr>
              <p:cNvPr id="136" name="直線接點 135"/>
              <p:cNvCxnSpPr>
                <a:stCxn id="130" idx="7"/>
                <a:endCxn id="128" idx="3"/>
              </p:cNvCxnSpPr>
              <p:nvPr/>
            </p:nvCxnSpPr>
            <p:spPr>
              <a:xfrm flipV="1">
                <a:off x="1327203" y="1736700"/>
                <a:ext cx="403079" cy="419774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7" name="文字方塊 136"/>
              <p:cNvSpPr txBox="1"/>
              <p:nvPr/>
            </p:nvSpPr>
            <p:spPr>
              <a:xfrm>
                <a:off x="1310533" y="1669486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18" name="群組 117"/>
            <p:cNvGrpSpPr/>
            <p:nvPr/>
          </p:nvGrpSpPr>
          <p:grpSpPr>
            <a:xfrm>
              <a:off x="7510956" y="2833563"/>
              <a:ext cx="411886" cy="507015"/>
              <a:chOff x="1933928" y="1649459"/>
              <a:chExt cx="411886" cy="507015"/>
            </a:xfrm>
          </p:grpSpPr>
          <p:cxnSp>
            <p:nvCxnSpPr>
              <p:cNvPr id="134" name="直線接點 133"/>
              <p:cNvCxnSpPr>
                <a:stCxn id="126" idx="1"/>
                <a:endCxn id="128" idx="5"/>
              </p:cNvCxnSpPr>
              <p:nvPr/>
            </p:nvCxnSpPr>
            <p:spPr>
              <a:xfrm flipH="1" flipV="1">
                <a:off x="1933928" y="1736700"/>
                <a:ext cx="394452" cy="419774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5" name="文字方塊 134"/>
              <p:cNvSpPr txBox="1"/>
              <p:nvPr/>
            </p:nvSpPr>
            <p:spPr>
              <a:xfrm>
                <a:off x="2045732" y="1649459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19" name="群組 118"/>
            <p:cNvGrpSpPr/>
            <p:nvPr/>
          </p:nvGrpSpPr>
          <p:grpSpPr>
            <a:xfrm>
              <a:off x="8109054" y="2821324"/>
              <a:ext cx="627365" cy="519254"/>
              <a:chOff x="2532026" y="1637220"/>
              <a:chExt cx="627365" cy="519254"/>
            </a:xfrm>
          </p:grpSpPr>
          <p:cxnSp>
            <p:nvCxnSpPr>
              <p:cNvPr id="132" name="直線接點 131"/>
              <p:cNvCxnSpPr>
                <a:stCxn id="124" idx="3"/>
                <a:endCxn id="126" idx="7"/>
              </p:cNvCxnSpPr>
              <p:nvPr/>
            </p:nvCxnSpPr>
            <p:spPr>
              <a:xfrm flipH="1">
                <a:off x="2532026" y="1736700"/>
                <a:ext cx="627365" cy="419774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3" name="文字方塊 132"/>
              <p:cNvSpPr txBox="1"/>
              <p:nvPr/>
            </p:nvSpPr>
            <p:spPr>
              <a:xfrm>
                <a:off x="2667499" y="1637220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20" name="群組 119"/>
            <p:cNvGrpSpPr/>
            <p:nvPr/>
          </p:nvGrpSpPr>
          <p:grpSpPr>
            <a:xfrm>
              <a:off x="6620307" y="3214605"/>
              <a:ext cx="364202" cy="371796"/>
              <a:chOff x="1043279" y="2030501"/>
              <a:chExt cx="364202" cy="371796"/>
            </a:xfrm>
          </p:grpSpPr>
          <p:sp>
            <p:nvSpPr>
              <p:cNvPr id="130" name="橢圓 129"/>
              <p:cNvSpPr/>
              <p:nvPr/>
            </p:nvSpPr>
            <p:spPr>
              <a:xfrm>
                <a:off x="1081380" y="2114297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31" name="文字方塊 130"/>
              <p:cNvSpPr txBox="1"/>
              <p:nvPr/>
            </p:nvSpPr>
            <p:spPr>
              <a:xfrm>
                <a:off x="1043279" y="2030501"/>
                <a:ext cx="3642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TW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endParaRPr lang="zh-TW" altLang="en-US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21" name="群組 120"/>
            <p:cNvGrpSpPr/>
            <p:nvPr/>
          </p:nvGrpSpPr>
          <p:grpSpPr>
            <a:xfrm>
              <a:off x="7227032" y="2591309"/>
              <a:ext cx="364202" cy="371672"/>
              <a:chOff x="1650004" y="1407205"/>
              <a:chExt cx="364202" cy="371672"/>
            </a:xfrm>
          </p:grpSpPr>
          <p:sp>
            <p:nvSpPr>
              <p:cNvPr id="128" name="橢圓 127"/>
              <p:cNvSpPr/>
              <p:nvPr/>
            </p:nvSpPr>
            <p:spPr>
              <a:xfrm>
                <a:off x="1688105" y="1490877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29" name="文字方塊 128"/>
              <p:cNvSpPr txBox="1"/>
              <p:nvPr/>
            </p:nvSpPr>
            <p:spPr>
              <a:xfrm>
                <a:off x="1650004" y="1407205"/>
                <a:ext cx="3642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TW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TW" altLang="en-US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22" name="群組 121"/>
            <p:cNvGrpSpPr/>
            <p:nvPr/>
          </p:nvGrpSpPr>
          <p:grpSpPr>
            <a:xfrm>
              <a:off x="7816504" y="3214605"/>
              <a:ext cx="364202" cy="371796"/>
              <a:chOff x="2239476" y="2030501"/>
              <a:chExt cx="364202" cy="371796"/>
            </a:xfrm>
          </p:grpSpPr>
          <p:sp>
            <p:nvSpPr>
              <p:cNvPr id="126" name="橢圓 125"/>
              <p:cNvSpPr/>
              <p:nvPr/>
            </p:nvSpPr>
            <p:spPr>
              <a:xfrm>
                <a:off x="2286203" y="2114297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27" name="文字方塊 126"/>
              <p:cNvSpPr txBox="1"/>
              <p:nvPr/>
            </p:nvSpPr>
            <p:spPr>
              <a:xfrm>
                <a:off x="2239476" y="2030501"/>
                <a:ext cx="3642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TW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zh-TW" altLang="en-US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23" name="群組 122"/>
            <p:cNvGrpSpPr/>
            <p:nvPr/>
          </p:nvGrpSpPr>
          <p:grpSpPr>
            <a:xfrm>
              <a:off x="8656141" y="2591185"/>
              <a:ext cx="364202" cy="371796"/>
              <a:chOff x="3079113" y="1407081"/>
              <a:chExt cx="364202" cy="371796"/>
            </a:xfrm>
          </p:grpSpPr>
          <p:sp>
            <p:nvSpPr>
              <p:cNvPr id="124" name="橢圓 123"/>
              <p:cNvSpPr/>
              <p:nvPr/>
            </p:nvSpPr>
            <p:spPr>
              <a:xfrm>
                <a:off x="3117214" y="1490877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25" name="文字方塊 124"/>
              <p:cNvSpPr txBox="1"/>
              <p:nvPr/>
            </p:nvSpPr>
            <p:spPr>
              <a:xfrm>
                <a:off x="3079113" y="1407081"/>
                <a:ext cx="3642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TW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lang="zh-TW" altLang="en-US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38" name="群組 137"/>
          <p:cNvGrpSpPr/>
          <p:nvPr/>
        </p:nvGrpSpPr>
        <p:grpSpPr>
          <a:xfrm>
            <a:off x="5482797" y="4892951"/>
            <a:ext cx="3256927" cy="1590867"/>
            <a:chOff x="1195679" y="1559605"/>
            <a:chExt cx="3256927" cy="1590867"/>
          </a:xfrm>
        </p:grpSpPr>
        <p:grpSp>
          <p:nvGrpSpPr>
            <p:cNvPr id="139" name="群組 138"/>
            <p:cNvGrpSpPr/>
            <p:nvPr/>
          </p:nvGrpSpPr>
          <p:grpSpPr>
            <a:xfrm>
              <a:off x="1462933" y="1821886"/>
              <a:ext cx="419749" cy="486988"/>
              <a:chOff x="1310533" y="1669486"/>
              <a:chExt cx="419749" cy="486988"/>
            </a:xfrm>
          </p:grpSpPr>
          <p:cxnSp>
            <p:nvCxnSpPr>
              <p:cNvPr id="164" name="直線接點 163"/>
              <p:cNvCxnSpPr>
                <a:stCxn id="156" idx="7"/>
                <a:endCxn id="154" idx="3"/>
              </p:cNvCxnSpPr>
              <p:nvPr/>
            </p:nvCxnSpPr>
            <p:spPr>
              <a:xfrm flipV="1">
                <a:off x="1327203" y="1736700"/>
                <a:ext cx="403079" cy="419774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5" name="文字方塊 164"/>
              <p:cNvSpPr txBox="1"/>
              <p:nvPr/>
            </p:nvSpPr>
            <p:spPr>
              <a:xfrm>
                <a:off x="1310533" y="1669486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40" name="群組 139"/>
            <p:cNvGrpSpPr/>
            <p:nvPr/>
          </p:nvGrpSpPr>
          <p:grpSpPr>
            <a:xfrm>
              <a:off x="2086328" y="1801859"/>
              <a:ext cx="411886" cy="507015"/>
              <a:chOff x="1933928" y="1649459"/>
              <a:chExt cx="411886" cy="507015"/>
            </a:xfrm>
          </p:grpSpPr>
          <p:cxnSp>
            <p:nvCxnSpPr>
              <p:cNvPr id="162" name="直線接點 161"/>
              <p:cNvCxnSpPr>
                <a:stCxn id="152" idx="1"/>
                <a:endCxn id="154" idx="5"/>
              </p:cNvCxnSpPr>
              <p:nvPr/>
            </p:nvCxnSpPr>
            <p:spPr>
              <a:xfrm flipH="1" flipV="1">
                <a:off x="1933928" y="1736700"/>
                <a:ext cx="394452" cy="419774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3" name="文字方塊 162"/>
              <p:cNvSpPr txBox="1"/>
              <p:nvPr/>
            </p:nvSpPr>
            <p:spPr>
              <a:xfrm>
                <a:off x="2045732" y="1649459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41" name="群組 140"/>
            <p:cNvGrpSpPr/>
            <p:nvPr/>
          </p:nvGrpSpPr>
          <p:grpSpPr>
            <a:xfrm>
              <a:off x="2684426" y="2512520"/>
              <a:ext cx="627365" cy="413215"/>
              <a:chOff x="2532026" y="2360120"/>
              <a:chExt cx="627365" cy="413215"/>
            </a:xfrm>
          </p:grpSpPr>
          <p:cxnSp>
            <p:nvCxnSpPr>
              <p:cNvPr id="160" name="直線接點 159"/>
              <p:cNvCxnSpPr>
                <a:stCxn id="150" idx="1"/>
                <a:endCxn id="152" idx="5"/>
              </p:cNvCxnSpPr>
              <p:nvPr/>
            </p:nvCxnSpPr>
            <p:spPr>
              <a:xfrm flipH="1" flipV="1">
                <a:off x="2532026" y="2360120"/>
                <a:ext cx="627365" cy="392129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1" name="文字方塊 160"/>
              <p:cNvSpPr txBox="1"/>
              <p:nvPr/>
            </p:nvSpPr>
            <p:spPr>
              <a:xfrm>
                <a:off x="2581239" y="2404003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42" name="群組 141"/>
            <p:cNvGrpSpPr/>
            <p:nvPr/>
          </p:nvGrpSpPr>
          <p:grpSpPr>
            <a:xfrm>
              <a:off x="3515437" y="2512520"/>
              <a:ext cx="653245" cy="425454"/>
              <a:chOff x="3363037" y="2360120"/>
              <a:chExt cx="653245" cy="425454"/>
            </a:xfrm>
          </p:grpSpPr>
          <p:cxnSp>
            <p:nvCxnSpPr>
              <p:cNvPr id="158" name="直線接點 157"/>
              <p:cNvCxnSpPr>
                <a:stCxn id="148" idx="3"/>
                <a:endCxn id="150" idx="7"/>
              </p:cNvCxnSpPr>
              <p:nvPr/>
            </p:nvCxnSpPr>
            <p:spPr>
              <a:xfrm flipH="1">
                <a:off x="3363037" y="2360120"/>
                <a:ext cx="653245" cy="392129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9" name="文字方塊 158"/>
              <p:cNvSpPr txBox="1"/>
              <p:nvPr/>
            </p:nvSpPr>
            <p:spPr>
              <a:xfrm>
                <a:off x="3608626" y="2416242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43" name="群組 142"/>
            <p:cNvGrpSpPr/>
            <p:nvPr/>
          </p:nvGrpSpPr>
          <p:grpSpPr>
            <a:xfrm>
              <a:off x="1195679" y="2182901"/>
              <a:ext cx="364202" cy="371796"/>
              <a:chOff x="1043279" y="2030501"/>
              <a:chExt cx="364202" cy="371796"/>
            </a:xfrm>
          </p:grpSpPr>
          <p:sp>
            <p:nvSpPr>
              <p:cNvPr id="156" name="橢圓 155"/>
              <p:cNvSpPr/>
              <p:nvPr/>
            </p:nvSpPr>
            <p:spPr>
              <a:xfrm>
                <a:off x="1081380" y="2114297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57" name="文字方塊 156"/>
              <p:cNvSpPr txBox="1"/>
              <p:nvPr/>
            </p:nvSpPr>
            <p:spPr>
              <a:xfrm>
                <a:off x="1043279" y="2030501"/>
                <a:ext cx="3642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TW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endParaRPr lang="zh-TW" altLang="en-US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44" name="群組 143"/>
            <p:cNvGrpSpPr/>
            <p:nvPr/>
          </p:nvGrpSpPr>
          <p:grpSpPr>
            <a:xfrm>
              <a:off x="1802404" y="1559605"/>
              <a:ext cx="364202" cy="371672"/>
              <a:chOff x="1650004" y="1407205"/>
              <a:chExt cx="364202" cy="371672"/>
            </a:xfrm>
          </p:grpSpPr>
          <p:sp>
            <p:nvSpPr>
              <p:cNvPr id="154" name="橢圓 153"/>
              <p:cNvSpPr/>
              <p:nvPr/>
            </p:nvSpPr>
            <p:spPr>
              <a:xfrm>
                <a:off x="1688105" y="1490877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55" name="文字方塊 154"/>
              <p:cNvSpPr txBox="1"/>
              <p:nvPr/>
            </p:nvSpPr>
            <p:spPr>
              <a:xfrm>
                <a:off x="1650004" y="1407205"/>
                <a:ext cx="3642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TW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TW" altLang="en-US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45" name="群組 144"/>
            <p:cNvGrpSpPr/>
            <p:nvPr/>
          </p:nvGrpSpPr>
          <p:grpSpPr>
            <a:xfrm>
              <a:off x="2391876" y="2182901"/>
              <a:ext cx="364202" cy="371796"/>
              <a:chOff x="2239476" y="2030501"/>
              <a:chExt cx="364202" cy="371796"/>
            </a:xfrm>
          </p:grpSpPr>
          <p:sp>
            <p:nvSpPr>
              <p:cNvPr id="152" name="橢圓 151"/>
              <p:cNvSpPr/>
              <p:nvPr/>
            </p:nvSpPr>
            <p:spPr>
              <a:xfrm>
                <a:off x="2286203" y="2114297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53" name="文字方塊 152"/>
              <p:cNvSpPr txBox="1"/>
              <p:nvPr/>
            </p:nvSpPr>
            <p:spPr>
              <a:xfrm>
                <a:off x="2239476" y="2030501"/>
                <a:ext cx="3642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TW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zh-TW" altLang="en-US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46" name="群組 145"/>
            <p:cNvGrpSpPr/>
            <p:nvPr/>
          </p:nvGrpSpPr>
          <p:grpSpPr>
            <a:xfrm>
              <a:off x="3221553" y="2778676"/>
              <a:ext cx="364202" cy="371796"/>
              <a:chOff x="3069153" y="2626276"/>
              <a:chExt cx="364202" cy="371796"/>
            </a:xfrm>
          </p:grpSpPr>
          <p:sp>
            <p:nvSpPr>
              <p:cNvPr id="150" name="橢圓 149"/>
              <p:cNvSpPr/>
              <p:nvPr/>
            </p:nvSpPr>
            <p:spPr>
              <a:xfrm>
                <a:off x="3117214" y="2710072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51" name="文字方塊 150"/>
              <p:cNvSpPr txBox="1"/>
              <p:nvPr/>
            </p:nvSpPr>
            <p:spPr>
              <a:xfrm>
                <a:off x="3069153" y="2626276"/>
                <a:ext cx="3642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TW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endParaRPr lang="zh-TW" altLang="en-US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47" name="群組 146"/>
            <p:cNvGrpSpPr/>
            <p:nvPr/>
          </p:nvGrpSpPr>
          <p:grpSpPr>
            <a:xfrm>
              <a:off x="4088404" y="2184419"/>
              <a:ext cx="364202" cy="370278"/>
              <a:chOff x="3936004" y="2032019"/>
              <a:chExt cx="364202" cy="370278"/>
            </a:xfrm>
          </p:grpSpPr>
          <p:sp>
            <p:nvSpPr>
              <p:cNvPr id="148" name="橢圓 147"/>
              <p:cNvSpPr/>
              <p:nvPr/>
            </p:nvSpPr>
            <p:spPr>
              <a:xfrm>
                <a:off x="3974105" y="2114297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49" name="文字方塊 148"/>
              <p:cNvSpPr txBox="1"/>
              <p:nvPr/>
            </p:nvSpPr>
            <p:spPr>
              <a:xfrm>
                <a:off x="3936004" y="2032019"/>
                <a:ext cx="3642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TW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  <a:endParaRPr lang="zh-TW" altLang="en-US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72872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最短路徑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0000FF"/>
                </a:solidFill>
              </a:rPr>
              <a:t>最佳化問題 </a:t>
            </a:r>
            <a:r>
              <a:rPr lang="en-US" altLang="zh-TW" dirty="0">
                <a:solidFill>
                  <a:srgbClr val="0000FF"/>
                </a:solidFill>
              </a:rPr>
              <a:t>optimization problem</a:t>
            </a:r>
          </a:p>
          <a:p>
            <a:pPr lvl="1"/>
            <a:r>
              <a:rPr lang="zh-TW" altLang="en-US" dirty="0"/>
              <a:t>可能存在超過一個的候選解</a:t>
            </a:r>
            <a:endParaRPr lang="en-US" altLang="zh-TW" dirty="0"/>
          </a:p>
          <a:p>
            <a:pPr lvl="1"/>
            <a:r>
              <a:rPr lang="zh-TW" altLang="en-US" dirty="0"/>
              <a:t>每個候選解具有一個值，該實例解就是具有最佳值的解</a:t>
            </a:r>
            <a:endParaRPr lang="en-US" altLang="zh-TW" dirty="0"/>
          </a:p>
          <a:p>
            <a:pPr lvl="1"/>
            <a:r>
              <a:rPr lang="zh-TW" altLang="en-US" dirty="0"/>
              <a:t>根據不同的問題，最佳解可能是最大值，也可能是最小值</a:t>
            </a:r>
            <a:endParaRPr lang="en-US" altLang="zh-TW" dirty="0"/>
          </a:p>
          <a:p>
            <a:pPr lvl="1"/>
            <a:r>
              <a:rPr lang="zh-TW" altLang="en-US" dirty="0"/>
              <a:t>最短路徑：</a:t>
            </a:r>
            <a:endParaRPr lang="en-US" altLang="zh-TW" dirty="0"/>
          </a:p>
          <a:p>
            <a:pPr lvl="2"/>
            <a:r>
              <a:rPr lang="zh-TW" altLang="en-US" dirty="0"/>
              <a:t>值：路徑的長度</a:t>
            </a:r>
            <a:endParaRPr lang="en-US" altLang="zh-TW" dirty="0"/>
          </a:p>
          <a:p>
            <a:pPr lvl="2"/>
            <a:r>
              <a:rPr lang="zh-TW" altLang="en-US" dirty="0"/>
              <a:t>最佳值：最</a:t>
            </a:r>
            <a:r>
              <a:rPr lang="zh-TW" altLang="en-US" dirty="0">
                <a:solidFill>
                  <a:srgbClr val="C00000"/>
                </a:solidFill>
              </a:rPr>
              <a:t>小</a:t>
            </a:r>
            <a:r>
              <a:rPr lang="zh-TW" altLang="en-US" dirty="0"/>
              <a:t>值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20</a:t>
            </a:fld>
            <a:endParaRPr lang="en-US" dirty="0"/>
          </a:p>
        </p:txBody>
      </p:sp>
      <p:grpSp>
        <p:nvGrpSpPr>
          <p:cNvPr id="31" name="群組 30"/>
          <p:cNvGrpSpPr/>
          <p:nvPr/>
        </p:nvGrpSpPr>
        <p:grpSpPr>
          <a:xfrm>
            <a:off x="1893002" y="4762835"/>
            <a:ext cx="364202" cy="369332"/>
            <a:chOff x="1921808" y="4957483"/>
            <a:chExt cx="364202" cy="369332"/>
          </a:xfrm>
        </p:grpSpPr>
        <p:sp>
          <p:nvSpPr>
            <p:cNvPr id="8" name="橢圓 7"/>
            <p:cNvSpPr/>
            <p:nvPr/>
          </p:nvSpPr>
          <p:spPr>
            <a:xfrm>
              <a:off x="1959909" y="5018135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文字方塊 8"/>
            <p:cNvSpPr txBox="1"/>
            <p:nvPr/>
          </p:nvSpPr>
          <p:spPr>
            <a:xfrm>
              <a:off x="1921808" y="4957483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8" name="群組 27"/>
          <p:cNvGrpSpPr/>
          <p:nvPr/>
        </p:nvGrpSpPr>
        <p:grpSpPr>
          <a:xfrm>
            <a:off x="6844727" y="4762835"/>
            <a:ext cx="372218" cy="369332"/>
            <a:chOff x="6886354" y="4976236"/>
            <a:chExt cx="372218" cy="369332"/>
          </a:xfrm>
        </p:grpSpPr>
        <p:sp>
          <p:nvSpPr>
            <p:cNvPr id="11" name="橢圓 10"/>
            <p:cNvSpPr/>
            <p:nvPr/>
          </p:nvSpPr>
          <p:spPr>
            <a:xfrm>
              <a:off x="6928945" y="5055364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文字方塊 11"/>
            <p:cNvSpPr txBox="1"/>
            <p:nvPr/>
          </p:nvSpPr>
          <p:spPr>
            <a:xfrm>
              <a:off x="6886354" y="4976236"/>
              <a:ext cx="3722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i="1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zh-TW" altLang="en-US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3" name="群組 32"/>
          <p:cNvGrpSpPr/>
          <p:nvPr/>
        </p:nvGrpSpPr>
        <p:grpSpPr>
          <a:xfrm>
            <a:off x="2176926" y="4189588"/>
            <a:ext cx="4752569" cy="1421027"/>
            <a:chOff x="2176926" y="4098221"/>
            <a:chExt cx="4752569" cy="1421027"/>
          </a:xfrm>
        </p:grpSpPr>
        <p:sp>
          <p:nvSpPr>
            <p:cNvPr id="13" name="橢圓 12"/>
            <p:cNvSpPr/>
            <p:nvPr/>
          </p:nvSpPr>
          <p:spPr>
            <a:xfrm>
              <a:off x="3102012" y="4098221"/>
              <a:ext cx="2934729" cy="142102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000" b="1" i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TW" sz="20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– 1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5" name="直線接點 14"/>
            <p:cNvCxnSpPr>
              <a:stCxn id="8" idx="7"/>
              <a:endCxn id="13" idx="1"/>
            </p:cNvCxnSpPr>
            <p:nvPr/>
          </p:nvCxnSpPr>
          <p:spPr>
            <a:xfrm flipV="1">
              <a:off x="2176926" y="4306326"/>
              <a:ext cx="1354867" cy="46797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接點 15"/>
            <p:cNvCxnSpPr>
              <a:stCxn id="8" idx="5"/>
              <a:endCxn id="13" idx="3"/>
            </p:cNvCxnSpPr>
            <p:nvPr/>
          </p:nvCxnSpPr>
          <p:spPr>
            <a:xfrm>
              <a:off x="2176926" y="4977943"/>
              <a:ext cx="1354867" cy="3332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接點 18"/>
            <p:cNvCxnSpPr>
              <a:stCxn id="13" idx="7"/>
              <a:endCxn id="11" idx="1"/>
            </p:cNvCxnSpPr>
            <p:nvPr/>
          </p:nvCxnSpPr>
          <p:spPr>
            <a:xfrm>
              <a:off x="5606960" y="4306326"/>
              <a:ext cx="1322535" cy="48644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接點 24"/>
            <p:cNvCxnSpPr>
              <a:stCxn id="13" idx="5"/>
              <a:endCxn id="11" idx="3"/>
            </p:cNvCxnSpPr>
            <p:nvPr/>
          </p:nvCxnSpPr>
          <p:spPr>
            <a:xfrm flipV="1">
              <a:off x="5606960" y="4996419"/>
              <a:ext cx="1322535" cy="31472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/>
              <p:cNvSpPr txBox="1"/>
              <p:nvPr/>
            </p:nvSpPr>
            <p:spPr>
              <a:xfrm>
                <a:off x="2042129" y="5888305"/>
                <a:ext cx="523713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US" altLang="zh-TW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altLang="zh-TW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TW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  <m:r>
                        <a:rPr lang="en-US" altLang="zh-TW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altLang="zh-TW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TW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𝟒</m:t>
                          </m:r>
                        </m:e>
                      </m:d>
                      <m:r>
                        <a:rPr lang="en-US" altLang="zh-TW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×…×</m:t>
                      </m:r>
                      <m:r>
                        <a:rPr lang="en-US" altLang="zh-TW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n-US" altLang="zh-TW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TW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altLang="zh-TW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TW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US" altLang="zh-TW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!</m:t>
                      </m:r>
                    </m:oMath>
                  </m:oMathPara>
                </a14:m>
                <a:endParaRPr lang="zh-TW" altLang="en-US" b="1" dirty="0"/>
              </a:p>
            </p:txBody>
          </p:sp>
        </mc:Choice>
        <mc:Fallback xmlns="">
          <p:sp>
            <p:nvSpPr>
              <p:cNvPr id="32" name="文字方塊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2129" y="5888305"/>
                <a:ext cx="5237138" cy="276999"/>
              </a:xfrm>
              <a:prstGeom prst="rect">
                <a:avLst/>
              </a:prstGeom>
              <a:blipFill rotWithShape="0">
                <a:blip r:embed="rId2"/>
                <a:stretch>
                  <a:fillRect r="-582" b="-88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8837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Dijkstra </a:t>
            </a:r>
            <a:r>
              <a:rPr lang="zh-TW" altLang="en-US" dirty="0"/>
              <a:t>演算法 </a:t>
            </a:r>
            <a:r>
              <a:rPr lang="en-US" altLang="zh-TW" dirty="0"/>
              <a:t>(1/9)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21</a:t>
            </a:fld>
            <a:endParaRPr lang="en-US" dirty="0"/>
          </a:p>
        </p:txBody>
      </p:sp>
      <p:graphicFrame>
        <p:nvGraphicFramePr>
          <p:cNvPr id="7" name="內容版面配置區 60"/>
          <p:cNvGraphicFramePr>
            <a:graphicFrameLocks/>
          </p:cNvGraphicFramePr>
          <p:nvPr/>
        </p:nvGraphicFramePr>
        <p:xfrm>
          <a:off x="746492" y="3666681"/>
          <a:ext cx="3690750" cy="27736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2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8" name="群組 7"/>
          <p:cNvGrpSpPr/>
          <p:nvPr/>
        </p:nvGrpSpPr>
        <p:grpSpPr>
          <a:xfrm>
            <a:off x="1369380" y="1970119"/>
            <a:ext cx="916823" cy="369332"/>
            <a:chOff x="1369380" y="1970119"/>
            <a:chExt cx="916823" cy="369332"/>
          </a:xfrm>
        </p:grpSpPr>
        <p:cxnSp>
          <p:nvCxnSpPr>
            <p:cNvPr id="9" name="直線接點 8"/>
            <p:cNvCxnSpPr>
              <a:stCxn id="48" idx="2"/>
              <a:endCxn id="39" idx="6"/>
            </p:cNvCxnSpPr>
            <p:nvPr/>
          </p:nvCxnSpPr>
          <p:spPr>
            <a:xfrm flipH="1">
              <a:off x="1369380" y="2258297"/>
              <a:ext cx="916823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字方塊 9"/>
            <p:cNvSpPr txBox="1"/>
            <p:nvPr/>
          </p:nvSpPr>
          <p:spPr>
            <a:xfrm>
              <a:off x="1682064" y="197011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" name="群組 10"/>
          <p:cNvGrpSpPr/>
          <p:nvPr/>
        </p:nvGrpSpPr>
        <p:grpSpPr>
          <a:xfrm>
            <a:off x="1310533" y="1669486"/>
            <a:ext cx="419749" cy="486988"/>
            <a:chOff x="1310533" y="1669486"/>
            <a:chExt cx="419749" cy="486988"/>
          </a:xfrm>
        </p:grpSpPr>
        <p:cxnSp>
          <p:nvCxnSpPr>
            <p:cNvPr id="12" name="直線接點 11"/>
            <p:cNvCxnSpPr>
              <a:stCxn id="39" idx="7"/>
              <a:endCxn id="42" idx="3"/>
            </p:cNvCxnSpPr>
            <p:nvPr/>
          </p:nvCxnSpPr>
          <p:spPr>
            <a:xfrm flipV="1">
              <a:off x="1327203" y="1736700"/>
              <a:ext cx="403079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字方塊 12"/>
            <p:cNvSpPr txBox="1"/>
            <p:nvPr/>
          </p:nvSpPr>
          <p:spPr>
            <a:xfrm>
              <a:off x="1310533" y="166948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" name="群組 13"/>
          <p:cNvGrpSpPr/>
          <p:nvPr/>
        </p:nvGrpSpPr>
        <p:grpSpPr>
          <a:xfrm>
            <a:off x="1310533" y="2360120"/>
            <a:ext cx="419749" cy="445481"/>
            <a:chOff x="1310533" y="2360120"/>
            <a:chExt cx="419749" cy="445481"/>
          </a:xfrm>
        </p:grpSpPr>
        <p:cxnSp>
          <p:nvCxnSpPr>
            <p:cNvPr id="15" name="直線接點 14"/>
            <p:cNvCxnSpPr>
              <a:stCxn id="45" idx="1"/>
              <a:endCxn id="39" idx="5"/>
            </p:cNvCxnSpPr>
            <p:nvPr/>
          </p:nvCxnSpPr>
          <p:spPr>
            <a:xfrm flipH="1" flipV="1">
              <a:off x="1327203" y="2360120"/>
              <a:ext cx="403079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字方塊 15"/>
            <p:cNvSpPr txBox="1"/>
            <p:nvPr/>
          </p:nvSpPr>
          <p:spPr>
            <a:xfrm>
              <a:off x="1310533" y="243626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" name="群組 16"/>
          <p:cNvGrpSpPr/>
          <p:nvPr/>
        </p:nvGrpSpPr>
        <p:grpSpPr>
          <a:xfrm>
            <a:off x="1933928" y="1649459"/>
            <a:ext cx="411886" cy="507015"/>
            <a:chOff x="1933928" y="1649459"/>
            <a:chExt cx="411886" cy="507015"/>
          </a:xfrm>
        </p:grpSpPr>
        <p:cxnSp>
          <p:nvCxnSpPr>
            <p:cNvPr id="18" name="直線接點 17"/>
            <p:cNvCxnSpPr>
              <a:stCxn id="48" idx="1"/>
              <a:endCxn id="42" idx="5"/>
            </p:cNvCxnSpPr>
            <p:nvPr/>
          </p:nvCxnSpPr>
          <p:spPr>
            <a:xfrm flipH="1" flipV="1">
              <a:off x="1933928" y="1736700"/>
              <a:ext cx="394452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字方塊 18"/>
            <p:cNvSpPr txBox="1"/>
            <p:nvPr/>
          </p:nvSpPr>
          <p:spPr>
            <a:xfrm>
              <a:off x="2045732" y="164945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" name="群組 19"/>
          <p:cNvGrpSpPr/>
          <p:nvPr/>
        </p:nvGrpSpPr>
        <p:grpSpPr>
          <a:xfrm>
            <a:off x="1933928" y="2360120"/>
            <a:ext cx="411886" cy="425454"/>
            <a:chOff x="1933928" y="2360120"/>
            <a:chExt cx="411886" cy="425454"/>
          </a:xfrm>
        </p:grpSpPr>
        <p:cxnSp>
          <p:nvCxnSpPr>
            <p:cNvPr id="21" name="直線接點 20"/>
            <p:cNvCxnSpPr>
              <a:stCxn id="48" idx="3"/>
              <a:endCxn id="45" idx="7"/>
            </p:cNvCxnSpPr>
            <p:nvPr/>
          </p:nvCxnSpPr>
          <p:spPr>
            <a:xfrm flipH="1">
              <a:off x="1933928" y="2360120"/>
              <a:ext cx="394452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字方塊 21"/>
            <p:cNvSpPr txBox="1"/>
            <p:nvPr/>
          </p:nvSpPr>
          <p:spPr>
            <a:xfrm>
              <a:off x="2045732" y="241624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3" name="群組 22"/>
          <p:cNvGrpSpPr/>
          <p:nvPr/>
        </p:nvGrpSpPr>
        <p:grpSpPr>
          <a:xfrm>
            <a:off x="2532026" y="1637220"/>
            <a:ext cx="627365" cy="519254"/>
            <a:chOff x="2532026" y="1637220"/>
            <a:chExt cx="627365" cy="519254"/>
          </a:xfrm>
        </p:grpSpPr>
        <p:cxnSp>
          <p:nvCxnSpPr>
            <p:cNvPr id="24" name="直線接點 23"/>
            <p:cNvCxnSpPr>
              <a:stCxn id="51" idx="3"/>
              <a:endCxn id="48" idx="7"/>
            </p:cNvCxnSpPr>
            <p:nvPr/>
          </p:nvCxnSpPr>
          <p:spPr>
            <a:xfrm flipH="1">
              <a:off x="2532026" y="1736700"/>
              <a:ext cx="627365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文字方塊 24"/>
            <p:cNvSpPr txBox="1"/>
            <p:nvPr/>
          </p:nvSpPr>
          <p:spPr>
            <a:xfrm>
              <a:off x="2667499" y="163722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6" name="群組 25"/>
          <p:cNvGrpSpPr/>
          <p:nvPr/>
        </p:nvGrpSpPr>
        <p:grpSpPr>
          <a:xfrm>
            <a:off x="2532026" y="2360120"/>
            <a:ext cx="627365" cy="413215"/>
            <a:chOff x="2532026" y="2360120"/>
            <a:chExt cx="627365" cy="413215"/>
          </a:xfrm>
        </p:grpSpPr>
        <p:cxnSp>
          <p:nvCxnSpPr>
            <p:cNvPr id="27" name="直線接點 26"/>
            <p:cNvCxnSpPr>
              <a:stCxn id="54" idx="1"/>
              <a:endCxn id="48" idx="5"/>
            </p:cNvCxnSpPr>
            <p:nvPr/>
          </p:nvCxnSpPr>
          <p:spPr>
            <a:xfrm flipH="1" flipV="1">
              <a:off x="2532026" y="2360120"/>
              <a:ext cx="627365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字方塊 27"/>
            <p:cNvSpPr txBox="1"/>
            <p:nvPr/>
          </p:nvSpPr>
          <p:spPr>
            <a:xfrm>
              <a:off x="2581239" y="240400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9" name="群組 28"/>
          <p:cNvGrpSpPr/>
          <p:nvPr/>
        </p:nvGrpSpPr>
        <p:grpSpPr>
          <a:xfrm>
            <a:off x="3363037" y="1649459"/>
            <a:ext cx="653245" cy="507015"/>
            <a:chOff x="3363037" y="1649459"/>
            <a:chExt cx="653245" cy="507015"/>
          </a:xfrm>
        </p:grpSpPr>
        <p:cxnSp>
          <p:nvCxnSpPr>
            <p:cNvPr id="30" name="直線接點 29"/>
            <p:cNvCxnSpPr>
              <a:stCxn id="57" idx="1"/>
              <a:endCxn id="51" idx="5"/>
            </p:cNvCxnSpPr>
            <p:nvPr/>
          </p:nvCxnSpPr>
          <p:spPr>
            <a:xfrm flipH="1" flipV="1">
              <a:off x="3363037" y="1736700"/>
              <a:ext cx="653245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文字方塊 30"/>
            <p:cNvSpPr txBox="1"/>
            <p:nvPr/>
          </p:nvSpPr>
          <p:spPr>
            <a:xfrm>
              <a:off x="3582748" y="164945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2" name="群組 31"/>
          <p:cNvGrpSpPr/>
          <p:nvPr/>
        </p:nvGrpSpPr>
        <p:grpSpPr>
          <a:xfrm>
            <a:off x="3363037" y="2360120"/>
            <a:ext cx="653245" cy="425454"/>
            <a:chOff x="3363037" y="2360120"/>
            <a:chExt cx="653245" cy="425454"/>
          </a:xfrm>
        </p:grpSpPr>
        <p:cxnSp>
          <p:nvCxnSpPr>
            <p:cNvPr id="33" name="直線接點 32"/>
            <p:cNvCxnSpPr>
              <a:stCxn id="57" idx="3"/>
              <a:endCxn id="54" idx="7"/>
            </p:cNvCxnSpPr>
            <p:nvPr/>
          </p:nvCxnSpPr>
          <p:spPr>
            <a:xfrm flipH="1">
              <a:off x="3363037" y="2360120"/>
              <a:ext cx="653245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文字方塊 33"/>
            <p:cNvSpPr txBox="1"/>
            <p:nvPr/>
          </p:nvSpPr>
          <p:spPr>
            <a:xfrm>
              <a:off x="3608626" y="241624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5" name="群組 34"/>
          <p:cNvGrpSpPr/>
          <p:nvPr/>
        </p:nvGrpSpPr>
        <p:grpSpPr>
          <a:xfrm>
            <a:off x="1976105" y="2773335"/>
            <a:ext cx="1141109" cy="369332"/>
            <a:chOff x="1976105" y="2773335"/>
            <a:chExt cx="1141109" cy="369332"/>
          </a:xfrm>
        </p:grpSpPr>
        <p:cxnSp>
          <p:nvCxnSpPr>
            <p:cNvPr id="36" name="直線接點 35"/>
            <p:cNvCxnSpPr>
              <a:stCxn id="54" idx="2"/>
              <a:endCxn id="45" idx="6"/>
            </p:cNvCxnSpPr>
            <p:nvPr/>
          </p:nvCxnSpPr>
          <p:spPr>
            <a:xfrm flipH="1">
              <a:off x="1976105" y="2854072"/>
              <a:ext cx="1141109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文字方塊 36"/>
            <p:cNvSpPr txBox="1"/>
            <p:nvPr/>
          </p:nvSpPr>
          <p:spPr>
            <a:xfrm>
              <a:off x="2381985" y="2773335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8" name="群組 37"/>
          <p:cNvGrpSpPr/>
          <p:nvPr/>
        </p:nvGrpSpPr>
        <p:grpSpPr>
          <a:xfrm>
            <a:off x="1043279" y="2030501"/>
            <a:ext cx="364202" cy="371796"/>
            <a:chOff x="1043279" y="2030501"/>
            <a:chExt cx="364202" cy="371796"/>
          </a:xfrm>
        </p:grpSpPr>
        <p:sp>
          <p:nvSpPr>
            <p:cNvPr id="39" name="橢圓 38"/>
            <p:cNvSpPr/>
            <p:nvPr/>
          </p:nvSpPr>
          <p:spPr>
            <a:xfrm>
              <a:off x="1081380" y="211429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0" name="文字方塊 39"/>
            <p:cNvSpPr txBox="1"/>
            <p:nvPr/>
          </p:nvSpPr>
          <p:spPr>
            <a:xfrm>
              <a:off x="1043279" y="203050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1" name="群組 40"/>
          <p:cNvGrpSpPr/>
          <p:nvPr/>
        </p:nvGrpSpPr>
        <p:grpSpPr>
          <a:xfrm>
            <a:off x="1650004" y="1407205"/>
            <a:ext cx="364202" cy="371672"/>
            <a:chOff x="1650004" y="1407205"/>
            <a:chExt cx="364202" cy="371672"/>
          </a:xfrm>
        </p:grpSpPr>
        <p:sp>
          <p:nvSpPr>
            <p:cNvPr id="42" name="橢圓 41"/>
            <p:cNvSpPr/>
            <p:nvPr/>
          </p:nvSpPr>
          <p:spPr>
            <a:xfrm>
              <a:off x="1688105" y="149087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3" name="文字方塊 42"/>
            <p:cNvSpPr txBox="1"/>
            <p:nvPr/>
          </p:nvSpPr>
          <p:spPr>
            <a:xfrm>
              <a:off x="1650004" y="1407205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4" name="群組 43"/>
          <p:cNvGrpSpPr/>
          <p:nvPr/>
        </p:nvGrpSpPr>
        <p:grpSpPr>
          <a:xfrm>
            <a:off x="1650004" y="2626276"/>
            <a:ext cx="364202" cy="371796"/>
            <a:chOff x="1650004" y="2626276"/>
            <a:chExt cx="364202" cy="371796"/>
          </a:xfrm>
        </p:grpSpPr>
        <p:sp>
          <p:nvSpPr>
            <p:cNvPr id="45" name="橢圓 44"/>
            <p:cNvSpPr/>
            <p:nvPr/>
          </p:nvSpPr>
          <p:spPr>
            <a:xfrm>
              <a:off x="1688105" y="2710072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6" name="文字方塊 45"/>
            <p:cNvSpPr txBox="1"/>
            <p:nvPr/>
          </p:nvSpPr>
          <p:spPr>
            <a:xfrm>
              <a:off x="1650004" y="262627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7" name="群組 46"/>
          <p:cNvGrpSpPr/>
          <p:nvPr/>
        </p:nvGrpSpPr>
        <p:grpSpPr>
          <a:xfrm>
            <a:off x="2239476" y="2030501"/>
            <a:ext cx="364202" cy="371796"/>
            <a:chOff x="2239476" y="2030501"/>
            <a:chExt cx="364202" cy="371796"/>
          </a:xfrm>
        </p:grpSpPr>
        <p:sp>
          <p:nvSpPr>
            <p:cNvPr id="48" name="橢圓 47"/>
            <p:cNvSpPr/>
            <p:nvPr/>
          </p:nvSpPr>
          <p:spPr>
            <a:xfrm>
              <a:off x="2286203" y="211429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9" name="文字方塊 48"/>
            <p:cNvSpPr txBox="1"/>
            <p:nvPr/>
          </p:nvSpPr>
          <p:spPr>
            <a:xfrm>
              <a:off x="2239476" y="203050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0" name="群組 49"/>
          <p:cNvGrpSpPr/>
          <p:nvPr/>
        </p:nvGrpSpPr>
        <p:grpSpPr>
          <a:xfrm>
            <a:off x="3079113" y="1407081"/>
            <a:ext cx="364202" cy="371796"/>
            <a:chOff x="3079113" y="1407081"/>
            <a:chExt cx="364202" cy="371796"/>
          </a:xfrm>
        </p:grpSpPr>
        <p:sp>
          <p:nvSpPr>
            <p:cNvPr id="51" name="橢圓 50"/>
            <p:cNvSpPr/>
            <p:nvPr/>
          </p:nvSpPr>
          <p:spPr>
            <a:xfrm>
              <a:off x="3117214" y="149087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2" name="文字方塊 51"/>
            <p:cNvSpPr txBox="1"/>
            <p:nvPr/>
          </p:nvSpPr>
          <p:spPr>
            <a:xfrm>
              <a:off x="3079113" y="140708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3" name="群組 52"/>
          <p:cNvGrpSpPr/>
          <p:nvPr/>
        </p:nvGrpSpPr>
        <p:grpSpPr>
          <a:xfrm>
            <a:off x="3069153" y="2626276"/>
            <a:ext cx="364202" cy="371796"/>
            <a:chOff x="3069153" y="2626276"/>
            <a:chExt cx="364202" cy="371796"/>
          </a:xfrm>
        </p:grpSpPr>
        <p:sp>
          <p:nvSpPr>
            <p:cNvPr id="54" name="橢圓 53"/>
            <p:cNvSpPr/>
            <p:nvPr/>
          </p:nvSpPr>
          <p:spPr>
            <a:xfrm>
              <a:off x="3117214" y="2710072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5" name="文字方塊 54"/>
            <p:cNvSpPr txBox="1"/>
            <p:nvPr/>
          </p:nvSpPr>
          <p:spPr>
            <a:xfrm>
              <a:off x="3069153" y="262627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6" name="群組 55"/>
          <p:cNvGrpSpPr/>
          <p:nvPr/>
        </p:nvGrpSpPr>
        <p:grpSpPr>
          <a:xfrm>
            <a:off x="3936004" y="2032019"/>
            <a:ext cx="364202" cy="370278"/>
            <a:chOff x="3936004" y="2032019"/>
            <a:chExt cx="364202" cy="370278"/>
          </a:xfrm>
        </p:grpSpPr>
        <p:sp>
          <p:nvSpPr>
            <p:cNvPr id="57" name="橢圓 56"/>
            <p:cNvSpPr/>
            <p:nvPr/>
          </p:nvSpPr>
          <p:spPr>
            <a:xfrm>
              <a:off x="3974105" y="211429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8" name="文字方塊 57"/>
            <p:cNvSpPr txBox="1"/>
            <p:nvPr/>
          </p:nvSpPr>
          <p:spPr>
            <a:xfrm>
              <a:off x="3936004" y="2032019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9" name="群組 58"/>
          <p:cNvGrpSpPr/>
          <p:nvPr/>
        </p:nvGrpSpPr>
        <p:grpSpPr>
          <a:xfrm>
            <a:off x="381848" y="3292760"/>
            <a:ext cx="3961108" cy="3132934"/>
            <a:chOff x="381848" y="3292760"/>
            <a:chExt cx="3961108" cy="3132934"/>
          </a:xfrm>
        </p:grpSpPr>
        <p:sp>
          <p:nvSpPr>
            <p:cNvPr id="60" name="文字方塊 59"/>
            <p:cNvSpPr txBox="1"/>
            <p:nvPr/>
          </p:nvSpPr>
          <p:spPr>
            <a:xfrm>
              <a:off x="833298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文字方塊 60"/>
            <p:cNvSpPr txBox="1"/>
            <p:nvPr/>
          </p:nvSpPr>
          <p:spPr>
            <a:xfrm>
              <a:off x="1359767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文字方塊 61"/>
            <p:cNvSpPr txBox="1"/>
            <p:nvPr/>
          </p:nvSpPr>
          <p:spPr>
            <a:xfrm>
              <a:off x="1882744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文字方塊 62"/>
            <p:cNvSpPr txBox="1"/>
            <p:nvPr/>
          </p:nvSpPr>
          <p:spPr>
            <a:xfrm>
              <a:off x="2409213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文字方塊 63"/>
            <p:cNvSpPr txBox="1"/>
            <p:nvPr/>
          </p:nvSpPr>
          <p:spPr>
            <a:xfrm>
              <a:off x="2929308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文字方塊 64"/>
            <p:cNvSpPr txBox="1"/>
            <p:nvPr/>
          </p:nvSpPr>
          <p:spPr>
            <a:xfrm>
              <a:off x="3452285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文字方塊 65"/>
            <p:cNvSpPr txBox="1"/>
            <p:nvPr/>
          </p:nvSpPr>
          <p:spPr>
            <a:xfrm>
              <a:off x="3978754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文字方塊 66"/>
            <p:cNvSpPr txBox="1"/>
            <p:nvPr/>
          </p:nvSpPr>
          <p:spPr>
            <a:xfrm>
              <a:off x="381848" y="3670718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" name="文字方塊 67"/>
            <p:cNvSpPr txBox="1"/>
            <p:nvPr/>
          </p:nvSpPr>
          <p:spPr>
            <a:xfrm>
              <a:off x="381848" y="408318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文字方塊 68"/>
            <p:cNvSpPr txBox="1"/>
            <p:nvPr/>
          </p:nvSpPr>
          <p:spPr>
            <a:xfrm>
              <a:off x="381848" y="4469764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文字方塊 69"/>
            <p:cNvSpPr txBox="1"/>
            <p:nvPr/>
          </p:nvSpPr>
          <p:spPr>
            <a:xfrm>
              <a:off x="381848" y="4856348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文字方塊 70"/>
            <p:cNvSpPr txBox="1"/>
            <p:nvPr/>
          </p:nvSpPr>
          <p:spPr>
            <a:xfrm>
              <a:off x="381848" y="5265942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文字方塊 71"/>
            <p:cNvSpPr txBox="1"/>
            <p:nvPr/>
          </p:nvSpPr>
          <p:spPr>
            <a:xfrm>
              <a:off x="381848" y="5661152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文字方塊 72"/>
            <p:cNvSpPr txBox="1"/>
            <p:nvPr/>
          </p:nvSpPr>
          <p:spPr>
            <a:xfrm>
              <a:off x="381848" y="6056362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4" name="文字方塊 73"/>
          <p:cNvSpPr txBox="1"/>
          <p:nvPr/>
        </p:nvSpPr>
        <p:spPr>
          <a:xfrm>
            <a:off x="124610" y="2998072"/>
            <a:ext cx="14173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Cost[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5" name="表格 74"/>
          <p:cNvGraphicFramePr>
            <a:graphicFrameLocks noGrp="1"/>
          </p:cNvGraphicFramePr>
          <p:nvPr/>
        </p:nvGraphicFramePr>
        <p:xfrm>
          <a:off x="4924197" y="2192429"/>
          <a:ext cx="369075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2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6" name="文字方塊 75"/>
          <p:cNvSpPr txBox="1"/>
          <p:nvPr/>
        </p:nvSpPr>
        <p:spPr>
          <a:xfrm>
            <a:off x="4902166" y="1376303"/>
            <a:ext cx="32319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至該點的最短距離</a:t>
            </a:r>
          </a:p>
        </p:txBody>
      </p:sp>
      <p:grpSp>
        <p:nvGrpSpPr>
          <p:cNvPr id="77" name="群組 76"/>
          <p:cNvGrpSpPr/>
          <p:nvPr/>
        </p:nvGrpSpPr>
        <p:grpSpPr>
          <a:xfrm>
            <a:off x="5015430" y="1817941"/>
            <a:ext cx="3509658" cy="369332"/>
            <a:chOff x="5015430" y="1817941"/>
            <a:chExt cx="3509658" cy="369332"/>
          </a:xfrm>
        </p:grpSpPr>
        <p:sp>
          <p:nvSpPr>
            <p:cNvPr id="78" name="文字方塊 77"/>
            <p:cNvSpPr txBox="1"/>
            <p:nvPr/>
          </p:nvSpPr>
          <p:spPr>
            <a:xfrm>
              <a:off x="5015430" y="181794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" name="文字方塊 78"/>
            <p:cNvSpPr txBox="1"/>
            <p:nvPr/>
          </p:nvSpPr>
          <p:spPr>
            <a:xfrm>
              <a:off x="5541899" y="181794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0" name="文字方塊 79"/>
            <p:cNvSpPr txBox="1"/>
            <p:nvPr/>
          </p:nvSpPr>
          <p:spPr>
            <a:xfrm>
              <a:off x="6064876" y="181794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" name="文字方塊 80"/>
            <p:cNvSpPr txBox="1"/>
            <p:nvPr/>
          </p:nvSpPr>
          <p:spPr>
            <a:xfrm>
              <a:off x="6591345" y="181794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" name="文字方塊 81"/>
            <p:cNvSpPr txBox="1"/>
            <p:nvPr/>
          </p:nvSpPr>
          <p:spPr>
            <a:xfrm>
              <a:off x="7111440" y="181794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" name="文字方塊 82"/>
            <p:cNvSpPr txBox="1"/>
            <p:nvPr/>
          </p:nvSpPr>
          <p:spPr>
            <a:xfrm>
              <a:off x="7634417" y="181794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" name="文字方塊 83"/>
            <p:cNvSpPr txBox="1"/>
            <p:nvPr/>
          </p:nvSpPr>
          <p:spPr>
            <a:xfrm>
              <a:off x="8160886" y="181794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85" name="表格 84"/>
          <p:cNvGraphicFramePr>
            <a:graphicFrameLocks noGrp="1"/>
          </p:cNvGraphicFramePr>
          <p:nvPr/>
        </p:nvGraphicFramePr>
        <p:xfrm>
          <a:off x="4928142" y="3822987"/>
          <a:ext cx="369075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2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6" name="文字方塊 85"/>
          <p:cNvSpPr txBox="1"/>
          <p:nvPr/>
        </p:nvSpPr>
        <p:spPr>
          <a:xfrm>
            <a:off x="4906111" y="3006861"/>
            <a:ext cx="41008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Prioi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至該點最短路徑的前一點</a:t>
            </a:r>
          </a:p>
        </p:txBody>
      </p:sp>
      <p:grpSp>
        <p:nvGrpSpPr>
          <p:cNvPr id="87" name="群組 86"/>
          <p:cNvGrpSpPr/>
          <p:nvPr/>
        </p:nvGrpSpPr>
        <p:grpSpPr>
          <a:xfrm>
            <a:off x="5019375" y="3448499"/>
            <a:ext cx="3509658" cy="369332"/>
            <a:chOff x="5019375" y="3448499"/>
            <a:chExt cx="3509658" cy="369332"/>
          </a:xfrm>
        </p:grpSpPr>
        <p:sp>
          <p:nvSpPr>
            <p:cNvPr id="88" name="文字方塊 87"/>
            <p:cNvSpPr txBox="1"/>
            <p:nvPr/>
          </p:nvSpPr>
          <p:spPr>
            <a:xfrm>
              <a:off x="5019375" y="3448499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" name="文字方塊 88"/>
            <p:cNvSpPr txBox="1"/>
            <p:nvPr/>
          </p:nvSpPr>
          <p:spPr>
            <a:xfrm>
              <a:off x="5545844" y="3448499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0" name="文字方塊 89"/>
            <p:cNvSpPr txBox="1"/>
            <p:nvPr/>
          </p:nvSpPr>
          <p:spPr>
            <a:xfrm>
              <a:off x="6068821" y="3448499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1" name="文字方塊 90"/>
            <p:cNvSpPr txBox="1"/>
            <p:nvPr/>
          </p:nvSpPr>
          <p:spPr>
            <a:xfrm>
              <a:off x="6595290" y="3448499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2" name="文字方塊 91"/>
            <p:cNvSpPr txBox="1"/>
            <p:nvPr/>
          </p:nvSpPr>
          <p:spPr>
            <a:xfrm>
              <a:off x="7115385" y="3448499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3" name="文字方塊 92"/>
            <p:cNvSpPr txBox="1"/>
            <p:nvPr/>
          </p:nvSpPr>
          <p:spPr>
            <a:xfrm>
              <a:off x="7638362" y="3448499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4" name="文字方塊 93"/>
            <p:cNvSpPr txBox="1"/>
            <p:nvPr/>
          </p:nvSpPr>
          <p:spPr>
            <a:xfrm>
              <a:off x="8164831" y="3448499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95" name="表格 94"/>
          <p:cNvGraphicFramePr>
            <a:graphicFrameLocks noGrp="1"/>
          </p:cNvGraphicFramePr>
          <p:nvPr/>
        </p:nvGraphicFramePr>
        <p:xfrm>
          <a:off x="4984080" y="5542454"/>
          <a:ext cx="369075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2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6" name="文字方塊 95"/>
          <p:cNvSpPr txBox="1"/>
          <p:nvPr/>
        </p:nvSpPr>
        <p:spPr>
          <a:xfrm>
            <a:off x="4962049" y="4726328"/>
            <a:ext cx="41873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Decided[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至該點最短路徑已決定</a:t>
            </a:r>
          </a:p>
        </p:txBody>
      </p:sp>
      <p:grpSp>
        <p:nvGrpSpPr>
          <p:cNvPr id="97" name="群組 96"/>
          <p:cNvGrpSpPr/>
          <p:nvPr/>
        </p:nvGrpSpPr>
        <p:grpSpPr>
          <a:xfrm>
            <a:off x="5075313" y="5167966"/>
            <a:ext cx="3509658" cy="369332"/>
            <a:chOff x="5075313" y="5167966"/>
            <a:chExt cx="3509658" cy="369332"/>
          </a:xfrm>
        </p:grpSpPr>
        <p:sp>
          <p:nvSpPr>
            <p:cNvPr id="98" name="文字方塊 97"/>
            <p:cNvSpPr txBox="1"/>
            <p:nvPr/>
          </p:nvSpPr>
          <p:spPr>
            <a:xfrm>
              <a:off x="5075313" y="516796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9" name="文字方塊 98"/>
            <p:cNvSpPr txBox="1"/>
            <p:nvPr/>
          </p:nvSpPr>
          <p:spPr>
            <a:xfrm>
              <a:off x="5601782" y="516796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0" name="文字方塊 99"/>
            <p:cNvSpPr txBox="1"/>
            <p:nvPr/>
          </p:nvSpPr>
          <p:spPr>
            <a:xfrm>
              <a:off x="6124759" y="516796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1" name="文字方塊 100"/>
            <p:cNvSpPr txBox="1"/>
            <p:nvPr/>
          </p:nvSpPr>
          <p:spPr>
            <a:xfrm>
              <a:off x="6651228" y="516796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2" name="文字方塊 101"/>
            <p:cNvSpPr txBox="1"/>
            <p:nvPr/>
          </p:nvSpPr>
          <p:spPr>
            <a:xfrm>
              <a:off x="7171323" y="516796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3" name="文字方塊 102"/>
            <p:cNvSpPr txBox="1"/>
            <p:nvPr/>
          </p:nvSpPr>
          <p:spPr>
            <a:xfrm>
              <a:off x="7694300" y="516796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4" name="文字方塊 103"/>
            <p:cNvSpPr txBox="1"/>
            <p:nvPr/>
          </p:nvSpPr>
          <p:spPr>
            <a:xfrm>
              <a:off x="8220769" y="516796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6075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/>
      <p:bldP spid="76" grpId="0"/>
      <p:bldP spid="86" grpId="0"/>
      <p:bldP spid="9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Dijkstra </a:t>
            </a:r>
            <a:r>
              <a:rPr lang="zh-TW" altLang="en-US" dirty="0"/>
              <a:t>演算法 </a:t>
            </a:r>
            <a:r>
              <a:rPr lang="en-US" altLang="zh-TW" dirty="0"/>
              <a:t>(2/9)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找到一個頂點 </a:t>
            </a:r>
            <a:r>
              <a:rPr lang="en-US" altLang="zh-TW" i="1" dirty="0" err="1"/>
              <a:t>i</a:t>
            </a:r>
            <a:r>
              <a:rPr lang="zh-TW" altLang="en-US" dirty="0"/>
              <a:t>，其 </a:t>
            </a:r>
            <a:r>
              <a:rPr lang="en-US" altLang="zh-TW" dirty="0"/>
              <a:t>Decided[</a:t>
            </a:r>
            <a:r>
              <a:rPr lang="en-US" altLang="zh-TW" i="1" dirty="0" err="1"/>
              <a:t>i</a:t>
            </a:r>
            <a:r>
              <a:rPr lang="en-US" altLang="zh-TW" dirty="0"/>
              <a:t>] = 0</a:t>
            </a:r>
            <a:r>
              <a:rPr lang="en-US" altLang="zh-TW" dirty="0">
                <a:solidFill>
                  <a:srgbClr val="C00000"/>
                </a:solidFill>
              </a:rPr>
              <a:t>(</a:t>
            </a:r>
            <a:r>
              <a:rPr lang="zh-TW" altLang="en-US" dirty="0">
                <a:solidFill>
                  <a:srgbClr val="C00000"/>
                </a:solidFill>
              </a:rPr>
              <a:t>最短距離尚未決定</a:t>
            </a:r>
            <a:r>
              <a:rPr lang="en-US" altLang="zh-TW" dirty="0">
                <a:solidFill>
                  <a:srgbClr val="C00000"/>
                </a:solidFill>
              </a:rPr>
              <a:t>)</a:t>
            </a:r>
            <a:r>
              <a:rPr lang="zh-TW" altLang="en-US" dirty="0"/>
              <a:t>且 </a:t>
            </a:r>
            <a:r>
              <a:rPr lang="en-US" altLang="zh-TW" dirty="0" err="1"/>
              <a:t>Dist</a:t>
            </a:r>
            <a:r>
              <a:rPr lang="en-US" altLang="zh-TW" dirty="0"/>
              <a:t>[</a:t>
            </a:r>
            <a:r>
              <a:rPr lang="en-US" altLang="zh-TW" i="1" dirty="0" err="1"/>
              <a:t>i</a:t>
            </a:r>
            <a:r>
              <a:rPr lang="en-US" altLang="zh-TW" dirty="0"/>
              <a:t>]</a:t>
            </a:r>
            <a:r>
              <a:rPr lang="en-US" altLang="zh-TW" dirty="0">
                <a:solidFill>
                  <a:srgbClr val="C00000"/>
                </a:solidFill>
              </a:rPr>
              <a:t>(</a:t>
            </a:r>
            <a:r>
              <a:rPr lang="zh-TW" altLang="en-US" dirty="0">
                <a:solidFill>
                  <a:srgbClr val="C00000"/>
                </a:solidFill>
              </a:rPr>
              <a:t>已知距離</a:t>
            </a:r>
            <a:r>
              <a:rPr lang="en-US" altLang="zh-TW" dirty="0">
                <a:solidFill>
                  <a:srgbClr val="C00000"/>
                </a:solidFill>
              </a:rPr>
              <a:t>)</a:t>
            </a:r>
            <a:r>
              <a:rPr lang="zh-TW" altLang="en-US" dirty="0"/>
              <a:t>最小，若</a:t>
            </a:r>
            <a:r>
              <a:rPr lang="en-US" altLang="zh-TW" dirty="0"/>
              <a:t>Decided[</a:t>
            </a:r>
            <a:r>
              <a:rPr lang="en-US" altLang="zh-TW" i="1" dirty="0" err="1"/>
              <a:t>i</a:t>
            </a:r>
            <a:r>
              <a:rPr lang="en-US" altLang="zh-TW" dirty="0"/>
              <a:t>]</a:t>
            </a:r>
            <a:r>
              <a:rPr lang="zh-TW" altLang="en-US" dirty="0"/>
              <a:t>均為 1 則跳至步驟 4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對每一個 </a:t>
            </a:r>
            <a:r>
              <a:rPr lang="en-US" altLang="zh-TW" dirty="0"/>
              <a:t>Decided[</a:t>
            </a:r>
            <a:r>
              <a:rPr lang="en-US" altLang="zh-TW" i="1" dirty="0"/>
              <a:t>w</a:t>
            </a:r>
            <a:r>
              <a:rPr lang="en-US" altLang="zh-TW" dirty="0"/>
              <a:t>] = 0</a:t>
            </a:r>
            <a:r>
              <a:rPr lang="zh-TW" altLang="en-US" dirty="0"/>
              <a:t>的頂點 </a:t>
            </a:r>
            <a:r>
              <a:rPr lang="en-US" altLang="zh-TW" i="1" dirty="0"/>
              <a:t>w</a:t>
            </a:r>
            <a:r>
              <a:rPr lang="zh-TW" altLang="en-US" dirty="0"/>
              <a:t>，依下述方式更新 </a:t>
            </a:r>
            <a:r>
              <a:rPr lang="en-US" altLang="zh-TW" dirty="0" err="1"/>
              <a:t>Dist</a:t>
            </a:r>
            <a:r>
              <a:rPr lang="en-US" altLang="zh-TW" dirty="0"/>
              <a:t>[</a:t>
            </a:r>
            <a:r>
              <a:rPr lang="en-US" altLang="zh-TW" i="1" dirty="0"/>
              <a:t>w</a:t>
            </a:r>
            <a:r>
              <a:rPr lang="en-US" altLang="zh-TW" dirty="0"/>
              <a:t>]</a:t>
            </a:r>
          </a:p>
          <a:p>
            <a:pPr lvl="1"/>
            <a:r>
              <a:rPr lang="zh-TW" altLang="en-US" dirty="0"/>
              <a:t>從</a:t>
            </a:r>
            <a:r>
              <a:rPr lang="en-US" altLang="zh-TW" i="1" dirty="0"/>
              <a:t>v</a:t>
            </a:r>
            <a:r>
              <a:rPr lang="en-US" altLang="zh-TW" baseline="-25000" dirty="0"/>
              <a:t>0</a:t>
            </a:r>
            <a:r>
              <a:rPr lang="zh-TW" altLang="en-US" dirty="0"/>
              <a:t>出發，如果經由</a:t>
            </a:r>
            <a:r>
              <a:rPr lang="en-US" altLang="zh-TW" i="1" dirty="0"/>
              <a:t>v</a:t>
            </a:r>
            <a:r>
              <a:rPr lang="en-US" altLang="zh-TW" i="1" baseline="-25000" dirty="0"/>
              <a:t>i</a:t>
            </a:r>
            <a:r>
              <a:rPr lang="zh-TW" altLang="en-US" dirty="0"/>
              <a:t>再到</a:t>
            </a:r>
            <a:r>
              <a:rPr lang="en-US" altLang="zh-TW" i="1" dirty="0"/>
              <a:t>w</a:t>
            </a:r>
            <a:r>
              <a:rPr lang="zh-TW" altLang="en-US" dirty="0"/>
              <a:t>比原來由</a:t>
            </a:r>
            <a:r>
              <a:rPr lang="en-US" altLang="zh-TW" i="1" dirty="0"/>
              <a:t>v</a:t>
            </a:r>
            <a:r>
              <a:rPr lang="en-US" altLang="zh-TW" baseline="-25000" dirty="0"/>
              <a:t>0</a:t>
            </a:r>
            <a:r>
              <a:rPr lang="zh-TW" altLang="en-US" dirty="0"/>
              <a:t>到</a:t>
            </a:r>
            <a:r>
              <a:rPr lang="en-US" altLang="zh-TW" i="1" dirty="0"/>
              <a:t>w</a:t>
            </a:r>
            <a:r>
              <a:rPr lang="zh-TW" altLang="en-US" dirty="0"/>
              <a:t>更近，則採用新的走法</a:t>
            </a:r>
            <a:endParaRPr lang="en-US" altLang="zh-TW" dirty="0"/>
          </a:p>
          <a:p>
            <a:pPr lvl="1"/>
            <a:r>
              <a:rPr lang="en-US" altLang="zh-TW" dirty="0" err="1"/>
              <a:t>Dist</a:t>
            </a:r>
            <a:r>
              <a:rPr lang="en-US" altLang="zh-TW" dirty="0"/>
              <a:t>[</a:t>
            </a:r>
            <a:r>
              <a:rPr lang="en-US" altLang="zh-TW" i="1" dirty="0"/>
              <a:t>w</a:t>
            </a:r>
            <a:r>
              <a:rPr lang="en-US" altLang="zh-TW" dirty="0"/>
              <a:t>] = min {</a:t>
            </a:r>
            <a:r>
              <a:rPr lang="en-US" altLang="zh-TW" dirty="0" err="1"/>
              <a:t>Dist</a:t>
            </a:r>
            <a:r>
              <a:rPr lang="en-US" altLang="zh-TW" dirty="0"/>
              <a:t>[</a:t>
            </a:r>
            <a:r>
              <a:rPr lang="en-US" altLang="zh-TW" i="1" dirty="0"/>
              <a:t>w</a:t>
            </a:r>
            <a:r>
              <a:rPr lang="en-US" altLang="zh-TW" dirty="0"/>
              <a:t>], </a:t>
            </a:r>
            <a:r>
              <a:rPr lang="en-US" altLang="zh-TW" dirty="0" err="1"/>
              <a:t>Dist</a:t>
            </a:r>
            <a:r>
              <a:rPr lang="en-US" altLang="zh-TW" dirty="0"/>
              <a:t>[</a:t>
            </a:r>
            <a:r>
              <a:rPr lang="en-US" altLang="zh-TW" i="1" dirty="0" err="1"/>
              <a:t>i</a:t>
            </a:r>
            <a:r>
              <a:rPr lang="en-US" altLang="zh-TW" dirty="0"/>
              <a:t>] + Cost[</a:t>
            </a:r>
            <a:r>
              <a:rPr lang="en-US" altLang="zh-TW" i="1" dirty="0" err="1"/>
              <a:t>i</a:t>
            </a:r>
            <a:r>
              <a:rPr lang="en-US" altLang="zh-TW" dirty="0"/>
              <a:t>][</a:t>
            </a:r>
            <a:r>
              <a:rPr lang="en-US" altLang="zh-TW" i="1" dirty="0"/>
              <a:t>w</a:t>
            </a:r>
            <a:r>
              <a:rPr lang="en-US" altLang="zh-TW" dirty="0"/>
              <a:t>]}</a:t>
            </a:r>
          </a:p>
          <a:p>
            <a:pPr lvl="2"/>
            <a:endParaRPr lang="en-US" altLang="zh-TW" dirty="0"/>
          </a:p>
          <a:p>
            <a:pPr lvl="2"/>
            <a:endParaRPr lang="en-US" altLang="zh-TW" dirty="0"/>
          </a:p>
          <a:p>
            <a:pPr lvl="2"/>
            <a:endParaRPr lang="en-US" altLang="zh-TW" dirty="0"/>
          </a:p>
          <a:p>
            <a:pPr lvl="2"/>
            <a:endParaRPr lang="en-US" altLang="zh-TW" dirty="0"/>
          </a:p>
          <a:p>
            <a:pPr lvl="2"/>
            <a:endParaRPr lang="en-US" altLang="zh-TW" dirty="0"/>
          </a:p>
          <a:p>
            <a:pPr lvl="2"/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跳至步驟 1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演算法結束，每個 </a:t>
            </a:r>
            <a:r>
              <a:rPr lang="en-US" altLang="zh-TW" dirty="0" err="1"/>
              <a:t>Dist</a:t>
            </a:r>
            <a:r>
              <a:rPr lang="en-US" altLang="zh-TW" dirty="0"/>
              <a:t>[</a:t>
            </a:r>
            <a:r>
              <a:rPr lang="en-US" altLang="zh-TW" i="1" dirty="0"/>
              <a:t>k</a:t>
            </a:r>
            <a:r>
              <a:rPr lang="en-US" altLang="zh-TW" dirty="0"/>
              <a:t>]</a:t>
            </a:r>
            <a:r>
              <a:rPr lang="zh-TW" altLang="en-US" dirty="0"/>
              <a:t>為起點至頂點</a:t>
            </a:r>
            <a:r>
              <a:rPr lang="en-US" altLang="zh-TW" i="1" dirty="0"/>
              <a:t>k</a:t>
            </a:r>
            <a:r>
              <a:rPr lang="zh-TW" altLang="en-US" dirty="0"/>
              <a:t>的最短距離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3859407" y="4019575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2631311" y="3998309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3238036" y="4594084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3013601" y="3650243"/>
            <a:ext cx="902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2316555" y="4452548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直線接點 11"/>
          <p:cNvCxnSpPr>
            <a:stCxn id="16" idx="3"/>
            <a:endCxn id="15" idx="7"/>
          </p:cNvCxnSpPr>
          <p:nvPr/>
        </p:nvCxnSpPr>
        <p:spPr>
          <a:xfrm flipH="1">
            <a:off x="3521960" y="4327928"/>
            <a:ext cx="394452" cy="392129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/>
          <p:cNvSpPr txBox="1"/>
          <p:nvPr/>
        </p:nvSpPr>
        <p:spPr>
          <a:xfrm>
            <a:off x="3655030" y="4384050"/>
            <a:ext cx="117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Cost[</a:t>
            </a:r>
            <a:r>
              <a:rPr lang="en-US" altLang="zh-TW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橢圓 13"/>
          <p:cNvSpPr/>
          <p:nvPr/>
        </p:nvSpPr>
        <p:spPr>
          <a:xfrm>
            <a:off x="2669412" y="4082105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3276137" y="4677880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/>
          <p:cNvSpPr/>
          <p:nvPr/>
        </p:nvSpPr>
        <p:spPr>
          <a:xfrm>
            <a:off x="3874235" y="4082105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7" name="弧形接點 16"/>
          <p:cNvCxnSpPr>
            <a:stCxn id="8" idx="2"/>
            <a:endCxn id="15" idx="0"/>
          </p:cNvCxnSpPr>
          <p:nvPr/>
        </p:nvCxnSpPr>
        <p:spPr>
          <a:xfrm rot="16200000" flipH="1">
            <a:off x="2961655" y="4219397"/>
            <a:ext cx="310239" cy="606725"/>
          </a:xfrm>
          <a:prstGeom prst="curvedConnector3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弧形接點 17"/>
          <p:cNvCxnSpPr>
            <a:stCxn id="14" idx="7"/>
            <a:endCxn id="16" idx="2"/>
          </p:cNvCxnSpPr>
          <p:nvPr/>
        </p:nvCxnSpPr>
        <p:spPr>
          <a:xfrm rot="16200000" flipH="1">
            <a:off x="3343823" y="3695693"/>
            <a:ext cx="101823" cy="959000"/>
          </a:xfrm>
          <a:prstGeom prst="curvedConnector4">
            <a:avLst>
              <a:gd name="adj1" fmla="val -120085"/>
              <a:gd name="adj2" fmla="val 56634"/>
            </a:avLst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AutoShape 193"/>
          <p:cNvSpPr>
            <a:spLocks noChangeArrowheads="1"/>
          </p:cNvSpPr>
          <p:nvPr/>
        </p:nvSpPr>
        <p:spPr bwMode="auto">
          <a:xfrm>
            <a:off x="390894" y="3432341"/>
            <a:ext cx="1295400" cy="749523"/>
          </a:xfrm>
          <a:prstGeom prst="wedgeRoundRectCallout">
            <a:avLst>
              <a:gd name="adj1" fmla="val 140878"/>
              <a:gd name="adj2" fmla="val -89008"/>
              <a:gd name="adj3" fmla="val 16667"/>
            </a:avLst>
          </a:prstGeom>
          <a:noFill/>
          <a:ln w="28575">
            <a:solidFill>
              <a:schemeClr val="accent3">
                <a:lumMod val="7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9pPr>
          </a:lstStyle>
          <a:p>
            <a:pPr algn="ctr" eaLnBrk="1" hangingPunct="1"/>
            <a:r>
              <a:rPr lang="zh-TW" altLang="en-US" sz="2000" b="1">
                <a:latin typeface="標楷體" panose="03000509000000000000" pitchFamily="65" charset="-120"/>
                <a:ea typeface="標楷體" panose="03000509000000000000" pitchFamily="65" charset="-120"/>
              </a:rPr>
              <a:t>原來走法的距離</a:t>
            </a:r>
          </a:p>
        </p:txBody>
      </p:sp>
      <p:sp>
        <p:nvSpPr>
          <p:cNvPr id="20" name="AutoShape 194"/>
          <p:cNvSpPr>
            <a:spLocks noChangeArrowheads="1"/>
          </p:cNvSpPr>
          <p:nvPr/>
        </p:nvSpPr>
        <p:spPr bwMode="auto">
          <a:xfrm>
            <a:off x="6461494" y="3406747"/>
            <a:ext cx="1295400" cy="751361"/>
          </a:xfrm>
          <a:prstGeom prst="wedgeRoundRectCallout">
            <a:avLst>
              <a:gd name="adj1" fmla="val -200989"/>
              <a:gd name="adj2" fmla="val -86103"/>
              <a:gd name="adj3" fmla="val 16667"/>
            </a:avLst>
          </a:prstGeom>
          <a:noFill/>
          <a:ln w="28575">
            <a:solidFill>
              <a:srgbClr val="7030A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9pPr>
          </a:lstStyle>
          <a:p>
            <a:pPr algn="ctr" eaLnBrk="1" hangingPunct="1"/>
            <a:r>
              <a:rPr lang="zh-TW" altLang="en-US" sz="2000" b="1">
                <a:latin typeface="標楷體" panose="03000509000000000000" pitchFamily="65" charset="-120"/>
                <a:ea typeface="標楷體" panose="03000509000000000000" pitchFamily="65" charset="-120"/>
              </a:rPr>
              <a:t>新走法的距離</a:t>
            </a:r>
          </a:p>
        </p:txBody>
      </p:sp>
      <p:cxnSp>
        <p:nvCxnSpPr>
          <p:cNvPr id="21" name="直線接點 20"/>
          <p:cNvCxnSpPr/>
          <p:nvPr/>
        </p:nvCxnSpPr>
        <p:spPr>
          <a:xfrm>
            <a:off x="2552235" y="3034326"/>
            <a:ext cx="720725" cy="0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>
            <a:off x="3456961" y="3034326"/>
            <a:ext cx="1979612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88056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Dijkstra </a:t>
            </a:r>
            <a:r>
              <a:rPr lang="zh-TW" altLang="en-US" dirty="0"/>
              <a:t>演算法 </a:t>
            </a:r>
            <a:r>
              <a:rPr lang="en-US" altLang="zh-TW" dirty="0"/>
              <a:t>(3/9)</a:t>
            </a:r>
            <a:endParaRPr lang="zh-TW" altLang="en-US" dirty="0"/>
          </a:p>
        </p:txBody>
      </p:sp>
      <p:graphicFrame>
        <p:nvGraphicFramePr>
          <p:cNvPr id="7" name="內容版面配置區 6"/>
          <p:cNvGraphicFramePr>
            <a:graphicFrameLocks noGrp="1"/>
          </p:cNvGraphicFramePr>
          <p:nvPr>
            <p:ph sz="quarter" idx="4294967295"/>
          </p:nvPr>
        </p:nvGraphicFramePr>
        <p:xfrm>
          <a:off x="5220491" y="1791448"/>
          <a:ext cx="3690750" cy="11887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2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5313342" y="142583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5839811" y="142583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6362788" y="142583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6889257" y="142583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7409352" y="142583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7932329" y="142583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8458798" y="142583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4476907" y="1805798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[]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4352849" y="2202757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Prior[]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4079929" y="2599716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Decided[]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8" name="群組 17"/>
          <p:cNvGrpSpPr/>
          <p:nvPr/>
        </p:nvGrpSpPr>
        <p:grpSpPr>
          <a:xfrm>
            <a:off x="902042" y="2082668"/>
            <a:ext cx="916823" cy="369332"/>
            <a:chOff x="1369380" y="1970119"/>
            <a:chExt cx="916823" cy="369332"/>
          </a:xfrm>
        </p:grpSpPr>
        <p:cxnSp>
          <p:nvCxnSpPr>
            <p:cNvPr id="19" name="直線接點 18"/>
            <p:cNvCxnSpPr>
              <a:stCxn id="58" idx="2"/>
              <a:endCxn id="49" idx="6"/>
            </p:cNvCxnSpPr>
            <p:nvPr/>
          </p:nvCxnSpPr>
          <p:spPr>
            <a:xfrm flipH="1">
              <a:off x="1369380" y="2258297"/>
              <a:ext cx="916823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文字方塊 19"/>
            <p:cNvSpPr txBox="1"/>
            <p:nvPr/>
          </p:nvSpPr>
          <p:spPr>
            <a:xfrm>
              <a:off x="1682064" y="197011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1" name="群組 20"/>
          <p:cNvGrpSpPr/>
          <p:nvPr/>
        </p:nvGrpSpPr>
        <p:grpSpPr>
          <a:xfrm>
            <a:off x="843195" y="1782035"/>
            <a:ext cx="419749" cy="486988"/>
            <a:chOff x="1310533" y="1669486"/>
            <a:chExt cx="419749" cy="486988"/>
          </a:xfrm>
        </p:grpSpPr>
        <p:cxnSp>
          <p:nvCxnSpPr>
            <p:cNvPr id="22" name="直線接點 21"/>
            <p:cNvCxnSpPr>
              <a:stCxn id="49" idx="7"/>
              <a:endCxn id="52" idx="3"/>
            </p:cNvCxnSpPr>
            <p:nvPr/>
          </p:nvCxnSpPr>
          <p:spPr>
            <a:xfrm flipV="1">
              <a:off x="1327203" y="1736700"/>
              <a:ext cx="403079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文字方塊 22"/>
            <p:cNvSpPr txBox="1"/>
            <p:nvPr/>
          </p:nvSpPr>
          <p:spPr>
            <a:xfrm>
              <a:off x="1310533" y="166948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4" name="群組 23"/>
          <p:cNvGrpSpPr/>
          <p:nvPr/>
        </p:nvGrpSpPr>
        <p:grpSpPr>
          <a:xfrm>
            <a:off x="843195" y="2472669"/>
            <a:ext cx="419749" cy="445481"/>
            <a:chOff x="1310533" y="2360120"/>
            <a:chExt cx="419749" cy="445481"/>
          </a:xfrm>
        </p:grpSpPr>
        <p:cxnSp>
          <p:nvCxnSpPr>
            <p:cNvPr id="25" name="直線接點 24"/>
            <p:cNvCxnSpPr>
              <a:stCxn id="55" idx="1"/>
              <a:endCxn id="49" idx="5"/>
            </p:cNvCxnSpPr>
            <p:nvPr/>
          </p:nvCxnSpPr>
          <p:spPr>
            <a:xfrm flipH="1" flipV="1">
              <a:off x="1327203" y="2360120"/>
              <a:ext cx="403079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文字方塊 25"/>
            <p:cNvSpPr txBox="1"/>
            <p:nvPr/>
          </p:nvSpPr>
          <p:spPr>
            <a:xfrm>
              <a:off x="1310533" y="243626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7" name="群組 26"/>
          <p:cNvGrpSpPr/>
          <p:nvPr/>
        </p:nvGrpSpPr>
        <p:grpSpPr>
          <a:xfrm>
            <a:off x="1466590" y="1762008"/>
            <a:ext cx="411886" cy="507015"/>
            <a:chOff x="1933928" y="1649459"/>
            <a:chExt cx="411886" cy="507015"/>
          </a:xfrm>
        </p:grpSpPr>
        <p:cxnSp>
          <p:nvCxnSpPr>
            <p:cNvPr id="28" name="直線接點 27"/>
            <p:cNvCxnSpPr>
              <a:stCxn id="58" idx="1"/>
              <a:endCxn id="52" idx="5"/>
            </p:cNvCxnSpPr>
            <p:nvPr/>
          </p:nvCxnSpPr>
          <p:spPr>
            <a:xfrm flipH="1" flipV="1">
              <a:off x="1933928" y="1736700"/>
              <a:ext cx="394452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文字方塊 28"/>
            <p:cNvSpPr txBox="1"/>
            <p:nvPr/>
          </p:nvSpPr>
          <p:spPr>
            <a:xfrm>
              <a:off x="2045732" y="164945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0" name="群組 29"/>
          <p:cNvGrpSpPr/>
          <p:nvPr/>
        </p:nvGrpSpPr>
        <p:grpSpPr>
          <a:xfrm>
            <a:off x="1466590" y="2472669"/>
            <a:ext cx="411886" cy="425454"/>
            <a:chOff x="1933928" y="2360120"/>
            <a:chExt cx="411886" cy="425454"/>
          </a:xfrm>
        </p:grpSpPr>
        <p:cxnSp>
          <p:nvCxnSpPr>
            <p:cNvPr id="31" name="直線接點 30"/>
            <p:cNvCxnSpPr>
              <a:stCxn id="58" idx="3"/>
              <a:endCxn id="55" idx="7"/>
            </p:cNvCxnSpPr>
            <p:nvPr/>
          </p:nvCxnSpPr>
          <p:spPr>
            <a:xfrm flipH="1">
              <a:off x="1933928" y="2360120"/>
              <a:ext cx="394452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文字方塊 31"/>
            <p:cNvSpPr txBox="1"/>
            <p:nvPr/>
          </p:nvSpPr>
          <p:spPr>
            <a:xfrm>
              <a:off x="2045732" y="241624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3" name="群組 32"/>
          <p:cNvGrpSpPr/>
          <p:nvPr/>
        </p:nvGrpSpPr>
        <p:grpSpPr>
          <a:xfrm>
            <a:off x="2064688" y="1749769"/>
            <a:ext cx="627365" cy="519254"/>
            <a:chOff x="2532026" y="1637220"/>
            <a:chExt cx="627365" cy="519254"/>
          </a:xfrm>
        </p:grpSpPr>
        <p:cxnSp>
          <p:nvCxnSpPr>
            <p:cNvPr id="34" name="直線接點 33"/>
            <p:cNvCxnSpPr>
              <a:stCxn id="61" idx="3"/>
              <a:endCxn id="58" idx="7"/>
            </p:cNvCxnSpPr>
            <p:nvPr/>
          </p:nvCxnSpPr>
          <p:spPr>
            <a:xfrm flipH="1">
              <a:off x="2532026" y="1736700"/>
              <a:ext cx="627365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字方塊 34"/>
            <p:cNvSpPr txBox="1"/>
            <p:nvPr/>
          </p:nvSpPr>
          <p:spPr>
            <a:xfrm>
              <a:off x="2667499" y="163722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6" name="群組 35"/>
          <p:cNvGrpSpPr/>
          <p:nvPr/>
        </p:nvGrpSpPr>
        <p:grpSpPr>
          <a:xfrm>
            <a:off x="2064688" y="2472669"/>
            <a:ext cx="627365" cy="413215"/>
            <a:chOff x="2532026" y="2360120"/>
            <a:chExt cx="627365" cy="413215"/>
          </a:xfrm>
        </p:grpSpPr>
        <p:cxnSp>
          <p:nvCxnSpPr>
            <p:cNvPr id="37" name="直線接點 36"/>
            <p:cNvCxnSpPr>
              <a:stCxn id="64" idx="1"/>
              <a:endCxn id="58" idx="5"/>
            </p:cNvCxnSpPr>
            <p:nvPr/>
          </p:nvCxnSpPr>
          <p:spPr>
            <a:xfrm flipH="1" flipV="1">
              <a:off x="2532026" y="2360120"/>
              <a:ext cx="627365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文字方塊 37"/>
            <p:cNvSpPr txBox="1"/>
            <p:nvPr/>
          </p:nvSpPr>
          <p:spPr>
            <a:xfrm>
              <a:off x="2581239" y="240400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9" name="群組 38"/>
          <p:cNvGrpSpPr/>
          <p:nvPr/>
        </p:nvGrpSpPr>
        <p:grpSpPr>
          <a:xfrm>
            <a:off x="2895699" y="1762008"/>
            <a:ext cx="653245" cy="507015"/>
            <a:chOff x="3363037" y="1649459"/>
            <a:chExt cx="653245" cy="507015"/>
          </a:xfrm>
        </p:grpSpPr>
        <p:cxnSp>
          <p:nvCxnSpPr>
            <p:cNvPr id="40" name="直線接點 39"/>
            <p:cNvCxnSpPr>
              <a:stCxn id="67" idx="1"/>
              <a:endCxn id="61" idx="5"/>
            </p:cNvCxnSpPr>
            <p:nvPr/>
          </p:nvCxnSpPr>
          <p:spPr>
            <a:xfrm flipH="1" flipV="1">
              <a:off x="3363037" y="1736700"/>
              <a:ext cx="653245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文字方塊 40"/>
            <p:cNvSpPr txBox="1"/>
            <p:nvPr/>
          </p:nvSpPr>
          <p:spPr>
            <a:xfrm>
              <a:off x="3582748" y="164945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2" name="群組 41"/>
          <p:cNvGrpSpPr/>
          <p:nvPr/>
        </p:nvGrpSpPr>
        <p:grpSpPr>
          <a:xfrm>
            <a:off x="2895699" y="2472669"/>
            <a:ext cx="653245" cy="425454"/>
            <a:chOff x="3363037" y="2360120"/>
            <a:chExt cx="653245" cy="425454"/>
          </a:xfrm>
        </p:grpSpPr>
        <p:cxnSp>
          <p:nvCxnSpPr>
            <p:cNvPr id="43" name="直線接點 42"/>
            <p:cNvCxnSpPr>
              <a:stCxn id="67" idx="3"/>
              <a:endCxn id="64" idx="7"/>
            </p:cNvCxnSpPr>
            <p:nvPr/>
          </p:nvCxnSpPr>
          <p:spPr>
            <a:xfrm flipH="1">
              <a:off x="3363037" y="2360120"/>
              <a:ext cx="653245" cy="392129"/>
            </a:xfrm>
            <a:prstGeom prst="line">
              <a:avLst/>
            </a:prstGeom>
            <a:ln w="28575">
              <a:solidFill>
                <a:srgbClr val="B6DCD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文字方塊 43"/>
            <p:cNvSpPr txBox="1"/>
            <p:nvPr/>
          </p:nvSpPr>
          <p:spPr>
            <a:xfrm>
              <a:off x="3608626" y="241624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5" name="群組 44"/>
          <p:cNvGrpSpPr/>
          <p:nvPr/>
        </p:nvGrpSpPr>
        <p:grpSpPr>
          <a:xfrm>
            <a:off x="1508767" y="2885884"/>
            <a:ext cx="1141109" cy="369332"/>
            <a:chOff x="1976105" y="2773335"/>
            <a:chExt cx="1141109" cy="369332"/>
          </a:xfrm>
        </p:grpSpPr>
        <p:cxnSp>
          <p:nvCxnSpPr>
            <p:cNvPr id="46" name="直線接點 45"/>
            <p:cNvCxnSpPr>
              <a:stCxn id="64" idx="2"/>
              <a:endCxn id="55" idx="6"/>
            </p:cNvCxnSpPr>
            <p:nvPr/>
          </p:nvCxnSpPr>
          <p:spPr>
            <a:xfrm flipH="1">
              <a:off x="1976105" y="2854072"/>
              <a:ext cx="1141109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文字方塊 46"/>
            <p:cNvSpPr txBox="1"/>
            <p:nvPr/>
          </p:nvSpPr>
          <p:spPr>
            <a:xfrm>
              <a:off x="2381985" y="2773335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9" name="橢圓 48"/>
          <p:cNvSpPr/>
          <p:nvPr/>
        </p:nvSpPr>
        <p:spPr>
          <a:xfrm>
            <a:off x="614042" y="2226846"/>
            <a:ext cx="288000" cy="288000"/>
          </a:xfrm>
          <a:prstGeom prst="ellipse">
            <a:avLst/>
          </a:prstGeom>
          <a:solidFill>
            <a:srgbClr val="FF99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bg1"/>
              </a:solidFill>
            </a:endParaRPr>
          </a:p>
        </p:txBody>
      </p:sp>
      <p:sp>
        <p:nvSpPr>
          <p:cNvPr id="50" name="文字方塊 49"/>
          <p:cNvSpPr txBox="1"/>
          <p:nvPr/>
        </p:nvSpPr>
        <p:spPr>
          <a:xfrm>
            <a:off x="575941" y="2143050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baseline="-25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橢圓 51"/>
          <p:cNvSpPr/>
          <p:nvPr/>
        </p:nvSpPr>
        <p:spPr>
          <a:xfrm>
            <a:off x="1220767" y="1603426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3" name="文字方塊 52"/>
          <p:cNvSpPr txBox="1"/>
          <p:nvPr/>
        </p:nvSpPr>
        <p:spPr>
          <a:xfrm>
            <a:off x="1182666" y="1519754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4" name="群組 53"/>
          <p:cNvGrpSpPr/>
          <p:nvPr/>
        </p:nvGrpSpPr>
        <p:grpSpPr>
          <a:xfrm>
            <a:off x="1182666" y="2738825"/>
            <a:ext cx="364202" cy="371796"/>
            <a:chOff x="1650004" y="2626276"/>
            <a:chExt cx="364202" cy="371796"/>
          </a:xfrm>
        </p:grpSpPr>
        <p:sp>
          <p:nvSpPr>
            <p:cNvPr id="55" name="橢圓 54"/>
            <p:cNvSpPr/>
            <p:nvPr/>
          </p:nvSpPr>
          <p:spPr>
            <a:xfrm>
              <a:off x="1688105" y="2710072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6" name="文字方塊 55"/>
            <p:cNvSpPr txBox="1"/>
            <p:nvPr/>
          </p:nvSpPr>
          <p:spPr>
            <a:xfrm>
              <a:off x="1650004" y="262627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7" name="群組 56"/>
          <p:cNvGrpSpPr/>
          <p:nvPr/>
        </p:nvGrpSpPr>
        <p:grpSpPr>
          <a:xfrm>
            <a:off x="1772138" y="2143050"/>
            <a:ext cx="364202" cy="371796"/>
            <a:chOff x="2239476" y="2030501"/>
            <a:chExt cx="364202" cy="371796"/>
          </a:xfrm>
        </p:grpSpPr>
        <p:sp>
          <p:nvSpPr>
            <p:cNvPr id="58" name="橢圓 57"/>
            <p:cNvSpPr/>
            <p:nvPr/>
          </p:nvSpPr>
          <p:spPr>
            <a:xfrm>
              <a:off x="2286203" y="211429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9" name="文字方塊 58"/>
            <p:cNvSpPr txBox="1"/>
            <p:nvPr/>
          </p:nvSpPr>
          <p:spPr>
            <a:xfrm>
              <a:off x="2239476" y="203050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0" name="群組 59"/>
          <p:cNvGrpSpPr/>
          <p:nvPr/>
        </p:nvGrpSpPr>
        <p:grpSpPr>
          <a:xfrm>
            <a:off x="2611775" y="1519630"/>
            <a:ext cx="364202" cy="371796"/>
            <a:chOff x="3079113" y="1407081"/>
            <a:chExt cx="364202" cy="371796"/>
          </a:xfrm>
        </p:grpSpPr>
        <p:sp>
          <p:nvSpPr>
            <p:cNvPr id="61" name="橢圓 60"/>
            <p:cNvSpPr/>
            <p:nvPr/>
          </p:nvSpPr>
          <p:spPr>
            <a:xfrm>
              <a:off x="3117214" y="149087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2" name="文字方塊 61"/>
            <p:cNvSpPr txBox="1"/>
            <p:nvPr/>
          </p:nvSpPr>
          <p:spPr>
            <a:xfrm>
              <a:off x="3079113" y="140708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3" name="群組 62"/>
          <p:cNvGrpSpPr/>
          <p:nvPr/>
        </p:nvGrpSpPr>
        <p:grpSpPr>
          <a:xfrm>
            <a:off x="2601815" y="2738825"/>
            <a:ext cx="364202" cy="371796"/>
            <a:chOff x="3069153" y="2626276"/>
            <a:chExt cx="364202" cy="371796"/>
          </a:xfrm>
        </p:grpSpPr>
        <p:sp>
          <p:nvSpPr>
            <p:cNvPr id="64" name="橢圓 63"/>
            <p:cNvSpPr/>
            <p:nvPr/>
          </p:nvSpPr>
          <p:spPr>
            <a:xfrm>
              <a:off x="3117214" y="2710072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5" name="文字方塊 64"/>
            <p:cNvSpPr txBox="1"/>
            <p:nvPr/>
          </p:nvSpPr>
          <p:spPr>
            <a:xfrm>
              <a:off x="3069153" y="262627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6" name="群組 65"/>
          <p:cNvGrpSpPr/>
          <p:nvPr/>
        </p:nvGrpSpPr>
        <p:grpSpPr>
          <a:xfrm>
            <a:off x="3468666" y="2144568"/>
            <a:ext cx="364202" cy="370278"/>
            <a:chOff x="3936004" y="2032019"/>
            <a:chExt cx="364202" cy="370278"/>
          </a:xfrm>
        </p:grpSpPr>
        <p:sp>
          <p:nvSpPr>
            <p:cNvPr id="67" name="橢圓 66"/>
            <p:cNvSpPr/>
            <p:nvPr/>
          </p:nvSpPr>
          <p:spPr>
            <a:xfrm>
              <a:off x="3974105" y="211429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8" name="文字方塊 67"/>
            <p:cNvSpPr txBox="1"/>
            <p:nvPr/>
          </p:nvSpPr>
          <p:spPr>
            <a:xfrm>
              <a:off x="3936004" y="2032019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8" name="群組 87"/>
          <p:cNvGrpSpPr/>
          <p:nvPr/>
        </p:nvGrpSpPr>
        <p:grpSpPr>
          <a:xfrm>
            <a:off x="1163138" y="3913684"/>
            <a:ext cx="2549063" cy="1315637"/>
            <a:chOff x="1163138" y="3913684"/>
            <a:chExt cx="2549063" cy="1315637"/>
          </a:xfrm>
        </p:grpSpPr>
        <p:sp>
          <p:nvSpPr>
            <p:cNvPr id="70" name="文字方塊 69"/>
            <p:cNvSpPr txBox="1"/>
            <p:nvPr/>
          </p:nvSpPr>
          <p:spPr>
            <a:xfrm>
              <a:off x="2684724" y="428301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文字方塊 70"/>
            <p:cNvSpPr txBox="1"/>
            <p:nvPr/>
          </p:nvSpPr>
          <p:spPr>
            <a:xfrm>
              <a:off x="1477894" y="426175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文字方塊 71"/>
            <p:cNvSpPr txBox="1"/>
            <p:nvPr/>
          </p:nvSpPr>
          <p:spPr>
            <a:xfrm>
              <a:off x="2084619" y="4857525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文字方塊 72"/>
            <p:cNvSpPr txBox="1"/>
            <p:nvPr/>
          </p:nvSpPr>
          <p:spPr>
            <a:xfrm>
              <a:off x="1860184" y="3913684"/>
              <a:ext cx="8515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Dist</a:t>
              </a:r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[3]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文字方塊 73"/>
            <p:cNvSpPr txBox="1"/>
            <p:nvPr/>
          </p:nvSpPr>
          <p:spPr>
            <a:xfrm>
              <a:off x="1163138" y="4715989"/>
              <a:ext cx="8515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Dist</a:t>
              </a:r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[1]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5" name="直線接點 74"/>
            <p:cNvCxnSpPr>
              <a:stCxn id="79" idx="3"/>
              <a:endCxn id="78" idx="7"/>
            </p:cNvCxnSpPr>
            <p:nvPr/>
          </p:nvCxnSpPr>
          <p:spPr>
            <a:xfrm flipH="1">
              <a:off x="2368543" y="4591369"/>
              <a:ext cx="394452" cy="392129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文字方塊 75"/>
            <p:cNvSpPr txBox="1"/>
            <p:nvPr/>
          </p:nvSpPr>
          <p:spPr>
            <a:xfrm>
              <a:off x="2501613" y="4647491"/>
              <a:ext cx="12105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Cost[1][3]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橢圓 76"/>
            <p:cNvSpPr/>
            <p:nvPr/>
          </p:nvSpPr>
          <p:spPr>
            <a:xfrm>
              <a:off x="1515995" y="4345546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8" name="橢圓 77"/>
            <p:cNvSpPr/>
            <p:nvPr/>
          </p:nvSpPr>
          <p:spPr>
            <a:xfrm>
              <a:off x="2122720" y="4941321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9" name="橢圓 78"/>
            <p:cNvSpPr/>
            <p:nvPr/>
          </p:nvSpPr>
          <p:spPr>
            <a:xfrm>
              <a:off x="2720818" y="4345546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80" name="弧形接點 79"/>
            <p:cNvCxnSpPr>
              <a:stCxn id="71" idx="2"/>
              <a:endCxn id="78" idx="0"/>
            </p:cNvCxnSpPr>
            <p:nvPr/>
          </p:nvCxnSpPr>
          <p:spPr>
            <a:xfrm rot="16200000" flipH="1">
              <a:off x="1808238" y="4482838"/>
              <a:ext cx="310239" cy="606725"/>
            </a:xfrm>
            <a:prstGeom prst="curvedConnector3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弧形接點 80"/>
            <p:cNvCxnSpPr>
              <a:stCxn id="77" idx="7"/>
              <a:endCxn id="79" idx="2"/>
            </p:cNvCxnSpPr>
            <p:nvPr/>
          </p:nvCxnSpPr>
          <p:spPr>
            <a:xfrm rot="16200000" flipH="1">
              <a:off x="2190406" y="3959134"/>
              <a:ext cx="101823" cy="959000"/>
            </a:xfrm>
            <a:prstGeom prst="curvedConnector4">
              <a:avLst>
                <a:gd name="adj1" fmla="val -120085"/>
                <a:gd name="adj2" fmla="val 56634"/>
              </a:avLst>
            </a:prstGeom>
            <a:ln w="28575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圓角矩形 82"/>
          <p:cNvSpPr/>
          <p:nvPr/>
        </p:nvSpPr>
        <p:spPr>
          <a:xfrm>
            <a:off x="5656278" y="1495451"/>
            <a:ext cx="685244" cy="1548995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4" name="文字方塊 83"/>
          <p:cNvSpPr txBox="1"/>
          <p:nvPr/>
        </p:nvSpPr>
        <p:spPr>
          <a:xfrm>
            <a:off x="4198481" y="4346657"/>
            <a:ext cx="434926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= min{</a:t>
            </a:r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[3], </a:t>
            </a:r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+ Cost[1][3]}</a:t>
            </a:r>
          </a:p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= min{5, 1 + 2}</a:t>
            </a:r>
          </a:p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= 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文字方塊 84"/>
          <p:cNvSpPr txBox="1"/>
          <p:nvPr/>
        </p:nvSpPr>
        <p:spPr>
          <a:xfrm>
            <a:off x="6964706" y="1831184"/>
            <a:ext cx="200943" cy="307777"/>
          </a:xfrm>
          <a:prstGeom prst="rect">
            <a:avLst/>
          </a:prstGeom>
          <a:solidFill>
            <a:srgbClr val="F3F9FA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文字方塊 85"/>
          <p:cNvSpPr txBox="1"/>
          <p:nvPr/>
        </p:nvSpPr>
        <p:spPr>
          <a:xfrm>
            <a:off x="6964705" y="2241054"/>
            <a:ext cx="200943" cy="307777"/>
          </a:xfrm>
          <a:prstGeom prst="rect">
            <a:avLst/>
          </a:prstGeom>
          <a:solidFill>
            <a:srgbClr val="E7F3F4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文字方塊 86"/>
          <p:cNvSpPr txBox="1"/>
          <p:nvPr/>
        </p:nvSpPr>
        <p:spPr>
          <a:xfrm>
            <a:off x="5910807" y="2629372"/>
            <a:ext cx="200943" cy="307777"/>
          </a:xfrm>
          <a:prstGeom prst="rect">
            <a:avLst/>
          </a:prstGeom>
          <a:solidFill>
            <a:srgbClr val="F3F9FA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6661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83" grpId="0" animBg="1"/>
      <p:bldP spid="85" grpId="0" animBg="1"/>
      <p:bldP spid="86" grpId="0" animBg="1"/>
      <p:bldP spid="8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Dijkstra </a:t>
            </a:r>
            <a:r>
              <a:rPr lang="zh-TW" altLang="en-US" dirty="0"/>
              <a:t>演算法 </a:t>
            </a:r>
            <a:r>
              <a:rPr lang="en-US" altLang="zh-TW" dirty="0"/>
              <a:t>(4/9)</a:t>
            </a:r>
            <a:endParaRPr lang="zh-TW" altLang="en-US" dirty="0"/>
          </a:p>
        </p:txBody>
      </p:sp>
      <p:graphicFrame>
        <p:nvGraphicFramePr>
          <p:cNvPr id="7" name="內容版面配置區 6"/>
          <p:cNvGraphicFramePr>
            <a:graphicFrameLocks noGrp="1"/>
          </p:cNvGraphicFramePr>
          <p:nvPr>
            <p:ph sz="quarter" idx="4294967295"/>
          </p:nvPr>
        </p:nvGraphicFramePr>
        <p:xfrm>
          <a:off x="5220491" y="1791448"/>
          <a:ext cx="3690750" cy="11887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2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5313342" y="142583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5839811" y="142583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6362788" y="142583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6889257" y="142583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7409352" y="142583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7932329" y="142583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8458798" y="142583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4476907" y="1805798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[]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4352849" y="2202757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Prior[]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4079929" y="2599716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Decided[]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8" name="群組 17"/>
          <p:cNvGrpSpPr/>
          <p:nvPr/>
        </p:nvGrpSpPr>
        <p:grpSpPr>
          <a:xfrm>
            <a:off x="902042" y="2082668"/>
            <a:ext cx="916823" cy="369332"/>
            <a:chOff x="1369380" y="1970119"/>
            <a:chExt cx="916823" cy="369332"/>
          </a:xfrm>
        </p:grpSpPr>
        <p:cxnSp>
          <p:nvCxnSpPr>
            <p:cNvPr id="19" name="直線接點 18"/>
            <p:cNvCxnSpPr>
              <a:stCxn id="58" idx="2"/>
              <a:endCxn id="49" idx="6"/>
            </p:cNvCxnSpPr>
            <p:nvPr/>
          </p:nvCxnSpPr>
          <p:spPr>
            <a:xfrm flipH="1">
              <a:off x="1369380" y="2258297"/>
              <a:ext cx="916823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文字方塊 19"/>
            <p:cNvSpPr txBox="1"/>
            <p:nvPr/>
          </p:nvSpPr>
          <p:spPr>
            <a:xfrm>
              <a:off x="1682064" y="197011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1" name="群組 20"/>
          <p:cNvGrpSpPr/>
          <p:nvPr/>
        </p:nvGrpSpPr>
        <p:grpSpPr>
          <a:xfrm>
            <a:off x="843195" y="1782035"/>
            <a:ext cx="419749" cy="486988"/>
            <a:chOff x="1310533" y="1669486"/>
            <a:chExt cx="419749" cy="486988"/>
          </a:xfrm>
        </p:grpSpPr>
        <p:cxnSp>
          <p:nvCxnSpPr>
            <p:cNvPr id="22" name="直線接點 21"/>
            <p:cNvCxnSpPr>
              <a:stCxn id="49" idx="7"/>
              <a:endCxn id="52" idx="3"/>
            </p:cNvCxnSpPr>
            <p:nvPr/>
          </p:nvCxnSpPr>
          <p:spPr>
            <a:xfrm flipV="1">
              <a:off x="1327203" y="1736700"/>
              <a:ext cx="403079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文字方塊 22"/>
            <p:cNvSpPr txBox="1"/>
            <p:nvPr/>
          </p:nvSpPr>
          <p:spPr>
            <a:xfrm>
              <a:off x="1310533" y="166948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4" name="群組 23"/>
          <p:cNvGrpSpPr/>
          <p:nvPr/>
        </p:nvGrpSpPr>
        <p:grpSpPr>
          <a:xfrm>
            <a:off x="843195" y="2472669"/>
            <a:ext cx="419749" cy="445481"/>
            <a:chOff x="1310533" y="2360120"/>
            <a:chExt cx="419749" cy="445481"/>
          </a:xfrm>
        </p:grpSpPr>
        <p:cxnSp>
          <p:nvCxnSpPr>
            <p:cNvPr id="25" name="直線接點 24"/>
            <p:cNvCxnSpPr>
              <a:stCxn id="55" idx="1"/>
              <a:endCxn id="49" idx="5"/>
            </p:cNvCxnSpPr>
            <p:nvPr/>
          </p:nvCxnSpPr>
          <p:spPr>
            <a:xfrm flipH="1" flipV="1">
              <a:off x="1327203" y="2360120"/>
              <a:ext cx="403079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文字方塊 25"/>
            <p:cNvSpPr txBox="1"/>
            <p:nvPr/>
          </p:nvSpPr>
          <p:spPr>
            <a:xfrm>
              <a:off x="1310533" y="243626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7" name="群組 26"/>
          <p:cNvGrpSpPr/>
          <p:nvPr/>
        </p:nvGrpSpPr>
        <p:grpSpPr>
          <a:xfrm>
            <a:off x="1466590" y="1762008"/>
            <a:ext cx="411886" cy="507015"/>
            <a:chOff x="1933928" y="1649459"/>
            <a:chExt cx="411886" cy="507015"/>
          </a:xfrm>
        </p:grpSpPr>
        <p:cxnSp>
          <p:nvCxnSpPr>
            <p:cNvPr id="28" name="直線接點 27"/>
            <p:cNvCxnSpPr>
              <a:stCxn id="58" idx="1"/>
              <a:endCxn id="52" idx="5"/>
            </p:cNvCxnSpPr>
            <p:nvPr/>
          </p:nvCxnSpPr>
          <p:spPr>
            <a:xfrm flipH="1" flipV="1">
              <a:off x="1933928" y="1736700"/>
              <a:ext cx="394452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文字方塊 28"/>
            <p:cNvSpPr txBox="1"/>
            <p:nvPr/>
          </p:nvSpPr>
          <p:spPr>
            <a:xfrm>
              <a:off x="2045732" y="164945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0" name="群組 29"/>
          <p:cNvGrpSpPr/>
          <p:nvPr/>
        </p:nvGrpSpPr>
        <p:grpSpPr>
          <a:xfrm>
            <a:off x="1466590" y="2472669"/>
            <a:ext cx="411886" cy="425454"/>
            <a:chOff x="1933928" y="2360120"/>
            <a:chExt cx="411886" cy="425454"/>
          </a:xfrm>
        </p:grpSpPr>
        <p:cxnSp>
          <p:nvCxnSpPr>
            <p:cNvPr id="31" name="直線接點 30"/>
            <p:cNvCxnSpPr>
              <a:stCxn id="58" idx="3"/>
              <a:endCxn id="55" idx="7"/>
            </p:cNvCxnSpPr>
            <p:nvPr/>
          </p:nvCxnSpPr>
          <p:spPr>
            <a:xfrm flipH="1">
              <a:off x="1933928" y="2360120"/>
              <a:ext cx="394452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文字方塊 31"/>
            <p:cNvSpPr txBox="1"/>
            <p:nvPr/>
          </p:nvSpPr>
          <p:spPr>
            <a:xfrm>
              <a:off x="2045732" y="241624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3" name="群組 32"/>
          <p:cNvGrpSpPr/>
          <p:nvPr/>
        </p:nvGrpSpPr>
        <p:grpSpPr>
          <a:xfrm>
            <a:off x="2064688" y="1749769"/>
            <a:ext cx="627365" cy="519254"/>
            <a:chOff x="2532026" y="1637220"/>
            <a:chExt cx="627365" cy="519254"/>
          </a:xfrm>
        </p:grpSpPr>
        <p:cxnSp>
          <p:nvCxnSpPr>
            <p:cNvPr id="34" name="直線接點 33"/>
            <p:cNvCxnSpPr>
              <a:stCxn id="61" idx="3"/>
              <a:endCxn id="58" idx="7"/>
            </p:cNvCxnSpPr>
            <p:nvPr/>
          </p:nvCxnSpPr>
          <p:spPr>
            <a:xfrm flipH="1">
              <a:off x="2532026" y="1736700"/>
              <a:ext cx="627365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字方塊 34"/>
            <p:cNvSpPr txBox="1"/>
            <p:nvPr/>
          </p:nvSpPr>
          <p:spPr>
            <a:xfrm>
              <a:off x="2667499" y="163722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6" name="群組 35"/>
          <p:cNvGrpSpPr/>
          <p:nvPr/>
        </p:nvGrpSpPr>
        <p:grpSpPr>
          <a:xfrm>
            <a:off x="2064688" y="2472669"/>
            <a:ext cx="627365" cy="413215"/>
            <a:chOff x="2532026" y="2360120"/>
            <a:chExt cx="627365" cy="413215"/>
          </a:xfrm>
        </p:grpSpPr>
        <p:cxnSp>
          <p:nvCxnSpPr>
            <p:cNvPr id="37" name="直線接點 36"/>
            <p:cNvCxnSpPr>
              <a:stCxn id="64" idx="1"/>
              <a:endCxn id="58" idx="5"/>
            </p:cNvCxnSpPr>
            <p:nvPr/>
          </p:nvCxnSpPr>
          <p:spPr>
            <a:xfrm flipH="1" flipV="1">
              <a:off x="2532026" y="2360120"/>
              <a:ext cx="627365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文字方塊 37"/>
            <p:cNvSpPr txBox="1"/>
            <p:nvPr/>
          </p:nvSpPr>
          <p:spPr>
            <a:xfrm>
              <a:off x="2581239" y="240400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9" name="群組 38"/>
          <p:cNvGrpSpPr/>
          <p:nvPr/>
        </p:nvGrpSpPr>
        <p:grpSpPr>
          <a:xfrm>
            <a:off x="2895699" y="1762008"/>
            <a:ext cx="653245" cy="507015"/>
            <a:chOff x="3363037" y="1649459"/>
            <a:chExt cx="653245" cy="507015"/>
          </a:xfrm>
        </p:grpSpPr>
        <p:cxnSp>
          <p:nvCxnSpPr>
            <p:cNvPr id="40" name="直線接點 39"/>
            <p:cNvCxnSpPr>
              <a:stCxn id="67" idx="1"/>
              <a:endCxn id="61" idx="5"/>
            </p:cNvCxnSpPr>
            <p:nvPr/>
          </p:nvCxnSpPr>
          <p:spPr>
            <a:xfrm flipH="1" flipV="1">
              <a:off x="3363037" y="1736700"/>
              <a:ext cx="653245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文字方塊 40"/>
            <p:cNvSpPr txBox="1"/>
            <p:nvPr/>
          </p:nvSpPr>
          <p:spPr>
            <a:xfrm>
              <a:off x="3582748" y="164945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2" name="群組 41"/>
          <p:cNvGrpSpPr/>
          <p:nvPr/>
        </p:nvGrpSpPr>
        <p:grpSpPr>
          <a:xfrm>
            <a:off x="2895699" y="2472669"/>
            <a:ext cx="653245" cy="425454"/>
            <a:chOff x="3363037" y="2360120"/>
            <a:chExt cx="653245" cy="425454"/>
          </a:xfrm>
        </p:grpSpPr>
        <p:cxnSp>
          <p:nvCxnSpPr>
            <p:cNvPr id="43" name="直線接點 42"/>
            <p:cNvCxnSpPr>
              <a:stCxn id="67" idx="3"/>
              <a:endCxn id="64" idx="7"/>
            </p:cNvCxnSpPr>
            <p:nvPr/>
          </p:nvCxnSpPr>
          <p:spPr>
            <a:xfrm flipH="1">
              <a:off x="3363037" y="2360120"/>
              <a:ext cx="653245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文字方塊 43"/>
            <p:cNvSpPr txBox="1"/>
            <p:nvPr/>
          </p:nvSpPr>
          <p:spPr>
            <a:xfrm>
              <a:off x="3608626" y="241624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5" name="群組 44"/>
          <p:cNvGrpSpPr/>
          <p:nvPr/>
        </p:nvGrpSpPr>
        <p:grpSpPr>
          <a:xfrm>
            <a:off x="1508767" y="2885884"/>
            <a:ext cx="1141109" cy="369332"/>
            <a:chOff x="1976105" y="2773335"/>
            <a:chExt cx="1141109" cy="369332"/>
          </a:xfrm>
        </p:grpSpPr>
        <p:cxnSp>
          <p:nvCxnSpPr>
            <p:cNvPr id="46" name="直線接點 45"/>
            <p:cNvCxnSpPr>
              <a:stCxn id="64" idx="2"/>
              <a:endCxn id="55" idx="6"/>
            </p:cNvCxnSpPr>
            <p:nvPr/>
          </p:nvCxnSpPr>
          <p:spPr>
            <a:xfrm flipH="1">
              <a:off x="1976105" y="2854072"/>
              <a:ext cx="1141109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文字方塊 46"/>
            <p:cNvSpPr txBox="1"/>
            <p:nvPr/>
          </p:nvSpPr>
          <p:spPr>
            <a:xfrm>
              <a:off x="2381985" y="2773335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9" name="橢圓 48"/>
          <p:cNvSpPr/>
          <p:nvPr/>
        </p:nvSpPr>
        <p:spPr>
          <a:xfrm>
            <a:off x="614042" y="2226846"/>
            <a:ext cx="288000" cy="288000"/>
          </a:xfrm>
          <a:prstGeom prst="ellipse">
            <a:avLst/>
          </a:prstGeom>
          <a:solidFill>
            <a:srgbClr val="FF99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0" name="文字方塊 49"/>
          <p:cNvSpPr txBox="1"/>
          <p:nvPr/>
        </p:nvSpPr>
        <p:spPr>
          <a:xfrm>
            <a:off x="575941" y="2143050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baseline="-25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橢圓 51"/>
          <p:cNvSpPr/>
          <p:nvPr/>
        </p:nvSpPr>
        <p:spPr>
          <a:xfrm>
            <a:off x="1220767" y="1603426"/>
            <a:ext cx="288000" cy="288000"/>
          </a:xfrm>
          <a:prstGeom prst="ellipse">
            <a:avLst/>
          </a:prstGeom>
          <a:solidFill>
            <a:srgbClr val="FF99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3" name="文字方塊 52"/>
          <p:cNvSpPr txBox="1"/>
          <p:nvPr/>
        </p:nvSpPr>
        <p:spPr>
          <a:xfrm>
            <a:off x="1182666" y="1519754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baseline="-25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4" name="群組 53"/>
          <p:cNvGrpSpPr/>
          <p:nvPr/>
        </p:nvGrpSpPr>
        <p:grpSpPr>
          <a:xfrm>
            <a:off x="1182666" y="2738825"/>
            <a:ext cx="364202" cy="371796"/>
            <a:chOff x="1650004" y="2626276"/>
            <a:chExt cx="364202" cy="371796"/>
          </a:xfrm>
        </p:grpSpPr>
        <p:sp>
          <p:nvSpPr>
            <p:cNvPr id="55" name="橢圓 54"/>
            <p:cNvSpPr/>
            <p:nvPr/>
          </p:nvSpPr>
          <p:spPr>
            <a:xfrm>
              <a:off x="1688105" y="2710072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6" name="文字方塊 55"/>
            <p:cNvSpPr txBox="1"/>
            <p:nvPr/>
          </p:nvSpPr>
          <p:spPr>
            <a:xfrm>
              <a:off x="1650004" y="262627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8" name="橢圓 57"/>
          <p:cNvSpPr/>
          <p:nvPr/>
        </p:nvSpPr>
        <p:spPr>
          <a:xfrm>
            <a:off x="1818865" y="2226846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文字方塊 58"/>
          <p:cNvSpPr txBox="1"/>
          <p:nvPr/>
        </p:nvSpPr>
        <p:spPr>
          <a:xfrm>
            <a:off x="1772138" y="2143050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0" name="群組 59"/>
          <p:cNvGrpSpPr/>
          <p:nvPr/>
        </p:nvGrpSpPr>
        <p:grpSpPr>
          <a:xfrm>
            <a:off x="2611775" y="1519630"/>
            <a:ext cx="364202" cy="371796"/>
            <a:chOff x="3079113" y="1407081"/>
            <a:chExt cx="364202" cy="371796"/>
          </a:xfrm>
        </p:grpSpPr>
        <p:sp>
          <p:nvSpPr>
            <p:cNvPr id="61" name="橢圓 60"/>
            <p:cNvSpPr/>
            <p:nvPr/>
          </p:nvSpPr>
          <p:spPr>
            <a:xfrm>
              <a:off x="3117214" y="149087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2" name="文字方塊 61"/>
            <p:cNvSpPr txBox="1"/>
            <p:nvPr/>
          </p:nvSpPr>
          <p:spPr>
            <a:xfrm>
              <a:off x="3079113" y="140708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3" name="群組 62"/>
          <p:cNvGrpSpPr/>
          <p:nvPr/>
        </p:nvGrpSpPr>
        <p:grpSpPr>
          <a:xfrm>
            <a:off x="2601815" y="2738825"/>
            <a:ext cx="364202" cy="371796"/>
            <a:chOff x="3069153" y="2626276"/>
            <a:chExt cx="364202" cy="371796"/>
          </a:xfrm>
        </p:grpSpPr>
        <p:sp>
          <p:nvSpPr>
            <p:cNvPr id="64" name="橢圓 63"/>
            <p:cNvSpPr/>
            <p:nvPr/>
          </p:nvSpPr>
          <p:spPr>
            <a:xfrm>
              <a:off x="3117214" y="2710072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5" name="文字方塊 64"/>
            <p:cNvSpPr txBox="1"/>
            <p:nvPr/>
          </p:nvSpPr>
          <p:spPr>
            <a:xfrm>
              <a:off x="3069153" y="262627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6" name="群組 65"/>
          <p:cNvGrpSpPr/>
          <p:nvPr/>
        </p:nvGrpSpPr>
        <p:grpSpPr>
          <a:xfrm>
            <a:off x="3468666" y="2144568"/>
            <a:ext cx="364202" cy="370278"/>
            <a:chOff x="3936004" y="2032019"/>
            <a:chExt cx="364202" cy="370278"/>
          </a:xfrm>
        </p:grpSpPr>
        <p:sp>
          <p:nvSpPr>
            <p:cNvPr id="67" name="橢圓 66"/>
            <p:cNvSpPr/>
            <p:nvPr/>
          </p:nvSpPr>
          <p:spPr>
            <a:xfrm>
              <a:off x="3974105" y="211429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8" name="文字方塊 67"/>
            <p:cNvSpPr txBox="1"/>
            <p:nvPr/>
          </p:nvSpPr>
          <p:spPr>
            <a:xfrm>
              <a:off x="3936004" y="2032019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" name="群組 2"/>
          <p:cNvGrpSpPr/>
          <p:nvPr/>
        </p:nvGrpSpPr>
        <p:grpSpPr>
          <a:xfrm>
            <a:off x="1163138" y="3913684"/>
            <a:ext cx="2549063" cy="1315637"/>
            <a:chOff x="1163138" y="3913684"/>
            <a:chExt cx="2549063" cy="1315637"/>
          </a:xfrm>
        </p:grpSpPr>
        <p:sp>
          <p:nvSpPr>
            <p:cNvPr id="70" name="文字方塊 69"/>
            <p:cNvSpPr txBox="1"/>
            <p:nvPr/>
          </p:nvSpPr>
          <p:spPr>
            <a:xfrm>
              <a:off x="2705990" y="4304282"/>
              <a:ext cx="338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文字方塊 70"/>
            <p:cNvSpPr txBox="1"/>
            <p:nvPr/>
          </p:nvSpPr>
          <p:spPr>
            <a:xfrm>
              <a:off x="1477894" y="426175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文字方塊 71"/>
            <p:cNvSpPr txBox="1"/>
            <p:nvPr/>
          </p:nvSpPr>
          <p:spPr>
            <a:xfrm>
              <a:off x="2084619" y="4857525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文字方塊 72"/>
            <p:cNvSpPr txBox="1"/>
            <p:nvPr/>
          </p:nvSpPr>
          <p:spPr>
            <a:xfrm>
              <a:off x="1860184" y="3913684"/>
              <a:ext cx="8899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Dist</a:t>
              </a:r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</a:t>
              </a:r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文字方塊 73"/>
            <p:cNvSpPr txBox="1"/>
            <p:nvPr/>
          </p:nvSpPr>
          <p:spPr>
            <a:xfrm>
              <a:off x="1163138" y="4715989"/>
              <a:ext cx="8515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Dist</a:t>
              </a:r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[3]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5" name="直線接點 74"/>
            <p:cNvCxnSpPr>
              <a:stCxn id="79" idx="3"/>
              <a:endCxn id="78" idx="7"/>
            </p:cNvCxnSpPr>
            <p:nvPr/>
          </p:nvCxnSpPr>
          <p:spPr>
            <a:xfrm flipH="1">
              <a:off x="2368543" y="4591369"/>
              <a:ext cx="394452" cy="392129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文字方塊 75"/>
            <p:cNvSpPr txBox="1"/>
            <p:nvPr/>
          </p:nvSpPr>
          <p:spPr>
            <a:xfrm>
              <a:off x="2501613" y="4647491"/>
              <a:ext cx="12105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Cost[3][</a:t>
              </a:r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</a:t>
              </a:r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橢圓 76"/>
            <p:cNvSpPr/>
            <p:nvPr/>
          </p:nvSpPr>
          <p:spPr>
            <a:xfrm>
              <a:off x="1515995" y="4345546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8" name="橢圓 77"/>
            <p:cNvSpPr/>
            <p:nvPr/>
          </p:nvSpPr>
          <p:spPr>
            <a:xfrm>
              <a:off x="2122720" y="4941321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9" name="橢圓 78"/>
            <p:cNvSpPr/>
            <p:nvPr/>
          </p:nvSpPr>
          <p:spPr>
            <a:xfrm>
              <a:off x="2720818" y="4345546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80" name="弧形接點 79"/>
            <p:cNvCxnSpPr>
              <a:stCxn id="71" idx="2"/>
              <a:endCxn id="78" idx="0"/>
            </p:cNvCxnSpPr>
            <p:nvPr/>
          </p:nvCxnSpPr>
          <p:spPr>
            <a:xfrm rot="16200000" flipH="1">
              <a:off x="1808238" y="4482838"/>
              <a:ext cx="310239" cy="606725"/>
            </a:xfrm>
            <a:prstGeom prst="curvedConnector3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弧形接點 80"/>
            <p:cNvCxnSpPr>
              <a:stCxn id="77" idx="7"/>
              <a:endCxn id="79" idx="2"/>
            </p:cNvCxnSpPr>
            <p:nvPr/>
          </p:nvCxnSpPr>
          <p:spPr>
            <a:xfrm rot="16200000" flipH="1">
              <a:off x="2190406" y="3959134"/>
              <a:ext cx="101823" cy="959000"/>
            </a:xfrm>
            <a:prstGeom prst="curvedConnector4">
              <a:avLst>
                <a:gd name="adj1" fmla="val -120085"/>
                <a:gd name="adj2" fmla="val 56634"/>
              </a:avLst>
            </a:prstGeom>
            <a:ln w="28575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圓角矩形 82"/>
          <p:cNvSpPr/>
          <p:nvPr/>
        </p:nvSpPr>
        <p:spPr>
          <a:xfrm>
            <a:off x="6719578" y="1495451"/>
            <a:ext cx="685244" cy="1548995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4" name="文字方塊 83"/>
          <p:cNvSpPr txBox="1"/>
          <p:nvPr/>
        </p:nvSpPr>
        <p:spPr>
          <a:xfrm>
            <a:off x="4212000" y="3359686"/>
            <a:ext cx="434926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= min{</a:t>
            </a:r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[2], </a:t>
            </a:r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+ Cost[3][2]}</a:t>
            </a:r>
          </a:p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= min{4, 3 + 4}</a:t>
            </a:r>
          </a:p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= 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文字方塊 84"/>
          <p:cNvSpPr txBox="1"/>
          <p:nvPr/>
        </p:nvSpPr>
        <p:spPr>
          <a:xfrm>
            <a:off x="7490981" y="1838616"/>
            <a:ext cx="200943" cy="307777"/>
          </a:xfrm>
          <a:prstGeom prst="rect">
            <a:avLst/>
          </a:prstGeom>
          <a:solidFill>
            <a:srgbClr val="F3F9FA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文字方塊 85"/>
          <p:cNvSpPr txBox="1"/>
          <p:nvPr/>
        </p:nvSpPr>
        <p:spPr>
          <a:xfrm>
            <a:off x="7490980" y="2227220"/>
            <a:ext cx="200943" cy="307777"/>
          </a:xfrm>
          <a:prstGeom prst="rect">
            <a:avLst/>
          </a:prstGeom>
          <a:solidFill>
            <a:srgbClr val="E7F3F4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文字方塊 86"/>
          <p:cNvSpPr txBox="1"/>
          <p:nvPr/>
        </p:nvSpPr>
        <p:spPr>
          <a:xfrm>
            <a:off x="6957277" y="2610349"/>
            <a:ext cx="200943" cy="307777"/>
          </a:xfrm>
          <a:prstGeom prst="rect">
            <a:avLst/>
          </a:prstGeom>
          <a:solidFill>
            <a:srgbClr val="F3F9FA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文字方塊 87"/>
          <p:cNvSpPr txBox="1"/>
          <p:nvPr/>
        </p:nvSpPr>
        <p:spPr>
          <a:xfrm>
            <a:off x="4212000" y="4415115"/>
            <a:ext cx="434926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= min{</a:t>
            </a:r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[4], </a:t>
            </a:r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+ Cost[3][4]}</a:t>
            </a:r>
          </a:p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= min{</a:t>
            </a:r>
            <a:r>
              <a: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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3 + 5}</a:t>
            </a:r>
          </a:p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= 8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文字方塊 88"/>
          <p:cNvSpPr txBox="1"/>
          <p:nvPr/>
        </p:nvSpPr>
        <p:spPr>
          <a:xfrm>
            <a:off x="4212000" y="5464919"/>
            <a:ext cx="434926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= min{</a:t>
            </a:r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[5], </a:t>
            </a:r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+ Cost[3][5]}</a:t>
            </a:r>
          </a:p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= min{</a:t>
            </a:r>
            <a:r>
              <a: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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3 + 2}</a:t>
            </a:r>
          </a:p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= 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文字方塊 89"/>
          <p:cNvSpPr txBox="1"/>
          <p:nvPr/>
        </p:nvSpPr>
        <p:spPr>
          <a:xfrm>
            <a:off x="8013958" y="1842520"/>
            <a:ext cx="200943" cy="307777"/>
          </a:xfrm>
          <a:prstGeom prst="rect">
            <a:avLst/>
          </a:prstGeom>
          <a:solidFill>
            <a:srgbClr val="F3F9FA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文字方塊 90"/>
          <p:cNvSpPr txBox="1"/>
          <p:nvPr/>
        </p:nvSpPr>
        <p:spPr>
          <a:xfrm>
            <a:off x="8013957" y="2231124"/>
            <a:ext cx="200943" cy="307777"/>
          </a:xfrm>
          <a:prstGeom prst="rect">
            <a:avLst/>
          </a:prstGeom>
          <a:solidFill>
            <a:srgbClr val="E7F3F4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8602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  <p:bldP spid="83" grpId="0" animBg="1"/>
      <p:bldP spid="85" grpId="0" animBg="1"/>
      <p:bldP spid="86" grpId="0" animBg="1"/>
      <p:bldP spid="87" grpId="0" animBg="1"/>
      <p:bldP spid="90" grpId="0" animBg="1"/>
      <p:bldP spid="9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Dijkstra </a:t>
            </a:r>
            <a:r>
              <a:rPr lang="zh-TW" altLang="en-US" dirty="0"/>
              <a:t>演算法 </a:t>
            </a:r>
            <a:r>
              <a:rPr lang="en-US" altLang="zh-TW" dirty="0"/>
              <a:t>(5/9)</a:t>
            </a:r>
            <a:endParaRPr lang="zh-TW" altLang="en-US" dirty="0"/>
          </a:p>
        </p:txBody>
      </p:sp>
      <p:graphicFrame>
        <p:nvGraphicFramePr>
          <p:cNvPr id="7" name="內容版面配置區 6"/>
          <p:cNvGraphicFramePr>
            <a:graphicFrameLocks noGrp="1"/>
          </p:cNvGraphicFramePr>
          <p:nvPr>
            <p:ph sz="quarter" idx="4294967295"/>
          </p:nvPr>
        </p:nvGraphicFramePr>
        <p:xfrm>
          <a:off x="5220491" y="1791448"/>
          <a:ext cx="3690750" cy="11887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2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8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5313342" y="142583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5839811" y="142583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6362788" y="142583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6889257" y="142583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7409352" y="142583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7932329" y="142583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8458798" y="142583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4476907" y="1805798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[]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4352849" y="2202757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Prior[]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4079929" y="2599716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Decided[]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8" name="群組 17"/>
          <p:cNvGrpSpPr/>
          <p:nvPr/>
        </p:nvGrpSpPr>
        <p:grpSpPr>
          <a:xfrm>
            <a:off x="902042" y="2082668"/>
            <a:ext cx="916823" cy="369332"/>
            <a:chOff x="1369380" y="1970119"/>
            <a:chExt cx="916823" cy="369332"/>
          </a:xfrm>
        </p:grpSpPr>
        <p:cxnSp>
          <p:nvCxnSpPr>
            <p:cNvPr id="19" name="直線接點 18"/>
            <p:cNvCxnSpPr>
              <a:stCxn id="58" idx="2"/>
              <a:endCxn id="49" idx="6"/>
            </p:cNvCxnSpPr>
            <p:nvPr/>
          </p:nvCxnSpPr>
          <p:spPr>
            <a:xfrm flipH="1">
              <a:off x="1369380" y="2258297"/>
              <a:ext cx="916823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文字方塊 19"/>
            <p:cNvSpPr txBox="1"/>
            <p:nvPr/>
          </p:nvSpPr>
          <p:spPr>
            <a:xfrm>
              <a:off x="1682064" y="197011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1" name="群組 20"/>
          <p:cNvGrpSpPr/>
          <p:nvPr/>
        </p:nvGrpSpPr>
        <p:grpSpPr>
          <a:xfrm>
            <a:off x="843195" y="1782035"/>
            <a:ext cx="419749" cy="486988"/>
            <a:chOff x="1310533" y="1669486"/>
            <a:chExt cx="419749" cy="486988"/>
          </a:xfrm>
        </p:grpSpPr>
        <p:cxnSp>
          <p:nvCxnSpPr>
            <p:cNvPr id="22" name="直線接點 21"/>
            <p:cNvCxnSpPr>
              <a:stCxn id="49" idx="7"/>
              <a:endCxn id="52" idx="3"/>
            </p:cNvCxnSpPr>
            <p:nvPr/>
          </p:nvCxnSpPr>
          <p:spPr>
            <a:xfrm flipV="1">
              <a:off x="1327203" y="1736700"/>
              <a:ext cx="403079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文字方塊 22"/>
            <p:cNvSpPr txBox="1"/>
            <p:nvPr/>
          </p:nvSpPr>
          <p:spPr>
            <a:xfrm>
              <a:off x="1310533" y="166948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4" name="群組 23"/>
          <p:cNvGrpSpPr/>
          <p:nvPr/>
        </p:nvGrpSpPr>
        <p:grpSpPr>
          <a:xfrm>
            <a:off x="843195" y="2472669"/>
            <a:ext cx="419749" cy="445481"/>
            <a:chOff x="1310533" y="2360120"/>
            <a:chExt cx="419749" cy="445481"/>
          </a:xfrm>
        </p:grpSpPr>
        <p:cxnSp>
          <p:nvCxnSpPr>
            <p:cNvPr id="25" name="直線接點 24"/>
            <p:cNvCxnSpPr>
              <a:stCxn id="55" idx="1"/>
              <a:endCxn id="49" idx="5"/>
            </p:cNvCxnSpPr>
            <p:nvPr/>
          </p:nvCxnSpPr>
          <p:spPr>
            <a:xfrm flipH="1" flipV="1">
              <a:off x="1327203" y="2360120"/>
              <a:ext cx="403079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文字方塊 25"/>
            <p:cNvSpPr txBox="1"/>
            <p:nvPr/>
          </p:nvSpPr>
          <p:spPr>
            <a:xfrm>
              <a:off x="1310533" y="243626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7" name="群組 26"/>
          <p:cNvGrpSpPr/>
          <p:nvPr/>
        </p:nvGrpSpPr>
        <p:grpSpPr>
          <a:xfrm>
            <a:off x="1466590" y="1762008"/>
            <a:ext cx="411886" cy="507015"/>
            <a:chOff x="1933928" y="1649459"/>
            <a:chExt cx="411886" cy="507015"/>
          </a:xfrm>
        </p:grpSpPr>
        <p:cxnSp>
          <p:nvCxnSpPr>
            <p:cNvPr id="28" name="直線接點 27"/>
            <p:cNvCxnSpPr>
              <a:stCxn id="58" idx="1"/>
              <a:endCxn id="52" idx="5"/>
            </p:cNvCxnSpPr>
            <p:nvPr/>
          </p:nvCxnSpPr>
          <p:spPr>
            <a:xfrm flipH="1" flipV="1">
              <a:off x="1933928" y="1736700"/>
              <a:ext cx="394452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文字方塊 28"/>
            <p:cNvSpPr txBox="1"/>
            <p:nvPr/>
          </p:nvSpPr>
          <p:spPr>
            <a:xfrm>
              <a:off x="2045732" y="164945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0" name="群組 29"/>
          <p:cNvGrpSpPr/>
          <p:nvPr/>
        </p:nvGrpSpPr>
        <p:grpSpPr>
          <a:xfrm>
            <a:off x="1466590" y="2472669"/>
            <a:ext cx="411886" cy="425454"/>
            <a:chOff x="1933928" y="2360120"/>
            <a:chExt cx="411886" cy="425454"/>
          </a:xfrm>
        </p:grpSpPr>
        <p:cxnSp>
          <p:nvCxnSpPr>
            <p:cNvPr id="31" name="直線接點 30"/>
            <p:cNvCxnSpPr>
              <a:stCxn id="58" idx="3"/>
              <a:endCxn id="55" idx="7"/>
            </p:cNvCxnSpPr>
            <p:nvPr/>
          </p:nvCxnSpPr>
          <p:spPr>
            <a:xfrm flipH="1">
              <a:off x="1933928" y="2360120"/>
              <a:ext cx="394452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文字方塊 31"/>
            <p:cNvSpPr txBox="1"/>
            <p:nvPr/>
          </p:nvSpPr>
          <p:spPr>
            <a:xfrm>
              <a:off x="2045732" y="241624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3" name="群組 32"/>
          <p:cNvGrpSpPr/>
          <p:nvPr/>
        </p:nvGrpSpPr>
        <p:grpSpPr>
          <a:xfrm>
            <a:off x="2064688" y="1749769"/>
            <a:ext cx="627365" cy="519254"/>
            <a:chOff x="2532026" y="1637220"/>
            <a:chExt cx="627365" cy="519254"/>
          </a:xfrm>
        </p:grpSpPr>
        <p:cxnSp>
          <p:nvCxnSpPr>
            <p:cNvPr id="34" name="直線接點 33"/>
            <p:cNvCxnSpPr>
              <a:stCxn id="61" idx="3"/>
              <a:endCxn id="58" idx="7"/>
            </p:cNvCxnSpPr>
            <p:nvPr/>
          </p:nvCxnSpPr>
          <p:spPr>
            <a:xfrm flipH="1">
              <a:off x="2532026" y="1736700"/>
              <a:ext cx="627365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字方塊 34"/>
            <p:cNvSpPr txBox="1"/>
            <p:nvPr/>
          </p:nvSpPr>
          <p:spPr>
            <a:xfrm>
              <a:off x="2667499" y="163722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6" name="群組 35"/>
          <p:cNvGrpSpPr/>
          <p:nvPr/>
        </p:nvGrpSpPr>
        <p:grpSpPr>
          <a:xfrm>
            <a:off x="2064688" y="2472669"/>
            <a:ext cx="627365" cy="413215"/>
            <a:chOff x="2532026" y="2360120"/>
            <a:chExt cx="627365" cy="413215"/>
          </a:xfrm>
        </p:grpSpPr>
        <p:cxnSp>
          <p:nvCxnSpPr>
            <p:cNvPr id="37" name="直線接點 36"/>
            <p:cNvCxnSpPr>
              <a:stCxn id="64" idx="1"/>
              <a:endCxn id="58" idx="5"/>
            </p:cNvCxnSpPr>
            <p:nvPr/>
          </p:nvCxnSpPr>
          <p:spPr>
            <a:xfrm flipH="1" flipV="1">
              <a:off x="2532026" y="2360120"/>
              <a:ext cx="627365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文字方塊 37"/>
            <p:cNvSpPr txBox="1"/>
            <p:nvPr/>
          </p:nvSpPr>
          <p:spPr>
            <a:xfrm>
              <a:off x="2581239" y="240400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9" name="群組 38"/>
          <p:cNvGrpSpPr/>
          <p:nvPr/>
        </p:nvGrpSpPr>
        <p:grpSpPr>
          <a:xfrm>
            <a:off x="2895699" y="1762008"/>
            <a:ext cx="653245" cy="507015"/>
            <a:chOff x="3363037" y="1649459"/>
            <a:chExt cx="653245" cy="507015"/>
          </a:xfrm>
        </p:grpSpPr>
        <p:cxnSp>
          <p:nvCxnSpPr>
            <p:cNvPr id="40" name="直線接點 39"/>
            <p:cNvCxnSpPr>
              <a:stCxn id="67" idx="1"/>
              <a:endCxn id="61" idx="5"/>
            </p:cNvCxnSpPr>
            <p:nvPr/>
          </p:nvCxnSpPr>
          <p:spPr>
            <a:xfrm flipH="1" flipV="1">
              <a:off x="3363037" y="1736700"/>
              <a:ext cx="653245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文字方塊 40"/>
            <p:cNvSpPr txBox="1"/>
            <p:nvPr/>
          </p:nvSpPr>
          <p:spPr>
            <a:xfrm>
              <a:off x="3582748" y="164945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2" name="群組 41"/>
          <p:cNvGrpSpPr/>
          <p:nvPr/>
        </p:nvGrpSpPr>
        <p:grpSpPr>
          <a:xfrm>
            <a:off x="2895699" y="2472669"/>
            <a:ext cx="653245" cy="425454"/>
            <a:chOff x="3363037" y="2360120"/>
            <a:chExt cx="653245" cy="425454"/>
          </a:xfrm>
        </p:grpSpPr>
        <p:cxnSp>
          <p:nvCxnSpPr>
            <p:cNvPr id="43" name="直線接點 42"/>
            <p:cNvCxnSpPr>
              <a:stCxn id="67" idx="3"/>
              <a:endCxn id="64" idx="7"/>
            </p:cNvCxnSpPr>
            <p:nvPr/>
          </p:nvCxnSpPr>
          <p:spPr>
            <a:xfrm flipH="1">
              <a:off x="3363037" y="2360120"/>
              <a:ext cx="653245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文字方塊 43"/>
            <p:cNvSpPr txBox="1"/>
            <p:nvPr/>
          </p:nvSpPr>
          <p:spPr>
            <a:xfrm>
              <a:off x="3608626" y="241624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5" name="群組 44"/>
          <p:cNvGrpSpPr/>
          <p:nvPr/>
        </p:nvGrpSpPr>
        <p:grpSpPr>
          <a:xfrm>
            <a:off x="1508767" y="2885884"/>
            <a:ext cx="1141109" cy="369332"/>
            <a:chOff x="1976105" y="2773335"/>
            <a:chExt cx="1141109" cy="369332"/>
          </a:xfrm>
        </p:grpSpPr>
        <p:cxnSp>
          <p:nvCxnSpPr>
            <p:cNvPr id="46" name="直線接點 45"/>
            <p:cNvCxnSpPr>
              <a:stCxn id="64" idx="2"/>
              <a:endCxn id="55" idx="6"/>
            </p:cNvCxnSpPr>
            <p:nvPr/>
          </p:nvCxnSpPr>
          <p:spPr>
            <a:xfrm flipH="1">
              <a:off x="1976105" y="2854072"/>
              <a:ext cx="1141109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文字方塊 46"/>
            <p:cNvSpPr txBox="1"/>
            <p:nvPr/>
          </p:nvSpPr>
          <p:spPr>
            <a:xfrm>
              <a:off x="2381985" y="2773335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9" name="橢圓 48"/>
          <p:cNvSpPr/>
          <p:nvPr/>
        </p:nvSpPr>
        <p:spPr>
          <a:xfrm>
            <a:off x="614042" y="2226846"/>
            <a:ext cx="288000" cy="288000"/>
          </a:xfrm>
          <a:prstGeom prst="ellipse">
            <a:avLst/>
          </a:prstGeom>
          <a:solidFill>
            <a:srgbClr val="FF99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0" name="文字方塊 49"/>
          <p:cNvSpPr txBox="1"/>
          <p:nvPr/>
        </p:nvSpPr>
        <p:spPr>
          <a:xfrm>
            <a:off x="575941" y="2143050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baseline="-25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橢圓 51"/>
          <p:cNvSpPr/>
          <p:nvPr/>
        </p:nvSpPr>
        <p:spPr>
          <a:xfrm>
            <a:off x="1220767" y="1603426"/>
            <a:ext cx="288000" cy="288000"/>
          </a:xfrm>
          <a:prstGeom prst="ellipse">
            <a:avLst/>
          </a:prstGeom>
          <a:solidFill>
            <a:srgbClr val="FF99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3" name="文字方塊 52"/>
          <p:cNvSpPr txBox="1"/>
          <p:nvPr/>
        </p:nvSpPr>
        <p:spPr>
          <a:xfrm>
            <a:off x="1182666" y="1519754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baseline="-25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橢圓 54"/>
          <p:cNvSpPr/>
          <p:nvPr/>
        </p:nvSpPr>
        <p:spPr>
          <a:xfrm>
            <a:off x="1220767" y="2822621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6" name="文字方塊 55"/>
          <p:cNvSpPr txBox="1"/>
          <p:nvPr/>
        </p:nvSpPr>
        <p:spPr>
          <a:xfrm>
            <a:off x="1182666" y="2738825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橢圓 57"/>
          <p:cNvSpPr/>
          <p:nvPr/>
        </p:nvSpPr>
        <p:spPr>
          <a:xfrm>
            <a:off x="1818865" y="2226846"/>
            <a:ext cx="288000" cy="288000"/>
          </a:xfrm>
          <a:prstGeom prst="ellipse">
            <a:avLst/>
          </a:prstGeom>
          <a:solidFill>
            <a:srgbClr val="FF99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文字方塊 58"/>
          <p:cNvSpPr txBox="1"/>
          <p:nvPr/>
        </p:nvSpPr>
        <p:spPr>
          <a:xfrm>
            <a:off x="1772138" y="2143050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baseline="-25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0" name="群組 59"/>
          <p:cNvGrpSpPr/>
          <p:nvPr/>
        </p:nvGrpSpPr>
        <p:grpSpPr>
          <a:xfrm>
            <a:off x="2611775" y="1519630"/>
            <a:ext cx="364202" cy="371796"/>
            <a:chOff x="3079113" y="1407081"/>
            <a:chExt cx="364202" cy="371796"/>
          </a:xfrm>
        </p:grpSpPr>
        <p:sp>
          <p:nvSpPr>
            <p:cNvPr id="61" name="橢圓 60"/>
            <p:cNvSpPr/>
            <p:nvPr/>
          </p:nvSpPr>
          <p:spPr>
            <a:xfrm>
              <a:off x="3117214" y="149087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2" name="文字方塊 61"/>
            <p:cNvSpPr txBox="1"/>
            <p:nvPr/>
          </p:nvSpPr>
          <p:spPr>
            <a:xfrm>
              <a:off x="3079113" y="140708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3" name="群組 62"/>
          <p:cNvGrpSpPr/>
          <p:nvPr/>
        </p:nvGrpSpPr>
        <p:grpSpPr>
          <a:xfrm>
            <a:off x="2601815" y="2738825"/>
            <a:ext cx="364202" cy="371796"/>
            <a:chOff x="3069153" y="2626276"/>
            <a:chExt cx="364202" cy="371796"/>
          </a:xfrm>
        </p:grpSpPr>
        <p:sp>
          <p:nvSpPr>
            <p:cNvPr id="64" name="橢圓 63"/>
            <p:cNvSpPr/>
            <p:nvPr/>
          </p:nvSpPr>
          <p:spPr>
            <a:xfrm>
              <a:off x="3117214" y="2710072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5" name="文字方塊 64"/>
            <p:cNvSpPr txBox="1"/>
            <p:nvPr/>
          </p:nvSpPr>
          <p:spPr>
            <a:xfrm>
              <a:off x="3069153" y="262627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6" name="群組 65"/>
          <p:cNvGrpSpPr/>
          <p:nvPr/>
        </p:nvGrpSpPr>
        <p:grpSpPr>
          <a:xfrm>
            <a:off x="3468666" y="2144568"/>
            <a:ext cx="364202" cy="370278"/>
            <a:chOff x="3936004" y="2032019"/>
            <a:chExt cx="364202" cy="370278"/>
          </a:xfrm>
        </p:grpSpPr>
        <p:sp>
          <p:nvSpPr>
            <p:cNvPr id="67" name="橢圓 66"/>
            <p:cNvSpPr/>
            <p:nvPr/>
          </p:nvSpPr>
          <p:spPr>
            <a:xfrm>
              <a:off x="3974105" y="211429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8" name="文字方塊 67"/>
            <p:cNvSpPr txBox="1"/>
            <p:nvPr/>
          </p:nvSpPr>
          <p:spPr>
            <a:xfrm>
              <a:off x="3936004" y="2032019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" name="群組 2"/>
          <p:cNvGrpSpPr/>
          <p:nvPr/>
        </p:nvGrpSpPr>
        <p:grpSpPr>
          <a:xfrm>
            <a:off x="1163138" y="3913684"/>
            <a:ext cx="2549063" cy="1315637"/>
            <a:chOff x="1163138" y="3913684"/>
            <a:chExt cx="2549063" cy="1315637"/>
          </a:xfrm>
        </p:grpSpPr>
        <p:sp>
          <p:nvSpPr>
            <p:cNvPr id="70" name="文字方塊 69"/>
            <p:cNvSpPr txBox="1"/>
            <p:nvPr/>
          </p:nvSpPr>
          <p:spPr>
            <a:xfrm>
              <a:off x="2684724" y="428301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文字方塊 70"/>
            <p:cNvSpPr txBox="1"/>
            <p:nvPr/>
          </p:nvSpPr>
          <p:spPr>
            <a:xfrm>
              <a:off x="1477894" y="426175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文字方塊 71"/>
            <p:cNvSpPr txBox="1"/>
            <p:nvPr/>
          </p:nvSpPr>
          <p:spPr>
            <a:xfrm>
              <a:off x="2084619" y="4857525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文字方塊 72"/>
            <p:cNvSpPr txBox="1"/>
            <p:nvPr/>
          </p:nvSpPr>
          <p:spPr>
            <a:xfrm>
              <a:off x="1860184" y="3913684"/>
              <a:ext cx="8515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Dist</a:t>
              </a:r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[5]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文字方塊 73"/>
            <p:cNvSpPr txBox="1"/>
            <p:nvPr/>
          </p:nvSpPr>
          <p:spPr>
            <a:xfrm>
              <a:off x="1163138" y="4715989"/>
              <a:ext cx="8515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Dist</a:t>
              </a:r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[2]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5" name="直線接點 74"/>
            <p:cNvCxnSpPr>
              <a:stCxn id="79" idx="3"/>
              <a:endCxn id="78" idx="7"/>
            </p:cNvCxnSpPr>
            <p:nvPr/>
          </p:nvCxnSpPr>
          <p:spPr>
            <a:xfrm flipH="1">
              <a:off x="2368543" y="4591369"/>
              <a:ext cx="394452" cy="392129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文字方塊 75"/>
            <p:cNvSpPr txBox="1"/>
            <p:nvPr/>
          </p:nvSpPr>
          <p:spPr>
            <a:xfrm>
              <a:off x="2501613" y="4647491"/>
              <a:ext cx="12105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Cost[2][5]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橢圓 76"/>
            <p:cNvSpPr/>
            <p:nvPr/>
          </p:nvSpPr>
          <p:spPr>
            <a:xfrm>
              <a:off x="1515995" y="4345546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8" name="橢圓 77"/>
            <p:cNvSpPr/>
            <p:nvPr/>
          </p:nvSpPr>
          <p:spPr>
            <a:xfrm>
              <a:off x="2122720" y="4941321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9" name="橢圓 78"/>
            <p:cNvSpPr/>
            <p:nvPr/>
          </p:nvSpPr>
          <p:spPr>
            <a:xfrm>
              <a:off x="2720818" y="4345546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80" name="弧形接點 79"/>
            <p:cNvCxnSpPr>
              <a:stCxn id="71" idx="2"/>
              <a:endCxn id="78" idx="0"/>
            </p:cNvCxnSpPr>
            <p:nvPr/>
          </p:nvCxnSpPr>
          <p:spPr>
            <a:xfrm rot="16200000" flipH="1">
              <a:off x="1808238" y="4482838"/>
              <a:ext cx="310239" cy="606725"/>
            </a:xfrm>
            <a:prstGeom prst="curvedConnector3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弧形接點 80"/>
            <p:cNvCxnSpPr>
              <a:stCxn id="77" idx="7"/>
              <a:endCxn id="79" idx="2"/>
            </p:cNvCxnSpPr>
            <p:nvPr/>
          </p:nvCxnSpPr>
          <p:spPr>
            <a:xfrm rot="16200000" flipH="1">
              <a:off x="2190406" y="3959134"/>
              <a:ext cx="101823" cy="959000"/>
            </a:xfrm>
            <a:prstGeom prst="curvedConnector4">
              <a:avLst>
                <a:gd name="adj1" fmla="val -120085"/>
                <a:gd name="adj2" fmla="val 56634"/>
              </a:avLst>
            </a:prstGeom>
            <a:ln w="28575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圓角矩形 82"/>
          <p:cNvSpPr/>
          <p:nvPr/>
        </p:nvSpPr>
        <p:spPr>
          <a:xfrm>
            <a:off x="6187928" y="1495451"/>
            <a:ext cx="685244" cy="1548995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4" name="文字方塊 83"/>
          <p:cNvSpPr txBox="1"/>
          <p:nvPr/>
        </p:nvSpPr>
        <p:spPr>
          <a:xfrm>
            <a:off x="4198481" y="4346657"/>
            <a:ext cx="434926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= min{</a:t>
            </a:r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[5], </a:t>
            </a:r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+ Cost[2][5]}</a:t>
            </a:r>
          </a:p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= min{5, 4 + 3}</a:t>
            </a:r>
          </a:p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= 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文字方塊 86"/>
          <p:cNvSpPr txBox="1"/>
          <p:nvPr/>
        </p:nvSpPr>
        <p:spPr>
          <a:xfrm>
            <a:off x="6430078" y="2630493"/>
            <a:ext cx="200943" cy="307777"/>
          </a:xfrm>
          <a:prstGeom prst="rect">
            <a:avLst/>
          </a:prstGeom>
          <a:solidFill>
            <a:srgbClr val="F3F9FA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7844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83" grpId="0" animBg="1"/>
      <p:bldP spid="8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Dijkstra </a:t>
            </a:r>
            <a:r>
              <a:rPr lang="zh-TW" altLang="en-US" dirty="0"/>
              <a:t>演算法 </a:t>
            </a:r>
            <a:r>
              <a:rPr lang="en-US" altLang="zh-TW" dirty="0"/>
              <a:t>(6/9)</a:t>
            </a:r>
            <a:endParaRPr lang="zh-TW" altLang="en-US" dirty="0"/>
          </a:p>
        </p:txBody>
      </p:sp>
      <p:graphicFrame>
        <p:nvGraphicFramePr>
          <p:cNvPr id="7" name="內容版面配置區 6"/>
          <p:cNvGraphicFramePr>
            <a:graphicFrameLocks noGrp="1"/>
          </p:cNvGraphicFramePr>
          <p:nvPr>
            <p:ph sz="quarter" idx="4294967295"/>
          </p:nvPr>
        </p:nvGraphicFramePr>
        <p:xfrm>
          <a:off x="5220491" y="1791448"/>
          <a:ext cx="3690750" cy="11887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2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8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5313342" y="142583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5839811" y="142583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6362788" y="142583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6889257" y="142583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7409352" y="142583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7932329" y="142583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8458798" y="142583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4476907" y="1805798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[]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4352849" y="2202757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Prior[]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4079929" y="2599716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Decided[]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8" name="群組 17"/>
          <p:cNvGrpSpPr/>
          <p:nvPr/>
        </p:nvGrpSpPr>
        <p:grpSpPr>
          <a:xfrm>
            <a:off x="902042" y="2082668"/>
            <a:ext cx="916823" cy="369332"/>
            <a:chOff x="1369380" y="1970119"/>
            <a:chExt cx="916823" cy="369332"/>
          </a:xfrm>
        </p:grpSpPr>
        <p:cxnSp>
          <p:nvCxnSpPr>
            <p:cNvPr id="19" name="直線接點 18"/>
            <p:cNvCxnSpPr>
              <a:stCxn id="58" idx="2"/>
              <a:endCxn id="49" idx="6"/>
            </p:cNvCxnSpPr>
            <p:nvPr/>
          </p:nvCxnSpPr>
          <p:spPr>
            <a:xfrm flipH="1">
              <a:off x="1369380" y="2258297"/>
              <a:ext cx="916823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文字方塊 19"/>
            <p:cNvSpPr txBox="1"/>
            <p:nvPr/>
          </p:nvSpPr>
          <p:spPr>
            <a:xfrm>
              <a:off x="1682064" y="197011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1" name="群組 20"/>
          <p:cNvGrpSpPr/>
          <p:nvPr/>
        </p:nvGrpSpPr>
        <p:grpSpPr>
          <a:xfrm>
            <a:off x="843195" y="1782035"/>
            <a:ext cx="419749" cy="486988"/>
            <a:chOff x="1310533" y="1669486"/>
            <a:chExt cx="419749" cy="486988"/>
          </a:xfrm>
        </p:grpSpPr>
        <p:cxnSp>
          <p:nvCxnSpPr>
            <p:cNvPr id="22" name="直線接點 21"/>
            <p:cNvCxnSpPr>
              <a:stCxn id="49" idx="7"/>
              <a:endCxn id="52" idx="3"/>
            </p:cNvCxnSpPr>
            <p:nvPr/>
          </p:nvCxnSpPr>
          <p:spPr>
            <a:xfrm flipV="1">
              <a:off x="1327203" y="1736700"/>
              <a:ext cx="403079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文字方塊 22"/>
            <p:cNvSpPr txBox="1"/>
            <p:nvPr/>
          </p:nvSpPr>
          <p:spPr>
            <a:xfrm>
              <a:off x="1310533" y="166948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4" name="群組 23"/>
          <p:cNvGrpSpPr/>
          <p:nvPr/>
        </p:nvGrpSpPr>
        <p:grpSpPr>
          <a:xfrm>
            <a:off x="843195" y="2472669"/>
            <a:ext cx="419749" cy="445481"/>
            <a:chOff x="1310533" y="2360120"/>
            <a:chExt cx="419749" cy="445481"/>
          </a:xfrm>
        </p:grpSpPr>
        <p:cxnSp>
          <p:nvCxnSpPr>
            <p:cNvPr id="25" name="直線接點 24"/>
            <p:cNvCxnSpPr>
              <a:stCxn id="55" idx="1"/>
              <a:endCxn id="49" idx="5"/>
            </p:cNvCxnSpPr>
            <p:nvPr/>
          </p:nvCxnSpPr>
          <p:spPr>
            <a:xfrm flipH="1" flipV="1">
              <a:off x="1327203" y="2360120"/>
              <a:ext cx="403079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文字方塊 25"/>
            <p:cNvSpPr txBox="1"/>
            <p:nvPr/>
          </p:nvSpPr>
          <p:spPr>
            <a:xfrm>
              <a:off x="1310533" y="243626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7" name="群組 26"/>
          <p:cNvGrpSpPr/>
          <p:nvPr/>
        </p:nvGrpSpPr>
        <p:grpSpPr>
          <a:xfrm>
            <a:off x="1466590" y="1762008"/>
            <a:ext cx="411886" cy="507015"/>
            <a:chOff x="1933928" y="1649459"/>
            <a:chExt cx="411886" cy="507015"/>
          </a:xfrm>
        </p:grpSpPr>
        <p:cxnSp>
          <p:nvCxnSpPr>
            <p:cNvPr id="28" name="直線接點 27"/>
            <p:cNvCxnSpPr>
              <a:stCxn id="58" idx="1"/>
              <a:endCxn id="52" idx="5"/>
            </p:cNvCxnSpPr>
            <p:nvPr/>
          </p:nvCxnSpPr>
          <p:spPr>
            <a:xfrm flipH="1" flipV="1">
              <a:off x="1933928" y="1736700"/>
              <a:ext cx="394452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文字方塊 28"/>
            <p:cNvSpPr txBox="1"/>
            <p:nvPr/>
          </p:nvSpPr>
          <p:spPr>
            <a:xfrm>
              <a:off x="2045732" y="164945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0" name="群組 29"/>
          <p:cNvGrpSpPr/>
          <p:nvPr/>
        </p:nvGrpSpPr>
        <p:grpSpPr>
          <a:xfrm>
            <a:off x="1466590" y="2472669"/>
            <a:ext cx="411886" cy="425454"/>
            <a:chOff x="1933928" y="2360120"/>
            <a:chExt cx="411886" cy="425454"/>
          </a:xfrm>
        </p:grpSpPr>
        <p:cxnSp>
          <p:nvCxnSpPr>
            <p:cNvPr id="31" name="直線接點 30"/>
            <p:cNvCxnSpPr>
              <a:stCxn id="58" idx="3"/>
              <a:endCxn id="55" idx="7"/>
            </p:cNvCxnSpPr>
            <p:nvPr/>
          </p:nvCxnSpPr>
          <p:spPr>
            <a:xfrm flipH="1">
              <a:off x="1933928" y="2360120"/>
              <a:ext cx="394452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文字方塊 31"/>
            <p:cNvSpPr txBox="1"/>
            <p:nvPr/>
          </p:nvSpPr>
          <p:spPr>
            <a:xfrm>
              <a:off x="2045732" y="241624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3" name="群組 32"/>
          <p:cNvGrpSpPr/>
          <p:nvPr/>
        </p:nvGrpSpPr>
        <p:grpSpPr>
          <a:xfrm>
            <a:off x="2064688" y="1749769"/>
            <a:ext cx="627365" cy="519254"/>
            <a:chOff x="2532026" y="1637220"/>
            <a:chExt cx="627365" cy="519254"/>
          </a:xfrm>
        </p:grpSpPr>
        <p:cxnSp>
          <p:nvCxnSpPr>
            <p:cNvPr id="34" name="直線接點 33"/>
            <p:cNvCxnSpPr>
              <a:stCxn id="61" idx="3"/>
              <a:endCxn id="58" idx="7"/>
            </p:cNvCxnSpPr>
            <p:nvPr/>
          </p:nvCxnSpPr>
          <p:spPr>
            <a:xfrm flipH="1">
              <a:off x="2532026" y="1736700"/>
              <a:ext cx="627365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字方塊 34"/>
            <p:cNvSpPr txBox="1"/>
            <p:nvPr/>
          </p:nvSpPr>
          <p:spPr>
            <a:xfrm>
              <a:off x="2667499" y="163722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6" name="群組 35"/>
          <p:cNvGrpSpPr/>
          <p:nvPr/>
        </p:nvGrpSpPr>
        <p:grpSpPr>
          <a:xfrm>
            <a:off x="2064688" y="2472669"/>
            <a:ext cx="627365" cy="413215"/>
            <a:chOff x="2532026" y="2360120"/>
            <a:chExt cx="627365" cy="413215"/>
          </a:xfrm>
        </p:grpSpPr>
        <p:cxnSp>
          <p:nvCxnSpPr>
            <p:cNvPr id="37" name="直線接點 36"/>
            <p:cNvCxnSpPr>
              <a:stCxn id="64" idx="1"/>
              <a:endCxn id="58" idx="5"/>
            </p:cNvCxnSpPr>
            <p:nvPr/>
          </p:nvCxnSpPr>
          <p:spPr>
            <a:xfrm flipH="1" flipV="1">
              <a:off x="2532026" y="2360120"/>
              <a:ext cx="627365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文字方塊 37"/>
            <p:cNvSpPr txBox="1"/>
            <p:nvPr/>
          </p:nvSpPr>
          <p:spPr>
            <a:xfrm>
              <a:off x="2581239" y="240400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9" name="群組 38"/>
          <p:cNvGrpSpPr/>
          <p:nvPr/>
        </p:nvGrpSpPr>
        <p:grpSpPr>
          <a:xfrm>
            <a:off x="2895699" y="1762008"/>
            <a:ext cx="653245" cy="507015"/>
            <a:chOff x="3363037" y="1649459"/>
            <a:chExt cx="653245" cy="507015"/>
          </a:xfrm>
        </p:grpSpPr>
        <p:cxnSp>
          <p:nvCxnSpPr>
            <p:cNvPr id="40" name="直線接點 39"/>
            <p:cNvCxnSpPr>
              <a:stCxn id="67" idx="1"/>
              <a:endCxn id="61" idx="5"/>
            </p:cNvCxnSpPr>
            <p:nvPr/>
          </p:nvCxnSpPr>
          <p:spPr>
            <a:xfrm flipH="1" flipV="1">
              <a:off x="3363037" y="1736700"/>
              <a:ext cx="653245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文字方塊 40"/>
            <p:cNvSpPr txBox="1"/>
            <p:nvPr/>
          </p:nvSpPr>
          <p:spPr>
            <a:xfrm>
              <a:off x="3582748" y="164945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2" name="群組 41"/>
          <p:cNvGrpSpPr/>
          <p:nvPr/>
        </p:nvGrpSpPr>
        <p:grpSpPr>
          <a:xfrm>
            <a:off x="2895699" y="2472669"/>
            <a:ext cx="653245" cy="425454"/>
            <a:chOff x="3363037" y="2360120"/>
            <a:chExt cx="653245" cy="425454"/>
          </a:xfrm>
        </p:grpSpPr>
        <p:cxnSp>
          <p:nvCxnSpPr>
            <p:cNvPr id="43" name="直線接點 42"/>
            <p:cNvCxnSpPr>
              <a:stCxn id="67" idx="3"/>
              <a:endCxn id="64" idx="7"/>
            </p:cNvCxnSpPr>
            <p:nvPr/>
          </p:nvCxnSpPr>
          <p:spPr>
            <a:xfrm flipH="1">
              <a:off x="3363037" y="2360120"/>
              <a:ext cx="653245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文字方塊 43"/>
            <p:cNvSpPr txBox="1"/>
            <p:nvPr/>
          </p:nvSpPr>
          <p:spPr>
            <a:xfrm>
              <a:off x="3608626" y="241624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5" name="群組 44"/>
          <p:cNvGrpSpPr/>
          <p:nvPr/>
        </p:nvGrpSpPr>
        <p:grpSpPr>
          <a:xfrm>
            <a:off x="1508767" y="2885884"/>
            <a:ext cx="1141109" cy="369332"/>
            <a:chOff x="1976105" y="2773335"/>
            <a:chExt cx="1141109" cy="369332"/>
          </a:xfrm>
        </p:grpSpPr>
        <p:cxnSp>
          <p:nvCxnSpPr>
            <p:cNvPr id="46" name="直線接點 45"/>
            <p:cNvCxnSpPr>
              <a:stCxn id="64" idx="2"/>
              <a:endCxn id="55" idx="6"/>
            </p:cNvCxnSpPr>
            <p:nvPr/>
          </p:nvCxnSpPr>
          <p:spPr>
            <a:xfrm flipH="1">
              <a:off x="1976105" y="2854072"/>
              <a:ext cx="1141109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文字方塊 46"/>
            <p:cNvSpPr txBox="1"/>
            <p:nvPr/>
          </p:nvSpPr>
          <p:spPr>
            <a:xfrm>
              <a:off x="2381985" y="2773335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9" name="橢圓 48"/>
          <p:cNvSpPr/>
          <p:nvPr/>
        </p:nvSpPr>
        <p:spPr>
          <a:xfrm>
            <a:off x="614042" y="2226846"/>
            <a:ext cx="288000" cy="288000"/>
          </a:xfrm>
          <a:prstGeom prst="ellipse">
            <a:avLst/>
          </a:prstGeom>
          <a:solidFill>
            <a:srgbClr val="FF99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0" name="文字方塊 49"/>
          <p:cNvSpPr txBox="1"/>
          <p:nvPr/>
        </p:nvSpPr>
        <p:spPr>
          <a:xfrm>
            <a:off x="575941" y="2143050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baseline="-25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橢圓 51"/>
          <p:cNvSpPr/>
          <p:nvPr/>
        </p:nvSpPr>
        <p:spPr>
          <a:xfrm>
            <a:off x="1220767" y="1603426"/>
            <a:ext cx="288000" cy="288000"/>
          </a:xfrm>
          <a:prstGeom prst="ellipse">
            <a:avLst/>
          </a:prstGeom>
          <a:solidFill>
            <a:srgbClr val="FF99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3" name="文字方塊 52"/>
          <p:cNvSpPr txBox="1"/>
          <p:nvPr/>
        </p:nvSpPr>
        <p:spPr>
          <a:xfrm>
            <a:off x="1182666" y="1519754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baseline="-25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橢圓 54"/>
          <p:cNvSpPr/>
          <p:nvPr/>
        </p:nvSpPr>
        <p:spPr>
          <a:xfrm>
            <a:off x="1220767" y="2822621"/>
            <a:ext cx="288000" cy="288000"/>
          </a:xfrm>
          <a:prstGeom prst="ellipse">
            <a:avLst/>
          </a:prstGeom>
          <a:solidFill>
            <a:srgbClr val="FF99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6" name="文字方塊 55"/>
          <p:cNvSpPr txBox="1"/>
          <p:nvPr/>
        </p:nvSpPr>
        <p:spPr>
          <a:xfrm>
            <a:off x="1182666" y="2738825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baseline="-25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橢圓 57"/>
          <p:cNvSpPr/>
          <p:nvPr/>
        </p:nvSpPr>
        <p:spPr>
          <a:xfrm>
            <a:off x="1818865" y="2226846"/>
            <a:ext cx="288000" cy="288000"/>
          </a:xfrm>
          <a:prstGeom prst="ellipse">
            <a:avLst/>
          </a:prstGeom>
          <a:solidFill>
            <a:srgbClr val="FF99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文字方塊 58"/>
          <p:cNvSpPr txBox="1"/>
          <p:nvPr/>
        </p:nvSpPr>
        <p:spPr>
          <a:xfrm>
            <a:off x="1772138" y="2143050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baseline="-25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0" name="群組 59"/>
          <p:cNvGrpSpPr/>
          <p:nvPr/>
        </p:nvGrpSpPr>
        <p:grpSpPr>
          <a:xfrm>
            <a:off x="2611775" y="1519630"/>
            <a:ext cx="364202" cy="371796"/>
            <a:chOff x="3079113" y="1407081"/>
            <a:chExt cx="364202" cy="371796"/>
          </a:xfrm>
        </p:grpSpPr>
        <p:sp>
          <p:nvSpPr>
            <p:cNvPr id="61" name="橢圓 60"/>
            <p:cNvSpPr/>
            <p:nvPr/>
          </p:nvSpPr>
          <p:spPr>
            <a:xfrm>
              <a:off x="3117214" y="149087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2" name="文字方塊 61"/>
            <p:cNvSpPr txBox="1"/>
            <p:nvPr/>
          </p:nvSpPr>
          <p:spPr>
            <a:xfrm>
              <a:off x="3079113" y="140708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4" name="橢圓 63"/>
          <p:cNvSpPr/>
          <p:nvPr/>
        </p:nvSpPr>
        <p:spPr>
          <a:xfrm>
            <a:off x="2649876" y="2822621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5" name="文字方塊 64"/>
          <p:cNvSpPr txBox="1"/>
          <p:nvPr/>
        </p:nvSpPr>
        <p:spPr>
          <a:xfrm>
            <a:off x="2601815" y="2738825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6" name="群組 65"/>
          <p:cNvGrpSpPr/>
          <p:nvPr/>
        </p:nvGrpSpPr>
        <p:grpSpPr>
          <a:xfrm>
            <a:off x="3468666" y="2144568"/>
            <a:ext cx="364202" cy="370278"/>
            <a:chOff x="3936004" y="2032019"/>
            <a:chExt cx="364202" cy="370278"/>
          </a:xfrm>
        </p:grpSpPr>
        <p:sp>
          <p:nvSpPr>
            <p:cNvPr id="67" name="橢圓 66"/>
            <p:cNvSpPr/>
            <p:nvPr/>
          </p:nvSpPr>
          <p:spPr>
            <a:xfrm>
              <a:off x="3974105" y="211429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8" name="文字方塊 67"/>
            <p:cNvSpPr txBox="1"/>
            <p:nvPr/>
          </p:nvSpPr>
          <p:spPr>
            <a:xfrm>
              <a:off x="3936004" y="2032019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" name="群組 2"/>
          <p:cNvGrpSpPr/>
          <p:nvPr/>
        </p:nvGrpSpPr>
        <p:grpSpPr>
          <a:xfrm>
            <a:off x="1163138" y="3913684"/>
            <a:ext cx="2549063" cy="1315637"/>
            <a:chOff x="1163138" y="3913684"/>
            <a:chExt cx="2549063" cy="1315637"/>
          </a:xfrm>
        </p:grpSpPr>
        <p:sp>
          <p:nvSpPr>
            <p:cNvPr id="70" name="文字方塊 69"/>
            <p:cNvSpPr txBox="1"/>
            <p:nvPr/>
          </p:nvSpPr>
          <p:spPr>
            <a:xfrm>
              <a:off x="2684724" y="428301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文字方塊 70"/>
            <p:cNvSpPr txBox="1"/>
            <p:nvPr/>
          </p:nvSpPr>
          <p:spPr>
            <a:xfrm>
              <a:off x="1477894" y="426175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文字方塊 71"/>
            <p:cNvSpPr txBox="1"/>
            <p:nvPr/>
          </p:nvSpPr>
          <p:spPr>
            <a:xfrm>
              <a:off x="2084619" y="4857525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文字方塊 72"/>
            <p:cNvSpPr txBox="1"/>
            <p:nvPr/>
          </p:nvSpPr>
          <p:spPr>
            <a:xfrm>
              <a:off x="1860184" y="3913684"/>
              <a:ext cx="8515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Dist</a:t>
              </a:r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[6]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文字方塊 73"/>
            <p:cNvSpPr txBox="1"/>
            <p:nvPr/>
          </p:nvSpPr>
          <p:spPr>
            <a:xfrm>
              <a:off x="1163138" y="4715989"/>
              <a:ext cx="8515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Dist</a:t>
              </a:r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[5]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5" name="直線接點 74"/>
            <p:cNvCxnSpPr>
              <a:stCxn id="79" idx="3"/>
              <a:endCxn id="78" idx="7"/>
            </p:cNvCxnSpPr>
            <p:nvPr/>
          </p:nvCxnSpPr>
          <p:spPr>
            <a:xfrm flipH="1">
              <a:off x="2368543" y="4591369"/>
              <a:ext cx="394452" cy="392129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文字方塊 75"/>
            <p:cNvSpPr txBox="1"/>
            <p:nvPr/>
          </p:nvSpPr>
          <p:spPr>
            <a:xfrm>
              <a:off x="2501613" y="4647491"/>
              <a:ext cx="12105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Cost[5][6]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橢圓 76"/>
            <p:cNvSpPr/>
            <p:nvPr/>
          </p:nvSpPr>
          <p:spPr>
            <a:xfrm>
              <a:off x="1515995" y="4345546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8" name="橢圓 77"/>
            <p:cNvSpPr/>
            <p:nvPr/>
          </p:nvSpPr>
          <p:spPr>
            <a:xfrm>
              <a:off x="2122720" y="4941321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9" name="橢圓 78"/>
            <p:cNvSpPr/>
            <p:nvPr/>
          </p:nvSpPr>
          <p:spPr>
            <a:xfrm>
              <a:off x="2720818" y="4345546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80" name="弧形接點 79"/>
            <p:cNvCxnSpPr>
              <a:stCxn id="71" idx="2"/>
              <a:endCxn id="78" idx="0"/>
            </p:cNvCxnSpPr>
            <p:nvPr/>
          </p:nvCxnSpPr>
          <p:spPr>
            <a:xfrm rot="16200000" flipH="1">
              <a:off x="1808238" y="4482838"/>
              <a:ext cx="310239" cy="606725"/>
            </a:xfrm>
            <a:prstGeom prst="curvedConnector3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弧形接點 80"/>
            <p:cNvCxnSpPr>
              <a:stCxn id="77" idx="7"/>
              <a:endCxn id="79" idx="2"/>
            </p:cNvCxnSpPr>
            <p:nvPr/>
          </p:nvCxnSpPr>
          <p:spPr>
            <a:xfrm rot="16200000" flipH="1">
              <a:off x="2190406" y="3959134"/>
              <a:ext cx="101823" cy="959000"/>
            </a:xfrm>
            <a:prstGeom prst="curvedConnector4">
              <a:avLst>
                <a:gd name="adj1" fmla="val -120085"/>
                <a:gd name="adj2" fmla="val 56634"/>
              </a:avLst>
            </a:prstGeom>
            <a:ln w="28575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圓角矩形 82"/>
          <p:cNvSpPr/>
          <p:nvPr/>
        </p:nvSpPr>
        <p:spPr>
          <a:xfrm>
            <a:off x="7772245" y="1495451"/>
            <a:ext cx="685244" cy="1548995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4" name="文字方塊 83"/>
          <p:cNvSpPr txBox="1"/>
          <p:nvPr/>
        </p:nvSpPr>
        <p:spPr>
          <a:xfrm>
            <a:off x="4198481" y="4346657"/>
            <a:ext cx="434926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= min{</a:t>
            </a:r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[6], </a:t>
            </a:r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+ Cost[5][6]}</a:t>
            </a:r>
          </a:p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= min{</a:t>
            </a:r>
            <a:r>
              <a: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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5 + 4}</a:t>
            </a:r>
          </a:p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= 9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文字方塊 84"/>
          <p:cNvSpPr txBox="1"/>
          <p:nvPr/>
        </p:nvSpPr>
        <p:spPr>
          <a:xfrm>
            <a:off x="8551060" y="1831613"/>
            <a:ext cx="200943" cy="307777"/>
          </a:xfrm>
          <a:prstGeom prst="rect">
            <a:avLst/>
          </a:prstGeom>
          <a:solidFill>
            <a:srgbClr val="F3F9FA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文字方塊 85"/>
          <p:cNvSpPr txBox="1"/>
          <p:nvPr/>
        </p:nvSpPr>
        <p:spPr>
          <a:xfrm>
            <a:off x="8551059" y="2241483"/>
            <a:ext cx="200943" cy="307777"/>
          </a:xfrm>
          <a:prstGeom prst="rect">
            <a:avLst/>
          </a:prstGeom>
          <a:solidFill>
            <a:srgbClr val="E7F3F4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文字方塊 86"/>
          <p:cNvSpPr txBox="1"/>
          <p:nvPr/>
        </p:nvSpPr>
        <p:spPr>
          <a:xfrm>
            <a:off x="8013958" y="2630493"/>
            <a:ext cx="200943" cy="307777"/>
          </a:xfrm>
          <a:prstGeom prst="rect">
            <a:avLst/>
          </a:prstGeom>
          <a:solidFill>
            <a:srgbClr val="F3F9FA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2578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  <p:bldP spid="83" grpId="0" animBg="1"/>
      <p:bldP spid="85" grpId="0" animBg="1"/>
      <p:bldP spid="86" grpId="0" animBg="1"/>
      <p:bldP spid="8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Dijkstra </a:t>
            </a:r>
            <a:r>
              <a:rPr lang="zh-TW" altLang="en-US" dirty="0"/>
              <a:t>演算法 </a:t>
            </a:r>
            <a:r>
              <a:rPr lang="en-US" altLang="zh-TW" dirty="0"/>
              <a:t>(7/9)</a:t>
            </a:r>
            <a:endParaRPr lang="zh-TW" altLang="en-US" dirty="0"/>
          </a:p>
        </p:txBody>
      </p:sp>
      <p:graphicFrame>
        <p:nvGraphicFramePr>
          <p:cNvPr id="7" name="內容版面配置區 6"/>
          <p:cNvGraphicFramePr>
            <a:graphicFrameLocks noGrp="1"/>
          </p:cNvGraphicFramePr>
          <p:nvPr>
            <p:ph sz="quarter" idx="4294967295"/>
          </p:nvPr>
        </p:nvGraphicFramePr>
        <p:xfrm>
          <a:off x="5220491" y="1791448"/>
          <a:ext cx="3690750" cy="11887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2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8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9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5313342" y="142583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5839811" y="142583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6362788" y="142583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6889257" y="142583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7409352" y="142583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7932329" y="142583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8458798" y="142583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4476907" y="1805798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[]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4352849" y="2202757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Prior[]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4079929" y="2599716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Decided[]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8" name="群組 17"/>
          <p:cNvGrpSpPr/>
          <p:nvPr/>
        </p:nvGrpSpPr>
        <p:grpSpPr>
          <a:xfrm>
            <a:off x="902042" y="2082668"/>
            <a:ext cx="916823" cy="369332"/>
            <a:chOff x="1369380" y="1970119"/>
            <a:chExt cx="916823" cy="369332"/>
          </a:xfrm>
        </p:grpSpPr>
        <p:cxnSp>
          <p:nvCxnSpPr>
            <p:cNvPr id="19" name="直線接點 18"/>
            <p:cNvCxnSpPr>
              <a:stCxn id="58" idx="2"/>
              <a:endCxn id="49" idx="6"/>
            </p:cNvCxnSpPr>
            <p:nvPr/>
          </p:nvCxnSpPr>
          <p:spPr>
            <a:xfrm flipH="1">
              <a:off x="1369380" y="2258297"/>
              <a:ext cx="916823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文字方塊 19"/>
            <p:cNvSpPr txBox="1"/>
            <p:nvPr/>
          </p:nvSpPr>
          <p:spPr>
            <a:xfrm>
              <a:off x="1682064" y="197011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1" name="群組 20"/>
          <p:cNvGrpSpPr/>
          <p:nvPr/>
        </p:nvGrpSpPr>
        <p:grpSpPr>
          <a:xfrm>
            <a:off x="843195" y="1782035"/>
            <a:ext cx="419749" cy="486988"/>
            <a:chOff x="1310533" y="1669486"/>
            <a:chExt cx="419749" cy="486988"/>
          </a:xfrm>
        </p:grpSpPr>
        <p:cxnSp>
          <p:nvCxnSpPr>
            <p:cNvPr id="22" name="直線接點 21"/>
            <p:cNvCxnSpPr>
              <a:stCxn id="49" idx="7"/>
              <a:endCxn id="52" idx="3"/>
            </p:cNvCxnSpPr>
            <p:nvPr/>
          </p:nvCxnSpPr>
          <p:spPr>
            <a:xfrm flipV="1">
              <a:off x="1327203" y="1736700"/>
              <a:ext cx="403079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文字方塊 22"/>
            <p:cNvSpPr txBox="1"/>
            <p:nvPr/>
          </p:nvSpPr>
          <p:spPr>
            <a:xfrm>
              <a:off x="1310533" y="166948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4" name="群組 23"/>
          <p:cNvGrpSpPr/>
          <p:nvPr/>
        </p:nvGrpSpPr>
        <p:grpSpPr>
          <a:xfrm>
            <a:off x="843195" y="2472669"/>
            <a:ext cx="419749" cy="445481"/>
            <a:chOff x="1310533" y="2360120"/>
            <a:chExt cx="419749" cy="445481"/>
          </a:xfrm>
        </p:grpSpPr>
        <p:cxnSp>
          <p:nvCxnSpPr>
            <p:cNvPr id="25" name="直線接點 24"/>
            <p:cNvCxnSpPr>
              <a:stCxn id="55" idx="1"/>
              <a:endCxn id="49" idx="5"/>
            </p:cNvCxnSpPr>
            <p:nvPr/>
          </p:nvCxnSpPr>
          <p:spPr>
            <a:xfrm flipH="1" flipV="1">
              <a:off x="1327203" y="2360120"/>
              <a:ext cx="403079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文字方塊 25"/>
            <p:cNvSpPr txBox="1"/>
            <p:nvPr/>
          </p:nvSpPr>
          <p:spPr>
            <a:xfrm>
              <a:off x="1310533" y="243626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7" name="群組 26"/>
          <p:cNvGrpSpPr/>
          <p:nvPr/>
        </p:nvGrpSpPr>
        <p:grpSpPr>
          <a:xfrm>
            <a:off x="1466590" y="1762008"/>
            <a:ext cx="411886" cy="507015"/>
            <a:chOff x="1933928" y="1649459"/>
            <a:chExt cx="411886" cy="507015"/>
          </a:xfrm>
        </p:grpSpPr>
        <p:cxnSp>
          <p:nvCxnSpPr>
            <p:cNvPr id="28" name="直線接點 27"/>
            <p:cNvCxnSpPr>
              <a:stCxn id="58" idx="1"/>
              <a:endCxn id="52" idx="5"/>
            </p:cNvCxnSpPr>
            <p:nvPr/>
          </p:nvCxnSpPr>
          <p:spPr>
            <a:xfrm flipH="1" flipV="1">
              <a:off x="1933928" y="1736700"/>
              <a:ext cx="394452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文字方塊 28"/>
            <p:cNvSpPr txBox="1"/>
            <p:nvPr/>
          </p:nvSpPr>
          <p:spPr>
            <a:xfrm>
              <a:off x="2045732" y="164945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0" name="群組 29"/>
          <p:cNvGrpSpPr/>
          <p:nvPr/>
        </p:nvGrpSpPr>
        <p:grpSpPr>
          <a:xfrm>
            <a:off x="1466590" y="2472669"/>
            <a:ext cx="411886" cy="425454"/>
            <a:chOff x="1933928" y="2360120"/>
            <a:chExt cx="411886" cy="425454"/>
          </a:xfrm>
        </p:grpSpPr>
        <p:cxnSp>
          <p:nvCxnSpPr>
            <p:cNvPr id="31" name="直線接點 30"/>
            <p:cNvCxnSpPr>
              <a:stCxn id="58" idx="3"/>
              <a:endCxn id="55" idx="7"/>
            </p:cNvCxnSpPr>
            <p:nvPr/>
          </p:nvCxnSpPr>
          <p:spPr>
            <a:xfrm flipH="1">
              <a:off x="1933928" y="2360120"/>
              <a:ext cx="394452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文字方塊 31"/>
            <p:cNvSpPr txBox="1"/>
            <p:nvPr/>
          </p:nvSpPr>
          <p:spPr>
            <a:xfrm>
              <a:off x="2045732" y="241624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3" name="群組 32"/>
          <p:cNvGrpSpPr/>
          <p:nvPr/>
        </p:nvGrpSpPr>
        <p:grpSpPr>
          <a:xfrm>
            <a:off x="2064688" y="1749769"/>
            <a:ext cx="627365" cy="519254"/>
            <a:chOff x="2532026" y="1637220"/>
            <a:chExt cx="627365" cy="519254"/>
          </a:xfrm>
        </p:grpSpPr>
        <p:cxnSp>
          <p:nvCxnSpPr>
            <p:cNvPr id="34" name="直線接點 33"/>
            <p:cNvCxnSpPr>
              <a:stCxn id="61" idx="3"/>
              <a:endCxn id="58" idx="7"/>
            </p:cNvCxnSpPr>
            <p:nvPr/>
          </p:nvCxnSpPr>
          <p:spPr>
            <a:xfrm flipH="1">
              <a:off x="2532026" y="1736700"/>
              <a:ext cx="627365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字方塊 34"/>
            <p:cNvSpPr txBox="1"/>
            <p:nvPr/>
          </p:nvSpPr>
          <p:spPr>
            <a:xfrm>
              <a:off x="2667499" y="163722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6" name="群組 35"/>
          <p:cNvGrpSpPr/>
          <p:nvPr/>
        </p:nvGrpSpPr>
        <p:grpSpPr>
          <a:xfrm>
            <a:off x="2064688" y="2472669"/>
            <a:ext cx="627365" cy="413215"/>
            <a:chOff x="2532026" y="2360120"/>
            <a:chExt cx="627365" cy="413215"/>
          </a:xfrm>
        </p:grpSpPr>
        <p:cxnSp>
          <p:nvCxnSpPr>
            <p:cNvPr id="37" name="直線接點 36"/>
            <p:cNvCxnSpPr>
              <a:stCxn id="64" idx="1"/>
              <a:endCxn id="58" idx="5"/>
            </p:cNvCxnSpPr>
            <p:nvPr/>
          </p:nvCxnSpPr>
          <p:spPr>
            <a:xfrm flipH="1" flipV="1">
              <a:off x="2532026" y="2360120"/>
              <a:ext cx="627365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文字方塊 37"/>
            <p:cNvSpPr txBox="1"/>
            <p:nvPr/>
          </p:nvSpPr>
          <p:spPr>
            <a:xfrm>
              <a:off x="2581239" y="240400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9" name="群組 38"/>
          <p:cNvGrpSpPr/>
          <p:nvPr/>
        </p:nvGrpSpPr>
        <p:grpSpPr>
          <a:xfrm>
            <a:off x="2895699" y="1762008"/>
            <a:ext cx="653245" cy="507015"/>
            <a:chOff x="3363037" y="1649459"/>
            <a:chExt cx="653245" cy="507015"/>
          </a:xfrm>
        </p:grpSpPr>
        <p:cxnSp>
          <p:nvCxnSpPr>
            <p:cNvPr id="40" name="直線接點 39"/>
            <p:cNvCxnSpPr>
              <a:stCxn id="67" idx="1"/>
              <a:endCxn id="61" idx="5"/>
            </p:cNvCxnSpPr>
            <p:nvPr/>
          </p:nvCxnSpPr>
          <p:spPr>
            <a:xfrm flipH="1" flipV="1">
              <a:off x="3363037" y="1736700"/>
              <a:ext cx="653245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文字方塊 40"/>
            <p:cNvSpPr txBox="1"/>
            <p:nvPr/>
          </p:nvSpPr>
          <p:spPr>
            <a:xfrm>
              <a:off x="3582748" y="164945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2" name="群組 41"/>
          <p:cNvGrpSpPr/>
          <p:nvPr/>
        </p:nvGrpSpPr>
        <p:grpSpPr>
          <a:xfrm>
            <a:off x="2895699" y="2472669"/>
            <a:ext cx="653245" cy="425454"/>
            <a:chOff x="3363037" y="2360120"/>
            <a:chExt cx="653245" cy="425454"/>
          </a:xfrm>
        </p:grpSpPr>
        <p:cxnSp>
          <p:nvCxnSpPr>
            <p:cNvPr id="43" name="直線接點 42"/>
            <p:cNvCxnSpPr>
              <a:stCxn id="67" idx="3"/>
              <a:endCxn id="64" idx="7"/>
            </p:cNvCxnSpPr>
            <p:nvPr/>
          </p:nvCxnSpPr>
          <p:spPr>
            <a:xfrm flipH="1">
              <a:off x="3363037" y="2360120"/>
              <a:ext cx="653245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文字方塊 43"/>
            <p:cNvSpPr txBox="1"/>
            <p:nvPr/>
          </p:nvSpPr>
          <p:spPr>
            <a:xfrm>
              <a:off x="3608626" y="241624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5" name="群組 44"/>
          <p:cNvGrpSpPr/>
          <p:nvPr/>
        </p:nvGrpSpPr>
        <p:grpSpPr>
          <a:xfrm>
            <a:off x="1508767" y="2885884"/>
            <a:ext cx="1141109" cy="369332"/>
            <a:chOff x="1976105" y="2773335"/>
            <a:chExt cx="1141109" cy="369332"/>
          </a:xfrm>
        </p:grpSpPr>
        <p:cxnSp>
          <p:nvCxnSpPr>
            <p:cNvPr id="46" name="直線接點 45"/>
            <p:cNvCxnSpPr>
              <a:stCxn id="64" idx="2"/>
              <a:endCxn id="55" idx="6"/>
            </p:cNvCxnSpPr>
            <p:nvPr/>
          </p:nvCxnSpPr>
          <p:spPr>
            <a:xfrm flipH="1">
              <a:off x="1976105" y="2854072"/>
              <a:ext cx="1141109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文字方塊 46"/>
            <p:cNvSpPr txBox="1"/>
            <p:nvPr/>
          </p:nvSpPr>
          <p:spPr>
            <a:xfrm>
              <a:off x="2381985" y="2773335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9" name="橢圓 48"/>
          <p:cNvSpPr/>
          <p:nvPr/>
        </p:nvSpPr>
        <p:spPr>
          <a:xfrm>
            <a:off x="614042" y="2226846"/>
            <a:ext cx="288000" cy="288000"/>
          </a:xfrm>
          <a:prstGeom prst="ellipse">
            <a:avLst/>
          </a:prstGeom>
          <a:solidFill>
            <a:srgbClr val="FF99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0" name="文字方塊 49"/>
          <p:cNvSpPr txBox="1"/>
          <p:nvPr/>
        </p:nvSpPr>
        <p:spPr>
          <a:xfrm>
            <a:off x="575941" y="2143050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baseline="-25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橢圓 51"/>
          <p:cNvSpPr/>
          <p:nvPr/>
        </p:nvSpPr>
        <p:spPr>
          <a:xfrm>
            <a:off x="1220767" y="1603426"/>
            <a:ext cx="288000" cy="288000"/>
          </a:xfrm>
          <a:prstGeom prst="ellipse">
            <a:avLst/>
          </a:prstGeom>
          <a:solidFill>
            <a:srgbClr val="FF99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3" name="文字方塊 52"/>
          <p:cNvSpPr txBox="1"/>
          <p:nvPr/>
        </p:nvSpPr>
        <p:spPr>
          <a:xfrm>
            <a:off x="1182666" y="1519754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baseline="-25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橢圓 54"/>
          <p:cNvSpPr/>
          <p:nvPr/>
        </p:nvSpPr>
        <p:spPr>
          <a:xfrm>
            <a:off x="1220767" y="2822621"/>
            <a:ext cx="288000" cy="288000"/>
          </a:xfrm>
          <a:prstGeom prst="ellipse">
            <a:avLst/>
          </a:prstGeom>
          <a:solidFill>
            <a:srgbClr val="FF99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6" name="文字方塊 55"/>
          <p:cNvSpPr txBox="1"/>
          <p:nvPr/>
        </p:nvSpPr>
        <p:spPr>
          <a:xfrm>
            <a:off x="1182666" y="2738825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baseline="-25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橢圓 57"/>
          <p:cNvSpPr/>
          <p:nvPr/>
        </p:nvSpPr>
        <p:spPr>
          <a:xfrm>
            <a:off x="1818865" y="2226846"/>
            <a:ext cx="288000" cy="288000"/>
          </a:xfrm>
          <a:prstGeom prst="ellipse">
            <a:avLst/>
          </a:prstGeom>
          <a:solidFill>
            <a:srgbClr val="FF99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文字方塊 58"/>
          <p:cNvSpPr txBox="1"/>
          <p:nvPr/>
        </p:nvSpPr>
        <p:spPr>
          <a:xfrm>
            <a:off x="1772138" y="2143050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baseline="-25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橢圓 60"/>
          <p:cNvSpPr/>
          <p:nvPr/>
        </p:nvSpPr>
        <p:spPr>
          <a:xfrm>
            <a:off x="2649876" y="1603426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2" name="文字方塊 61"/>
          <p:cNvSpPr txBox="1"/>
          <p:nvPr/>
        </p:nvSpPr>
        <p:spPr>
          <a:xfrm>
            <a:off x="2611775" y="1519630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橢圓 63"/>
          <p:cNvSpPr/>
          <p:nvPr/>
        </p:nvSpPr>
        <p:spPr>
          <a:xfrm>
            <a:off x="2649876" y="2822621"/>
            <a:ext cx="288000" cy="288000"/>
          </a:xfrm>
          <a:prstGeom prst="ellipse">
            <a:avLst/>
          </a:prstGeom>
          <a:solidFill>
            <a:srgbClr val="FF99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5" name="文字方塊 64"/>
          <p:cNvSpPr txBox="1"/>
          <p:nvPr/>
        </p:nvSpPr>
        <p:spPr>
          <a:xfrm>
            <a:off x="2601815" y="2738825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baseline="-25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6" name="群組 65"/>
          <p:cNvGrpSpPr/>
          <p:nvPr/>
        </p:nvGrpSpPr>
        <p:grpSpPr>
          <a:xfrm>
            <a:off x="3468666" y="2144568"/>
            <a:ext cx="364202" cy="370278"/>
            <a:chOff x="3936004" y="2032019"/>
            <a:chExt cx="364202" cy="370278"/>
          </a:xfrm>
        </p:grpSpPr>
        <p:sp>
          <p:nvSpPr>
            <p:cNvPr id="67" name="橢圓 66"/>
            <p:cNvSpPr/>
            <p:nvPr/>
          </p:nvSpPr>
          <p:spPr>
            <a:xfrm>
              <a:off x="3974105" y="211429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8" name="文字方塊 67"/>
            <p:cNvSpPr txBox="1"/>
            <p:nvPr/>
          </p:nvSpPr>
          <p:spPr>
            <a:xfrm>
              <a:off x="3936004" y="2032019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" name="群組 2"/>
          <p:cNvGrpSpPr/>
          <p:nvPr/>
        </p:nvGrpSpPr>
        <p:grpSpPr>
          <a:xfrm>
            <a:off x="1163138" y="3913684"/>
            <a:ext cx="2549063" cy="1315637"/>
            <a:chOff x="1163138" y="3913684"/>
            <a:chExt cx="2549063" cy="1315637"/>
          </a:xfrm>
        </p:grpSpPr>
        <p:sp>
          <p:nvSpPr>
            <p:cNvPr id="70" name="文字方塊 69"/>
            <p:cNvSpPr txBox="1"/>
            <p:nvPr/>
          </p:nvSpPr>
          <p:spPr>
            <a:xfrm>
              <a:off x="2684724" y="428301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文字方塊 70"/>
            <p:cNvSpPr txBox="1"/>
            <p:nvPr/>
          </p:nvSpPr>
          <p:spPr>
            <a:xfrm>
              <a:off x="1477894" y="426175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文字方塊 71"/>
            <p:cNvSpPr txBox="1"/>
            <p:nvPr/>
          </p:nvSpPr>
          <p:spPr>
            <a:xfrm>
              <a:off x="2084619" y="4857525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文字方塊 72"/>
            <p:cNvSpPr txBox="1"/>
            <p:nvPr/>
          </p:nvSpPr>
          <p:spPr>
            <a:xfrm>
              <a:off x="1860184" y="3913684"/>
              <a:ext cx="8515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Dist</a:t>
              </a:r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[6]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文字方塊 73"/>
            <p:cNvSpPr txBox="1"/>
            <p:nvPr/>
          </p:nvSpPr>
          <p:spPr>
            <a:xfrm>
              <a:off x="1163138" y="4715989"/>
              <a:ext cx="8515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Dist</a:t>
              </a:r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[4]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5" name="直線接點 74"/>
            <p:cNvCxnSpPr>
              <a:stCxn id="79" idx="3"/>
              <a:endCxn id="78" idx="7"/>
            </p:cNvCxnSpPr>
            <p:nvPr/>
          </p:nvCxnSpPr>
          <p:spPr>
            <a:xfrm flipH="1">
              <a:off x="2368543" y="4591369"/>
              <a:ext cx="394452" cy="392129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文字方塊 75"/>
            <p:cNvSpPr txBox="1"/>
            <p:nvPr/>
          </p:nvSpPr>
          <p:spPr>
            <a:xfrm>
              <a:off x="2501613" y="4647491"/>
              <a:ext cx="12105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Cost[4][6]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橢圓 76"/>
            <p:cNvSpPr/>
            <p:nvPr/>
          </p:nvSpPr>
          <p:spPr>
            <a:xfrm>
              <a:off x="1515995" y="4345546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8" name="橢圓 77"/>
            <p:cNvSpPr/>
            <p:nvPr/>
          </p:nvSpPr>
          <p:spPr>
            <a:xfrm>
              <a:off x="2122720" y="4941321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9" name="橢圓 78"/>
            <p:cNvSpPr/>
            <p:nvPr/>
          </p:nvSpPr>
          <p:spPr>
            <a:xfrm>
              <a:off x="2720818" y="4345546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80" name="弧形接點 79"/>
            <p:cNvCxnSpPr>
              <a:stCxn id="71" idx="2"/>
              <a:endCxn id="78" idx="0"/>
            </p:cNvCxnSpPr>
            <p:nvPr/>
          </p:nvCxnSpPr>
          <p:spPr>
            <a:xfrm rot="16200000" flipH="1">
              <a:off x="1808238" y="4482838"/>
              <a:ext cx="310239" cy="606725"/>
            </a:xfrm>
            <a:prstGeom prst="curvedConnector3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弧形接點 80"/>
            <p:cNvCxnSpPr>
              <a:stCxn id="77" idx="7"/>
              <a:endCxn id="79" idx="2"/>
            </p:cNvCxnSpPr>
            <p:nvPr/>
          </p:nvCxnSpPr>
          <p:spPr>
            <a:xfrm rot="16200000" flipH="1">
              <a:off x="2190406" y="3959134"/>
              <a:ext cx="101823" cy="959000"/>
            </a:xfrm>
            <a:prstGeom prst="curvedConnector4">
              <a:avLst>
                <a:gd name="adj1" fmla="val -120085"/>
                <a:gd name="adj2" fmla="val 56634"/>
              </a:avLst>
            </a:prstGeom>
            <a:ln w="28575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圓角矩形 82"/>
          <p:cNvSpPr/>
          <p:nvPr/>
        </p:nvSpPr>
        <p:spPr>
          <a:xfrm>
            <a:off x="7240595" y="1495451"/>
            <a:ext cx="685244" cy="1548995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C00000"/>
              </a:solidFill>
            </a:endParaRPr>
          </a:p>
        </p:txBody>
      </p:sp>
      <p:sp>
        <p:nvSpPr>
          <p:cNvPr id="84" name="文字方塊 83"/>
          <p:cNvSpPr txBox="1"/>
          <p:nvPr/>
        </p:nvSpPr>
        <p:spPr>
          <a:xfrm>
            <a:off x="4198481" y="4346657"/>
            <a:ext cx="434926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= min{</a:t>
            </a:r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[6], </a:t>
            </a:r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+ Cost[4][6]}</a:t>
            </a:r>
          </a:p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= min{9, 8 + 6}</a:t>
            </a:r>
          </a:p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= 9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文字方塊 86"/>
          <p:cNvSpPr txBox="1"/>
          <p:nvPr/>
        </p:nvSpPr>
        <p:spPr>
          <a:xfrm>
            <a:off x="7482308" y="2630493"/>
            <a:ext cx="200943" cy="307777"/>
          </a:xfrm>
          <a:prstGeom prst="rect">
            <a:avLst/>
          </a:prstGeom>
          <a:solidFill>
            <a:srgbClr val="F3F9FA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6329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83" grpId="0" animBg="1"/>
      <p:bldP spid="8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Dijkstra </a:t>
            </a:r>
            <a:r>
              <a:rPr lang="zh-TW" altLang="en-US" dirty="0"/>
              <a:t>演算法 </a:t>
            </a:r>
            <a:r>
              <a:rPr lang="en-US" altLang="zh-TW" dirty="0"/>
              <a:t>(8/9)</a:t>
            </a:r>
            <a:endParaRPr lang="zh-TW" altLang="en-US" dirty="0"/>
          </a:p>
        </p:txBody>
      </p:sp>
      <p:graphicFrame>
        <p:nvGraphicFramePr>
          <p:cNvPr id="7" name="內容版面配置區 6"/>
          <p:cNvGraphicFramePr>
            <a:graphicFrameLocks noGrp="1"/>
          </p:cNvGraphicFramePr>
          <p:nvPr>
            <p:ph sz="quarter" idx="4294967295"/>
          </p:nvPr>
        </p:nvGraphicFramePr>
        <p:xfrm>
          <a:off x="5220491" y="1791448"/>
          <a:ext cx="3690750" cy="11887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2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8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9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5313342" y="142583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5839811" y="142583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6362788" y="142583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6889257" y="142583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7409352" y="142583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7932329" y="142583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8458798" y="142583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4476907" y="1805798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[]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4352849" y="2202757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Prior[]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4079929" y="2599716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Decided[]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8" name="群組 17"/>
          <p:cNvGrpSpPr/>
          <p:nvPr/>
        </p:nvGrpSpPr>
        <p:grpSpPr>
          <a:xfrm>
            <a:off x="902042" y="2082668"/>
            <a:ext cx="916823" cy="369332"/>
            <a:chOff x="1369380" y="1970119"/>
            <a:chExt cx="916823" cy="369332"/>
          </a:xfrm>
        </p:grpSpPr>
        <p:cxnSp>
          <p:nvCxnSpPr>
            <p:cNvPr id="19" name="直線接點 18"/>
            <p:cNvCxnSpPr>
              <a:stCxn id="58" idx="2"/>
              <a:endCxn id="49" idx="6"/>
            </p:cNvCxnSpPr>
            <p:nvPr/>
          </p:nvCxnSpPr>
          <p:spPr>
            <a:xfrm flipH="1">
              <a:off x="1369380" y="2258297"/>
              <a:ext cx="916823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文字方塊 19"/>
            <p:cNvSpPr txBox="1"/>
            <p:nvPr/>
          </p:nvSpPr>
          <p:spPr>
            <a:xfrm>
              <a:off x="1682064" y="197011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1" name="群組 20"/>
          <p:cNvGrpSpPr/>
          <p:nvPr/>
        </p:nvGrpSpPr>
        <p:grpSpPr>
          <a:xfrm>
            <a:off x="843195" y="1782035"/>
            <a:ext cx="419749" cy="486988"/>
            <a:chOff x="1310533" y="1669486"/>
            <a:chExt cx="419749" cy="486988"/>
          </a:xfrm>
        </p:grpSpPr>
        <p:cxnSp>
          <p:nvCxnSpPr>
            <p:cNvPr id="22" name="直線接點 21"/>
            <p:cNvCxnSpPr>
              <a:stCxn id="49" idx="7"/>
              <a:endCxn id="52" idx="3"/>
            </p:cNvCxnSpPr>
            <p:nvPr/>
          </p:nvCxnSpPr>
          <p:spPr>
            <a:xfrm flipV="1">
              <a:off x="1327203" y="1736700"/>
              <a:ext cx="403079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文字方塊 22"/>
            <p:cNvSpPr txBox="1"/>
            <p:nvPr/>
          </p:nvSpPr>
          <p:spPr>
            <a:xfrm>
              <a:off x="1310533" y="166948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4" name="群組 23"/>
          <p:cNvGrpSpPr/>
          <p:nvPr/>
        </p:nvGrpSpPr>
        <p:grpSpPr>
          <a:xfrm>
            <a:off x="843195" y="2472669"/>
            <a:ext cx="419749" cy="445481"/>
            <a:chOff x="1310533" y="2360120"/>
            <a:chExt cx="419749" cy="445481"/>
          </a:xfrm>
        </p:grpSpPr>
        <p:cxnSp>
          <p:nvCxnSpPr>
            <p:cNvPr id="25" name="直線接點 24"/>
            <p:cNvCxnSpPr>
              <a:stCxn id="55" idx="1"/>
              <a:endCxn id="49" idx="5"/>
            </p:cNvCxnSpPr>
            <p:nvPr/>
          </p:nvCxnSpPr>
          <p:spPr>
            <a:xfrm flipH="1" flipV="1">
              <a:off x="1327203" y="2360120"/>
              <a:ext cx="403079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文字方塊 25"/>
            <p:cNvSpPr txBox="1"/>
            <p:nvPr/>
          </p:nvSpPr>
          <p:spPr>
            <a:xfrm>
              <a:off x="1310533" y="243626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7" name="群組 26"/>
          <p:cNvGrpSpPr/>
          <p:nvPr/>
        </p:nvGrpSpPr>
        <p:grpSpPr>
          <a:xfrm>
            <a:off x="1466590" y="1762008"/>
            <a:ext cx="411886" cy="507015"/>
            <a:chOff x="1933928" y="1649459"/>
            <a:chExt cx="411886" cy="507015"/>
          </a:xfrm>
        </p:grpSpPr>
        <p:cxnSp>
          <p:nvCxnSpPr>
            <p:cNvPr id="28" name="直線接點 27"/>
            <p:cNvCxnSpPr>
              <a:stCxn id="58" idx="1"/>
              <a:endCxn id="52" idx="5"/>
            </p:cNvCxnSpPr>
            <p:nvPr/>
          </p:nvCxnSpPr>
          <p:spPr>
            <a:xfrm flipH="1" flipV="1">
              <a:off x="1933928" y="1736700"/>
              <a:ext cx="394452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文字方塊 28"/>
            <p:cNvSpPr txBox="1"/>
            <p:nvPr/>
          </p:nvSpPr>
          <p:spPr>
            <a:xfrm>
              <a:off x="2045732" y="164945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0" name="群組 29"/>
          <p:cNvGrpSpPr/>
          <p:nvPr/>
        </p:nvGrpSpPr>
        <p:grpSpPr>
          <a:xfrm>
            <a:off x="1466590" y="2472669"/>
            <a:ext cx="411886" cy="425454"/>
            <a:chOff x="1933928" y="2360120"/>
            <a:chExt cx="411886" cy="425454"/>
          </a:xfrm>
        </p:grpSpPr>
        <p:cxnSp>
          <p:nvCxnSpPr>
            <p:cNvPr id="31" name="直線接點 30"/>
            <p:cNvCxnSpPr>
              <a:stCxn id="58" idx="3"/>
              <a:endCxn id="55" idx="7"/>
            </p:cNvCxnSpPr>
            <p:nvPr/>
          </p:nvCxnSpPr>
          <p:spPr>
            <a:xfrm flipH="1">
              <a:off x="1933928" y="2360120"/>
              <a:ext cx="394452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文字方塊 31"/>
            <p:cNvSpPr txBox="1"/>
            <p:nvPr/>
          </p:nvSpPr>
          <p:spPr>
            <a:xfrm>
              <a:off x="2045732" y="241624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3" name="群組 32"/>
          <p:cNvGrpSpPr/>
          <p:nvPr/>
        </p:nvGrpSpPr>
        <p:grpSpPr>
          <a:xfrm>
            <a:off x="2064688" y="1749769"/>
            <a:ext cx="627365" cy="519254"/>
            <a:chOff x="2532026" y="1637220"/>
            <a:chExt cx="627365" cy="519254"/>
          </a:xfrm>
        </p:grpSpPr>
        <p:cxnSp>
          <p:nvCxnSpPr>
            <p:cNvPr id="34" name="直線接點 33"/>
            <p:cNvCxnSpPr>
              <a:stCxn id="61" idx="3"/>
              <a:endCxn id="58" idx="7"/>
            </p:cNvCxnSpPr>
            <p:nvPr/>
          </p:nvCxnSpPr>
          <p:spPr>
            <a:xfrm flipH="1">
              <a:off x="2532026" y="1736700"/>
              <a:ext cx="627365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字方塊 34"/>
            <p:cNvSpPr txBox="1"/>
            <p:nvPr/>
          </p:nvSpPr>
          <p:spPr>
            <a:xfrm>
              <a:off x="2667499" y="163722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6" name="群組 35"/>
          <p:cNvGrpSpPr/>
          <p:nvPr/>
        </p:nvGrpSpPr>
        <p:grpSpPr>
          <a:xfrm>
            <a:off x="2064688" y="2472669"/>
            <a:ext cx="627365" cy="413215"/>
            <a:chOff x="2532026" y="2360120"/>
            <a:chExt cx="627365" cy="413215"/>
          </a:xfrm>
        </p:grpSpPr>
        <p:cxnSp>
          <p:nvCxnSpPr>
            <p:cNvPr id="37" name="直線接點 36"/>
            <p:cNvCxnSpPr>
              <a:stCxn id="64" idx="1"/>
              <a:endCxn id="58" idx="5"/>
            </p:cNvCxnSpPr>
            <p:nvPr/>
          </p:nvCxnSpPr>
          <p:spPr>
            <a:xfrm flipH="1" flipV="1">
              <a:off x="2532026" y="2360120"/>
              <a:ext cx="627365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文字方塊 37"/>
            <p:cNvSpPr txBox="1"/>
            <p:nvPr/>
          </p:nvSpPr>
          <p:spPr>
            <a:xfrm>
              <a:off x="2581239" y="240400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9" name="群組 38"/>
          <p:cNvGrpSpPr/>
          <p:nvPr/>
        </p:nvGrpSpPr>
        <p:grpSpPr>
          <a:xfrm>
            <a:off x="2895699" y="1762008"/>
            <a:ext cx="653245" cy="507015"/>
            <a:chOff x="3363037" y="1649459"/>
            <a:chExt cx="653245" cy="507015"/>
          </a:xfrm>
        </p:grpSpPr>
        <p:cxnSp>
          <p:nvCxnSpPr>
            <p:cNvPr id="40" name="直線接點 39"/>
            <p:cNvCxnSpPr>
              <a:stCxn id="67" idx="1"/>
              <a:endCxn id="61" idx="5"/>
            </p:cNvCxnSpPr>
            <p:nvPr/>
          </p:nvCxnSpPr>
          <p:spPr>
            <a:xfrm flipH="1" flipV="1">
              <a:off x="3363037" y="1736700"/>
              <a:ext cx="653245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文字方塊 40"/>
            <p:cNvSpPr txBox="1"/>
            <p:nvPr/>
          </p:nvSpPr>
          <p:spPr>
            <a:xfrm>
              <a:off x="3582748" y="164945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2" name="群組 41"/>
          <p:cNvGrpSpPr/>
          <p:nvPr/>
        </p:nvGrpSpPr>
        <p:grpSpPr>
          <a:xfrm>
            <a:off x="2895699" y="2472669"/>
            <a:ext cx="653245" cy="425454"/>
            <a:chOff x="3363037" y="2360120"/>
            <a:chExt cx="653245" cy="425454"/>
          </a:xfrm>
        </p:grpSpPr>
        <p:cxnSp>
          <p:nvCxnSpPr>
            <p:cNvPr id="43" name="直線接點 42"/>
            <p:cNvCxnSpPr>
              <a:stCxn id="67" idx="3"/>
              <a:endCxn id="64" idx="7"/>
            </p:cNvCxnSpPr>
            <p:nvPr/>
          </p:nvCxnSpPr>
          <p:spPr>
            <a:xfrm flipH="1">
              <a:off x="3363037" y="2360120"/>
              <a:ext cx="653245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文字方塊 43"/>
            <p:cNvSpPr txBox="1"/>
            <p:nvPr/>
          </p:nvSpPr>
          <p:spPr>
            <a:xfrm>
              <a:off x="3608626" y="241624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5" name="群組 44"/>
          <p:cNvGrpSpPr/>
          <p:nvPr/>
        </p:nvGrpSpPr>
        <p:grpSpPr>
          <a:xfrm>
            <a:off x="1508767" y="2885884"/>
            <a:ext cx="1141109" cy="369332"/>
            <a:chOff x="1976105" y="2773335"/>
            <a:chExt cx="1141109" cy="369332"/>
          </a:xfrm>
        </p:grpSpPr>
        <p:cxnSp>
          <p:nvCxnSpPr>
            <p:cNvPr id="46" name="直線接點 45"/>
            <p:cNvCxnSpPr>
              <a:stCxn id="64" idx="2"/>
              <a:endCxn id="55" idx="6"/>
            </p:cNvCxnSpPr>
            <p:nvPr/>
          </p:nvCxnSpPr>
          <p:spPr>
            <a:xfrm flipH="1">
              <a:off x="1976105" y="2854072"/>
              <a:ext cx="1141109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文字方塊 46"/>
            <p:cNvSpPr txBox="1"/>
            <p:nvPr/>
          </p:nvSpPr>
          <p:spPr>
            <a:xfrm>
              <a:off x="2381985" y="2773335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9" name="橢圓 48"/>
          <p:cNvSpPr/>
          <p:nvPr/>
        </p:nvSpPr>
        <p:spPr>
          <a:xfrm>
            <a:off x="614042" y="2226846"/>
            <a:ext cx="288000" cy="288000"/>
          </a:xfrm>
          <a:prstGeom prst="ellipse">
            <a:avLst/>
          </a:prstGeom>
          <a:solidFill>
            <a:srgbClr val="FF99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0" name="文字方塊 49"/>
          <p:cNvSpPr txBox="1"/>
          <p:nvPr/>
        </p:nvSpPr>
        <p:spPr>
          <a:xfrm>
            <a:off x="575941" y="2143050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baseline="-25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橢圓 51"/>
          <p:cNvSpPr/>
          <p:nvPr/>
        </p:nvSpPr>
        <p:spPr>
          <a:xfrm>
            <a:off x="1220767" y="1603426"/>
            <a:ext cx="288000" cy="288000"/>
          </a:xfrm>
          <a:prstGeom prst="ellipse">
            <a:avLst/>
          </a:prstGeom>
          <a:solidFill>
            <a:srgbClr val="FF99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3" name="文字方塊 52"/>
          <p:cNvSpPr txBox="1"/>
          <p:nvPr/>
        </p:nvSpPr>
        <p:spPr>
          <a:xfrm>
            <a:off x="1182666" y="1519754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baseline="-25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橢圓 54"/>
          <p:cNvSpPr/>
          <p:nvPr/>
        </p:nvSpPr>
        <p:spPr>
          <a:xfrm>
            <a:off x="1220767" y="2822621"/>
            <a:ext cx="288000" cy="288000"/>
          </a:xfrm>
          <a:prstGeom prst="ellipse">
            <a:avLst/>
          </a:prstGeom>
          <a:solidFill>
            <a:srgbClr val="FF99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6" name="文字方塊 55"/>
          <p:cNvSpPr txBox="1"/>
          <p:nvPr/>
        </p:nvSpPr>
        <p:spPr>
          <a:xfrm>
            <a:off x="1182666" y="2738825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baseline="-25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橢圓 57"/>
          <p:cNvSpPr/>
          <p:nvPr/>
        </p:nvSpPr>
        <p:spPr>
          <a:xfrm>
            <a:off x="1818865" y="2226846"/>
            <a:ext cx="288000" cy="288000"/>
          </a:xfrm>
          <a:prstGeom prst="ellipse">
            <a:avLst/>
          </a:prstGeom>
          <a:solidFill>
            <a:srgbClr val="FF99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文字方塊 58"/>
          <p:cNvSpPr txBox="1"/>
          <p:nvPr/>
        </p:nvSpPr>
        <p:spPr>
          <a:xfrm>
            <a:off x="1772138" y="2143050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baseline="-25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橢圓 60"/>
          <p:cNvSpPr/>
          <p:nvPr/>
        </p:nvSpPr>
        <p:spPr>
          <a:xfrm>
            <a:off x="2649876" y="1603426"/>
            <a:ext cx="288000" cy="288000"/>
          </a:xfrm>
          <a:prstGeom prst="ellipse">
            <a:avLst/>
          </a:prstGeom>
          <a:solidFill>
            <a:srgbClr val="FF99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2" name="文字方塊 61"/>
          <p:cNvSpPr txBox="1"/>
          <p:nvPr/>
        </p:nvSpPr>
        <p:spPr>
          <a:xfrm>
            <a:off x="2611775" y="1519630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baseline="-25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橢圓 63"/>
          <p:cNvSpPr/>
          <p:nvPr/>
        </p:nvSpPr>
        <p:spPr>
          <a:xfrm>
            <a:off x="2649876" y="2822621"/>
            <a:ext cx="288000" cy="288000"/>
          </a:xfrm>
          <a:prstGeom prst="ellipse">
            <a:avLst/>
          </a:prstGeom>
          <a:solidFill>
            <a:srgbClr val="FF99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5" name="文字方塊 64"/>
          <p:cNvSpPr txBox="1"/>
          <p:nvPr/>
        </p:nvSpPr>
        <p:spPr>
          <a:xfrm>
            <a:off x="2601815" y="2738825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baseline="-25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橢圓 66"/>
          <p:cNvSpPr/>
          <p:nvPr/>
        </p:nvSpPr>
        <p:spPr>
          <a:xfrm>
            <a:off x="3506767" y="2226846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8" name="文字方塊 67"/>
          <p:cNvSpPr txBox="1"/>
          <p:nvPr/>
        </p:nvSpPr>
        <p:spPr>
          <a:xfrm>
            <a:off x="3468666" y="2144568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圓角矩形 82"/>
          <p:cNvSpPr/>
          <p:nvPr/>
        </p:nvSpPr>
        <p:spPr>
          <a:xfrm>
            <a:off x="8303895" y="1495451"/>
            <a:ext cx="685244" cy="1548995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7" name="文字方塊 86"/>
          <p:cNvSpPr txBox="1"/>
          <p:nvPr/>
        </p:nvSpPr>
        <p:spPr>
          <a:xfrm>
            <a:off x="8534975" y="2630493"/>
            <a:ext cx="200943" cy="307777"/>
          </a:xfrm>
          <a:prstGeom prst="rect">
            <a:avLst/>
          </a:prstGeom>
          <a:solidFill>
            <a:srgbClr val="F3F9FA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5" name="內容版面配置區 60"/>
          <p:cNvGraphicFramePr>
            <a:graphicFrameLocks/>
          </p:cNvGraphicFramePr>
          <p:nvPr/>
        </p:nvGraphicFramePr>
        <p:xfrm>
          <a:off x="1352824" y="3602886"/>
          <a:ext cx="5716870" cy="27736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2625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42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42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42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Decided vertices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4</a:t>
                      </a:r>
                      <a:endParaRPr lang="zh-TW" altLang="en-US" sz="20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5</a:t>
                      </a:r>
                      <a:endParaRPr lang="zh-TW" altLang="en-US" sz="20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6</a:t>
                      </a:r>
                      <a:endParaRPr lang="zh-TW" altLang="en-US" sz="20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1/0</a:t>
                      </a:r>
                      <a:endParaRPr lang="zh-TW" altLang="en-US" sz="20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4/0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5/0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-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3/1</a:t>
                      </a:r>
                      <a:endParaRPr lang="zh-TW" altLang="en-US" sz="20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4/0</a:t>
                      </a:r>
                      <a:endParaRPr lang="zh-TW" altLang="en-US" sz="20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8/3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5/3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{</a:t>
                      </a:r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0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, </a:t>
                      </a:r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1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, </a:t>
                      </a:r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3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, </a:t>
                      </a:r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2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}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-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-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8/3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5/3</a:t>
                      </a:r>
                      <a:endParaRPr lang="zh-TW" altLang="en-US" sz="20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{</a:t>
                      </a:r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0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, </a:t>
                      </a:r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1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, </a:t>
                      </a:r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3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, </a:t>
                      </a:r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2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, </a:t>
                      </a:r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5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}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-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8/3</a:t>
                      </a:r>
                      <a:endParaRPr lang="zh-TW" altLang="en-US" sz="20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9/5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{</a:t>
                      </a:r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0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, </a:t>
                      </a:r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1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, </a:t>
                      </a:r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3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, </a:t>
                      </a:r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2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, </a:t>
                      </a:r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5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, </a:t>
                      </a:r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4</a:t>
                      </a:r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}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-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-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-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9/5</a:t>
                      </a:r>
                      <a:endParaRPr lang="zh-TW" altLang="en-US" sz="20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6" name="文字方塊 85"/>
          <p:cNvSpPr txBox="1"/>
          <p:nvPr/>
        </p:nvSpPr>
        <p:spPr>
          <a:xfrm>
            <a:off x="7166135" y="5977305"/>
            <a:ext cx="1479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[]/Prior[]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2961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/>
      <p:bldP spid="83" grpId="0" animBg="1"/>
      <p:bldP spid="87" grpId="0" animBg="1"/>
      <p:bldP spid="8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Dijkstra </a:t>
            </a:r>
            <a:r>
              <a:rPr lang="zh-TW" altLang="en-US" dirty="0"/>
              <a:t>演算法 </a:t>
            </a:r>
            <a:r>
              <a:rPr lang="en-US" altLang="zh-TW" dirty="0"/>
              <a:t>(9/9)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29</a:t>
            </a:fld>
            <a:endParaRPr lang="en-US" dirty="0"/>
          </a:p>
        </p:txBody>
      </p:sp>
      <p:grpSp>
        <p:nvGrpSpPr>
          <p:cNvPr id="112" name="群組 111"/>
          <p:cNvGrpSpPr/>
          <p:nvPr/>
        </p:nvGrpSpPr>
        <p:grpSpPr>
          <a:xfrm>
            <a:off x="671111" y="1224214"/>
            <a:ext cx="3256927" cy="1735586"/>
            <a:chOff x="575941" y="1519630"/>
            <a:chExt cx="3256927" cy="1735586"/>
          </a:xfrm>
        </p:grpSpPr>
        <p:grpSp>
          <p:nvGrpSpPr>
            <p:cNvPr id="7" name="群組 6"/>
            <p:cNvGrpSpPr/>
            <p:nvPr/>
          </p:nvGrpSpPr>
          <p:grpSpPr>
            <a:xfrm>
              <a:off x="902042" y="2082668"/>
              <a:ext cx="916823" cy="369332"/>
              <a:chOff x="1369380" y="1970119"/>
              <a:chExt cx="916823" cy="369332"/>
            </a:xfrm>
          </p:grpSpPr>
          <p:cxnSp>
            <p:nvCxnSpPr>
              <p:cNvPr id="8" name="直線接點 7"/>
              <p:cNvCxnSpPr>
                <a:stCxn id="45" idx="2"/>
                <a:endCxn id="37" idx="6"/>
              </p:cNvCxnSpPr>
              <p:nvPr/>
            </p:nvCxnSpPr>
            <p:spPr>
              <a:xfrm flipH="1">
                <a:off x="1369380" y="2258297"/>
                <a:ext cx="916823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文字方塊 8"/>
              <p:cNvSpPr txBox="1"/>
              <p:nvPr/>
            </p:nvSpPr>
            <p:spPr>
              <a:xfrm>
                <a:off x="1682064" y="1970119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0" name="群組 9"/>
            <p:cNvGrpSpPr/>
            <p:nvPr/>
          </p:nvGrpSpPr>
          <p:grpSpPr>
            <a:xfrm>
              <a:off x="843195" y="1782035"/>
              <a:ext cx="419749" cy="486988"/>
              <a:chOff x="1310533" y="1669486"/>
              <a:chExt cx="419749" cy="486988"/>
            </a:xfrm>
          </p:grpSpPr>
          <p:cxnSp>
            <p:nvCxnSpPr>
              <p:cNvPr id="11" name="直線接點 10"/>
              <p:cNvCxnSpPr>
                <a:stCxn id="37" idx="7"/>
                <a:endCxn id="39" idx="3"/>
              </p:cNvCxnSpPr>
              <p:nvPr/>
            </p:nvCxnSpPr>
            <p:spPr>
              <a:xfrm flipV="1">
                <a:off x="1327203" y="1736700"/>
                <a:ext cx="403079" cy="419774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文字方塊 11"/>
              <p:cNvSpPr txBox="1"/>
              <p:nvPr/>
            </p:nvSpPr>
            <p:spPr>
              <a:xfrm>
                <a:off x="1310533" y="1669486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3" name="群組 12"/>
            <p:cNvGrpSpPr/>
            <p:nvPr/>
          </p:nvGrpSpPr>
          <p:grpSpPr>
            <a:xfrm>
              <a:off x="843195" y="2472669"/>
              <a:ext cx="419749" cy="445481"/>
              <a:chOff x="1310533" y="2360120"/>
              <a:chExt cx="419749" cy="445481"/>
            </a:xfrm>
          </p:grpSpPr>
          <p:cxnSp>
            <p:nvCxnSpPr>
              <p:cNvPr id="14" name="直線接點 13"/>
              <p:cNvCxnSpPr>
                <a:stCxn id="42" idx="1"/>
                <a:endCxn id="37" idx="5"/>
              </p:cNvCxnSpPr>
              <p:nvPr/>
            </p:nvCxnSpPr>
            <p:spPr>
              <a:xfrm flipH="1" flipV="1">
                <a:off x="1327203" y="2360120"/>
                <a:ext cx="403079" cy="392129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文字方塊 14"/>
              <p:cNvSpPr txBox="1"/>
              <p:nvPr/>
            </p:nvSpPr>
            <p:spPr>
              <a:xfrm>
                <a:off x="1310533" y="2436269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6" name="群組 15"/>
            <p:cNvGrpSpPr/>
            <p:nvPr/>
          </p:nvGrpSpPr>
          <p:grpSpPr>
            <a:xfrm>
              <a:off x="1466590" y="1762008"/>
              <a:ext cx="411886" cy="507015"/>
              <a:chOff x="1933928" y="1649459"/>
              <a:chExt cx="411886" cy="507015"/>
            </a:xfrm>
          </p:grpSpPr>
          <p:cxnSp>
            <p:nvCxnSpPr>
              <p:cNvPr id="17" name="直線接點 16"/>
              <p:cNvCxnSpPr>
                <a:stCxn id="45" idx="1"/>
                <a:endCxn id="39" idx="5"/>
              </p:cNvCxnSpPr>
              <p:nvPr/>
            </p:nvCxnSpPr>
            <p:spPr>
              <a:xfrm flipH="1" flipV="1">
                <a:off x="1933928" y="1736700"/>
                <a:ext cx="394452" cy="419774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文字方塊 17"/>
              <p:cNvSpPr txBox="1"/>
              <p:nvPr/>
            </p:nvSpPr>
            <p:spPr>
              <a:xfrm>
                <a:off x="2045732" y="1649459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9" name="群組 18"/>
            <p:cNvGrpSpPr/>
            <p:nvPr/>
          </p:nvGrpSpPr>
          <p:grpSpPr>
            <a:xfrm>
              <a:off x="1466590" y="2472669"/>
              <a:ext cx="411886" cy="425454"/>
              <a:chOff x="1933928" y="2360120"/>
              <a:chExt cx="411886" cy="425454"/>
            </a:xfrm>
          </p:grpSpPr>
          <p:cxnSp>
            <p:nvCxnSpPr>
              <p:cNvPr id="20" name="直線接點 19"/>
              <p:cNvCxnSpPr>
                <a:stCxn id="45" idx="3"/>
                <a:endCxn id="42" idx="7"/>
              </p:cNvCxnSpPr>
              <p:nvPr/>
            </p:nvCxnSpPr>
            <p:spPr>
              <a:xfrm flipH="1">
                <a:off x="1933928" y="2360120"/>
                <a:ext cx="394452" cy="392129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文字方塊 20"/>
              <p:cNvSpPr txBox="1"/>
              <p:nvPr/>
            </p:nvSpPr>
            <p:spPr>
              <a:xfrm>
                <a:off x="2045732" y="2416242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2" name="群組 21"/>
            <p:cNvGrpSpPr/>
            <p:nvPr/>
          </p:nvGrpSpPr>
          <p:grpSpPr>
            <a:xfrm>
              <a:off x="2064688" y="1749769"/>
              <a:ext cx="627365" cy="519254"/>
              <a:chOff x="2532026" y="1637220"/>
              <a:chExt cx="627365" cy="519254"/>
            </a:xfrm>
          </p:grpSpPr>
          <p:cxnSp>
            <p:nvCxnSpPr>
              <p:cNvPr id="23" name="直線接點 22"/>
              <p:cNvCxnSpPr>
                <a:stCxn id="48" idx="3"/>
                <a:endCxn id="45" idx="7"/>
              </p:cNvCxnSpPr>
              <p:nvPr/>
            </p:nvCxnSpPr>
            <p:spPr>
              <a:xfrm flipH="1">
                <a:off x="2532026" y="1736700"/>
                <a:ext cx="627365" cy="419774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文字方塊 23"/>
              <p:cNvSpPr txBox="1"/>
              <p:nvPr/>
            </p:nvSpPr>
            <p:spPr>
              <a:xfrm>
                <a:off x="2667499" y="1637220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5" name="群組 24"/>
            <p:cNvGrpSpPr/>
            <p:nvPr/>
          </p:nvGrpSpPr>
          <p:grpSpPr>
            <a:xfrm>
              <a:off x="2064688" y="2472669"/>
              <a:ext cx="627365" cy="413215"/>
              <a:chOff x="2532026" y="2360120"/>
              <a:chExt cx="627365" cy="413215"/>
            </a:xfrm>
          </p:grpSpPr>
          <p:cxnSp>
            <p:nvCxnSpPr>
              <p:cNvPr id="26" name="直線接點 25"/>
              <p:cNvCxnSpPr>
                <a:stCxn id="51" idx="1"/>
                <a:endCxn id="45" idx="5"/>
              </p:cNvCxnSpPr>
              <p:nvPr/>
            </p:nvCxnSpPr>
            <p:spPr>
              <a:xfrm flipH="1" flipV="1">
                <a:off x="2532026" y="2360120"/>
                <a:ext cx="627365" cy="392129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文字方塊 26"/>
              <p:cNvSpPr txBox="1"/>
              <p:nvPr/>
            </p:nvSpPr>
            <p:spPr>
              <a:xfrm>
                <a:off x="2581239" y="2404003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8" name="群組 27"/>
            <p:cNvGrpSpPr/>
            <p:nvPr/>
          </p:nvGrpSpPr>
          <p:grpSpPr>
            <a:xfrm>
              <a:off x="2895699" y="1762008"/>
              <a:ext cx="653245" cy="507015"/>
              <a:chOff x="3363037" y="1649459"/>
              <a:chExt cx="653245" cy="507015"/>
            </a:xfrm>
          </p:grpSpPr>
          <p:cxnSp>
            <p:nvCxnSpPr>
              <p:cNvPr id="29" name="直線接點 28"/>
              <p:cNvCxnSpPr>
                <a:stCxn id="54" idx="1"/>
                <a:endCxn id="48" idx="5"/>
              </p:cNvCxnSpPr>
              <p:nvPr/>
            </p:nvCxnSpPr>
            <p:spPr>
              <a:xfrm flipH="1" flipV="1">
                <a:off x="3363037" y="1736700"/>
                <a:ext cx="653245" cy="419774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文字方塊 29"/>
              <p:cNvSpPr txBox="1"/>
              <p:nvPr/>
            </p:nvSpPr>
            <p:spPr>
              <a:xfrm>
                <a:off x="3582748" y="1649459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1" name="群組 30"/>
            <p:cNvGrpSpPr/>
            <p:nvPr/>
          </p:nvGrpSpPr>
          <p:grpSpPr>
            <a:xfrm>
              <a:off x="2895699" y="2472669"/>
              <a:ext cx="653245" cy="425454"/>
              <a:chOff x="3363037" y="2360120"/>
              <a:chExt cx="653245" cy="425454"/>
            </a:xfrm>
          </p:grpSpPr>
          <p:cxnSp>
            <p:nvCxnSpPr>
              <p:cNvPr id="32" name="直線接點 31"/>
              <p:cNvCxnSpPr>
                <a:stCxn id="54" idx="3"/>
                <a:endCxn id="51" idx="7"/>
              </p:cNvCxnSpPr>
              <p:nvPr/>
            </p:nvCxnSpPr>
            <p:spPr>
              <a:xfrm flipH="1">
                <a:off x="3363037" y="2360120"/>
                <a:ext cx="653245" cy="392129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文字方塊 32"/>
              <p:cNvSpPr txBox="1"/>
              <p:nvPr/>
            </p:nvSpPr>
            <p:spPr>
              <a:xfrm>
                <a:off x="3608626" y="2416242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4" name="群組 33"/>
            <p:cNvGrpSpPr/>
            <p:nvPr/>
          </p:nvGrpSpPr>
          <p:grpSpPr>
            <a:xfrm>
              <a:off x="1508767" y="2885884"/>
              <a:ext cx="1141109" cy="369332"/>
              <a:chOff x="1976105" y="2773335"/>
              <a:chExt cx="1141109" cy="369332"/>
            </a:xfrm>
          </p:grpSpPr>
          <p:cxnSp>
            <p:nvCxnSpPr>
              <p:cNvPr id="35" name="直線接點 34"/>
              <p:cNvCxnSpPr>
                <a:stCxn id="51" idx="2"/>
                <a:endCxn id="42" idx="6"/>
              </p:cNvCxnSpPr>
              <p:nvPr/>
            </p:nvCxnSpPr>
            <p:spPr>
              <a:xfrm flipH="1">
                <a:off x="1976105" y="2854072"/>
                <a:ext cx="1141109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文字方塊 35"/>
              <p:cNvSpPr txBox="1"/>
              <p:nvPr/>
            </p:nvSpPr>
            <p:spPr>
              <a:xfrm>
                <a:off x="2381985" y="2773335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7" name="橢圓 36"/>
            <p:cNvSpPr/>
            <p:nvPr/>
          </p:nvSpPr>
          <p:spPr>
            <a:xfrm>
              <a:off x="614042" y="2226846"/>
              <a:ext cx="288000" cy="288000"/>
            </a:xfrm>
            <a:prstGeom prst="ellipse">
              <a:avLst/>
            </a:prstGeom>
            <a:solidFill>
              <a:srgbClr val="FF993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bg1"/>
                </a:solidFill>
              </a:endParaRPr>
            </a:p>
          </p:txBody>
        </p:sp>
        <p:sp>
          <p:nvSpPr>
            <p:cNvPr id="38" name="文字方塊 37"/>
            <p:cNvSpPr txBox="1"/>
            <p:nvPr/>
          </p:nvSpPr>
          <p:spPr>
            <a:xfrm>
              <a:off x="575941" y="214305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橢圓 38"/>
            <p:cNvSpPr/>
            <p:nvPr/>
          </p:nvSpPr>
          <p:spPr>
            <a:xfrm>
              <a:off x="1220767" y="1603426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0" name="文字方塊 39"/>
            <p:cNvSpPr txBox="1"/>
            <p:nvPr/>
          </p:nvSpPr>
          <p:spPr>
            <a:xfrm>
              <a:off x="1182666" y="1519754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1" name="群組 40"/>
            <p:cNvGrpSpPr/>
            <p:nvPr/>
          </p:nvGrpSpPr>
          <p:grpSpPr>
            <a:xfrm>
              <a:off x="1182666" y="2738825"/>
              <a:ext cx="364202" cy="371796"/>
              <a:chOff x="1650004" y="2626276"/>
              <a:chExt cx="364202" cy="371796"/>
            </a:xfrm>
          </p:grpSpPr>
          <p:sp>
            <p:nvSpPr>
              <p:cNvPr id="42" name="橢圓 41"/>
              <p:cNvSpPr/>
              <p:nvPr/>
            </p:nvSpPr>
            <p:spPr>
              <a:xfrm>
                <a:off x="1688105" y="2710072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3" name="文字方塊 42"/>
              <p:cNvSpPr txBox="1"/>
              <p:nvPr/>
            </p:nvSpPr>
            <p:spPr>
              <a:xfrm>
                <a:off x="1650004" y="2626276"/>
                <a:ext cx="3642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TW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zh-TW" altLang="en-US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4" name="群組 43"/>
            <p:cNvGrpSpPr/>
            <p:nvPr/>
          </p:nvGrpSpPr>
          <p:grpSpPr>
            <a:xfrm>
              <a:off x="1772138" y="2143050"/>
              <a:ext cx="364202" cy="371796"/>
              <a:chOff x="2239476" y="2030501"/>
              <a:chExt cx="364202" cy="371796"/>
            </a:xfrm>
          </p:grpSpPr>
          <p:sp>
            <p:nvSpPr>
              <p:cNvPr id="45" name="橢圓 44"/>
              <p:cNvSpPr/>
              <p:nvPr/>
            </p:nvSpPr>
            <p:spPr>
              <a:xfrm>
                <a:off x="2286203" y="2114297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6" name="文字方塊 45"/>
              <p:cNvSpPr txBox="1"/>
              <p:nvPr/>
            </p:nvSpPr>
            <p:spPr>
              <a:xfrm>
                <a:off x="2239476" y="2030501"/>
                <a:ext cx="3642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TW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zh-TW" altLang="en-US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7" name="群組 46"/>
            <p:cNvGrpSpPr/>
            <p:nvPr/>
          </p:nvGrpSpPr>
          <p:grpSpPr>
            <a:xfrm>
              <a:off x="2611775" y="1519630"/>
              <a:ext cx="364202" cy="371796"/>
              <a:chOff x="3079113" y="1407081"/>
              <a:chExt cx="364202" cy="371796"/>
            </a:xfrm>
          </p:grpSpPr>
          <p:sp>
            <p:nvSpPr>
              <p:cNvPr id="48" name="橢圓 47"/>
              <p:cNvSpPr/>
              <p:nvPr/>
            </p:nvSpPr>
            <p:spPr>
              <a:xfrm>
                <a:off x="3117214" y="1490877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9" name="文字方塊 48"/>
              <p:cNvSpPr txBox="1"/>
              <p:nvPr/>
            </p:nvSpPr>
            <p:spPr>
              <a:xfrm>
                <a:off x="3079113" y="1407081"/>
                <a:ext cx="3642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TW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lang="zh-TW" altLang="en-US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50" name="群組 49"/>
            <p:cNvGrpSpPr/>
            <p:nvPr/>
          </p:nvGrpSpPr>
          <p:grpSpPr>
            <a:xfrm>
              <a:off x="2601815" y="2738825"/>
              <a:ext cx="364202" cy="371796"/>
              <a:chOff x="3069153" y="2626276"/>
              <a:chExt cx="364202" cy="371796"/>
            </a:xfrm>
          </p:grpSpPr>
          <p:sp>
            <p:nvSpPr>
              <p:cNvPr id="51" name="橢圓 50"/>
              <p:cNvSpPr/>
              <p:nvPr/>
            </p:nvSpPr>
            <p:spPr>
              <a:xfrm>
                <a:off x="3117214" y="2710072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2" name="文字方塊 51"/>
              <p:cNvSpPr txBox="1"/>
              <p:nvPr/>
            </p:nvSpPr>
            <p:spPr>
              <a:xfrm>
                <a:off x="3069153" y="2626276"/>
                <a:ext cx="3642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TW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endParaRPr lang="zh-TW" altLang="en-US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53" name="群組 52"/>
            <p:cNvGrpSpPr/>
            <p:nvPr/>
          </p:nvGrpSpPr>
          <p:grpSpPr>
            <a:xfrm>
              <a:off x="3468666" y="2144568"/>
              <a:ext cx="364202" cy="370278"/>
              <a:chOff x="3936004" y="2032019"/>
              <a:chExt cx="364202" cy="370278"/>
            </a:xfrm>
          </p:grpSpPr>
          <p:sp>
            <p:nvSpPr>
              <p:cNvPr id="54" name="橢圓 53"/>
              <p:cNvSpPr/>
              <p:nvPr/>
            </p:nvSpPr>
            <p:spPr>
              <a:xfrm>
                <a:off x="3974105" y="2114297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5" name="文字方塊 54"/>
              <p:cNvSpPr txBox="1"/>
              <p:nvPr/>
            </p:nvSpPr>
            <p:spPr>
              <a:xfrm>
                <a:off x="3936004" y="2032019"/>
                <a:ext cx="3642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TW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  <a:endParaRPr lang="zh-TW" altLang="en-US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11" name="群組 110"/>
          <p:cNvGrpSpPr/>
          <p:nvPr/>
        </p:nvGrpSpPr>
        <p:grpSpPr>
          <a:xfrm>
            <a:off x="4719894" y="1226171"/>
            <a:ext cx="3256927" cy="1735586"/>
            <a:chOff x="782629" y="3349898"/>
            <a:chExt cx="3256927" cy="1735586"/>
          </a:xfrm>
        </p:grpSpPr>
        <p:grpSp>
          <p:nvGrpSpPr>
            <p:cNvPr id="56" name="群組 55"/>
            <p:cNvGrpSpPr/>
            <p:nvPr/>
          </p:nvGrpSpPr>
          <p:grpSpPr>
            <a:xfrm>
              <a:off x="1108730" y="3912936"/>
              <a:ext cx="916823" cy="369332"/>
              <a:chOff x="1369380" y="1970119"/>
              <a:chExt cx="916823" cy="369332"/>
            </a:xfrm>
          </p:grpSpPr>
          <p:cxnSp>
            <p:nvCxnSpPr>
              <p:cNvPr id="57" name="直線接點 56"/>
              <p:cNvCxnSpPr>
                <a:stCxn id="93" idx="2"/>
                <a:endCxn id="86" idx="6"/>
              </p:cNvCxnSpPr>
              <p:nvPr/>
            </p:nvCxnSpPr>
            <p:spPr>
              <a:xfrm flipH="1">
                <a:off x="1369380" y="2258297"/>
                <a:ext cx="916823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" name="文字方塊 57"/>
              <p:cNvSpPr txBox="1"/>
              <p:nvPr/>
            </p:nvSpPr>
            <p:spPr>
              <a:xfrm>
                <a:off x="1682064" y="1970119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59" name="群組 58"/>
            <p:cNvGrpSpPr/>
            <p:nvPr/>
          </p:nvGrpSpPr>
          <p:grpSpPr>
            <a:xfrm>
              <a:off x="1049883" y="3612303"/>
              <a:ext cx="419749" cy="486988"/>
              <a:chOff x="1310533" y="1669486"/>
              <a:chExt cx="419749" cy="486988"/>
            </a:xfrm>
          </p:grpSpPr>
          <p:cxnSp>
            <p:nvCxnSpPr>
              <p:cNvPr id="60" name="直線接點 59"/>
              <p:cNvCxnSpPr>
                <a:stCxn id="86" idx="7"/>
                <a:endCxn id="88" idx="3"/>
              </p:cNvCxnSpPr>
              <p:nvPr/>
            </p:nvCxnSpPr>
            <p:spPr>
              <a:xfrm flipV="1">
                <a:off x="1327203" y="1736700"/>
                <a:ext cx="403079" cy="419774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1" name="文字方塊 60"/>
              <p:cNvSpPr txBox="1"/>
              <p:nvPr/>
            </p:nvSpPr>
            <p:spPr>
              <a:xfrm>
                <a:off x="1310533" y="1669486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62" name="群組 61"/>
            <p:cNvGrpSpPr/>
            <p:nvPr/>
          </p:nvGrpSpPr>
          <p:grpSpPr>
            <a:xfrm>
              <a:off x="1049883" y="4302937"/>
              <a:ext cx="419749" cy="445481"/>
              <a:chOff x="1310533" y="2360120"/>
              <a:chExt cx="419749" cy="445481"/>
            </a:xfrm>
          </p:grpSpPr>
          <p:cxnSp>
            <p:nvCxnSpPr>
              <p:cNvPr id="63" name="直線接點 62"/>
              <p:cNvCxnSpPr>
                <a:stCxn id="91" idx="1"/>
                <a:endCxn id="86" idx="5"/>
              </p:cNvCxnSpPr>
              <p:nvPr/>
            </p:nvCxnSpPr>
            <p:spPr>
              <a:xfrm flipH="1" flipV="1">
                <a:off x="1327203" y="2360120"/>
                <a:ext cx="403079" cy="392129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" name="文字方塊 63"/>
              <p:cNvSpPr txBox="1"/>
              <p:nvPr/>
            </p:nvSpPr>
            <p:spPr>
              <a:xfrm>
                <a:off x="1310533" y="2436269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65" name="群組 64"/>
            <p:cNvGrpSpPr/>
            <p:nvPr/>
          </p:nvGrpSpPr>
          <p:grpSpPr>
            <a:xfrm>
              <a:off x="1673278" y="3592276"/>
              <a:ext cx="411886" cy="507015"/>
              <a:chOff x="1933928" y="1649459"/>
              <a:chExt cx="411886" cy="507015"/>
            </a:xfrm>
          </p:grpSpPr>
          <p:cxnSp>
            <p:nvCxnSpPr>
              <p:cNvPr id="66" name="直線接點 65"/>
              <p:cNvCxnSpPr>
                <a:stCxn id="93" idx="1"/>
                <a:endCxn id="88" idx="5"/>
              </p:cNvCxnSpPr>
              <p:nvPr/>
            </p:nvCxnSpPr>
            <p:spPr>
              <a:xfrm flipH="1" flipV="1">
                <a:off x="1933928" y="1736700"/>
                <a:ext cx="394452" cy="419774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文字方塊 66"/>
              <p:cNvSpPr txBox="1"/>
              <p:nvPr/>
            </p:nvSpPr>
            <p:spPr>
              <a:xfrm>
                <a:off x="2045732" y="1649459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68" name="群組 67"/>
            <p:cNvGrpSpPr/>
            <p:nvPr/>
          </p:nvGrpSpPr>
          <p:grpSpPr>
            <a:xfrm>
              <a:off x="1673278" y="4302937"/>
              <a:ext cx="411886" cy="425454"/>
              <a:chOff x="1933928" y="2360120"/>
              <a:chExt cx="411886" cy="425454"/>
            </a:xfrm>
          </p:grpSpPr>
          <p:cxnSp>
            <p:nvCxnSpPr>
              <p:cNvPr id="69" name="直線接點 68"/>
              <p:cNvCxnSpPr>
                <a:stCxn id="93" idx="3"/>
                <a:endCxn id="91" idx="7"/>
              </p:cNvCxnSpPr>
              <p:nvPr/>
            </p:nvCxnSpPr>
            <p:spPr>
              <a:xfrm flipH="1">
                <a:off x="1933928" y="2360120"/>
                <a:ext cx="394452" cy="392129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文字方塊 69"/>
              <p:cNvSpPr txBox="1"/>
              <p:nvPr/>
            </p:nvSpPr>
            <p:spPr>
              <a:xfrm>
                <a:off x="2045732" y="2416242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71" name="群組 70"/>
            <p:cNvGrpSpPr/>
            <p:nvPr/>
          </p:nvGrpSpPr>
          <p:grpSpPr>
            <a:xfrm>
              <a:off x="2271376" y="3580037"/>
              <a:ext cx="627365" cy="519254"/>
              <a:chOff x="2532026" y="1637220"/>
              <a:chExt cx="627365" cy="519254"/>
            </a:xfrm>
          </p:grpSpPr>
          <p:cxnSp>
            <p:nvCxnSpPr>
              <p:cNvPr id="72" name="直線接點 71"/>
              <p:cNvCxnSpPr>
                <a:stCxn id="96" idx="3"/>
                <a:endCxn id="93" idx="7"/>
              </p:cNvCxnSpPr>
              <p:nvPr/>
            </p:nvCxnSpPr>
            <p:spPr>
              <a:xfrm flipH="1">
                <a:off x="2532026" y="1736700"/>
                <a:ext cx="627365" cy="419774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3" name="文字方塊 72"/>
              <p:cNvSpPr txBox="1"/>
              <p:nvPr/>
            </p:nvSpPr>
            <p:spPr>
              <a:xfrm>
                <a:off x="2667499" y="1637220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74" name="群組 73"/>
            <p:cNvGrpSpPr/>
            <p:nvPr/>
          </p:nvGrpSpPr>
          <p:grpSpPr>
            <a:xfrm>
              <a:off x="2271376" y="4302937"/>
              <a:ext cx="627365" cy="413215"/>
              <a:chOff x="2532026" y="2360120"/>
              <a:chExt cx="627365" cy="413215"/>
            </a:xfrm>
          </p:grpSpPr>
          <p:cxnSp>
            <p:nvCxnSpPr>
              <p:cNvPr id="75" name="直線接點 74"/>
              <p:cNvCxnSpPr>
                <a:stCxn id="99" idx="1"/>
                <a:endCxn id="93" idx="5"/>
              </p:cNvCxnSpPr>
              <p:nvPr/>
            </p:nvCxnSpPr>
            <p:spPr>
              <a:xfrm flipH="1" flipV="1">
                <a:off x="2532026" y="2360120"/>
                <a:ext cx="627365" cy="392129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6" name="文字方塊 75"/>
              <p:cNvSpPr txBox="1"/>
              <p:nvPr/>
            </p:nvSpPr>
            <p:spPr>
              <a:xfrm>
                <a:off x="2581239" y="2404003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77" name="群組 76"/>
            <p:cNvGrpSpPr/>
            <p:nvPr/>
          </p:nvGrpSpPr>
          <p:grpSpPr>
            <a:xfrm>
              <a:off x="3102387" y="3592276"/>
              <a:ext cx="653245" cy="507015"/>
              <a:chOff x="3363037" y="1649459"/>
              <a:chExt cx="653245" cy="507015"/>
            </a:xfrm>
          </p:grpSpPr>
          <p:cxnSp>
            <p:nvCxnSpPr>
              <p:cNvPr id="78" name="直線接點 77"/>
              <p:cNvCxnSpPr>
                <a:stCxn id="102" idx="1"/>
                <a:endCxn id="96" idx="5"/>
              </p:cNvCxnSpPr>
              <p:nvPr/>
            </p:nvCxnSpPr>
            <p:spPr>
              <a:xfrm flipH="1" flipV="1">
                <a:off x="3363037" y="1736700"/>
                <a:ext cx="653245" cy="419774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9" name="文字方塊 78"/>
              <p:cNvSpPr txBox="1"/>
              <p:nvPr/>
            </p:nvSpPr>
            <p:spPr>
              <a:xfrm>
                <a:off x="3582748" y="1649459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80" name="群組 79"/>
            <p:cNvGrpSpPr/>
            <p:nvPr/>
          </p:nvGrpSpPr>
          <p:grpSpPr>
            <a:xfrm>
              <a:off x="3102387" y="4302937"/>
              <a:ext cx="653245" cy="425454"/>
              <a:chOff x="3363037" y="2360120"/>
              <a:chExt cx="653245" cy="425454"/>
            </a:xfrm>
          </p:grpSpPr>
          <p:cxnSp>
            <p:nvCxnSpPr>
              <p:cNvPr id="81" name="直線接點 80"/>
              <p:cNvCxnSpPr>
                <a:stCxn id="102" idx="3"/>
                <a:endCxn id="99" idx="7"/>
              </p:cNvCxnSpPr>
              <p:nvPr/>
            </p:nvCxnSpPr>
            <p:spPr>
              <a:xfrm flipH="1">
                <a:off x="3363037" y="2360120"/>
                <a:ext cx="653245" cy="392129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2" name="文字方塊 81"/>
              <p:cNvSpPr txBox="1"/>
              <p:nvPr/>
            </p:nvSpPr>
            <p:spPr>
              <a:xfrm>
                <a:off x="3608626" y="2416242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83" name="群組 82"/>
            <p:cNvGrpSpPr/>
            <p:nvPr/>
          </p:nvGrpSpPr>
          <p:grpSpPr>
            <a:xfrm>
              <a:off x="1715455" y="4716152"/>
              <a:ext cx="1141109" cy="369332"/>
              <a:chOff x="1976105" y="2773335"/>
              <a:chExt cx="1141109" cy="369332"/>
            </a:xfrm>
          </p:grpSpPr>
          <p:cxnSp>
            <p:nvCxnSpPr>
              <p:cNvPr id="84" name="直線接點 83"/>
              <p:cNvCxnSpPr>
                <a:stCxn id="99" idx="2"/>
                <a:endCxn id="91" idx="6"/>
              </p:cNvCxnSpPr>
              <p:nvPr/>
            </p:nvCxnSpPr>
            <p:spPr>
              <a:xfrm flipH="1">
                <a:off x="1976105" y="2854072"/>
                <a:ext cx="1141109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5" name="文字方塊 84"/>
              <p:cNvSpPr txBox="1"/>
              <p:nvPr/>
            </p:nvSpPr>
            <p:spPr>
              <a:xfrm>
                <a:off x="2381985" y="2773335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86" name="橢圓 85"/>
            <p:cNvSpPr/>
            <p:nvPr/>
          </p:nvSpPr>
          <p:spPr>
            <a:xfrm>
              <a:off x="820730" y="4057114"/>
              <a:ext cx="288000" cy="288000"/>
            </a:xfrm>
            <a:prstGeom prst="ellipse">
              <a:avLst/>
            </a:prstGeom>
            <a:solidFill>
              <a:srgbClr val="FF993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7" name="文字方塊 86"/>
            <p:cNvSpPr txBox="1"/>
            <p:nvPr/>
          </p:nvSpPr>
          <p:spPr>
            <a:xfrm>
              <a:off x="782629" y="3973318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8" name="橢圓 87"/>
            <p:cNvSpPr/>
            <p:nvPr/>
          </p:nvSpPr>
          <p:spPr>
            <a:xfrm>
              <a:off x="1427455" y="3433694"/>
              <a:ext cx="288000" cy="288000"/>
            </a:xfrm>
            <a:prstGeom prst="ellipse">
              <a:avLst/>
            </a:prstGeom>
            <a:solidFill>
              <a:srgbClr val="FF993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9" name="文字方塊 88"/>
            <p:cNvSpPr txBox="1"/>
            <p:nvPr/>
          </p:nvSpPr>
          <p:spPr>
            <a:xfrm>
              <a:off x="1389354" y="3350022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90" name="群組 89"/>
            <p:cNvGrpSpPr/>
            <p:nvPr/>
          </p:nvGrpSpPr>
          <p:grpSpPr>
            <a:xfrm>
              <a:off x="1389354" y="4569093"/>
              <a:ext cx="364202" cy="371796"/>
              <a:chOff x="1650004" y="2626276"/>
              <a:chExt cx="364202" cy="371796"/>
            </a:xfrm>
          </p:grpSpPr>
          <p:sp>
            <p:nvSpPr>
              <p:cNvPr id="91" name="橢圓 90"/>
              <p:cNvSpPr/>
              <p:nvPr/>
            </p:nvSpPr>
            <p:spPr>
              <a:xfrm>
                <a:off x="1688105" y="2710072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92" name="文字方塊 91"/>
              <p:cNvSpPr txBox="1"/>
              <p:nvPr/>
            </p:nvSpPr>
            <p:spPr>
              <a:xfrm>
                <a:off x="1650004" y="2626276"/>
                <a:ext cx="3642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TW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zh-TW" altLang="en-US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93" name="橢圓 92"/>
            <p:cNvSpPr/>
            <p:nvPr/>
          </p:nvSpPr>
          <p:spPr>
            <a:xfrm>
              <a:off x="2025553" y="4057114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4" name="文字方塊 93"/>
            <p:cNvSpPr txBox="1"/>
            <p:nvPr/>
          </p:nvSpPr>
          <p:spPr>
            <a:xfrm>
              <a:off x="1978826" y="3973318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95" name="群組 94"/>
            <p:cNvGrpSpPr/>
            <p:nvPr/>
          </p:nvGrpSpPr>
          <p:grpSpPr>
            <a:xfrm>
              <a:off x="2818463" y="3349898"/>
              <a:ext cx="364202" cy="371796"/>
              <a:chOff x="3079113" y="1407081"/>
              <a:chExt cx="364202" cy="371796"/>
            </a:xfrm>
          </p:grpSpPr>
          <p:sp>
            <p:nvSpPr>
              <p:cNvPr id="96" name="橢圓 95"/>
              <p:cNvSpPr/>
              <p:nvPr/>
            </p:nvSpPr>
            <p:spPr>
              <a:xfrm>
                <a:off x="3117214" y="1490877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97" name="文字方塊 96"/>
              <p:cNvSpPr txBox="1"/>
              <p:nvPr/>
            </p:nvSpPr>
            <p:spPr>
              <a:xfrm>
                <a:off x="3079113" y="1407081"/>
                <a:ext cx="3642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TW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lang="zh-TW" altLang="en-US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98" name="群組 97"/>
            <p:cNvGrpSpPr/>
            <p:nvPr/>
          </p:nvGrpSpPr>
          <p:grpSpPr>
            <a:xfrm>
              <a:off x="2808503" y="4569093"/>
              <a:ext cx="364202" cy="371796"/>
              <a:chOff x="3069153" y="2626276"/>
              <a:chExt cx="364202" cy="371796"/>
            </a:xfrm>
          </p:grpSpPr>
          <p:sp>
            <p:nvSpPr>
              <p:cNvPr id="99" name="橢圓 98"/>
              <p:cNvSpPr/>
              <p:nvPr/>
            </p:nvSpPr>
            <p:spPr>
              <a:xfrm>
                <a:off x="3117214" y="2710072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0" name="文字方塊 99"/>
              <p:cNvSpPr txBox="1"/>
              <p:nvPr/>
            </p:nvSpPr>
            <p:spPr>
              <a:xfrm>
                <a:off x="3069153" y="2626276"/>
                <a:ext cx="3642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TW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endParaRPr lang="zh-TW" altLang="en-US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01" name="群組 100"/>
            <p:cNvGrpSpPr/>
            <p:nvPr/>
          </p:nvGrpSpPr>
          <p:grpSpPr>
            <a:xfrm>
              <a:off x="3675354" y="3974836"/>
              <a:ext cx="364202" cy="370278"/>
              <a:chOff x="3936004" y="2032019"/>
              <a:chExt cx="364202" cy="370278"/>
            </a:xfrm>
          </p:grpSpPr>
          <p:sp>
            <p:nvSpPr>
              <p:cNvPr id="102" name="橢圓 101"/>
              <p:cNvSpPr/>
              <p:nvPr/>
            </p:nvSpPr>
            <p:spPr>
              <a:xfrm>
                <a:off x="3974105" y="2114297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3" name="文字方塊 102"/>
              <p:cNvSpPr txBox="1"/>
              <p:nvPr/>
            </p:nvSpPr>
            <p:spPr>
              <a:xfrm>
                <a:off x="3936004" y="2032019"/>
                <a:ext cx="3642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TW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  <a:endParaRPr lang="zh-TW" altLang="en-US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60" name="群組 159"/>
          <p:cNvGrpSpPr/>
          <p:nvPr/>
        </p:nvGrpSpPr>
        <p:grpSpPr>
          <a:xfrm>
            <a:off x="635535" y="3061623"/>
            <a:ext cx="3256927" cy="1735586"/>
            <a:chOff x="575941" y="1519630"/>
            <a:chExt cx="3256927" cy="1735586"/>
          </a:xfrm>
        </p:grpSpPr>
        <p:grpSp>
          <p:nvGrpSpPr>
            <p:cNvPr id="113" name="群組 112"/>
            <p:cNvGrpSpPr/>
            <p:nvPr/>
          </p:nvGrpSpPr>
          <p:grpSpPr>
            <a:xfrm>
              <a:off x="902042" y="2082668"/>
              <a:ext cx="916823" cy="369332"/>
              <a:chOff x="1369380" y="1970119"/>
              <a:chExt cx="916823" cy="369332"/>
            </a:xfrm>
          </p:grpSpPr>
          <p:cxnSp>
            <p:nvCxnSpPr>
              <p:cNvPr id="114" name="直線接點 113"/>
              <p:cNvCxnSpPr>
                <a:stCxn id="149" idx="2"/>
                <a:endCxn id="143" idx="6"/>
              </p:cNvCxnSpPr>
              <p:nvPr/>
            </p:nvCxnSpPr>
            <p:spPr>
              <a:xfrm flipH="1">
                <a:off x="1369380" y="2258297"/>
                <a:ext cx="916823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5" name="文字方塊 114"/>
              <p:cNvSpPr txBox="1"/>
              <p:nvPr/>
            </p:nvSpPr>
            <p:spPr>
              <a:xfrm>
                <a:off x="1682064" y="1970119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16" name="群組 115"/>
            <p:cNvGrpSpPr/>
            <p:nvPr/>
          </p:nvGrpSpPr>
          <p:grpSpPr>
            <a:xfrm>
              <a:off x="843195" y="1782035"/>
              <a:ext cx="419749" cy="486988"/>
              <a:chOff x="1310533" y="1669486"/>
              <a:chExt cx="419749" cy="486988"/>
            </a:xfrm>
          </p:grpSpPr>
          <p:cxnSp>
            <p:nvCxnSpPr>
              <p:cNvPr id="117" name="直線接點 116"/>
              <p:cNvCxnSpPr>
                <a:stCxn id="143" idx="7"/>
                <a:endCxn id="145" idx="3"/>
              </p:cNvCxnSpPr>
              <p:nvPr/>
            </p:nvCxnSpPr>
            <p:spPr>
              <a:xfrm flipV="1">
                <a:off x="1327203" y="1736700"/>
                <a:ext cx="403079" cy="419774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8" name="文字方塊 117"/>
              <p:cNvSpPr txBox="1"/>
              <p:nvPr/>
            </p:nvSpPr>
            <p:spPr>
              <a:xfrm>
                <a:off x="1310533" y="1669486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19" name="群組 118"/>
            <p:cNvGrpSpPr/>
            <p:nvPr/>
          </p:nvGrpSpPr>
          <p:grpSpPr>
            <a:xfrm>
              <a:off x="843195" y="2472669"/>
              <a:ext cx="419749" cy="445481"/>
              <a:chOff x="1310533" y="2360120"/>
              <a:chExt cx="419749" cy="445481"/>
            </a:xfrm>
          </p:grpSpPr>
          <p:cxnSp>
            <p:nvCxnSpPr>
              <p:cNvPr id="120" name="直線接點 119"/>
              <p:cNvCxnSpPr>
                <a:stCxn id="147" idx="1"/>
                <a:endCxn id="143" idx="5"/>
              </p:cNvCxnSpPr>
              <p:nvPr/>
            </p:nvCxnSpPr>
            <p:spPr>
              <a:xfrm flipH="1" flipV="1">
                <a:off x="1327203" y="2360120"/>
                <a:ext cx="403079" cy="392129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1" name="文字方塊 120"/>
              <p:cNvSpPr txBox="1"/>
              <p:nvPr/>
            </p:nvSpPr>
            <p:spPr>
              <a:xfrm>
                <a:off x="1310533" y="2436269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22" name="群組 121"/>
            <p:cNvGrpSpPr/>
            <p:nvPr/>
          </p:nvGrpSpPr>
          <p:grpSpPr>
            <a:xfrm>
              <a:off x="1466590" y="1762008"/>
              <a:ext cx="411886" cy="507015"/>
              <a:chOff x="1933928" y="1649459"/>
              <a:chExt cx="411886" cy="507015"/>
            </a:xfrm>
          </p:grpSpPr>
          <p:cxnSp>
            <p:nvCxnSpPr>
              <p:cNvPr id="123" name="直線接點 122"/>
              <p:cNvCxnSpPr>
                <a:stCxn id="149" idx="1"/>
                <a:endCxn id="145" idx="5"/>
              </p:cNvCxnSpPr>
              <p:nvPr/>
            </p:nvCxnSpPr>
            <p:spPr>
              <a:xfrm flipH="1" flipV="1">
                <a:off x="1933928" y="1736700"/>
                <a:ext cx="394452" cy="419774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4" name="文字方塊 123"/>
              <p:cNvSpPr txBox="1"/>
              <p:nvPr/>
            </p:nvSpPr>
            <p:spPr>
              <a:xfrm>
                <a:off x="2045732" y="1649459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25" name="群組 124"/>
            <p:cNvGrpSpPr/>
            <p:nvPr/>
          </p:nvGrpSpPr>
          <p:grpSpPr>
            <a:xfrm>
              <a:off x="1466590" y="2472669"/>
              <a:ext cx="411886" cy="425454"/>
              <a:chOff x="1933928" y="2360120"/>
              <a:chExt cx="411886" cy="425454"/>
            </a:xfrm>
          </p:grpSpPr>
          <p:cxnSp>
            <p:nvCxnSpPr>
              <p:cNvPr id="126" name="直線接點 125"/>
              <p:cNvCxnSpPr>
                <a:stCxn id="149" idx="3"/>
                <a:endCxn id="147" idx="7"/>
              </p:cNvCxnSpPr>
              <p:nvPr/>
            </p:nvCxnSpPr>
            <p:spPr>
              <a:xfrm flipH="1">
                <a:off x="1933928" y="2360120"/>
                <a:ext cx="394452" cy="392129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7" name="文字方塊 126"/>
              <p:cNvSpPr txBox="1"/>
              <p:nvPr/>
            </p:nvSpPr>
            <p:spPr>
              <a:xfrm>
                <a:off x="2045732" y="2416242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28" name="群組 127"/>
            <p:cNvGrpSpPr/>
            <p:nvPr/>
          </p:nvGrpSpPr>
          <p:grpSpPr>
            <a:xfrm>
              <a:off x="2064688" y="1749769"/>
              <a:ext cx="627365" cy="519254"/>
              <a:chOff x="2532026" y="1637220"/>
              <a:chExt cx="627365" cy="519254"/>
            </a:xfrm>
          </p:grpSpPr>
          <p:cxnSp>
            <p:nvCxnSpPr>
              <p:cNvPr id="129" name="直線接點 128"/>
              <p:cNvCxnSpPr>
                <a:stCxn id="152" idx="3"/>
                <a:endCxn id="149" idx="7"/>
              </p:cNvCxnSpPr>
              <p:nvPr/>
            </p:nvCxnSpPr>
            <p:spPr>
              <a:xfrm flipH="1">
                <a:off x="2532026" y="1736700"/>
                <a:ext cx="627365" cy="419774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0" name="文字方塊 129"/>
              <p:cNvSpPr txBox="1"/>
              <p:nvPr/>
            </p:nvSpPr>
            <p:spPr>
              <a:xfrm>
                <a:off x="2667499" y="1637220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31" name="群組 130"/>
            <p:cNvGrpSpPr/>
            <p:nvPr/>
          </p:nvGrpSpPr>
          <p:grpSpPr>
            <a:xfrm>
              <a:off x="2064688" y="2472669"/>
              <a:ext cx="627365" cy="413215"/>
              <a:chOff x="2532026" y="2360120"/>
              <a:chExt cx="627365" cy="413215"/>
            </a:xfrm>
          </p:grpSpPr>
          <p:cxnSp>
            <p:nvCxnSpPr>
              <p:cNvPr id="132" name="直線接點 131"/>
              <p:cNvCxnSpPr>
                <a:stCxn id="155" idx="1"/>
                <a:endCxn id="149" idx="5"/>
              </p:cNvCxnSpPr>
              <p:nvPr/>
            </p:nvCxnSpPr>
            <p:spPr>
              <a:xfrm flipH="1" flipV="1">
                <a:off x="2532026" y="2360120"/>
                <a:ext cx="627365" cy="392129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3" name="文字方塊 132"/>
              <p:cNvSpPr txBox="1"/>
              <p:nvPr/>
            </p:nvSpPr>
            <p:spPr>
              <a:xfrm>
                <a:off x="2581239" y="2404003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34" name="群組 133"/>
            <p:cNvGrpSpPr/>
            <p:nvPr/>
          </p:nvGrpSpPr>
          <p:grpSpPr>
            <a:xfrm>
              <a:off x="2895699" y="1762008"/>
              <a:ext cx="653245" cy="507015"/>
              <a:chOff x="3363037" y="1649459"/>
              <a:chExt cx="653245" cy="507015"/>
            </a:xfrm>
          </p:grpSpPr>
          <p:cxnSp>
            <p:nvCxnSpPr>
              <p:cNvPr id="135" name="直線接點 134"/>
              <p:cNvCxnSpPr>
                <a:stCxn id="158" idx="1"/>
                <a:endCxn id="152" idx="5"/>
              </p:cNvCxnSpPr>
              <p:nvPr/>
            </p:nvCxnSpPr>
            <p:spPr>
              <a:xfrm flipH="1" flipV="1">
                <a:off x="3363037" y="1736700"/>
                <a:ext cx="653245" cy="419774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6" name="文字方塊 135"/>
              <p:cNvSpPr txBox="1"/>
              <p:nvPr/>
            </p:nvSpPr>
            <p:spPr>
              <a:xfrm>
                <a:off x="3582748" y="1649459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37" name="群組 136"/>
            <p:cNvGrpSpPr/>
            <p:nvPr/>
          </p:nvGrpSpPr>
          <p:grpSpPr>
            <a:xfrm>
              <a:off x="2895699" y="2472669"/>
              <a:ext cx="653245" cy="425454"/>
              <a:chOff x="3363037" y="2360120"/>
              <a:chExt cx="653245" cy="425454"/>
            </a:xfrm>
          </p:grpSpPr>
          <p:cxnSp>
            <p:nvCxnSpPr>
              <p:cNvPr id="138" name="直線接點 137"/>
              <p:cNvCxnSpPr>
                <a:stCxn id="158" idx="3"/>
                <a:endCxn id="155" idx="7"/>
              </p:cNvCxnSpPr>
              <p:nvPr/>
            </p:nvCxnSpPr>
            <p:spPr>
              <a:xfrm flipH="1">
                <a:off x="3363037" y="2360120"/>
                <a:ext cx="653245" cy="392129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9" name="文字方塊 138"/>
              <p:cNvSpPr txBox="1"/>
              <p:nvPr/>
            </p:nvSpPr>
            <p:spPr>
              <a:xfrm>
                <a:off x="3608626" y="2416242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40" name="群組 139"/>
            <p:cNvGrpSpPr/>
            <p:nvPr/>
          </p:nvGrpSpPr>
          <p:grpSpPr>
            <a:xfrm>
              <a:off x="1508767" y="2885884"/>
              <a:ext cx="1141109" cy="369332"/>
              <a:chOff x="1976105" y="2773335"/>
              <a:chExt cx="1141109" cy="369332"/>
            </a:xfrm>
          </p:grpSpPr>
          <p:cxnSp>
            <p:nvCxnSpPr>
              <p:cNvPr id="141" name="直線接點 140"/>
              <p:cNvCxnSpPr>
                <a:stCxn id="155" idx="2"/>
                <a:endCxn id="147" idx="6"/>
              </p:cNvCxnSpPr>
              <p:nvPr/>
            </p:nvCxnSpPr>
            <p:spPr>
              <a:xfrm flipH="1">
                <a:off x="1976105" y="2854072"/>
                <a:ext cx="1141109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2" name="文字方塊 141"/>
              <p:cNvSpPr txBox="1"/>
              <p:nvPr/>
            </p:nvSpPr>
            <p:spPr>
              <a:xfrm>
                <a:off x="2381985" y="2773335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43" name="橢圓 142"/>
            <p:cNvSpPr/>
            <p:nvPr/>
          </p:nvSpPr>
          <p:spPr>
            <a:xfrm>
              <a:off x="614042" y="2226846"/>
              <a:ext cx="288000" cy="288000"/>
            </a:xfrm>
            <a:prstGeom prst="ellipse">
              <a:avLst/>
            </a:prstGeom>
            <a:solidFill>
              <a:srgbClr val="FF993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4" name="文字方塊 143"/>
            <p:cNvSpPr txBox="1"/>
            <p:nvPr/>
          </p:nvSpPr>
          <p:spPr>
            <a:xfrm>
              <a:off x="575941" y="214305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5" name="橢圓 144"/>
            <p:cNvSpPr/>
            <p:nvPr/>
          </p:nvSpPr>
          <p:spPr>
            <a:xfrm>
              <a:off x="1220767" y="1603426"/>
              <a:ext cx="288000" cy="288000"/>
            </a:xfrm>
            <a:prstGeom prst="ellipse">
              <a:avLst/>
            </a:prstGeom>
            <a:solidFill>
              <a:srgbClr val="FF993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6" name="文字方塊 145"/>
            <p:cNvSpPr txBox="1"/>
            <p:nvPr/>
          </p:nvSpPr>
          <p:spPr>
            <a:xfrm>
              <a:off x="1182666" y="1519754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7" name="橢圓 146"/>
            <p:cNvSpPr/>
            <p:nvPr/>
          </p:nvSpPr>
          <p:spPr>
            <a:xfrm>
              <a:off x="1220767" y="2822621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8" name="文字方塊 147"/>
            <p:cNvSpPr txBox="1"/>
            <p:nvPr/>
          </p:nvSpPr>
          <p:spPr>
            <a:xfrm>
              <a:off x="1182666" y="2738825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9" name="橢圓 148"/>
            <p:cNvSpPr/>
            <p:nvPr/>
          </p:nvSpPr>
          <p:spPr>
            <a:xfrm>
              <a:off x="1818865" y="2226846"/>
              <a:ext cx="288000" cy="288000"/>
            </a:xfrm>
            <a:prstGeom prst="ellipse">
              <a:avLst/>
            </a:prstGeom>
            <a:solidFill>
              <a:srgbClr val="FF993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0" name="文字方塊 149"/>
            <p:cNvSpPr txBox="1"/>
            <p:nvPr/>
          </p:nvSpPr>
          <p:spPr>
            <a:xfrm>
              <a:off x="1772138" y="214305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51" name="群組 150"/>
            <p:cNvGrpSpPr/>
            <p:nvPr/>
          </p:nvGrpSpPr>
          <p:grpSpPr>
            <a:xfrm>
              <a:off x="2611775" y="1519630"/>
              <a:ext cx="364202" cy="371796"/>
              <a:chOff x="3079113" y="1407081"/>
              <a:chExt cx="364202" cy="371796"/>
            </a:xfrm>
          </p:grpSpPr>
          <p:sp>
            <p:nvSpPr>
              <p:cNvPr id="152" name="橢圓 151"/>
              <p:cNvSpPr/>
              <p:nvPr/>
            </p:nvSpPr>
            <p:spPr>
              <a:xfrm>
                <a:off x="3117214" y="1490877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53" name="文字方塊 152"/>
              <p:cNvSpPr txBox="1"/>
              <p:nvPr/>
            </p:nvSpPr>
            <p:spPr>
              <a:xfrm>
                <a:off x="3079113" y="1407081"/>
                <a:ext cx="3642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TW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lang="zh-TW" altLang="en-US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54" name="群組 153"/>
            <p:cNvGrpSpPr/>
            <p:nvPr/>
          </p:nvGrpSpPr>
          <p:grpSpPr>
            <a:xfrm>
              <a:off x="2601815" y="2738825"/>
              <a:ext cx="364202" cy="371796"/>
              <a:chOff x="3069153" y="2626276"/>
              <a:chExt cx="364202" cy="371796"/>
            </a:xfrm>
          </p:grpSpPr>
          <p:sp>
            <p:nvSpPr>
              <p:cNvPr id="155" name="橢圓 154"/>
              <p:cNvSpPr/>
              <p:nvPr/>
            </p:nvSpPr>
            <p:spPr>
              <a:xfrm>
                <a:off x="3117214" y="2710072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56" name="文字方塊 155"/>
              <p:cNvSpPr txBox="1"/>
              <p:nvPr/>
            </p:nvSpPr>
            <p:spPr>
              <a:xfrm>
                <a:off x="3069153" y="2626276"/>
                <a:ext cx="3642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TW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endParaRPr lang="zh-TW" altLang="en-US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57" name="群組 156"/>
            <p:cNvGrpSpPr/>
            <p:nvPr/>
          </p:nvGrpSpPr>
          <p:grpSpPr>
            <a:xfrm>
              <a:off x="3468666" y="2144568"/>
              <a:ext cx="364202" cy="370278"/>
              <a:chOff x="3936004" y="2032019"/>
              <a:chExt cx="364202" cy="370278"/>
            </a:xfrm>
          </p:grpSpPr>
          <p:sp>
            <p:nvSpPr>
              <p:cNvPr id="158" name="橢圓 157"/>
              <p:cNvSpPr/>
              <p:nvPr/>
            </p:nvSpPr>
            <p:spPr>
              <a:xfrm>
                <a:off x="3974105" y="2114297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59" name="文字方塊 158"/>
              <p:cNvSpPr txBox="1"/>
              <p:nvPr/>
            </p:nvSpPr>
            <p:spPr>
              <a:xfrm>
                <a:off x="3936004" y="2032019"/>
                <a:ext cx="3642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TW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  <a:endParaRPr lang="zh-TW" altLang="en-US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207" name="群組 206"/>
          <p:cNvGrpSpPr/>
          <p:nvPr/>
        </p:nvGrpSpPr>
        <p:grpSpPr>
          <a:xfrm>
            <a:off x="4715650" y="3059912"/>
            <a:ext cx="3256927" cy="1735586"/>
            <a:chOff x="575941" y="1519630"/>
            <a:chExt cx="3256927" cy="1735586"/>
          </a:xfrm>
        </p:grpSpPr>
        <p:grpSp>
          <p:nvGrpSpPr>
            <p:cNvPr id="161" name="群組 160"/>
            <p:cNvGrpSpPr/>
            <p:nvPr/>
          </p:nvGrpSpPr>
          <p:grpSpPr>
            <a:xfrm>
              <a:off x="902042" y="2082668"/>
              <a:ext cx="916823" cy="369332"/>
              <a:chOff x="1369380" y="1970119"/>
              <a:chExt cx="916823" cy="369332"/>
            </a:xfrm>
          </p:grpSpPr>
          <p:cxnSp>
            <p:nvCxnSpPr>
              <p:cNvPr id="162" name="直線接點 161"/>
              <p:cNvCxnSpPr>
                <a:stCxn id="197" idx="2"/>
                <a:endCxn id="191" idx="6"/>
              </p:cNvCxnSpPr>
              <p:nvPr/>
            </p:nvCxnSpPr>
            <p:spPr>
              <a:xfrm flipH="1">
                <a:off x="1369380" y="2258297"/>
                <a:ext cx="916823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3" name="文字方塊 162"/>
              <p:cNvSpPr txBox="1"/>
              <p:nvPr/>
            </p:nvSpPr>
            <p:spPr>
              <a:xfrm>
                <a:off x="1682064" y="1970119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64" name="群組 163"/>
            <p:cNvGrpSpPr/>
            <p:nvPr/>
          </p:nvGrpSpPr>
          <p:grpSpPr>
            <a:xfrm>
              <a:off x="843195" y="1782035"/>
              <a:ext cx="419749" cy="486988"/>
              <a:chOff x="1310533" y="1669486"/>
              <a:chExt cx="419749" cy="486988"/>
            </a:xfrm>
          </p:grpSpPr>
          <p:cxnSp>
            <p:nvCxnSpPr>
              <p:cNvPr id="165" name="直線接點 164"/>
              <p:cNvCxnSpPr>
                <a:stCxn id="191" idx="7"/>
                <a:endCxn id="193" idx="3"/>
              </p:cNvCxnSpPr>
              <p:nvPr/>
            </p:nvCxnSpPr>
            <p:spPr>
              <a:xfrm flipV="1">
                <a:off x="1327203" y="1736700"/>
                <a:ext cx="403079" cy="419774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6" name="文字方塊 165"/>
              <p:cNvSpPr txBox="1"/>
              <p:nvPr/>
            </p:nvSpPr>
            <p:spPr>
              <a:xfrm>
                <a:off x="1310533" y="1669486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67" name="群組 166"/>
            <p:cNvGrpSpPr/>
            <p:nvPr/>
          </p:nvGrpSpPr>
          <p:grpSpPr>
            <a:xfrm>
              <a:off x="843195" y="2472669"/>
              <a:ext cx="419749" cy="445481"/>
              <a:chOff x="1310533" y="2360120"/>
              <a:chExt cx="419749" cy="445481"/>
            </a:xfrm>
          </p:grpSpPr>
          <p:cxnSp>
            <p:nvCxnSpPr>
              <p:cNvPr id="168" name="直線接點 167"/>
              <p:cNvCxnSpPr>
                <a:stCxn id="195" idx="1"/>
                <a:endCxn id="191" idx="5"/>
              </p:cNvCxnSpPr>
              <p:nvPr/>
            </p:nvCxnSpPr>
            <p:spPr>
              <a:xfrm flipH="1" flipV="1">
                <a:off x="1327203" y="2360120"/>
                <a:ext cx="403079" cy="392129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9" name="文字方塊 168"/>
              <p:cNvSpPr txBox="1"/>
              <p:nvPr/>
            </p:nvSpPr>
            <p:spPr>
              <a:xfrm>
                <a:off x="1310533" y="2436269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70" name="群組 169"/>
            <p:cNvGrpSpPr/>
            <p:nvPr/>
          </p:nvGrpSpPr>
          <p:grpSpPr>
            <a:xfrm>
              <a:off x="1466590" y="1762008"/>
              <a:ext cx="411886" cy="507015"/>
              <a:chOff x="1933928" y="1649459"/>
              <a:chExt cx="411886" cy="507015"/>
            </a:xfrm>
          </p:grpSpPr>
          <p:cxnSp>
            <p:nvCxnSpPr>
              <p:cNvPr id="171" name="直線接點 170"/>
              <p:cNvCxnSpPr>
                <a:stCxn id="197" idx="1"/>
                <a:endCxn id="193" idx="5"/>
              </p:cNvCxnSpPr>
              <p:nvPr/>
            </p:nvCxnSpPr>
            <p:spPr>
              <a:xfrm flipH="1" flipV="1">
                <a:off x="1933928" y="1736700"/>
                <a:ext cx="394452" cy="419774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2" name="文字方塊 171"/>
              <p:cNvSpPr txBox="1"/>
              <p:nvPr/>
            </p:nvSpPr>
            <p:spPr>
              <a:xfrm>
                <a:off x="2045732" y="1649459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73" name="群組 172"/>
            <p:cNvGrpSpPr/>
            <p:nvPr/>
          </p:nvGrpSpPr>
          <p:grpSpPr>
            <a:xfrm>
              <a:off x="1466590" y="2472669"/>
              <a:ext cx="411886" cy="425454"/>
              <a:chOff x="1933928" y="2360120"/>
              <a:chExt cx="411886" cy="425454"/>
            </a:xfrm>
          </p:grpSpPr>
          <p:cxnSp>
            <p:nvCxnSpPr>
              <p:cNvPr id="174" name="直線接點 173"/>
              <p:cNvCxnSpPr>
                <a:stCxn id="197" idx="3"/>
                <a:endCxn id="195" idx="7"/>
              </p:cNvCxnSpPr>
              <p:nvPr/>
            </p:nvCxnSpPr>
            <p:spPr>
              <a:xfrm flipH="1">
                <a:off x="1933928" y="2360120"/>
                <a:ext cx="394452" cy="392129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文字方塊 174"/>
              <p:cNvSpPr txBox="1"/>
              <p:nvPr/>
            </p:nvSpPr>
            <p:spPr>
              <a:xfrm>
                <a:off x="2045732" y="2416242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76" name="群組 175"/>
            <p:cNvGrpSpPr/>
            <p:nvPr/>
          </p:nvGrpSpPr>
          <p:grpSpPr>
            <a:xfrm>
              <a:off x="2064688" y="1749769"/>
              <a:ext cx="627365" cy="519254"/>
              <a:chOff x="2532026" y="1637220"/>
              <a:chExt cx="627365" cy="519254"/>
            </a:xfrm>
          </p:grpSpPr>
          <p:cxnSp>
            <p:nvCxnSpPr>
              <p:cNvPr id="177" name="直線接點 176"/>
              <p:cNvCxnSpPr>
                <a:stCxn id="200" idx="3"/>
                <a:endCxn id="197" idx="7"/>
              </p:cNvCxnSpPr>
              <p:nvPr/>
            </p:nvCxnSpPr>
            <p:spPr>
              <a:xfrm flipH="1">
                <a:off x="2532026" y="1736700"/>
                <a:ext cx="627365" cy="419774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8" name="文字方塊 177"/>
              <p:cNvSpPr txBox="1"/>
              <p:nvPr/>
            </p:nvSpPr>
            <p:spPr>
              <a:xfrm>
                <a:off x="2667499" y="1637220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79" name="群組 178"/>
            <p:cNvGrpSpPr/>
            <p:nvPr/>
          </p:nvGrpSpPr>
          <p:grpSpPr>
            <a:xfrm>
              <a:off x="2064688" y="2472669"/>
              <a:ext cx="627365" cy="413215"/>
              <a:chOff x="2532026" y="2360120"/>
              <a:chExt cx="627365" cy="413215"/>
            </a:xfrm>
          </p:grpSpPr>
          <p:cxnSp>
            <p:nvCxnSpPr>
              <p:cNvPr id="180" name="直線接點 179"/>
              <p:cNvCxnSpPr>
                <a:stCxn id="202" idx="1"/>
                <a:endCxn id="197" idx="5"/>
              </p:cNvCxnSpPr>
              <p:nvPr/>
            </p:nvCxnSpPr>
            <p:spPr>
              <a:xfrm flipH="1" flipV="1">
                <a:off x="2532026" y="2360120"/>
                <a:ext cx="627365" cy="392129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1" name="文字方塊 180"/>
              <p:cNvSpPr txBox="1"/>
              <p:nvPr/>
            </p:nvSpPr>
            <p:spPr>
              <a:xfrm>
                <a:off x="2581239" y="2404003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82" name="群組 181"/>
            <p:cNvGrpSpPr/>
            <p:nvPr/>
          </p:nvGrpSpPr>
          <p:grpSpPr>
            <a:xfrm>
              <a:off x="2895699" y="1762008"/>
              <a:ext cx="653245" cy="507015"/>
              <a:chOff x="3363037" y="1649459"/>
              <a:chExt cx="653245" cy="507015"/>
            </a:xfrm>
          </p:grpSpPr>
          <p:cxnSp>
            <p:nvCxnSpPr>
              <p:cNvPr id="183" name="直線接點 182"/>
              <p:cNvCxnSpPr>
                <a:stCxn id="205" idx="1"/>
                <a:endCxn id="200" idx="5"/>
              </p:cNvCxnSpPr>
              <p:nvPr/>
            </p:nvCxnSpPr>
            <p:spPr>
              <a:xfrm flipH="1" flipV="1">
                <a:off x="3363037" y="1736700"/>
                <a:ext cx="653245" cy="419774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4" name="文字方塊 183"/>
              <p:cNvSpPr txBox="1"/>
              <p:nvPr/>
            </p:nvSpPr>
            <p:spPr>
              <a:xfrm>
                <a:off x="3582748" y="1649459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85" name="群組 184"/>
            <p:cNvGrpSpPr/>
            <p:nvPr/>
          </p:nvGrpSpPr>
          <p:grpSpPr>
            <a:xfrm>
              <a:off x="2895699" y="2472669"/>
              <a:ext cx="653245" cy="425454"/>
              <a:chOff x="3363037" y="2360120"/>
              <a:chExt cx="653245" cy="425454"/>
            </a:xfrm>
          </p:grpSpPr>
          <p:cxnSp>
            <p:nvCxnSpPr>
              <p:cNvPr id="186" name="直線接點 185"/>
              <p:cNvCxnSpPr>
                <a:stCxn id="205" idx="3"/>
                <a:endCxn id="202" idx="7"/>
              </p:cNvCxnSpPr>
              <p:nvPr/>
            </p:nvCxnSpPr>
            <p:spPr>
              <a:xfrm flipH="1">
                <a:off x="3363037" y="2360120"/>
                <a:ext cx="653245" cy="392129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7" name="文字方塊 186"/>
              <p:cNvSpPr txBox="1"/>
              <p:nvPr/>
            </p:nvSpPr>
            <p:spPr>
              <a:xfrm>
                <a:off x="3608626" y="2416242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88" name="群組 187"/>
            <p:cNvGrpSpPr/>
            <p:nvPr/>
          </p:nvGrpSpPr>
          <p:grpSpPr>
            <a:xfrm>
              <a:off x="1508767" y="2885884"/>
              <a:ext cx="1141109" cy="369332"/>
              <a:chOff x="1976105" y="2773335"/>
              <a:chExt cx="1141109" cy="369332"/>
            </a:xfrm>
          </p:grpSpPr>
          <p:cxnSp>
            <p:nvCxnSpPr>
              <p:cNvPr id="189" name="直線接點 188"/>
              <p:cNvCxnSpPr>
                <a:stCxn id="202" idx="2"/>
                <a:endCxn id="195" idx="6"/>
              </p:cNvCxnSpPr>
              <p:nvPr/>
            </p:nvCxnSpPr>
            <p:spPr>
              <a:xfrm flipH="1">
                <a:off x="1976105" y="2854072"/>
                <a:ext cx="1141109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0" name="文字方塊 189"/>
              <p:cNvSpPr txBox="1"/>
              <p:nvPr/>
            </p:nvSpPr>
            <p:spPr>
              <a:xfrm>
                <a:off x="2381985" y="2773335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91" name="橢圓 190"/>
            <p:cNvSpPr/>
            <p:nvPr/>
          </p:nvSpPr>
          <p:spPr>
            <a:xfrm>
              <a:off x="614042" y="2226846"/>
              <a:ext cx="288000" cy="288000"/>
            </a:xfrm>
            <a:prstGeom prst="ellipse">
              <a:avLst/>
            </a:prstGeom>
            <a:solidFill>
              <a:srgbClr val="FF993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2" name="文字方塊 191"/>
            <p:cNvSpPr txBox="1"/>
            <p:nvPr/>
          </p:nvSpPr>
          <p:spPr>
            <a:xfrm>
              <a:off x="575941" y="214305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3" name="橢圓 192"/>
            <p:cNvSpPr/>
            <p:nvPr/>
          </p:nvSpPr>
          <p:spPr>
            <a:xfrm>
              <a:off x="1220767" y="1603426"/>
              <a:ext cx="288000" cy="288000"/>
            </a:xfrm>
            <a:prstGeom prst="ellipse">
              <a:avLst/>
            </a:prstGeom>
            <a:solidFill>
              <a:srgbClr val="FF993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4" name="文字方塊 193"/>
            <p:cNvSpPr txBox="1"/>
            <p:nvPr/>
          </p:nvSpPr>
          <p:spPr>
            <a:xfrm>
              <a:off x="1182666" y="1519754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5" name="橢圓 194"/>
            <p:cNvSpPr/>
            <p:nvPr/>
          </p:nvSpPr>
          <p:spPr>
            <a:xfrm>
              <a:off x="1220767" y="2822621"/>
              <a:ext cx="288000" cy="288000"/>
            </a:xfrm>
            <a:prstGeom prst="ellipse">
              <a:avLst/>
            </a:prstGeom>
            <a:solidFill>
              <a:srgbClr val="FF993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6" name="文字方塊 195"/>
            <p:cNvSpPr txBox="1"/>
            <p:nvPr/>
          </p:nvSpPr>
          <p:spPr>
            <a:xfrm>
              <a:off x="1182666" y="2738825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7" name="橢圓 196"/>
            <p:cNvSpPr/>
            <p:nvPr/>
          </p:nvSpPr>
          <p:spPr>
            <a:xfrm>
              <a:off x="1818865" y="2226846"/>
              <a:ext cx="288000" cy="288000"/>
            </a:xfrm>
            <a:prstGeom prst="ellipse">
              <a:avLst/>
            </a:prstGeom>
            <a:solidFill>
              <a:srgbClr val="FF993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8" name="文字方塊 197"/>
            <p:cNvSpPr txBox="1"/>
            <p:nvPr/>
          </p:nvSpPr>
          <p:spPr>
            <a:xfrm>
              <a:off x="1772138" y="214305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99" name="群組 198"/>
            <p:cNvGrpSpPr/>
            <p:nvPr/>
          </p:nvGrpSpPr>
          <p:grpSpPr>
            <a:xfrm>
              <a:off x="2611775" y="1519630"/>
              <a:ext cx="364202" cy="371796"/>
              <a:chOff x="3079113" y="1407081"/>
              <a:chExt cx="364202" cy="371796"/>
            </a:xfrm>
          </p:grpSpPr>
          <p:sp>
            <p:nvSpPr>
              <p:cNvPr id="200" name="橢圓 199"/>
              <p:cNvSpPr/>
              <p:nvPr/>
            </p:nvSpPr>
            <p:spPr>
              <a:xfrm>
                <a:off x="3117214" y="1490877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01" name="文字方塊 200"/>
              <p:cNvSpPr txBox="1"/>
              <p:nvPr/>
            </p:nvSpPr>
            <p:spPr>
              <a:xfrm>
                <a:off x="3079113" y="1407081"/>
                <a:ext cx="3642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TW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lang="zh-TW" altLang="en-US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02" name="橢圓 201"/>
            <p:cNvSpPr/>
            <p:nvPr/>
          </p:nvSpPr>
          <p:spPr>
            <a:xfrm>
              <a:off x="2649876" y="2822621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3" name="文字方塊 202"/>
            <p:cNvSpPr txBox="1"/>
            <p:nvPr/>
          </p:nvSpPr>
          <p:spPr>
            <a:xfrm>
              <a:off x="2601815" y="2738825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04" name="群組 203"/>
            <p:cNvGrpSpPr/>
            <p:nvPr/>
          </p:nvGrpSpPr>
          <p:grpSpPr>
            <a:xfrm>
              <a:off x="3468666" y="2144568"/>
              <a:ext cx="364202" cy="370278"/>
              <a:chOff x="3936004" y="2032019"/>
              <a:chExt cx="364202" cy="370278"/>
            </a:xfrm>
          </p:grpSpPr>
          <p:sp>
            <p:nvSpPr>
              <p:cNvPr id="205" name="橢圓 204"/>
              <p:cNvSpPr/>
              <p:nvPr/>
            </p:nvSpPr>
            <p:spPr>
              <a:xfrm>
                <a:off x="3974105" y="2114297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06" name="文字方塊 205"/>
              <p:cNvSpPr txBox="1"/>
              <p:nvPr/>
            </p:nvSpPr>
            <p:spPr>
              <a:xfrm>
                <a:off x="3936004" y="2032019"/>
                <a:ext cx="3642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TW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  <a:endParaRPr lang="zh-TW" altLang="en-US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253" name="群組 252"/>
          <p:cNvGrpSpPr/>
          <p:nvPr/>
        </p:nvGrpSpPr>
        <p:grpSpPr>
          <a:xfrm>
            <a:off x="672219" y="4902884"/>
            <a:ext cx="3256927" cy="1735586"/>
            <a:chOff x="575941" y="1519630"/>
            <a:chExt cx="3256927" cy="1735586"/>
          </a:xfrm>
        </p:grpSpPr>
        <p:grpSp>
          <p:nvGrpSpPr>
            <p:cNvPr id="208" name="群組 207"/>
            <p:cNvGrpSpPr/>
            <p:nvPr/>
          </p:nvGrpSpPr>
          <p:grpSpPr>
            <a:xfrm>
              <a:off x="902042" y="2082668"/>
              <a:ext cx="916823" cy="369332"/>
              <a:chOff x="1369380" y="1970119"/>
              <a:chExt cx="916823" cy="369332"/>
            </a:xfrm>
          </p:grpSpPr>
          <p:cxnSp>
            <p:nvCxnSpPr>
              <p:cNvPr id="209" name="直線接點 208"/>
              <p:cNvCxnSpPr>
                <a:stCxn id="244" idx="2"/>
                <a:endCxn id="238" idx="6"/>
              </p:cNvCxnSpPr>
              <p:nvPr/>
            </p:nvCxnSpPr>
            <p:spPr>
              <a:xfrm flipH="1">
                <a:off x="1369380" y="2258297"/>
                <a:ext cx="916823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0" name="文字方塊 209"/>
              <p:cNvSpPr txBox="1"/>
              <p:nvPr/>
            </p:nvSpPr>
            <p:spPr>
              <a:xfrm>
                <a:off x="1682064" y="1970119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11" name="群組 210"/>
            <p:cNvGrpSpPr/>
            <p:nvPr/>
          </p:nvGrpSpPr>
          <p:grpSpPr>
            <a:xfrm>
              <a:off x="843195" y="1782035"/>
              <a:ext cx="419749" cy="486988"/>
              <a:chOff x="1310533" y="1669486"/>
              <a:chExt cx="419749" cy="486988"/>
            </a:xfrm>
          </p:grpSpPr>
          <p:cxnSp>
            <p:nvCxnSpPr>
              <p:cNvPr id="212" name="直線接點 211"/>
              <p:cNvCxnSpPr>
                <a:stCxn id="238" idx="7"/>
                <a:endCxn id="240" idx="3"/>
              </p:cNvCxnSpPr>
              <p:nvPr/>
            </p:nvCxnSpPr>
            <p:spPr>
              <a:xfrm flipV="1">
                <a:off x="1327203" y="1736700"/>
                <a:ext cx="403079" cy="419774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3" name="文字方塊 212"/>
              <p:cNvSpPr txBox="1"/>
              <p:nvPr/>
            </p:nvSpPr>
            <p:spPr>
              <a:xfrm>
                <a:off x="1310533" y="1669486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14" name="群組 213"/>
            <p:cNvGrpSpPr/>
            <p:nvPr/>
          </p:nvGrpSpPr>
          <p:grpSpPr>
            <a:xfrm>
              <a:off x="843195" y="2472669"/>
              <a:ext cx="419749" cy="445481"/>
              <a:chOff x="1310533" y="2360120"/>
              <a:chExt cx="419749" cy="445481"/>
            </a:xfrm>
          </p:grpSpPr>
          <p:cxnSp>
            <p:nvCxnSpPr>
              <p:cNvPr id="215" name="直線接點 214"/>
              <p:cNvCxnSpPr>
                <a:stCxn id="242" idx="1"/>
                <a:endCxn id="238" idx="5"/>
              </p:cNvCxnSpPr>
              <p:nvPr/>
            </p:nvCxnSpPr>
            <p:spPr>
              <a:xfrm flipH="1" flipV="1">
                <a:off x="1327203" y="2360120"/>
                <a:ext cx="403079" cy="392129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6" name="文字方塊 215"/>
              <p:cNvSpPr txBox="1"/>
              <p:nvPr/>
            </p:nvSpPr>
            <p:spPr>
              <a:xfrm>
                <a:off x="1310533" y="2436269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17" name="群組 216"/>
            <p:cNvGrpSpPr/>
            <p:nvPr/>
          </p:nvGrpSpPr>
          <p:grpSpPr>
            <a:xfrm>
              <a:off x="1466590" y="1762008"/>
              <a:ext cx="411886" cy="507015"/>
              <a:chOff x="1933928" y="1649459"/>
              <a:chExt cx="411886" cy="507015"/>
            </a:xfrm>
          </p:grpSpPr>
          <p:cxnSp>
            <p:nvCxnSpPr>
              <p:cNvPr id="218" name="直線接點 217"/>
              <p:cNvCxnSpPr>
                <a:stCxn id="244" idx="1"/>
                <a:endCxn id="240" idx="5"/>
              </p:cNvCxnSpPr>
              <p:nvPr/>
            </p:nvCxnSpPr>
            <p:spPr>
              <a:xfrm flipH="1" flipV="1">
                <a:off x="1933928" y="1736700"/>
                <a:ext cx="394452" cy="419774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9" name="文字方塊 218"/>
              <p:cNvSpPr txBox="1"/>
              <p:nvPr/>
            </p:nvSpPr>
            <p:spPr>
              <a:xfrm>
                <a:off x="2045732" y="1649459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20" name="群組 219"/>
            <p:cNvGrpSpPr/>
            <p:nvPr/>
          </p:nvGrpSpPr>
          <p:grpSpPr>
            <a:xfrm>
              <a:off x="1466590" y="2472669"/>
              <a:ext cx="411886" cy="425454"/>
              <a:chOff x="1933928" y="2360120"/>
              <a:chExt cx="411886" cy="425454"/>
            </a:xfrm>
          </p:grpSpPr>
          <p:cxnSp>
            <p:nvCxnSpPr>
              <p:cNvPr id="221" name="直線接點 220"/>
              <p:cNvCxnSpPr>
                <a:stCxn id="244" idx="3"/>
                <a:endCxn id="242" idx="7"/>
              </p:cNvCxnSpPr>
              <p:nvPr/>
            </p:nvCxnSpPr>
            <p:spPr>
              <a:xfrm flipH="1">
                <a:off x="1933928" y="2360120"/>
                <a:ext cx="394452" cy="392129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2" name="文字方塊 221"/>
              <p:cNvSpPr txBox="1"/>
              <p:nvPr/>
            </p:nvSpPr>
            <p:spPr>
              <a:xfrm>
                <a:off x="2045732" y="2416242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23" name="群組 222"/>
            <p:cNvGrpSpPr/>
            <p:nvPr/>
          </p:nvGrpSpPr>
          <p:grpSpPr>
            <a:xfrm>
              <a:off x="2064688" y="1749769"/>
              <a:ext cx="627365" cy="519254"/>
              <a:chOff x="2532026" y="1637220"/>
              <a:chExt cx="627365" cy="519254"/>
            </a:xfrm>
          </p:grpSpPr>
          <p:cxnSp>
            <p:nvCxnSpPr>
              <p:cNvPr id="224" name="直線接點 223"/>
              <p:cNvCxnSpPr>
                <a:stCxn id="246" idx="3"/>
                <a:endCxn id="244" idx="7"/>
              </p:cNvCxnSpPr>
              <p:nvPr/>
            </p:nvCxnSpPr>
            <p:spPr>
              <a:xfrm flipH="1">
                <a:off x="2532026" y="1736700"/>
                <a:ext cx="627365" cy="419774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5" name="文字方塊 224"/>
              <p:cNvSpPr txBox="1"/>
              <p:nvPr/>
            </p:nvSpPr>
            <p:spPr>
              <a:xfrm>
                <a:off x="2667499" y="1637220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26" name="群組 225"/>
            <p:cNvGrpSpPr/>
            <p:nvPr/>
          </p:nvGrpSpPr>
          <p:grpSpPr>
            <a:xfrm>
              <a:off x="2064688" y="2472669"/>
              <a:ext cx="627365" cy="413215"/>
              <a:chOff x="2532026" y="2360120"/>
              <a:chExt cx="627365" cy="413215"/>
            </a:xfrm>
          </p:grpSpPr>
          <p:cxnSp>
            <p:nvCxnSpPr>
              <p:cNvPr id="227" name="直線接點 226"/>
              <p:cNvCxnSpPr>
                <a:stCxn id="248" idx="1"/>
                <a:endCxn id="244" idx="5"/>
              </p:cNvCxnSpPr>
              <p:nvPr/>
            </p:nvCxnSpPr>
            <p:spPr>
              <a:xfrm flipH="1" flipV="1">
                <a:off x="2532026" y="2360120"/>
                <a:ext cx="627365" cy="392129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8" name="文字方塊 227"/>
              <p:cNvSpPr txBox="1"/>
              <p:nvPr/>
            </p:nvSpPr>
            <p:spPr>
              <a:xfrm>
                <a:off x="2581239" y="2404003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29" name="群組 228"/>
            <p:cNvGrpSpPr/>
            <p:nvPr/>
          </p:nvGrpSpPr>
          <p:grpSpPr>
            <a:xfrm>
              <a:off x="2895699" y="1762008"/>
              <a:ext cx="653245" cy="507015"/>
              <a:chOff x="3363037" y="1649459"/>
              <a:chExt cx="653245" cy="507015"/>
            </a:xfrm>
          </p:grpSpPr>
          <p:cxnSp>
            <p:nvCxnSpPr>
              <p:cNvPr id="230" name="直線接點 229"/>
              <p:cNvCxnSpPr>
                <a:stCxn id="251" idx="1"/>
                <a:endCxn id="246" idx="5"/>
              </p:cNvCxnSpPr>
              <p:nvPr/>
            </p:nvCxnSpPr>
            <p:spPr>
              <a:xfrm flipH="1" flipV="1">
                <a:off x="3363037" y="1736700"/>
                <a:ext cx="653245" cy="419774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1" name="文字方塊 230"/>
              <p:cNvSpPr txBox="1"/>
              <p:nvPr/>
            </p:nvSpPr>
            <p:spPr>
              <a:xfrm>
                <a:off x="3582748" y="1649459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32" name="群組 231"/>
            <p:cNvGrpSpPr/>
            <p:nvPr/>
          </p:nvGrpSpPr>
          <p:grpSpPr>
            <a:xfrm>
              <a:off x="2895699" y="2472669"/>
              <a:ext cx="653245" cy="425454"/>
              <a:chOff x="3363037" y="2360120"/>
              <a:chExt cx="653245" cy="425454"/>
            </a:xfrm>
          </p:grpSpPr>
          <p:cxnSp>
            <p:nvCxnSpPr>
              <p:cNvPr id="233" name="直線接點 232"/>
              <p:cNvCxnSpPr>
                <a:stCxn id="251" idx="3"/>
                <a:endCxn id="248" idx="7"/>
              </p:cNvCxnSpPr>
              <p:nvPr/>
            </p:nvCxnSpPr>
            <p:spPr>
              <a:xfrm flipH="1">
                <a:off x="3363037" y="2360120"/>
                <a:ext cx="653245" cy="392129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4" name="文字方塊 233"/>
              <p:cNvSpPr txBox="1"/>
              <p:nvPr/>
            </p:nvSpPr>
            <p:spPr>
              <a:xfrm>
                <a:off x="3608626" y="2416242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35" name="群組 234"/>
            <p:cNvGrpSpPr/>
            <p:nvPr/>
          </p:nvGrpSpPr>
          <p:grpSpPr>
            <a:xfrm>
              <a:off x="1508767" y="2885884"/>
              <a:ext cx="1141109" cy="369332"/>
              <a:chOff x="1976105" y="2773335"/>
              <a:chExt cx="1141109" cy="369332"/>
            </a:xfrm>
          </p:grpSpPr>
          <p:cxnSp>
            <p:nvCxnSpPr>
              <p:cNvPr id="236" name="直線接點 235"/>
              <p:cNvCxnSpPr>
                <a:stCxn id="248" idx="2"/>
                <a:endCxn id="242" idx="6"/>
              </p:cNvCxnSpPr>
              <p:nvPr/>
            </p:nvCxnSpPr>
            <p:spPr>
              <a:xfrm flipH="1">
                <a:off x="1976105" y="2854072"/>
                <a:ext cx="1141109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7" name="文字方塊 236"/>
              <p:cNvSpPr txBox="1"/>
              <p:nvPr/>
            </p:nvSpPr>
            <p:spPr>
              <a:xfrm>
                <a:off x="2381985" y="2773335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38" name="橢圓 237"/>
            <p:cNvSpPr/>
            <p:nvPr/>
          </p:nvSpPr>
          <p:spPr>
            <a:xfrm>
              <a:off x="614042" y="2226846"/>
              <a:ext cx="288000" cy="288000"/>
            </a:xfrm>
            <a:prstGeom prst="ellipse">
              <a:avLst/>
            </a:prstGeom>
            <a:solidFill>
              <a:srgbClr val="FF993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9" name="文字方塊 238"/>
            <p:cNvSpPr txBox="1"/>
            <p:nvPr/>
          </p:nvSpPr>
          <p:spPr>
            <a:xfrm>
              <a:off x="575941" y="214305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0" name="橢圓 239"/>
            <p:cNvSpPr/>
            <p:nvPr/>
          </p:nvSpPr>
          <p:spPr>
            <a:xfrm>
              <a:off x="1220767" y="1603426"/>
              <a:ext cx="288000" cy="288000"/>
            </a:xfrm>
            <a:prstGeom prst="ellipse">
              <a:avLst/>
            </a:prstGeom>
            <a:solidFill>
              <a:srgbClr val="FF993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1" name="文字方塊 240"/>
            <p:cNvSpPr txBox="1"/>
            <p:nvPr/>
          </p:nvSpPr>
          <p:spPr>
            <a:xfrm>
              <a:off x="1182666" y="1519754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2" name="橢圓 241"/>
            <p:cNvSpPr/>
            <p:nvPr/>
          </p:nvSpPr>
          <p:spPr>
            <a:xfrm>
              <a:off x="1220767" y="2822621"/>
              <a:ext cx="288000" cy="288000"/>
            </a:xfrm>
            <a:prstGeom prst="ellipse">
              <a:avLst/>
            </a:prstGeom>
            <a:solidFill>
              <a:srgbClr val="FF993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3" name="文字方塊 242"/>
            <p:cNvSpPr txBox="1"/>
            <p:nvPr/>
          </p:nvSpPr>
          <p:spPr>
            <a:xfrm>
              <a:off x="1182666" y="2738825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4" name="橢圓 243"/>
            <p:cNvSpPr/>
            <p:nvPr/>
          </p:nvSpPr>
          <p:spPr>
            <a:xfrm>
              <a:off x="1818865" y="2226846"/>
              <a:ext cx="288000" cy="288000"/>
            </a:xfrm>
            <a:prstGeom prst="ellipse">
              <a:avLst/>
            </a:prstGeom>
            <a:solidFill>
              <a:srgbClr val="FF993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5" name="文字方塊 244"/>
            <p:cNvSpPr txBox="1"/>
            <p:nvPr/>
          </p:nvSpPr>
          <p:spPr>
            <a:xfrm>
              <a:off x="1772138" y="214305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6" name="橢圓 245"/>
            <p:cNvSpPr/>
            <p:nvPr/>
          </p:nvSpPr>
          <p:spPr>
            <a:xfrm>
              <a:off x="2649876" y="1603426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7" name="文字方塊 246"/>
            <p:cNvSpPr txBox="1"/>
            <p:nvPr/>
          </p:nvSpPr>
          <p:spPr>
            <a:xfrm>
              <a:off x="2611775" y="151963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8" name="橢圓 247"/>
            <p:cNvSpPr/>
            <p:nvPr/>
          </p:nvSpPr>
          <p:spPr>
            <a:xfrm>
              <a:off x="2649876" y="2822621"/>
              <a:ext cx="288000" cy="288000"/>
            </a:xfrm>
            <a:prstGeom prst="ellipse">
              <a:avLst/>
            </a:prstGeom>
            <a:solidFill>
              <a:srgbClr val="FF993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9" name="文字方塊 248"/>
            <p:cNvSpPr txBox="1"/>
            <p:nvPr/>
          </p:nvSpPr>
          <p:spPr>
            <a:xfrm>
              <a:off x="2601815" y="2738825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50" name="群組 249"/>
            <p:cNvGrpSpPr/>
            <p:nvPr/>
          </p:nvGrpSpPr>
          <p:grpSpPr>
            <a:xfrm>
              <a:off x="3468666" y="2144568"/>
              <a:ext cx="364202" cy="370278"/>
              <a:chOff x="3936004" y="2032019"/>
              <a:chExt cx="364202" cy="370278"/>
            </a:xfrm>
          </p:grpSpPr>
          <p:sp>
            <p:nvSpPr>
              <p:cNvPr id="251" name="橢圓 250"/>
              <p:cNvSpPr/>
              <p:nvPr/>
            </p:nvSpPr>
            <p:spPr>
              <a:xfrm>
                <a:off x="3974105" y="2114297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52" name="文字方塊 251"/>
              <p:cNvSpPr txBox="1"/>
              <p:nvPr/>
            </p:nvSpPr>
            <p:spPr>
              <a:xfrm>
                <a:off x="3936004" y="2032019"/>
                <a:ext cx="3642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TW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  <a:endParaRPr lang="zh-TW" altLang="en-US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298" name="群組 297"/>
          <p:cNvGrpSpPr/>
          <p:nvPr/>
        </p:nvGrpSpPr>
        <p:grpSpPr>
          <a:xfrm>
            <a:off x="4770033" y="4883445"/>
            <a:ext cx="3256927" cy="1735586"/>
            <a:chOff x="575941" y="1519630"/>
            <a:chExt cx="3256927" cy="1735586"/>
          </a:xfrm>
        </p:grpSpPr>
        <p:grpSp>
          <p:nvGrpSpPr>
            <p:cNvPr id="254" name="群組 253"/>
            <p:cNvGrpSpPr/>
            <p:nvPr/>
          </p:nvGrpSpPr>
          <p:grpSpPr>
            <a:xfrm>
              <a:off x="902042" y="2082668"/>
              <a:ext cx="916823" cy="369332"/>
              <a:chOff x="1369380" y="1970119"/>
              <a:chExt cx="916823" cy="369332"/>
            </a:xfrm>
          </p:grpSpPr>
          <p:cxnSp>
            <p:nvCxnSpPr>
              <p:cNvPr id="255" name="直線接點 254"/>
              <p:cNvCxnSpPr>
                <a:stCxn id="290" idx="2"/>
                <a:endCxn id="284" idx="6"/>
              </p:cNvCxnSpPr>
              <p:nvPr/>
            </p:nvCxnSpPr>
            <p:spPr>
              <a:xfrm flipH="1">
                <a:off x="1369380" y="2258297"/>
                <a:ext cx="916823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6" name="文字方塊 255"/>
              <p:cNvSpPr txBox="1"/>
              <p:nvPr/>
            </p:nvSpPr>
            <p:spPr>
              <a:xfrm>
                <a:off x="1682064" y="1970119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57" name="群組 256"/>
            <p:cNvGrpSpPr/>
            <p:nvPr/>
          </p:nvGrpSpPr>
          <p:grpSpPr>
            <a:xfrm>
              <a:off x="843195" y="1782035"/>
              <a:ext cx="419749" cy="486988"/>
              <a:chOff x="1310533" y="1669486"/>
              <a:chExt cx="419749" cy="486988"/>
            </a:xfrm>
          </p:grpSpPr>
          <p:cxnSp>
            <p:nvCxnSpPr>
              <p:cNvPr id="258" name="直線接點 257"/>
              <p:cNvCxnSpPr>
                <a:stCxn id="284" idx="7"/>
                <a:endCxn id="286" idx="3"/>
              </p:cNvCxnSpPr>
              <p:nvPr/>
            </p:nvCxnSpPr>
            <p:spPr>
              <a:xfrm flipV="1">
                <a:off x="1327203" y="1736700"/>
                <a:ext cx="403079" cy="419774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9" name="文字方塊 258"/>
              <p:cNvSpPr txBox="1"/>
              <p:nvPr/>
            </p:nvSpPr>
            <p:spPr>
              <a:xfrm>
                <a:off x="1310533" y="1669486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60" name="群組 259"/>
            <p:cNvGrpSpPr/>
            <p:nvPr/>
          </p:nvGrpSpPr>
          <p:grpSpPr>
            <a:xfrm>
              <a:off x="843195" y="2472669"/>
              <a:ext cx="419749" cy="445481"/>
              <a:chOff x="1310533" y="2360120"/>
              <a:chExt cx="419749" cy="445481"/>
            </a:xfrm>
          </p:grpSpPr>
          <p:cxnSp>
            <p:nvCxnSpPr>
              <p:cNvPr id="261" name="直線接點 260"/>
              <p:cNvCxnSpPr>
                <a:stCxn id="288" idx="1"/>
                <a:endCxn id="284" idx="5"/>
              </p:cNvCxnSpPr>
              <p:nvPr/>
            </p:nvCxnSpPr>
            <p:spPr>
              <a:xfrm flipH="1" flipV="1">
                <a:off x="1327203" y="2360120"/>
                <a:ext cx="403079" cy="392129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2" name="文字方塊 261"/>
              <p:cNvSpPr txBox="1"/>
              <p:nvPr/>
            </p:nvSpPr>
            <p:spPr>
              <a:xfrm>
                <a:off x="1310533" y="2436269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63" name="群組 262"/>
            <p:cNvGrpSpPr/>
            <p:nvPr/>
          </p:nvGrpSpPr>
          <p:grpSpPr>
            <a:xfrm>
              <a:off x="1466590" y="1762008"/>
              <a:ext cx="411886" cy="507015"/>
              <a:chOff x="1933928" y="1649459"/>
              <a:chExt cx="411886" cy="507015"/>
            </a:xfrm>
          </p:grpSpPr>
          <p:cxnSp>
            <p:nvCxnSpPr>
              <p:cNvPr id="264" name="直線接點 263"/>
              <p:cNvCxnSpPr>
                <a:stCxn id="290" idx="1"/>
                <a:endCxn id="286" idx="5"/>
              </p:cNvCxnSpPr>
              <p:nvPr/>
            </p:nvCxnSpPr>
            <p:spPr>
              <a:xfrm flipH="1" flipV="1">
                <a:off x="1933928" y="1736700"/>
                <a:ext cx="394452" cy="419774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5" name="文字方塊 264"/>
              <p:cNvSpPr txBox="1"/>
              <p:nvPr/>
            </p:nvSpPr>
            <p:spPr>
              <a:xfrm>
                <a:off x="2045732" y="1649459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66" name="群組 265"/>
            <p:cNvGrpSpPr/>
            <p:nvPr/>
          </p:nvGrpSpPr>
          <p:grpSpPr>
            <a:xfrm>
              <a:off x="1466590" y="2472669"/>
              <a:ext cx="411886" cy="425454"/>
              <a:chOff x="1933928" y="2360120"/>
              <a:chExt cx="411886" cy="425454"/>
            </a:xfrm>
          </p:grpSpPr>
          <p:cxnSp>
            <p:nvCxnSpPr>
              <p:cNvPr id="267" name="直線接點 266"/>
              <p:cNvCxnSpPr>
                <a:stCxn id="290" idx="3"/>
                <a:endCxn id="288" idx="7"/>
              </p:cNvCxnSpPr>
              <p:nvPr/>
            </p:nvCxnSpPr>
            <p:spPr>
              <a:xfrm flipH="1">
                <a:off x="1933928" y="2360120"/>
                <a:ext cx="394452" cy="392129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8" name="文字方塊 267"/>
              <p:cNvSpPr txBox="1"/>
              <p:nvPr/>
            </p:nvSpPr>
            <p:spPr>
              <a:xfrm>
                <a:off x="2045732" y="2416242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69" name="群組 268"/>
            <p:cNvGrpSpPr/>
            <p:nvPr/>
          </p:nvGrpSpPr>
          <p:grpSpPr>
            <a:xfrm>
              <a:off x="2064688" y="1749769"/>
              <a:ext cx="627365" cy="519254"/>
              <a:chOff x="2532026" y="1637220"/>
              <a:chExt cx="627365" cy="519254"/>
            </a:xfrm>
          </p:grpSpPr>
          <p:cxnSp>
            <p:nvCxnSpPr>
              <p:cNvPr id="270" name="直線接點 269"/>
              <p:cNvCxnSpPr>
                <a:stCxn id="292" idx="3"/>
                <a:endCxn id="290" idx="7"/>
              </p:cNvCxnSpPr>
              <p:nvPr/>
            </p:nvCxnSpPr>
            <p:spPr>
              <a:xfrm flipH="1">
                <a:off x="2532026" y="1736700"/>
                <a:ext cx="627365" cy="419774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1" name="文字方塊 270"/>
              <p:cNvSpPr txBox="1"/>
              <p:nvPr/>
            </p:nvSpPr>
            <p:spPr>
              <a:xfrm>
                <a:off x="2667499" y="1637220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72" name="群組 271"/>
            <p:cNvGrpSpPr/>
            <p:nvPr/>
          </p:nvGrpSpPr>
          <p:grpSpPr>
            <a:xfrm>
              <a:off x="2064688" y="2472669"/>
              <a:ext cx="627365" cy="413215"/>
              <a:chOff x="2532026" y="2360120"/>
              <a:chExt cx="627365" cy="413215"/>
            </a:xfrm>
          </p:grpSpPr>
          <p:cxnSp>
            <p:nvCxnSpPr>
              <p:cNvPr id="273" name="直線接點 272"/>
              <p:cNvCxnSpPr>
                <a:stCxn id="294" idx="1"/>
                <a:endCxn id="290" idx="5"/>
              </p:cNvCxnSpPr>
              <p:nvPr/>
            </p:nvCxnSpPr>
            <p:spPr>
              <a:xfrm flipH="1" flipV="1">
                <a:off x="2532026" y="2360120"/>
                <a:ext cx="627365" cy="392129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4" name="文字方塊 273"/>
              <p:cNvSpPr txBox="1"/>
              <p:nvPr/>
            </p:nvSpPr>
            <p:spPr>
              <a:xfrm>
                <a:off x="2581239" y="2404003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75" name="群組 274"/>
            <p:cNvGrpSpPr/>
            <p:nvPr/>
          </p:nvGrpSpPr>
          <p:grpSpPr>
            <a:xfrm>
              <a:off x="2895699" y="1762008"/>
              <a:ext cx="653245" cy="507015"/>
              <a:chOff x="3363037" y="1649459"/>
              <a:chExt cx="653245" cy="507015"/>
            </a:xfrm>
          </p:grpSpPr>
          <p:cxnSp>
            <p:nvCxnSpPr>
              <p:cNvPr id="276" name="直線接點 275"/>
              <p:cNvCxnSpPr>
                <a:stCxn id="296" idx="1"/>
                <a:endCxn id="292" idx="5"/>
              </p:cNvCxnSpPr>
              <p:nvPr/>
            </p:nvCxnSpPr>
            <p:spPr>
              <a:xfrm flipH="1" flipV="1">
                <a:off x="3363037" y="1736700"/>
                <a:ext cx="653245" cy="419774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7" name="文字方塊 276"/>
              <p:cNvSpPr txBox="1"/>
              <p:nvPr/>
            </p:nvSpPr>
            <p:spPr>
              <a:xfrm>
                <a:off x="3582748" y="1649459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78" name="群組 277"/>
            <p:cNvGrpSpPr/>
            <p:nvPr/>
          </p:nvGrpSpPr>
          <p:grpSpPr>
            <a:xfrm>
              <a:off x="2895699" y="2472669"/>
              <a:ext cx="653245" cy="425454"/>
              <a:chOff x="3363037" y="2360120"/>
              <a:chExt cx="653245" cy="425454"/>
            </a:xfrm>
          </p:grpSpPr>
          <p:cxnSp>
            <p:nvCxnSpPr>
              <p:cNvPr id="279" name="直線接點 278"/>
              <p:cNvCxnSpPr>
                <a:stCxn id="296" idx="3"/>
                <a:endCxn id="294" idx="7"/>
              </p:cNvCxnSpPr>
              <p:nvPr/>
            </p:nvCxnSpPr>
            <p:spPr>
              <a:xfrm flipH="1">
                <a:off x="3363037" y="2360120"/>
                <a:ext cx="653245" cy="392129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0" name="文字方塊 279"/>
              <p:cNvSpPr txBox="1"/>
              <p:nvPr/>
            </p:nvSpPr>
            <p:spPr>
              <a:xfrm>
                <a:off x="3608626" y="2416242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81" name="群組 280"/>
            <p:cNvGrpSpPr/>
            <p:nvPr/>
          </p:nvGrpSpPr>
          <p:grpSpPr>
            <a:xfrm>
              <a:off x="1508767" y="2885884"/>
              <a:ext cx="1141109" cy="369332"/>
              <a:chOff x="1976105" y="2773335"/>
              <a:chExt cx="1141109" cy="369332"/>
            </a:xfrm>
          </p:grpSpPr>
          <p:cxnSp>
            <p:nvCxnSpPr>
              <p:cNvPr id="282" name="直線接點 281"/>
              <p:cNvCxnSpPr>
                <a:stCxn id="294" idx="2"/>
                <a:endCxn id="288" idx="6"/>
              </p:cNvCxnSpPr>
              <p:nvPr/>
            </p:nvCxnSpPr>
            <p:spPr>
              <a:xfrm flipH="1">
                <a:off x="1976105" y="2854072"/>
                <a:ext cx="1141109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3" name="文字方塊 282"/>
              <p:cNvSpPr txBox="1"/>
              <p:nvPr/>
            </p:nvSpPr>
            <p:spPr>
              <a:xfrm>
                <a:off x="2381985" y="2773335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84" name="橢圓 283"/>
            <p:cNvSpPr/>
            <p:nvPr/>
          </p:nvSpPr>
          <p:spPr>
            <a:xfrm>
              <a:off x="614042" y="2226846"/>
              <a:ext cx="288000" cy="288000"/>
            </a:xfrm>
            <a:prstGeom prst="ellipse">
              <a:avLst/>
            </a:prstGeom>
            <a:solidFill>
              <a:srgbClr val="FF993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85" name="文字方塊 284"/>
            <p:cNvSpPr txBox="1"/>
            <p:nvPr/>
          </p:nvSpPr>
          <p:spPr>
            <a:xfrm>
              <a:off x="575941" y="214305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6" name="橢圓 285"/>
            <p:cNvSpPr/>
            <p:nvPr/>
          </p:nvSpPr>
          <p:spPr>
            <a:xfrm>
              <a:off x="1220767" y="1603426"/>
              <a:ext cx="288000" cy="288000"/>
            </a:xfrm>
            <a:prstGeom prst="ellipse">
              <a:avLst/>
            </a:prstGeom>
            <a:solidFill>
              <a:srgbClr val="FF993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87" name="文字方塊 286"/>
            <p:cNvSpPr txBox="1"/>
            <p:nvPr/>
          </p:nvSpPr>
          <p:spPr>
            <a:xfrm>
              <a:off x="1182666" y="1519754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8" name="橢圓 287"/>
            <p:cNvSpPr/>
            <p:nvPr/>
          </p:nvSpPr>
          <p:spPr>
            <a:xfrm>
              <a:off x="1220767" y="2822621"/>
              <a:ext cx="288000" cy="288000"/>
            </a:xfrm>
            <a:prstGeom prst="ellipse">
              <a:avLst/>
            </a:prstGeom>
            <a:solidFill>
              <a:srgbClr val="FF993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89" name="文字方塊 288"/>
            <p:cNvSpPr txBox="1"/>
            <p:nvPr/>
          </p:nvSpPr>
          <p:spPr>
            <a:xfrm>
              <a:off x="1182666" y="2738825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0" name="橢圓 289"/>
            <p:cNvSpPr/>
            <p:nvPr/>
          </p:nvSpPr>
          <p:spPr>
            <a:xfrm>
              <a:off x="1818865" y="2226846"/>
              <a:ext cx="288000" cy="288000"/>
            </a:xfrm>
            <a:prstGeom prst="ellipse">
              <a:avLst/>
            </a:prstGeom>
            <a:solidFill>
              <a:srgbClr val="FF993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91" name="文字方塊 290"/>
            <p:cNvSpPr txBox="1"/>
            <p:nvPr/>
          </p:nvSpPr>
          <p:spPr>
            <a:xfrm>
              <a:off x="1772138" y="214305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2" name="橢圓 291"/>
            <p:cNvSpPr/>
            <p:nvPr/>
          </p:nvSpPr>
          <p:spPr>
            <a:xfrm>
              <a:off x="2649876" y="1603426"/>
              <a:ext cx="288000" cy="288000"/>
            </a:xfrm>
            <a:prstGeom prst="ellipse">
              <a:avLst/>
            </a:prstGeom>
            <a:solidFill>
              <a:srgbClr val="FF993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93" name="文字方塊 292"/>
            <p:cNvSpPr txBox="1"/>
            <p:nvPr/>
          </p:nvSpPr>
          <p:spPr>
            <a:xfrm>
              <a:off x="2611775" y="151963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4" name="橢圓 293"/>
            <p:cNvSpPr/>
            <p:nvPr/>
          </p:nvSpPr>
          <p:spPr>
            <a:xfrm>
              <a:off x="2649876" y="2822621"/>
              <a:ext cx="288000" cy="288000"/>
            </a:xfrm>
            <a:prstGeom prst="ellipse">
              <a:avLst/>
            </a:prstGeom>
            <a:solidFill>
              <a:srgbClr val="FF993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95" name="文字方塊 294"/>
            <p:cNvSpPr txBox="1"/>
            <p:nvPr/>
          </p:nvSpPr>
          <p:spPr>
            <a:xfrm>
              <a:off x="2601815" y="2738825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6" name="橢圓 295"/>
            <p:cNvSpPr/>
            <p:nvPr/>
          </p:nvSpPr>
          <p:spPr>
            <a:xfrm>
              <a:off x="3506767" y="2226846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97" name="文字方塊 296"/>
            <p:cNvSpPr txBox="1"/>
            <p:nvPr/>
          </p:nvSpPr>
          <p:spPr>
            <a:xfrm>
              <a:off x="3468666" y="2144568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99" name="向右箭號 298"/>
          <p:cNvSpPr/>
          <p:nvPr/>
        </p:nvSpPr>
        <p:spPr>
          <a:xfrm>
            <a:off x="4159521" y="1780507"/>
            <a:ext cx="413951" cy="55528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0" name="向右箭號 299"/>
          <p:cNvSpPr/>
          <p:nvPr/>
        </p:nvSpPr>
        <p:spPr>
          <a:xfrm>
            <a:off x="4157168" y="3633484"/>
            <a:ext cx="413951" cy="55528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1" name="向右箭號 300"/>
          <p:cNvSpPr/>
          <p:nvPr/>
        </p:nvSpPr>
        <p:spPr>
          <a:xfrm>
            <a:off x="4157167" y="5521524"/>
            <a:ext cx="413951" cy="55528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2" name="向右箭號 301"/>
          <p:cNvSpPr/>
          <p:nvPr/>
        </p:nvSpPr>
        <p:spPr>
          <a:xfrm>
            <a:off x="8168654" y="1779842"/>
            <a:ext cx="413951" cy="55528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3" name="向右箭號 302"/>
          <p:cNvSpPr/>
          <p:nvPr/>
        </p:nvSpPr>
        <p:spPr>
          <a:xfrm>
            <a:off x="8166301" y="3632819"/>
            <a:ext cx="413951" cy="55528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07" name="弧形接點 306"/>
          <p:cNvCxnSpPr/>
          <p:nvPr/>
        </p:nvCxnSpPr>
        <p:spPr>
          <a:xfrm>
            <a:off x="893613" y="1687671"/>
            <a:ext cx="12700" cy="766783"/>
          </a:xfrm>
          <a:prstGeom prst="curvedConnector3">
            <a:avLst>
              <a:gd name="adj1" fmla="val 1800000"/>
            </a:avLst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弧形接點 309"/>
          <p:cNvCxnSpPr/>
          <p:nvPr/>
        </p:nvCxnSpPr>
        <p:spPr>
          <a:xfrm rot="5400000">
            <a:off x="4797842" y="1321205"/>
            <a:ext cx="1008000" cy="972000"/>
          </a:xfrm>
          <a:prstGeom prst="curvedConnector2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弧形接點 313"/>
          <p:cNvCxnSpPr/>
          <p:nvPr/>
        </p:nvCxnSpPr>
        <p:spPr>
          <a:xfrm rot="5400000">
            <a:off x="1250941" y="2952990"/>
            <a:ext cx="1116000" cy="1764000"/>
          </a:xfrm>
          <a:prstGeom prst="curvedConnector2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弧形接點 316"/>
          <p:cNvCxnSpPr/>
          <p:nvPr/>
        </p:nvCxnSpPr>
        <p:spPr>
          <a:xfrm>
            <a:off x="6411496" y="3017455"/>
            <a:ext cx="12700" cy="1692000"/>
          </a:xfrm>
          <a:prstGeom prst="curvedConnector3">
            <a:avLst>
              <a:gd name="adj1" fmla="val 1800000"/>
            </a:avLst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弧形接點 318"/>
          <p:cNvCxnSpPr/>
          <p:nvPr/>
        </p:nvCxnSpPr>
        <p:spPr>
          <a:xfrm>
            <a:off x="7142952" y="4901133"/>
            <a:ext cx="12700" cy="1692000"/>
          </a:xfrm>
          <a:prstGeom prst="curvedConnector3">
            <a:avLst>
              <a:gd name="adj1" fmla="val 1800000"/>
            </a:avLst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弧形接點 319"/>
          <p:cNvCxnSpPr/>
          <p:nvPr/>
        </p:nvCxnSpPr>
        <p:spPr>
          <a:xfrm>
            <a:off x="2004047" y="4963013"/>
            <a:ext cx="1116000" cy="1584000"/>
          </a:xfrm>
          <a:prstGeom prst="curvedConnector2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4139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9" grpId="0" animBg="1"/>
      <p:bldP spid="300" grpId="0" animBg="1"/>
      <p:bldP spid="301" grpId="0" animBg="1"/>
      <p:bldP spid="302" grpId="0" animBg="1"/>
      <p:bldP spid="30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Floyd </a:t>
            </a:r>
            <a:r>
              <a:rPr lang="zh-TW" altLang="en-US" dirty="0"/>
              <a:t>演算法 </a:t>
            </a:r>
            <a:r>
              <a:rPr lang="en-US" altLang="zh-TW" dirty="0"/>
              <a:t>(1/10)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時間複雜度：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</a:t>
            </a:r>
            <a:r>
              <a:rPr lang="en-US" altLang="zh-TW" sz="2000" b="1" baseline="30000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以加權</a:t>
            </a:r>
            <a:r>
              <a: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鄰接矩陣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為基礎</a:t>
            </a:r>
            <a:endParaRPr lang="en-US" altLang="zh-TW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減少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矩陣元素的值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30</a:t>
            </a:fld>
            <a:endParaRPr lang="en-US" dirty="0"/>
          </a:p>
        </p:txBody>
      </p:sp>
      <p:graphicFrame>
        <p:nvGraphicFramePr>
          <p:cNvPr id="7" name="內容版面配置區 60"/>
          <p:cNvGraphicFramePr>
            <a:graphicFrameLocks/>
          </p:cNvGraphicFramePr>
          <p:nvPr/>
        </p:nvGraphicFramePr>
        <p:xfrm>
          <a:off x="1141024" y="3645986"/>
          <a:ext cx="3690750" cy="27736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2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8" name="群組 7"/>
          <p:cNvGrpSpPr/>
          <p:nvPr/>
        </p:nvGrpSpPr>
        <p:grpSpPr>
          <a:xfrm>
            <a:off x="5166501" y="1885858"/>
            <a:ext cx="916823" cy="369332"/>
            <a:chOff x="1369380" y="1970119"/>
            <a:chExt cx="916823" cy="369332"/>
          </a:xfrm>
        </p:grpSpPr>
        <p:cxnSp>
          <p:nvCxnSpPr>
            <p:cNvPr id="9" name="直線接點 8"/>
            <p:cNvCxnSpPr>
              <a:stCxn id="48" idx="2"/>
              <a:endCxn id="39" idx="6"/>
            </p:cNvCxnSpPr>
            <p:nvPr/>
          </p:nvCxnSpPr>
          <p:spPr>
            <a:xfrm flipH="1">
              <a:off x="1369380" y="2258297"/>
              <a:ext cx="916823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字方塊 9"/>
            <p:cNvSpPr txBox="1"/>
            <p:nvPr/>
          </p:nvSpPr>
          <p:spPr>
            <a:xfrm>
              <a:off x="1682064" y="197011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" name="群組 10"/>
          <p:cNvGrpSpPr/>
          <p:nvPr/>
        </p:nvGrpSpPr>
        <p:grpSpPr>
          <a:xfrm>
            <a:off x="5107654" y="1585225"/>
            <a:ext cx="419749" cy="486988"/>
            <a:chOff x="1310533" y="1669486"/>
            <a:chExt cx="419749" cy="486988"/>
          </a:xfrm>
        </p:grpSpPr>
        <p:cxnSp>
          <p:nvCxnSpPr>
            <p:cNvPr id="12" name="直線接點 11"/>
            <p:cNvCxnSpPr>
              <a:stCxn id="39" idx="7"/>
              <a:endCxn id="42" idx="3"/>
            </p:cNvCxnSpPr>
            <p:nvPr/>
          </p:nvCxnSpPr>
          <p:spPr>
            <a:xfrm flipV="1">
              <a:off x="1327203" y="1736700"/>
              <a:ext cx="403079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字方塊 12"/>
            <p:cNvSpPr txBox="1"/>
            <p:nvPr/>
          </p:nvSpPr>
          <p:spPr>
            <a:xfrm>
              <a:off x="1310533" y="166948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" name="群組 13"/>
          <p:cNvGrpSpPr/>
          <p:nvPr/>
        </p:nvGrpSpPr>
        <p:grpSpPr>
          <a:xfrm>
            <a:off x="5107654" y="2275859"/>
            <a:ext cx="419749" cy="445481"/>
            <a:chOff x="1310533" y="2360120"/>
            <a:chExt cx="419749" cy="445481"/>
          </a:xfrm>
        </p:grpSpPr>
        <p:cxnSp>
          <p:nvCxnSpPr>
            <p:cNvPr id="15" name="直線接點 14"/>
            <p:cNvCxnSpPr>
              <a:stCxn id="45" idx="1"/>
              <a:endCxn id="39" idx="5"/>
            </p:cNvCxnSpPr>
            <p:nvPr/>
          </p:nvCxnSpPr>
          <p:spPr>
            <a:xfrm flipH="1" flipV="1">
              <a:off x="1327203" y="2360120"/>
              <a:ext cx="403079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字方塊 15"/>
            <p:cNvSpPr txBox="1"/>
            <p:nvPr/>
          </p:nvSpPr>
          <p:spPr>
            <a:xfrm>
              <a:off x="1310533" y="243626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" name="群組 16"/>
          <p:cNvGrpSpPr/>
          <p:nvPr/>
        </p:nvGrpSpPr>
        <p:grpSpPr>
          <a:xfrm>
            <a:off x="5731049" y="1565198"/>
            <a:ext cx="411886" cy="507015"/>
            <a:chOff x="1933928" y="1649459"/>
            <a:chExt cx="411886" cy="507015"/>
          </a:xfrm>
        </p:grpSpPr>
        <p:cxnSp>
          <p:nvCxnSpPr>
            <p:cNvPr id="18" name="直線接點 17"/>
            <p:cNvCxnSpPr>
              <a:stCxn id="48" idx="1"/>
              <a:endCxn id="42" idx="5"/>
            </p:cNvCxnSpPr>
            <p:nvPr/>
          </p:nvCxnSpPr>
          <p:spPr>
            <a:xfrm flipH="1" flipV="1">
              <a:off x="1933928" y="1736700"/>
              <a:ext cx="394452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字方塊 18"/>
            <p:cNvSpPr txBox="1"/>
            <p:nvPr/>
          </p:nvSpPr>
          <p:spPr>
            <a:xfrm>
              <a:off x="2045732" y="164945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" name="群組 19"/>
          <p:cNvGrpSpPr/>
          <p:nvPr/>
        </p:nvGrpSpPr>
        <p:grpSpPr>
          <a:xfrm>
            <a:off x="5731049" y="2275859"/>
            <a:ext cx="411886" cy="425454"/>
            <a:chOff x="1933928" y="2360120"/>
            <a:chExt cx="411886" cy="425454"/>
          </a:xfrm>
        </p:grpSpPr>
        <p:cxnSp>
          <p:nvCxnSpPr>
            <p:cNvPr id="21" name="直線接點 20"/>
            <p:cNvCxnSpPr>
              <a:stCxn id="48" idx="3"/>
              <a:endCxn id="45" idx="7"/>
            </p:cNvCxnSpPr>
            <p:nvPr/>
          </p:nvCxnSpPr>
          <p:spPr>
            <a:xfrm flipH="1">
              <a:off x="1933928" y="2360120"/>
              <a:ext cx="394452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字方塊 21"/>
            <p:cNvSpPr txBox="1"/>
            <p:nvPr/>
          </p:nvSpPr>
          <p:spPr>
            <a:xfrm>
              <a:off x="2045732" y="241624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3" name="群組 22"/>
          <p:cNvGrpSpPr/>
          <p:nvPr/>
        </p:nvGrpSpPr>
        <p:grpSpPr>
          <a:xfrm>
            <a:off x="6329147" y="1552959"/>
            <a:ext cx="627365" cy="519254"/>
            <a:chOff x="2532026" y="1637220"/>
            <a:chExt cx="627365" cy="519254"/>
          </a:xfrm>
        </p:grpSpPr>
        <p:cxnSp>
          <p:nvCxnSpPr>
            <p:cNvPr id="24" name="直線接點 23"/>
            <p:cNvCxnSpPr>
              <a:stCxn id="51" idx="3"/>
              <a:endCxn id="48" idx="7"/>
            </p:cNvCxnSpPr>
            <p:nvPr/>
          </p:nvCxnSpPr>
          <p:spPr>
            <a:xfrm flipH="1">
              <a:off x="2532026" y="1736700"/>
              <a:ext cx="627365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文字方塊 24"/>
            <p:cNvSpPr txBox="1"/>
            <p:nvPr/>
          </p:nvSpPr>
          <p:spPr>
            <a:xfrm>
              <a:off x="2667499" y="163722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6" name="群組 25"/>
          <p:cNvGrpSpPr/>
          <p:nvPr/>
        </p:nvGrpSpPr>
        <p:grpSpPr>
          <a:xfrm>
            <a:off x="6329147" y="2275859"/>
            <a:ext cx="627365" cy="413215"/>
            <a:chOff x="2532026" y="2360120"/>
            <a:chExt cx="627365" cy="413215"/>
          </a:xfrm>
        </p:grpSpPr>
        <p:cxnSp>
          <p:nvCxnSpPr>
            <p:cNvPr id="27" name="直線接點 26"/>
            <p:cNvCxnSpPr>
              <a:stCxn id="54" idx="1"/>
              <a:endCxn id="48" idx="5"/>
            </p:cNvCxnSpPr>
            <p:nvPr/>
          </p:nvCxnSpPr>
          <p:spPr>
            <a:xfrm flipH="1" flipV="1">
              <a:off x="2532026" y="2360120"/>
              <a:ext cx="627365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字方塊 27"/>
            <p:cNvSpPr txBox="1"/>
            <p:nvPr/>
          </p:nvSpPr>
          <p:spPr>
            <a:xfrm>
              <a:off x="2581239" y="240400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9" name="群組 28"/>
          <p:cNvGrpSpPr/>
          <p:nvPr/>
        </p:nvGrpSpPr>
        <p:grpSpPr>
          <a:xfrm>
            <a:off x="7160158" y="1565198"/>
            <a:ext cx="653245" cy="507015"/>
            <a:chOff x="3363037" y="1649459"/>
            <a:chExt cx="653245" cy="507015"/>
          </a:xfrm>
        </p:grpSpPr>
        <p:cxnSp>
          <p:nvCxnSpPr>
            <p:cNvPr id="30" name="直線接點 29"/>
            <p:cNvCxnSpPr>
              <a:stCxn id="57" idx="1"/>
              <a:endCxn id="51" idx="5"/>
            </p:cNvCxnSpPr>
            <p:nvPr/>
          </p:nvCxnSpPr>
          <p:spPr>
            <a:xfrm flipH="1" flipV="1">
              <a:off x="3363037" y="1736700"/>
              <a:ext cx="653245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文字方塊 30"/>
            <p:cNvSpPr txBox="1"/>
            <p:nvPr/>
          </p:nvSpPr>
          <p:spPr>
            <a:xfrm>
              <a:off x="3582748" y="164945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2" name="群組 31"/>
          <p:cNvGrpSpPr/>
          <p:nvPr/>
        </p:nvGrpSpPr>
        <p:grpSpPr>
          <a:xfrm>
            <a:off x="7160158" y="2275859"/>
            <a:ext cx="653245" cy="425454"/>
            <a:chOff x="3363037" y="2360120"/>
            <a:chExt cx="653245" cy="425454"/>
          </a:xfrm>
        </p:grpSpPr>
        <p:cxnSp>
          <p:nvCxnSpPr>
            <p:cNvPr id="33" name="直線接點 32"/>
            <p:cNvCxnSpPr>
              <a:stCxn id="57" idx="3"/>
              <a:endCxn id="54" idx="7"/>
            </p:cNvCxnSpPr>
            <p:nvPr/>
          </p:nvCxnSpPr>
          <p:spPr>
            <a:xfrm flipH="1">
              <a:off x="3363037" y="2360120"/>
              <a:ext cx="653245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文字方塊 33"/>
            <p:cNvSpPr txBox="1"/>
            <p:nvPr/>
          </p:nvSpPr>
          <p:spPr>
            <a:xfrm>
              <a:off x="3608626" y="241624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5" name="群組 34"/>
          <p:cNvGrpSpPr/>
          <p:nvPr/>
        </p:nvGrpSpPr>
        <p:grpSpPr>
          <a:xfrm>
            <a:off x="5773226" y="2689074"/>
            <a:ext cx="1141109" cy="369332"/>
            <a:chOff x="1976105" y="2773335"/>
            <a:chExt cx="1141109" cy="369332"/>
          </a:xfrm>
        </p:grpSpPr>
        <p:cxnSp>
          <p:nvCxnSpPr>
            <p:cNvPr id="36" name="直線接點 35"/>
            <p:cNvCxnSpPr>
              <a:stCxn id="54" idx="2"/>
              <a:endCxn id="45" idx="6"/>
            </p:cNvCxnSpPr>
            <p:nvPr/>
          </p:nvCxnSpPr>
          <p:spPr>
            <a:xfrm flipH="1">
              <a:off x="1976105" y="2854072"/>
              <a:ext cx="1141109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文字方塊 36"/>
            <p:cNvSpPr txBox="1"/>
            <p:nvPr/>
          </p:nvSpPr>
          <p:spPr>
            <a:xfrm>
              <a:off x="2381985" y="2773335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8" name="群組 37"/>
          <p:cNvGrpSpPr/>
          <p:nvPr/>
        </p:nvGrpSpPr>
        <p:grpSpPr>
          <a:xfrm>
            <a:off x="4840400" y="1946240"/>
            <a:ext cx="364202" cy="371796"/>
            <a:chOff x="1043279" y="2030501"/>
            <a:chExt cx="364202" cy="371796"/>
          </a:xfrm>
        </p:grpSpPr>
        <p:sp>
          <p:nvSpPr>
            <p:cNvPr id="39" name="橢圓 38"/>
            <p:cNvSpPr/>
            <p:nvPr/>
          </p:nvSpPr>
          <p:spPr>
            <a:xfrm>
              <a:off x="1081380" y="211429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0" name="文字方塊 39"/>
            <p:cNvSpPr txBox="1"/>
            <p:nvPr/>
          </p:nvSpPr>
          <p:spPr>
            <a:xfrm>
              <a:off x="1043279" y="203050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1" name="群組 40"/>
          <p:cNvGrpSpPr/>
          <p:nvPr/>
        </p:nvGrpSpPr>
        <p:grpSpPr>
          <a:xfrm>
            <a:off x="5447125" y="1322944"/>
            <a:ext cx="364202" cy="371672"/>
            <a:chOff x="1650004" y="1407205"/>
            <a:chExt cx="364202" cy="371672"/>
          </a:xfrm>
        </p:grpSpPr>
        <p:sp>
          <p:nvSpPr>
            <p:cNvPr id="42" name="橢圓 41"/>
            <p:cNvSpPr/>
            <p:nvPr/>
          </p:nvSpPr>
          <p:spPr>
            <a:xfrm>
              <a:off x="1688105" y="149087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3" name="文字方塊 42"/>
            <p:cNvSpPr txBox="1"/>
            <p:nvPr/>
          </p:nvSpPr>
          <p:spPr>
            <a:xfrm>
              <a:off x="1650004" y="1407205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4" name="群組 43"/>
          <p:cNvGrpSpPr/>
          <p:nvPr/>
        </p:nvGrpSpPr>
        <p:grpSpPr>
          <a:xfrm>
            <a:off x="5447125" y="2542015"/>
            <a:ext cx="364202" cy="371796"/>
            <a:chOff x="1650004" y="2626276"/>
            <a:chExt cx="364202" cy="371796"/>
          </a:xfrm>
        </p:grpSpPr>
        <p:sp>
          <p:nvSpPr>
            <p:cNvPr id="45" name="橢圓 44"/>
            <p:cNvSpPr/>
            <p:nvPr/>
          </p:nvSpPr>
          <p:spPr>
            <a:xfrm>
              <a:off x="1688105" y="2710072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6" name="文字方塊 45"/>
            <p:cNvSpPr txBox="1"/>
            <p:nvPr/>
          </p:nvSpPr>
          <p:spPr>
            <a:xfrm>
              <a:off x="1650004" y="262627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7" name="群組 46"/>
          <p:cNvGrpSpPr/>
          <p:nvPr/>
        </p:nvGrpSpPr>
        <p:grpSpPr>
          <a:xfrm>
            <a:off x="6036597" y="1946240"/>
            <a:ext cx="364202" cy="371796"/>
            <a:chOff x="2239476" y="2030501"/>
            <a:chExt cx="364202" cy="371796"/>
          </a:xfrm>
        </p:grpSpPr>
        <p:sp>
          <p:nvSpPr>
            <p:cNvPr id="48" name="橢圓 47"/>
            <p:cNvSpPr/>
            <p:nvPr/>
          </p:nvSpPr>
          <p:spPr>
            <a:xfrm>
              <a:off x="2286203" y="211429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9" name="文字方塊 48"/>
            <p:cNvSpPr txBox="1"/>
            <p:nvPr/>
          </p:nvSpPr>
          <p:spPr>
            <a:xfrm>
              <a:off x="2239476" y="203050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0" name="群組 49"/>
          <p:cNvGrpSpPr/>
          <p:nvPr/>
        </p:nvGrpSpPr>
        <p:grpSpPr>
          <a:xfrm>
            <a:off x="6876234" y="1322820"/>
            <a:ext cx="364202" cy="371796"/>
            <a:chOff x="3079113" y="1407081"/>
            <a:chExt cx="364202" cy="371796"/>
          </a:xfrm>
        </p:grpSpPr>
        <p:sp>
          <p:nvSpPr>
            <p:cNvPr id="51" name="橢圓 50"/>
            <p:cNvSpPr/>
            <p:nvPr/>
          </p:nvSpPr>
          <p:spPr>
            <a:xfrm>
              <a:off x="3117214" y="149087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2" name="文字方塊 51"/>
            <p:cNvSpPr txBox="1"/>
            <p:nvPr/>
          </p:nvSpPr>
          <p:spPr>
            <a:xfrm>
              <a:off x="3079113" y="140708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3" name="群組 52"/>
          <p:cNvGrpSpPr/>
          <p:nvPr/>
        </p:nvGrpSpPr>
        <p:grpSpPr>
          <a:xfrm>
            <a:off x="6866274" y="2542015"/>
            <a:ext cx="364202" cy="371796"/>
            <a:chOff x="3069153" y="2626276"/>
            <a:chExt cx="364202" cy="371796"/>
          </a:xfrm>
        </p:grpSpPr>
        <p:sp>
          <p:nvSpPr>
            <p:cNvPr id="54" name="橢圓 53"/>
            <p:cNvSpPr/>
            <p:nvPr/>
          </p:nvSpPr>
          <p:spPr>
            <a:xfrm>
              <a:off x="3117214" y="2710072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5" name="文字方塊 54"/>
            <p:cNvSpPr txBox="1"/>
            <p:nvPr/>
          </p:nvSpPr>
          <p:spPr>
            <a:xfrm>
              <a:off x="3069153" y="262627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6" name="群組 55"/>
          <p:cNvGrpSpPr/>
          <p:nvPr/>
        </p:nvGrpSpPr>
        <p:grpSpPr>
          <a:xfrm>
            <a:off x="7733125" y="1947758"/>
            <a:ext cx="364202" cy="370278"/>
            <a:chOff x="3936004" y="2032019"/>
            <a:chExt cx="364202" cy="370278"/>
          </a:xfrm>
        </p:grpSpPr>
        <p:sp>
          <p:nvSpPr>
            <p:cNvPr id="57" name="橢圓 56"/>
            <p:cNvSpPr/>
            <p:nvPr/>
          </p:nvSpPr>
          <p:spPr>
            <a:xfrm>
              <a:off x="3974105" y="211429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8" name="文字方塊 57"/>
            <p:cNvSpPr txBox="1"/>
            <p:nvPr/>
          </p:nvSpPr>
          <p:spPr>
            <a:xfrm>
              <a:off x="3936004" y="2032019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9" name="群組 58"/>
          <p:cNvGrpSpPr/>
          <p:nvPr/>
        </p:nvGrpSpPr>
        <p:grpSpPr>
          <a:xfrm>
            <a:off x="776380" y="3272065"/>
            <a:ext cx="3961108" cy="3132934"/>
            <a:chOff x="381848" y="3292760"/>
            <a:chExt cx="3961108" cy="3132934"/>
          </a:xfrm>
        </p:grpSpPr>
        <p:sp>
          <p:nvSpPr>
            <p:cNvPr id="60" name="文字方塊 59"/>
            <p:cNvSpPr txBox="1"/>
            <p:nvPr/>
          </p:nvSpPr>
          <p:spPr>
            <a:xfrm>
              <a:off x="833298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文字方塊 60"/>
            <p:cNvSpPr txBox="1"/>
            <p:nvPr/>
          </p:nvSpPr>
          <p:spPr>
            <a:xfrm>
              <a:off x="1359767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文字方塊 61"/>
            <p:cNvSpPr txBox="1"/>
            <p:nvPr/>
          </p:nvSpPr>
          <p:spPr>
            <a:xfrm>
              <a:off x="1882744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文字方塊 62"/>
            <p:cNvSpPr txBox="1"/>
            <p:nvPr/>
          </p:nvSpPr>
          <p:spPr>
            <a:xfrm>
              <a:off x="2409213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文字方塊 63"/>
            <p:cNvSpPr txBox="1"/>
            <p:nvPr/>
          </p:nvSpPr>
          <p:spPr>
            <a:xfrm>
              <a:off x="2929308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文字方塊 64"/>
            <p:cNvSpPr txBox="1"/>
            <p:nvPr/>
          </p:nvSpPr>
          <p:spPr>
            <a:xfrm>
              <a:off x="3452285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文字方塊 65"/>
            <p:cNvSpPr txBox="1"/>
            <p:nvPr/>
          </p:nvSpPr>
          <p:spPr>
            <a:xfrm>
              <a:off x="3978754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文字方塊 66"/>
            <p:cNvSpPr txBox="1"/>
            <p:nvPr/>
          </p:nvSpPr>
          <p:spPr>
            <a:xfrm>
              <a:off x="381848" y="3670718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" name="文字方塊 67"/>
            <p:cNvSpPr txBox="1"/>
            <p:nvPr/>
          </p:nvSpPr>
          <p:spPr>
            <a:xfrm>
              <a:off x="381848" y="408318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文字方塊 68"/>
            <p:cNvSpPr txBox="1"/>
            <p:nvPr/>
          </p:nvSpPr>
          <p:spPr>
            <a:xfrm>
              <a:off x="381848" y="4469764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文字方塊 69"/>
            <p:cNvSpPr txBox="1"/>
            <p:nvPr/>
          </p:nvSpPr>
          <p:spPr>
            <a:xfrm>
              <a:off x="381848" y="4856348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文字方塊 70"/>
            <p:cNvSpPr txBox="1"/>
            <p:nvPr/>
          </p:nvSpPr>
          <p:spPr>
            <a:xfrm>
              <a:off x="381848" y="5265942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文字方塊 71"/>
            <p:cNvSpPr txBox="1"/>
            <p:nvPr/>
          </p:nvSpPr>
          <p:spPr>
            <a:xfrm>
              <a:off x="381848" y="5661152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文字方塊 72"/>
            <p:cNvSpPr txBox="1"/>
            <p:nvPr/>
          </p:nvSpPr>
          <p:spPr>
            <a:xfrm>
              <a:off x="381848" y="6056362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4" name="文字方塊 73"/>
          <p:cNvSpPr txBox="1"/>
          <p:nvPr/>
        </p:nvSpPr>
        <p:spPr>
          <a:xfrm>
            <a:off x="519142" y="2977377"/>
            <a:ext cx="14173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Cost[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文字方塊 74"/>
          <p:cNvSpPr txBox="1"/>
          <p:nvPr/>
        </p:nvSpPr>
        <p:spPr>
          <a:xfrm>
            <a:off x="5189394" y="3619245"/>
            <a:ext cx="29995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Cost[0][3]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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~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5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文字方塊 75"/>
          <p:cNvSpPr txBox="1"/>
          <p:nvPr/>
        </p:nvSpPr>
        <p:spPr>
          <a:xfrm>
            <a:off x="5190501" y="4418291"/>
            <a:ext cx="29995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Cost[3][4]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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~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5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文字方塊 76"/>
          <p:cNvSpPr txBox="1"/>
          <p:nvPr/>
        </p:nvSpPr>
        <p:spPr>
          <a:xfrm>
            <a:off x="5204612" y="5204985"/>
            <a:ext cx="29995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Cost[4][6]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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~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6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16957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Floyd </a:t>
            </a:r>
            <a:r>
              <a:rPr lang="zh-TW" altLang="en-US" dirty="0"/>
              <a:t>演算法 </a:t>
            </a:r>
            <a:r>
              <a:rPr lang="en-US" altLang="zh-TW" dirty="0"/>
              <a:t>(2/10)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31</a:t>
            </a:fld>
            <a:endParaRPr lang="en-US" dirty="0"/>
          </a:p>
        </p:txBody>
      </p:sp>
      <p:graphicFrame>
        <p:nvGraphicFramePr>
          <p:cNvPr id="7" name="內容版面配置區 60"/>
          <p:cNvGraphicFramePr>
            <a:graphicFrameLocks/>
          </p:cNvGraphicFramePr>
          <p:nvPr/>
        </p:nvGraphicFramePr>
        <p:xfrm>
          <a:off x="662040" y="3645983"/>
          <a:ext cx="3690750" cy="2759015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2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/6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/6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/6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/6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6/6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4/6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0/6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8" name="群組 7"/>
          <p:cNvGrpSpPr/>
          <p:nvPr/>
        </p:nvGrpSpPr>
        <p:grpSpPr>
          <a:xfrm>
            <a:off x="1113633" y="1851693"/>
            <a:ext cx="916823" cy="369332"/>
            <a:chOff x="1369380" y="1970119"/>
            <a:chExt cx="916823" cy="369332"/>
          </a:xfrm>
        </p:grpSpPr>
        <p:cxnSp>
          <p:nvCxnSpPr>
            <p:cNvPr id="9" name="直線接點 8"/>
            <p:cNvCxnSpPr>
              <a:stCxn id="48" idx="2"/>
              <a:endCxn id="39" idx="6"/>
            </p:cNvCxnSpPr>
            <p:nvPr/>
          </p:nvCxnSpPr>
          <p:spPr>
            <a:xfrm flipH="1">
              <a:off x="1369380" y="2258297"/>
              <a:ext cx="916823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字方塊 9"/>
            <p:cNvSpPr txBox="1"/>
            <p:nvPr/>
          </p:nvSpPr>
          <p:spPr>
            <a:xfrm>
              <a:off x="1682064" y="197011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" name="群組 10"/>
          <p:cNvGrpSpPr/>
          <p:nvPr/>
        </p:nvGrpSpPr>
        <p:grpSpPr>
          <a:xfrm>
            <a:off x="1054786" y="1551060"/>
            <a:ext cx="419749" cy="486988"/>
            <a:chOff x="1310533" y="1669486"/>
            <a:chExt cx="419749" cy="486988"/>
          </a:xfrm>
        </p:grpSpPr>
        <p:cxnSp>
          <p:nvCxnSpPr>
            <p:cNvPr id="12" name="直線接點 11"/>
            <p:cNvCxnSpPr>
              <a:stCxn id="39" idx="7"/>
              <a:endCxn id="42" idx="3"/>
            </p:cNvCxnSpPr>
            <p:nvPr/>
          </p:nvCxnSpPr>
          <p:spPr>
            <a:xfrm flipV="1">
              <a:off x="1327203" y="1736700"/>
              <a:ext cx="403079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字方塊 12"/>
            <p:cNvSpPr txBox="1"/>
            <p:nvPr/>
          </p:nvSpPr>
          <p:spPr>
            <a:xfrm>
              <a:off x="1310533" y="166948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" name="群組 13"/>
          <p:cNvGrpSpPr/>
          <p:nvPr/>
        </p:nvGrpSpPr>
        <p:grpSpPr>
          <a:xfrm>
            <a:off x="1054786" y="2241694"/>
            <a:ext cx="419749" cy="445481"/>
            <a:chOff x="1310533" y="2360120"/>
            <a:chExt cx="419749" cy="445481"/>
          </a:xfrm>
        </p:grpSpPr>
        <p:cxnSp>
          <p:nvCxnSpPr>
            <p:cNvPr id="15" name="直線接點 14"/>
            <p:cNvCxnSpPr>
              <a:stCxn id="45" idx="1"/>
              <a:endCxn id="39" idx="5"/>
            </p:cNvCxnSpPr>
            <p:nvPr/>
          </p:nvCxnSpPr>
          <p:spPr>
            <a:xfrm flipH="1" flipV="1">
              <a:off x="1327203" y="2360120"/>
              <a:ext cx="403079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字方塊 15"/>
            <p:cNvSpPr txBox="1"/>
            <p:nvPr/>
          </p:nvSpPr>
          <p:spPr>
            <a:xfrm>
              <a:off x="1310533" y="243626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" name="群組 16"/>
          <p:cNvGrpSpPr/>
          <p:nvPr/>
        </p:nvGrpSpPr>
        <p:grpSpPr>
          <a:xfrm>
            <a:off x="1678181" y="1531033"/>
            <a:ext cx="411886" cy="507015"/>
            <a:chOff x="1933928" y="1649459"/>
            <a:chExt cx="411886" cy="507015"/>
          </a:xfrm>
        </p:grpSpPr>
        <p:cxnSp>
          <p:nvCxnSpPr>
            <p:cNvPr id="18" name="直線接點 17"/>
            <p:cNvCxnSpPr>
              <a:stCxn id="48" idx="1"/>
              <a:endCxn id="42" idx="5"/>
            </p:cNvCxnSpPr>
            <p:nvPr/>
          </p:nvCxnSpPr>
          <p:spPr>
            <a:xfrm flipH="1" flipV="1">
              <a:off x="1933928" y="1736700"/>
              <a:ext cx="394452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字方塊 18"/>
            <p:cNvSpPr txBox="1"/>
            <p:nvPr/>
          </p:nvSpPr>
          <p:spPr>
            <a:xfrm>
              <a:off x="2045732" y="164945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" name="群組 19"/>
          <p:cNvGrpSpPr/>
          <p:nvPr/>
        </p:nvGrpSpPr>
        <p:grpSpPr>
          <a:xfrm>
            <a:off x="1678181" y="2241694"/>
            <a:ext cx="411886" cy="425454"/>
            <a:chOff x="1933928" y="2360120"/>
            <a:chExt cx="411886" cy="425454"/>
          </a:xfrm>
        </p:grpSpPr>
        <p:cxnSp>
          <p:nvCxnSpPr>
            <p:cNvPr id="21" name="直線接點 20"/>
            <p:cNvCxnSpPr>
              <a:stCxn id="48" idx="3"/>
              <a:endCxn id="45" idx="7"/>
            </p:cNvCxnSpPr>
            <p:nvPr/>
          </p:nvCxnSpPr>
          <p:spPr>
            <a:xfrm flipH="1">
              <a:off x="1933928" y="2360120"/>
              <a:ext cx="394452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字方塊 21"/>
            <p:cNvSpPr txBox="1"/>
            <p:nvPr/>
          </p:nvSpPr>
          <p:spPr>
            <a:xfrm>
              <a:off x="2045732" y="241624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3" name="群組 22"/>
          <p:cNvGrpSpPr/>
          <p:nvPr/>
        </p:nvGrpSpPr>
        <p:grpSpPr>
          <a:xfrm>
            <a:off x="2276279" y="1518794"/>
            <a:ext cx="627365" cy="519254"/>
            <a:chOff x="2532026" y="1637220"/>
            <a:chExt cx="627365" cy="519254"/>
          </a:xfrm>
        </p:grpSpPr>
        <p:cxnSp>
          <p:nvCxnSpPr>
            <p:cNvPr id="24" name="直線接點 23"/>
            <p:cNvCxnSpPr>
              <a:stCxn id="51" idx="3"/>
              <a:endCxn id="48" idx="7"/>
            </p:cNvCxnSpPr>
            <p:nvPr/>
          </p:nvCxnSpPr>
          <p:spPr>
            <a:xfrm flipH="1">
              <a:off x="2532026" y="1736700"/>
              <a:ext cx="627365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文字方塊 24"/>
            <p:cNvSpPr txBox="1"/>
            <p:nvPr/>
          </p:nvSpPr>
          <p:spPr>
            <a:xfrm>
              <a:off x="2667499" y="163722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6" name="群組 25"/>
          <p:cNvGrpSpPr/>
          <p:nvPr/>
        </p:nvGrpSpPr>
        <p:grpSpPr>
          <a:xfrm>
            <a:off x="2276279" y="2241694"/>
            <a:ext cx="627365" cy="413215"/>
            <a:chOff x="2532026" y="2360120"/>
            <a:chExt cx="627365" cy="413215"/>
          </a:xfrm>
        </p:grpSpPr>
        <p:cxnSp>
          <p:nvCxnSpPr>
            <p:cNvPr id="27" name="直線接點 26"/>
            <p:cNvCxnSpPr>
              <a:stCxn id="54" idx="1"/>
              <a:endCxn id="48" idx="5"/>
            </p:cNvCxnSpPr>
            <p:nvPr/>
          </p:nvCxnSpPr>
          <p:spPr>
            <a:xfrm flipH="1" flipV="1">
              <a:off x="2532026" y="2360120"/>
              <a:ext cx="627365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字方塊 27"/>
            <p:cNvSpPr txBox="1"/>
            <p:nvPr/>
          </p:nvSpPr>
          <p:spPr>
            <a:xfrm>
              <a:off x="2581239" y="240400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9" name="群組 28"/>
          <p:cNvGrpSpPr/>
          <p:nvPr/>
        </p:nvGrpSpPr>
        <p:grpSpPr>
          <a:xfrm>
            <a:off x="3107290" y="1531033"/>
            <a:ext cx="653245" cy="507015"/>
            <a:chOff x="3363037" y="1649459"/>
            <a:chExt cx="653245" cy="507015"/>
          </a:xfrm>
        </p:grpSpPr>
        <p:cxnSp>
          <p:nvCxnSpPr>
            <p:cNvPr id="30" name="直線接點 29"/>
            <p:cNvCxnSpPr>
              <a:stCxn id="57" idx="1"/>
              <a:endCxn id="51" idx="5"/>
            </p:cNvCxnSpPr>
            <p:nvPr/>
          </p:nvCxnSpPr>
          <p:spPr>
            <a:xfrm flipH="1" flipV="1">
              <a:off x="3363037" y="1736700"/>
              <a:ext cx="653245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文字方塊 30"/>
            <p:cNvSpPr txBox="1"/>
            <p:nvPr/>
          </p:nvSpPr>
          <p:spPr>
            <a:xfrm>
              <a:off x="3582748" y="164945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2" name="群組 31"/>
          <p:cNvGrpSpPr/>
          <p:nvPr/>
        </p:nvGrpSpPr>
        <p:grpSpPr>
          <a:xfrm>
            <a:off x="3107290" y="2241694"/>
            <a:ext cx="653245" cy="425454"/>
            <a:chOff x="3363037" y="2360120"/>
            <a:chExt cx="653245" cy="425454"/>
          </a:xfrm>
        </p:grpSpPr>
        <p:cxnSp>
          <p:nvCxnSpPr>
            <p:cNvPr id="33" name="直線接點 32"/>
            <p:cNvCxnSpPr>
              <a:stCxn id="57" idx="3"/>
              <a:endCxn id="54" idx="7"/>
            </p:cNvCxnSpPr>
            <p:nvPr/>
          </p:nvCxnSpPr>
          <p:spPr>
            <a:xfrm flipH="1">
              <a:off x="3363037" y="2360120"/>
              <a:ext cx="653245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文字方塊 33"/>
            <p:cNvSpPr txBox="1"/>
            <p:nvPr/>
          </p:nvSpPr>
          <p:spPr>
            <a:xfrm>
              <a:off x="3608626" y="241624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5" name="群組 34"/>
          <p:cNvGrpSpPr/>
          <p:nvPr/>
        </p:nvGrpSpPr>
        <p:grpSpPr>
          <a:xfrm>
            <a:off x="1720358" y="2657165"/>
            <a:ext cx="1141109" cy="369332"/>
            <a:chOff x="1254795" y="2775591"/>
            <a:chExt cx="1141109" cy="369332"/>
          </a:xfrm>
        </p:grpSpPr>
        <p:cxnSp>
          <p:nvCxnSpPr>
            <p:cNvPr id="36" name="直線接點 35"/>
            <p:cNvCxnSpPr>
              <a:stCxn id="54" idx="2"/>
              <a:endCxn id="45" idx="6"/>
            </p:cNvCxnSpPr>
            <p:nvPr/>
          </p:nvCxnSpPr>
          <p:spPr>
            <a:xfrm flipH="1">
              <a:off x="1254795" y="2854072"/>
              <a:ext cx="1141109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文字方塊 36"/>
            <p:cNvSpPr txBox="1"/>
            <p:nvPr/>
          </p:nvSpPr>
          <p:spPr>
            <a:xfrm>
              <a:off x="1660675" y="2775591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8" name="群組 37"/>
          <p:cNvGrpSpPr/>
          <p:nvPr/>
        </p:nvGrpSpPr>
        <p:grpSpPr>
          <a:xfrm>
            <a:off x="787532" y="1912075"/>
            <a:ext cx="364202" cy="371796"/>
            <a:chOff x="1043279" y="2030501"/>
            <a:chExt cx="364202" cy="371796"/>
          </a:xfrm>
        </p:grpSpPr>
        <p:sp>
          <p:nvSpPr>
            <p:cNvPr id="39" name="橢圓 38"/>
            <p:cNvSpPr/>
            <p:nvPr/>
          </p:nvSpPr>
          <p:spPr>
            <a:xfrm>
              <a:off x="1081380" y="211429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0" name="文字方塊 39"/>
            <p:cNvSpPr txBox="1"/>
            <p:nvPr/>
          </p:nvSpPr>
          <p:spPr>
            <a:xfrm>
              <a:off x="1043279" y="203050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1" name="群組 40"/>
          <p:cNvGrpSpPr/>
          <p:nvPr/>
        </p:nvGrpSpPr>
        <p:grpSpPr>
          <a:xfrm>
            <a:off x="1394257" y="1288779"/>
            <a:ext cx="364202" cy="371672"/>
            <a:chOff x="1650004" y="1407205"/>
            <a:chExt cx="364202" cy="371672"/>
          </a:xfrm>
        </p:grpSpPr>
        <p:sp>
          <p:nvSpPr>
            <p:cNvPr id="42" name="橢圓 41"/>
            <p:cNvSpPr/>
            <p:nvPr/>
          </p:nvSpPr>
          <p:spPr>
            <a:xfrm>
              <a:off x="1688105" y="149087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3" name="文字方塊 42"/>
            <p:cNvSpPr txBox="1"/>
            <p:nvPr/>
          </p:nvSpPr>
          <p:spPr>
            <a:xfrm>
              <a:off x="1650004" y="1407205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4" name="群組 43"/>
          <p:cNvGrpSpPr/>
          <p:nvPr/>
        </p:nvGrpSpPr>
        <p:grpSpPr>
          <a:xfrm>
            <a:off x="1394257" y="2507850"/>
            <a:ext cx="364202" cy="371796"/>
            <a:chOff x="1650004" y="2626276"/>
            <a:chExt cx="364202" cy="371796"/>
          </a:xfrm>
        </p:grpSpPr>
        <p:sp>
          <p:nvSpPr>
            <p:cNvPr id="45" name="橢圓 44"/>
            <p:cNvSpPr/>
            <p:nvPr/>
          </p:nvSpPr>
          <p:spPr>
            <a:xfrm>
              <a:off x="1688105" y="2710072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6" name="文字方塊 45"/>
            <p:cNvSpPr txBox="1"/>
            <p:nvPr/>
          </p:nvSpPr>
          <p:spPr>
            <a:xfrm>
              <a:off x="1650004" y="262627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7" name="群組 46"/>
          <p:cNvGrpSpPr/>
          <p:nvPr/>
        </p:nvGrpSpPr>
        <p:grpSpPr>
          <a:xfrm>
            <a:off x="1983729" y="1912075"/>
            <a:ext cx="364202" cy="371796"/>
            <a:chOff x="2239476" y="2030501"/>
            <a:chExt cx="364202" cy="371796"/>
          </a:xfrm>
        </p:grpSpPr>
        <p:sp>
          <p:nvSpPr>
            <p:cNvPr id="48" name="橢圓 47"/>
            <p:cNvSpPr/>
            <p:nvPr/>
          </p:nvSpPr>
          <p:spPr>
            <a:xfrm>
              <a:off x="2286203" y="211429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9" name="文字方塊 48"/>
            <p:cNvSpPr txBox="1"/>
            <p:nvPr/>
          </p:nvSpPr>
          <p:spPr>
            <a:xfrm>
              <a:off x="2239476" y="203050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0" name="群組 49"/>
          <p:cNvGrpSpPr/>
          <p:nvPr/>
        </p:nvGrpSpPr>
        <p:grpSpPr>
          <a:xfrm>
            <a:off x="2823366" y="1288655"/>
            <a:ext cx="364202" cy="371796"/>
            <a:chOff x="3079113" y="1407081"/>
            <a:chExt cx="364202" cy="371796"/>
          </a:xfrm>
        </p:grpSpPr>
        <p:sp>
          <p:nvSpPr>
            <p:cNvPr id="51" name="橢圓 50"/>
            <p:cNvSpPr/>
            <p:nvPr/>
          </p:nvSpPr>
          <p:spPr>
            <a:xfrm>
              <a:off x="3117214" y="149087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2" name="文字方塊 51"/>
            <p:cNvSpPr txBox="1"/>
            <p:nvPr/>
          </p:nvSpPr>
          <p:spPr>
            <a:xfrm>
              <a:off x="3079113" y="140708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3" name="群組 52"/>
          <p:cNvGrpSpPr/>
          <p:nvPr/>
        </p:nvGrpSpPr>
        <p:grpSpPr>
          <a:xfrm>
            <a:off x="2813406" y="2507850"/>
            <a:ext cx="364202" cy="371796"/>
            <a:chOff x="3069153" y="2626276"/>
            <a:chExt cx="364202" cy="371796"/>
          </a:xfrm>
        </p:grpSpPr>
        <p:sp>
          <p:nvSpPr>
            <p:cNvPr id="54" name="橢圓 53"/>
            <p:cNvSpPr/>
            <p:nvPr/>
          </p:nvSpPr>
          <p:spPr>
            <a:xfrm>
              <a:off x="3117214" y="2710072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5" name="文字方塊 54"/>
            <p:cNvSpPr txBox="1"/>
            <p:nvPr/>
          </p:nvSpPr>
          <p:spPr>
            <a:xfrm>
              <a:off x="3069153" y="262627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6" name="群組 55"/>
          <p:cNvGrpSpPr/>
          <p:nvPr/>
        </p:nvGrpSpPr>
        <p:grpSpPr>
          <a:xfrm>
            <a:off x="3680257" y="1913593"/>
            <a:ext cx="364202" cy="370278"/>
            <a:chOff x="3936004" y="2032019"/>
            <a:chExt cx="364202" cy="370278"/>
          </a:xfrm>
        </p:grpSpPr>
        <p:sp>
          <p:nvSpPr>
            <p:cNvPr id="57" name="橢圓 56"/>
            <p:cNvSpPr/>
            <p:nvPr/>
          </p:nvSpPr>
          <p:spPr>
            <a:xfrm>
              <a:off x="3974105" y="211429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8" name="文字方塊 57"/>
            <p:cNvSpPr txBox="1"/>
            <p:nvPr/>
          </p:nvSpPr>
          <p:spPr>
            <a:xfrm>
              <a:off x="3936004" y="2032019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9" name="群組 58"/>
          <p:cNvGrpSpPr/>
          <p:nvPr/>
        </p:nvGrpSpPr>
        <p:grpSpPr>
          <a:xfrm>
            <a:off x="297396" y="3272065"/>
            <a:ext cx="3961108" cy="3132934"/>
            <a:chOff x="381848" y="3292760"/>
            <a:chExt cx="3961108" cy="3132934"/>
          </a:xfrm>
        </p:grpSpPr>
        <p:sp>
          <p:nvSpPr>
            <p:cNvPr id="60" name="文字方塊 59"/>
            <p:cNvSpPr txBox="1"/>
            <p:nvPr/>
          </p:nvSpPr>
          <p:spPr>
            <a:xfrm>
              <a:off x="833298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文字方塊 60"/>
            <p:cNvSpPr txBox="1"/>
            <p:nvPr/>
          </p:nvSpPr>
          <p:spPr>
            <a:xfrm>
              <a:off x="1359767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文字方塊 61"/>
            <p:cNvSpPr txBox="1"/>
            <p:nvPr/>
          </p:nvSpPr>
          <p:spPr>
            <a:xfrm>
              <a:off x="1882744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文字方塊 62"/>
            <p:cNvSpPr txBox="1"/>
            <p:nvPr/>
          </p:nvSpPr>
          <p:spPr>
            <a:xfrm>
              <a:off x="2409213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文字方塊 63"/>
            <p:cNvSpPr txBox="1"/>
            <p:nvPr/>
          </p:nvSpPr>
          <p:spPr>
            <a:xfrm>
              <a:off x="2929308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文字方塊 64"/>
            <p:cNvSpPr txBox="1"/>
            <p:nvPr/>
          </p:nvSpPr>
          <p:spPr>
            <a:xfrm>
              <a:off x="3452285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文字方塊 65"/>
            <p:cNvSpPr txBox="1"/>
            <p:nvPr/>
          </p:nvSpPr>
          <p:spPr>
            <a:xfrm>
              <a:off x="3978754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文字方塊 66"/>
            <p:cNvSpPr txBox="1"/>
            <p:nvPr/>
          </p:nvSpPr>
          <p:spPr>
            <a:xfrm>
              <a:off x="381848" y="3670718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" name="文字方塊 67"/>
            <p:cNvSpPr txBox="1"/>
            <p:nvPr/>
          </p:nvSpPr>
          <p:spPr>
            <a:xfrm>
              <a:off x="381848" y="408318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文字方塊 68"/>
            <p:cNvSpPr txBox="1"/>
            <p:nvPr/>
          </p:nvSpPr>
          <p:spPr>
            <a:xfrm>
              <a:off x="381848" y="4469764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文字方塊 69"/>
            <p:cNvSpPr txBox="1"/>
            <p:nvPr/>
          </p:nvSpPr>
          <p:spPr>
            <a:xfrm>
              <a:off x="381848" y="4856348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文字方塊 70"/>
            <p:cNvSpPr txBox="1"/>
            <p:nvPr/>
          </p:nvSpPr>
          <p:spPr>
            <a:xfrm>
              <a:off x="381848" y="5265942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文字方塊 71"/>
            <p:cNvSpPr txBox="1"/>
            <p:nvPr/>
          </p:nvSpPr>
          <p:spPr>
            <a:xfrm>
              <a:off x="381848" y="5661152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文字方塊 72"/>
            <p:cNvSpPr txBox="1"/>
            <p:nvPr/>
          </p:nvSpPr>
          <p:spPr>
            <a:xfrm>
              <a:off x="381848" y="6056362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4" name="文字方塊 73"/>
          <p:cNvSpPr txBox="1"/>
          <p:nvPr/>
        </p:nvSpPr>
        <p:spPr>
          <a:xfrm>
            <a:off x="40158" y="2977377"/>
            <a:ext cx="14173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Cost[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文字方塊 74"/>
          <p:cNvSpPr txBox="1"/>
          <p:nvPr/>
        </p:nvSpPr>
        <p:spPr>
          <a:xfrm>
            <a:off x="4429132" y="3400887"/>
            <a:ext cx="47099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</a:t>
            </a:r>
            <a:r>
              <a:rPr lang="en-US" altLang="zh-TW" sz="2000" b="1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[1][2]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min{Cost[1][2], Cost[1][0] + Cost[0][2]}</a:t>
            </a: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min{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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,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1 + 4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=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79" name="文字方塊 78"/>
          <p:cNvSpPr txBox="1"/>
          <p:nvPr/>
        </p:nvSpPr>
        <p:spPr>
          <a:xfrm>
            <a:off x="4450398" y="1422476"/>
            <a:ext cx="45079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Cost</a:t>
            </a:r>
            <a:r>
              <a:rPr lang="en-US" altLang="zh-TW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min{Cost[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], Cost[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][0] + Cost[0][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]}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AutoShape 193"/>
          <p:cNvSpPr>
            <a:spLocks noChangeArrowheads="1"/>
          </p:cNvSpPr>
          <p:nvPr/>
        </p:nvSpPr>
        <p:spPr bwMode="auto">
          <a:xfrm>
            <a:off x="4076403" y="2317843"/>
            <a:ext cx="1365445" cy="749523"/>
          </a:xfrm>
          <a:prstGeom prst="wedgeRoundRectCallout">
            <a:avLst>
              <a:gd name="adj1" fmla="val 70979"/>
              <a:gd name="adj2" fmla="val -64318"/>
              <a:gd name="adj3" fmla="val 16667"/>
            </a:avLst>
          </a:prstGeom>
          <a:noFill/>
          <a:ln w="28575">
            <a:solidFill>
              <a:schemeClr val="accent3">
                <a:lumMod val="7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9pPr>
          </a:lstStyle>
          <a:p>
            <a:pPr algn="ctr" eaLnBrk="1" hangingPunct="1"/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原來</a:t>
            </a:r>
            <a:r>
              <a:rPr lang="en-US" altLang="zh-TW" sz="2000" b="1" i="1" dirty="0">
                <a:ea typeface="標楷體" panose="03000509000000000000" pitchFamily="65" charset="-120"/>
                <a:cs typeface="Times New Roman" panose="02020603050405020304" pitchFamily="18" charset="0"/>
              </a:rPr>
              <a:t>v</a:t>
            </a:r>
            <a:r>
              <a:rPr lang="en-US" altLang="zh-TW" sz="2000" b="1" i="1" baseline="-25000" dirty="0"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ea typeface="標楷體" panose="03000509000000000000" pitchFamily="65" charset="-120"/>
                <a:cs typeface="Times New Roman" panose="02020603050405020304" pitchFamily="18" charset="0"/>
              </a:rPr>
              <a:t> ~ </a:t>
            </a:r>
            <a:r>
              <a:rPr lang="en-US" altLang="zh-TW" sz="2000" b="1" i="1" dirty="0" err="1">
                <a:ea typeface="標楷體" panose="03000509000000000000" pitchFamily="65" charset="-120"/>
                <a:cs typeface="Times New Roman" panose="02020603050405020304" pitchFamily="18" charset="0"/>
              </a:rPr>
              <a:t>v</a:t>
            </a:r>
            <a:r>
              <a:rPr lang="en-US" altLang="zh-TW" sz="2000" b="1" i="1" baseline="-25000" dirty="0" err="1">
                <a:ea typeface="標楷體" panose="03000509000000000000" pitchFamily="65" charset="-120"/>
                <a:cs typeface="Times New Roman" panose="02020603050405020304" pitchFamily="18" charset="0"/>
              </a:rPr>
              <a:t>j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的距離</a:t>
            </a:r>
          </a:p>
        </p:txBody>
      </p:sp>
      <p:sp>
        <p:nvSpPr>
          <p:cNvPr id="81" name="AutoShape 194"/>
          <p:cNvSpPr>
            <a:spLocks noChangeArrowheads="1"/>
          </p:cNvSpPr>
          <p:nvPr/>
        </p:nvSpPr>
        <p:spPr bwMode="auto">
          <a:xfrm>
            <a:off x="7572602" y="2359965"/>
            <a:ext cx="1295400" cy="751361"/>
          </a:xfrm>
          <a:prstGeom prst="wedgeRoundRectCallout">
            <a:avLst>
              <a:gd name="adj1" fmla="val -74098"/>
              <a:gd name="adj2" fmla="val -70166"/>
              <a:gd name="adj3" fmla="val 16667"/>
            </a:avLst>
          </a:prstGeom>
          <a:noFill/>
          <a:ln w="28575">
            <a:solidFill>
              <a:srgbClr val="7030A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9pPr>
          </a:lstStyle>
          <a:p>
            <a:pPr algn="ctr" eaLnBrk="1" hangingPunct="1"/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經過</a:t>
            </a:r>
            <a:r>
              <a:rPr lang="en-US" altLang="zh-TW" sz="2000" b="1" i="1" dirty="0">
                <a:ea typeface="標楷體" panose="03000509000000000000" pitchFamily="65" charset="-12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ea typeface="標楷體" panose="03000509000000000000" pitchFamily="65" charset="-120"/>
                <a:cs typeface="Times New Roman" panose="02020603050405020304" pitchFamily="18" charset="0"/>
              </a:rPr>
              <a:t>0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的距離</a:t>
            </a:r>
          </a:p>
        </p:txBody>
      </p:sp>
      <p:cxnSp>
        <p:nvCxnSpPr>
          <p:cNvPr id="82" name="直線接點 81"/>
          <p:cNvCxnSpPr/>
          <p:nvPr/>
        </p:nvCxnSpPr>
        <p:spPr>
          <a:xfrm>
            <a:off x="5276388" y="2088000"/>
            <a:ext cx="936000" cy="0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接點 82"/>
          <p:cNvCxnSpPr/>
          <p:nvPr/>
        </p:nvCxnSpPr>
        <p:spPr>
          <a:xfrm>
            <a:off x="6420602" y="2088000"/>
            <a:ext cx="2304000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文字方塊 83"/>
          <p:cNvSpPr txBox="1"/>
          <p:nvPr/>
        </p:nvSpPr>
        <p:spPr>
          <a:xfrm>
            <a:off x="1804060" y="4118129"/>
            <a:ext cx="367656" cy="276999"/>
          </a:xfrm>
          <a:prstGeom prst="rect">
            <a:avLst/>
          </a:prstGeom>
          <a:solidFill>
            <a:srgbClr val="E7F3F4"/>
          </a:solidFill>
          <a:ln>
            <a:noFill/>
          </a:ln>
        </p:spPr>
        <p:txBody>
          <a:bodyPr wrap="none" lIns="36000" tIns="0" rIns="36000" bIns="0" rtlCol="0">
            <a:spAutoFit/>
          </a:bodyPr>
          <a:lstStyle/>
          <a:p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5/0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文字方塊 84"/>
          <p:cNvSpPr txBox="1"/>
          <p:nvPr/>
        </p:nvSpPr>
        <p:spPr>
          <a:xfrm>
            <a:off x="4429132" y="4473860"/>
            <a:ext cx="47099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</a:t>
            </a:r>
            <a:r>
              <a:rPr lang="en-US" altLang="zh-TW" sz="2000" b="1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[1][3]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min{Cost[1][3], Cost[1][0] + Cost[0][3]}</a:t>
            </a: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min{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2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, 1 + 5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=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</a:p>
        </p:txBody>
      </p:sp>
      <p:sp>
        <p:nvSpPr>
          <p:cNvPr id="86" name="文字方塊 85"/>
          <p:cNvSpPr txBox="1"/>
          <p:nvPr/>
        </p:nvSpPr>
        <p:spPr>
          <a:xfrm>
            <a:off x="4429132" y="5549355"/>
            <a:ext cx="47099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</a:t>
            </a:r>
            <a:r>
              <a:rPr lang="en-US" altLang="zh-TW" sz="2000" b="1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[1][4]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min{Cost[1][4], Cost[1][0] + Cost[0][4]}</a:t>
            </a: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min{</a:t>
            </a:r>
            <a:r>
              <a: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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, 1 + 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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= </a:t>
            </a:r>
            <a:r>
              <a: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</a:t>
            </a:r>
            <a:endParaRPr lang="en-US" altLang="zh-TW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圓角矩形 86"/>
          <p:cNvSpPr/>
          <p:nvPr/>
        </p:nvSpPr>
        <p:spPr>
          <a:xfrm>
            <a:off x="661598" y="3652030"/>
            <a:ext cx="3672000" cy="377958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8" name="圓角矩形 87"/>
          <p:cNvSpPr/>
          <p:nvPr/>
        </p:nvSpPr>
        <p:spPr>
          <a:xfrm>
            <a:off x="661598" y="3645709"/>
            <a:ext cx="543229" cy="2759289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9" name="文字方塊 88"/>
          <p:cNvSpPr txBox="1"/>
          <p:nvPr/>
        </p:nvSpPr>
        <p:spPr>
          <a:xfrm>
            <a:off x="1278721" y="4508178"/>
            <a:ext cx="367656" cy="276999"/>
          </a:xfrm>
          <a:prstGeom prst="rect">
            <a:avLst/>
          </a:prstGeom>
          <a:solidFill>
            <a:srgbClr val="F3F9FA"/>
          </a:solidFill>
          <a:ln>
            <a:noFill/>
          </a:ln>
        </p:spPr>
        <p:txBody>
          <a:bodyPr wrap="none" lIns="36000" tIns="0" rIns="36000" bIns="0" rtlCol="0">
            <a:spAutoFit/>
          </a:bodyPr>
          <a:lstStyle/>
          <a:p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5/0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橢圓 2"/>
          <p:cNvSpPr/>
          <p:nvPr/>
        </p:nvSpPr>
        <p:spPr>
          <a:xfrm>
            <a:off x="1727366" y="4029987"/>
            <a:ext cx="504000" cy="401829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0" name="橢圓 89"/>
          <p:cNvSpPr/>
          <p:nvPr/>
        </p:nvSpPr>
        <p:spPr>
          <a:xfrm>
            <a:off x="2254862" y="4035603"/>
            <a:ext cx="504000" cy="401829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1" name="橢圓 90"/>
          <p:cNvSpPr/>
          <p:nvPr/>
        </p:nvSpPr>
        <p:spPr>
          <a:xfrm>
            <a:off x="2790761" y="4029960"/>
            <a:ext cx="504000" cy="401829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0033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 animBg="1"/>
      <p:bldP spid="87" grpId="0" animBg="1"/>
      <p:bldP spid="88" grpId="0" animBg="1"/>
      <p:bldP spid="89" grpId="0" animBg="1"/>
      <p:bldP spid="3" grpId="0" animBg="1"/>
      <p:bldP spid="3" grpId="1" animBg="1"/>
      <p:bldP spid="90" grpId="0" animBg="1"/>
      <p:bldP spid="90" grpId="1" animBg="1"/>
      <p:bldP spid="91" grpId="0" animBg="1"/>
      <p:bldP spid="91" grpId="1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Floyd </a:t>
            </a:r>
            <a:r>
              <a:rPr lang="zh-TW" altLang="en-US" dirty="0"/>
              <a:t>演算法 </a:t>
            </a:r>
            <a:r>
              <a:rPr lang="en-US" altLang="zh-TW" dirty="0"/>
              <a:t>(3/10)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32</a:t>
            </a:fld>
            <a:endParaRPr lang="en-US" dirty="0"/>
          </a:p>
        </p:txBody>
      </p:sp>
      <p:graphicFrame>
        <p:nvGraphicFramePr>
          <p:cNvPr id="7" name="內容版面配置區 60"/>
          <p:cNvGraphicFramePr>
            <a:graphicFrameLocks/>
          </p:cNvGraphicFramePr>
          <p:nvPr/>
        </p:nvGraphicFramePr>
        <p:xfrm>
          <a:off x="662040" y="3645986"/>
          <a:ext cx="3690750" cy="2759015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2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/6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5/0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/6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5/0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/6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/6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6/6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4/6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0/6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8" name="群組 7"/>
          <p:cNvGrpSpPr/>
          <p:nvPr/>
        </p:nvGrpSpPr>
        <p:grpSpPr>
          <a:xfrm>
            <a:off x="1113633" y="1851693"/>
            <a:ext cx="916823" cy="369332"/>
            <a:chOff x="1369380" y="1970119"/>
            <a:chExt cx="916823" cy="369332"/>
          </a:xfrm>
        </p:grpSpPr>
        <p:cxnSp>
          <p:nvCxnSpPr>
            <p:cNvPr id="9" name="直線接點 8"/>
            <p:cNvCxnSpPr>
              <a:stCxn id="48" idx="2"/>
              <a:endCxn id="39" idx="6"/>
            </p:cNvCxnSpPr>
            <p:nvPr/>
          </p:nvCxnSpPr>
          <p:spPr>
            <a:xfrm flipH="1">
              <a:off x="1369380" y="2258297"/>
              <a:ext cx="916823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字方塊 9"/>
            <p:cNvSpPr txBox="1"/>
            <p:nvPr/>
          </p:nvSpPr>
          <p:spPr>
            <a:xfrm>
              <a:off x="1682064" y="197011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" name="群組 10"/>
          <p:cNvGrpSpPr/>
          <p:nvPr/>
        </p:nvGrpSpPr>
        <p:grpSpPr>
          <a:xfrm>
            <a:off x="1054786" y="1551060"/>
            <a:ext cx="419749" cy="486988"/>
            <a:chOff x="1310533" y="1669486"/>
            <a:chExt cx="419749" cy="486988"/>
          </a:xfrm>
        </p:grpSpPr>
        <p:cxnSp>
          <p:nvCxnSpPr>
            <p:cNvPr id="12" name="直線接點 11"/>
            <p:cNvCxnSpPr>
              <a:stCxn id="39" idx="7"/>
              <a:endCxn id="42" idx="3"/>
            </p:cNvCxnSpPr>
            <p:nvPr/>
          </p:nvCxnSpPr>
          <p:spPr>
            <a:xfrm flipV="1">
              <a:off x="1327203" y="1736700"/>
              <a:ext cx="403079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字方塊 12"/>
            <p:cNvSpPr txBox="1"/>
            <p:nvPr/>
          </p:nvSpPr>
          <p:spPr>
            <a:xfrm>
              <a:off x="1310533" y="166948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" name="群組 13"/>
          <p:cNvGrpSpPr/>
          <p:nvPr/>
        </p:nvGrpSpPr>
        <p:grpSpPr>
          <a:xfrm>
            <a:off x="1054786" y="2241694"/>
            <a:ext cx="419749" cy="445481"/>
            <a:chOff x="1310533" y="2360120"/>
            <a:chExt cx="419749" cy="445481"/>
          </a:xfrm>
        </p:grpSpPr>
        <p:cxnSp>
          <p:nvCxnSpPr>
            <p:cNvPr id="15" name="直線接點 14"/>
            <p:cNvCxnSpPr>
              <a:stCxn id="45" idx="1"/>
              <a:endCxn id="39" idx="5"/>
            </p:cNvCxnSpPr>
            <p:nvPr/>
          </p:nvCxnSpPr>
          <p:spPr>
            <a:xfrm flipH="1" flipV="1">
              <a:off x="1327203" y="2360120"/>
              <a:ext cx="403079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字方塊 15"/>
            <p:cNvSpPr txBox="1"/>
            <p:nvPr/>
          </p:nvSpPr>
          <p:spPr>
            <a:xfrm>
              <a:off x="1310533" y="243626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" name="群組 16"/>
          <p:cNvGrpSpPr/>
          <p:nvPr/>
        </p:nvGrpSpPr>
        <p:grpSpPr>
          <a:xfrm>
            <a:off x="1678181" y="1531033"/>
            <a:ext cx="411886" cy="507015"/>
            <a:chOff x="1933928" y="1649459"/>
            <a:chExt cx="411886" cy="507015"/>
          </a:xfrm>
        </p:grpSpPr>
        <p:cxnSp>
          <p:nvCxnSpPr>
            <p:cNvPr id="18" name="直線接點 17"/>
            <p:cNvCxnSpPr>
              <a:stCxn id="48" idx="1"/>
              <a:endCxn id="42" idx="5"/>
            </p:cNvCxnSpPr>
            <p:nvPr/>
          </p:nvCxnSpPr>
          <p:spPr>
            <a:xfrm flipH="1" flipV="1">
              <a:off x="1933928" y="1736700"/>
              <a:ext cx="394452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字方塊 18"/>
            <p:cNvSpPr txBox="1"/>
            <p:nvPr/>
          </p:nvSpPr>
          <p:spPr>
            <a:xfrm>
              <a:off x="2045732" y="164945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" name="群組 19"/>
          <p:cNvGrpSpPr/>
          <p:nvPr/>
        </p:nvGrpSpPr>
        <p:grpSpPr>
          <a:xfrm>
            <a:off x="1678181" y="2241694"/>
            <a:ext cx="411886" cy="425454"/>
            <a:chOff x="1933928" y="2360120"/>
            <a:chExt cx="411886" cy="425454"/>
          </a:xfrm>
        </p:grpSpPr>
        <p:cxnSp>
          <p:nvCxnSpPr>
            <p:cNvPr id="21" name="直線接點 20"/>
            <p:cNvCxnSpPr>
              <a:stCxn id="48" idx="3"/>
              <a:endCxn id="45" idx="7"/>
            </p:cNvCxnSpPr>
            <p:nvPr/>
          </p:nvCxnSpPr>
          <p:spPr>
            <a:xfrm flipH="1">
              <a:off x="1933928" y="2360120"/>
              <a:ext cx="394452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字方塊 21"/>
            <p:cNvSpPr txBox="1"/>
            <p:nvPr/>
          </p:nvSpPr>
          <p:spPr>
            <a:xfrm>
              <a:off x="2045732" y="241624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3" name="群組 22"/>
          <p:cNvGrpSpPr/>
          <p:nvPr/>
        </p:nvGrpSpPr>
        <p:grpSpPr>
          <a:xfrm>
            <a:off x="2276279" y="1518794"/>
            <a:ext cx="627365" cy="519254"/>
            <a:chOff x="2532026" y="1637220"/>
            <a:chExt cx="627365" cy="519254"/>
          </a:xfrm>
        </p:grpSpPr>
        <p:cxnSp>
          <p:nvCxnSpPr>
            <p:cNvPr id="24" name="直線接點 23"/>
            <p:cNvCxnSpPr>
              <a:stCxn id="51" idx="3"/>
              <a:endCxn id="48" idx="7"/>
            </p:cNvCxnSpPr>
            <p:nvPr/>
          </p:nvCxnSpPr>
          <p:spPr>
            <a:xfrm flipH="1">
              <a:off x="2532026" y="1736700"/>
              <a:ext cx="627365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文字方塊 24"/>
            <p:cNvSpPr txBox="1"/>
            <p:nvPr/>
          </p:nvSpPr>
          <p:spPr>
            <a:xfrm>
              <a:off x="2667499" y="163722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6" name="群組 25"/>
          <p:cNvGrpSpPr/>
          <p:nvPr/>
        </p:nvGrpSpPr>
        <p:grpSpPr>
          <a:xfrm>
            <a:off x="2276279" y="2241694"/>
            <a:ext cx="627365" cy="413215"/>
            <a:chOff x="2532026" y="2360120"/>
            <a:chExt cx="627365" cy="413215"/>
          </a:xfrm>
        </p:grpSpPr>
        <p:cxnSp>
          <p:nvCxnSpPr>
            <p:cNvPr id="27" name="直線接點 26"/>
            <p:cNvCxnSpPr>
              <a:stCxn id="54" idx="1"/>
              <a:endCxn id="48" idx="5"/>
            </p:cNvCxnSpPr>
            <p:nvPr/>
          </p:nvCxnSpPr>
          <p:spPr>
            <a:xfrm flipH="1" flipV="1">
              <a:off x="2532026" y="2360120"/>
              <a:ext cx="627365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字方塊 27"/>
            <p:cNvSpPr txBox="1"/>
            <p:nvPr/>
          </p:nvSpPr>
          <p:spPr>
            <a:xfrm>
              <a:off x="2581239" y="240400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9" name="群組 28"/>
          <p:cNvGrpSpPr/>
          <p:nvPr/>
        </p:nvGrpSpPr>
        <p:grpSpPr>
          <a:xfrm>
            <a:off x="3107290" y="1531033"/>
            <a:ext cx="653245" cy="507015"/>
            <a:chOff x="3363037" y="1649459"/>
            <a:chExt cx="653245" cy="507015"/>
          </a:xfrm>
        </p:grpSpPr>
        <p:cxnSp>
          <p:nvCxnSpPr>
            <p:cNvPr id="30" name="直線接點 29"/>
            <p:cNvCxnSpPr>
              <a:stCxn id="57" idx="1"/>
              <a:endCxn id="51" idx="5"/>
            </p:cNvCxnSpPr>
            <p:nvPr/>
          </p:nvCxnSpPr>
          <p:spPr>
            <a:xfrm flipH="1" flipV="1">
              <a:off x="3363037" y="1736700"/>
              <a:ext cx="653245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文字方塊 30"/>
            <p:cNvSpPr txBox="1"/>
            <p:nvPr/>
          </p:nvSpPr>
          <p:spPr>
            <a:xfrm>
              <a:off x="3582748" y="164945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2" name="群組 31"/>
          <p:cNvGrpSpPr/>
          <p:nvPr/>
        </p:nvGrpSpPr>
        <p:grpSpPr>
          <a:xfrm>
            <a:off x="3107290" y="2241694"/>
            <a:ext cx="653245" cy="425454"/>
            <a:chOff x="3363037" y="2360120"/>
            <a:chExt cx="653245" cy="425454"/>
          </a:xfrm>
        </p:grpSpPr>
        <p:cxnSp>
          <p:nvCxnSpPr>
            <p:cNvPr id="33" name="直線接點 32"/>
            <p:cNvCxnSpPr>
              <a:stCxn id="57" idx="3"/>
              <a:endCxn id="54" idx="7"/>
            </p:cNvCxnSpPr>
            <p:nvPr/>
          </p:nvCxnSpPr>
          <p:spPr>
            <a:xfrm flipH="1">
              <a:off x="3363037" y="2360120"/>
              <a:ext cx="653245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文字方塊 33"/>
            <p:cNvSpPr txBox="1"/>
            <p:nvPr/>
          </p:nvSpPr>
          <p:spPr>
            <a:xfrm>
              <a:off x="3608626" y="241624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5" name="群組 34"/>
          <p:cNvGrpSpPr/>
          <p:nvPr/>
        </p:nvGrpSpPr>
        <p:grpSpPr>
          <a:xfrm>
            <a:off x="1720358" y="2657165"/>
            <a:ext cx="1141109" cy="369332"/>
            <a:chOff x="1254795" y="2775591"/>
            <a:chExt cx="1141109" cy="369332"/>
          </a:xfrm>
        </p:grpSpPr>
        <p:cxnSp>
          <p:nvCxnSpPr>
            <p:cNvPr id="36" name="直線接點 35"/>
            <p:cNvCxnSpPr>
              <a:stCxn id="54" idx="2"/>
              <a:endCxn id="45" idx="6"/>
            </p:cNvCxnSpPr>
            <p:nvPr/>
          </p:nvCxnSpPr>
          <p:spPr>
            <a:xfrm flipH="1">
              <a:off x="1254795" y="2854072"/>
              <a:ext cx="1141109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文字方塊 36"/>
            <p:cNvSpPr txBox="1"/>
            <p:nvPr/>
          </p:nvSpPr>
          <p:spPr>
            <a:xfrm>
              <a:off x="1660675" y="2775591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8" name="群組 37"/>
          <p:cNvGrpSpPr/>
          <p:nvPr/>
        </p:nvGrpSpPr>
        <p:grpSpPr>
          <a:xfrm>
            <a:off x="787532" y="1912075"/>
            <a:ext cx="364202" cy="371796"/>
            <a:chOff x="1043279" y="2030501"/>
            <a:chExt cx="364202" cy="371796"/>
          </a:xfrm>
        </p:grpSpPr>
        <p:sp>
          <p:nvSpPr>
            <p:cNvPr id="39" name="橢圓 38"/>
            <p:cNvSpPr/>
            <p:nvPr/>
          </p:nvSpPr>
          <p:spPr>
            <a:xfrm>
              <a:off x="1081380" y="211429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0" name="文字方塊 39"/>
            <p:cNvSpPr txBox="1"/>
            <p:nvPr/>
          </p:nvSpPr>
          <p:spPr>
            <a:xfrm>
              <a:off x="1043279" y="203050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1" name="群組 40"/>
          <p:cNvGrpSpPr/>
          <p:nvPr/>
        </p:nvGrpSpPr>
        <p:grpSpPr>
          <a:xfrm>
            <a:off x="1394257" y="1288779"/>
            <a:ext cx="364202" cy="371672"/>
            <a:chOff x="1650004" y="1407205"/>
            <a:chExt cx="364202" cy="371672"/>
          </a:xfrm>
        </p:grpSpPr>
        <p:sp>
          <p:nvSpPr>
            <p:cNvPr id="42" name="橢圓 41"/>
            <p:cNvSpPr/>
            <p:nvPr/>
          </p:nvSpPr>
          <p:spPr>
            <a:xfrm>
              <a:off x="1688105" y="149087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3" name="文字方塊 42"/>
            <p:cNvSpPr txBox="1"/>
            <p:nvPr/>
          </p:nvSpPr>
          <p:spPr>
            <a:xfrm>
              <a:off x="1650004" y="1407205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4" name="群組 43"/>
          <p:cNvGrpSpPr/>
          <p:nvPr/>
        </p:nvGrpSpPr>
        <p:grpSpPr>
          <a:xfrm>
            <a:off x="1394257" y="2507850"/>
            <a:ext cx="364202" cy="371796"/>
            <a:chOff x="1650004" y="2626276"/>
            <a:chExt cx="364202" cy="371796"/>
          </a:xfrm>
        </p:grpSpPr>
        <p:sp>
          <p:nvSpPr>
            <p:cNvPr id="45" name="橢圓 44"/>
            <p:cNvSpPr/>
            <p:nvPr/>
          </p:nvSpPr>
          <p:spPr>
            <a:xfrm>
              <a:off x="1688105" y="2710072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6" name="文字方塊 45"/>
            <p:cNvSpPr txBox="1"/>
            <p:nvPr/>
          </p:nvSpPr>
          <p:spPr>
            <a:xfrm>
              <a:off x="1650004" y="262627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7" name="群組 46"/>
          <p:cNvGrpSpPr/>
          <p:nvPr/>
        </p:nvGrpSpPr>
        <p:grpSpPr>
          <a:xfrm>
            <a:off x="1983729" y="1912075"/>
            <a:ext cx="364202" cy="371796"/>
            <a:chOff x="2239476" y="2030501"/>
            <a:chExt cx="364202" cy="371796"/>
          </a:xfrm>
        </p:grpSpPr>
        <p:sp>
          <p:nvSpPr>
            <p:cNvPr id="48" name="橢圓 47"/>
            <p:cNvSpPr/>
            <p:nvPr/>
          </p:nvSpPr>
          <p:spPr>
            <a:xfrm>
              <a:off x="2286203" y="211429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9" name="文字方塊 48"/>
            <p:cNvSpPr txBox="1"/>
            <p:nvPr/>
          </p:nvSpPr>
          <p:spPr>
            <a:xfrm>
              <a:off x="2239476" y="203050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0" name="群組 49"/>
          <p:cNvGrpSpPr/>
          <p:nvPr/>
        </p:nvGrpSpPr>
        <p:grpSpPr>
          <a:xfrm>
            <a:off x="2823366" y="1288655"/>
            <a:ext cx="364202" cy="371796"/>
            <a:chOff x="3079113" y="1407081"/>
            <a:chExt cx="364202" cy="371796"/>
          </a:xfrm>
        </p:grpSpPr>
        <p:sp>
          <p:nvSpPr>
            <p:cNvPr id="51" name="橢圓 50"/>
            <p:cNvSpPr/>
            <p:nvPr/>
          </p:nvSpPr>
          <p:spPr>
            <a:xfrm>
              <a:off x="3117214" y="149087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2" name="文字方塊 51"/>
            <p:cNvSpPr txBox="1"/>
            <p:nvPr/>
          </p:nvSpPr>
          <p:spPr>
            <a:xfrm>
              <a:off x="3079113" y="140708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3" name="群組 52"/>
          <p:cNvGrpSpPr/>
          <p:nvPr/>
        </p:nvGrpSpPr>
        <p:grpSpPr>
          <a:xfrm>
            <a:off x="2813406" y="2507850"/>
            <a:ext cx="364202" cy="371796"/>
            <a:chOff x="3069153" y="2626276"/>
            <a:chExt cx="364202" cy="371796"/>
          </a:xfrm>
        </p:grpSpPr>
        <p:sp>
          <p:nvSpPr>
            <p:cNvPr id="54" name="橢圓 53"/>
            <p:cNvSpPr/>
            <p:nvPr/>
          </p:nvSpPr>
          <p:spPr>
            <a:xfrm>
              <a:off x="3117214" y="2710072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5" name="文字方塊 54"/>
            <p:cNvSpPr txBox="1"/>
            <p:nvPr/>
          </p:nvSpPr>
          <p:spPr>
            <a:xfrm>
              <a:off x="3069153" y="262627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6" name="群組 55"/>
          <p:cNvGrpSpPr/>
          <p:nvPr/>
        </p:nvGrpSpPr>
        <p:grpSpPr>
          <a:xfrm>
            <a:off x="3680257" y="1913593"/>
            <a:ext cx="364202" cy="370278"/>
            <a:chOff x="3936004" y="2032019"/>
            <a:chExt cx="364202" cy="370278"/>
          </a:xfrm>
        </p:grpSpPr>
        <p:sp>
          <p:nvSpPr>
            <p:cNvPr id="57" name="橢圓 56"/>
            <p:cNvSpPr/>
            <p:nvPr/>
          </p:nvSpPr>
          <p:spPr>
            <a:xfrm>
              <a:off x="3974105" y="211429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8" name="文字方塊 57"/>
            <p:cNvSpPr txBox="1"/>
            <p:nvPr/>
          </p:nvSpPr>
          <p:spPr>
            <a:xfrm>
              <a:off x="3936004" y="2032019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9" name="群組 58"/>
          <p:cNvGrpSpPr/>
          <p:nvPr/>
        </p:nvGrpSpPr>
        <p:grpSpPr>
          <a:xfrm>
            <a:off x="297396" y="3272065"/>
            <a:ext cx="3961108" cy="3132934"/>
            <a:chOff x="381848" y="3292760"/>
            <a:chExt cx="3961108" cy="3132934"/>
          </a:xfrm>
        </p:grpSpPr>
        <p:sp>
          <p:nvSpPr>
            <p:cNvPr id="60" name="文字方塊 59"/>
            <p:cNvSpPr txBox="1"/>
            <p:nvPr/>
          </p:nvSpPr>
          <p:spPr>
            <a:xfrm>
              <a:off x="833298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文字方塊 60"/>
            <p:cNvSpPr txBox="1"/>
            <p:nvPr/>
          </p:nvSpPr>
          <p:spPr>
            <a:xfrm>
              <a:off x="1359767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文字方塊 61"/>
            <p:cNvSpPr txBox="1"/>
            <p:nvPr/>
          </p:nvSpPr>
          <p:spPr>
            <a:xfrm>
              <a:off x="1882744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文字方塊 62"/>
            <p:cNvSpPr txBox="1"/>
            <p:nvPr/>
          </p:nvSpPr>
          <p:spPr>
            <a:xfrm>
              <a:off x="2409213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文字方塊 63"/>
            <p:cNvSpPr txBox="1"/>
            <p:nvPr/>
          </p:nvSpPr>
          <p:spPr>
            <a:xfrm>
              <a:off x="2929308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文字方塊 64"/>
            <p:cNvSpPr txBox="1"/>
            <p:nvPr/>
          </p:nvSpPr>
          <p:spPr>
            <a:xfrm>
              <a:off x="3452285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文字方塊 65"/>
            <p:cNvSpPr txBox="1"/>
            <p:nvPr/>
          </p:nvSpPr>
          <p:spPr>
            <a:xfrm>
              <a:off x="3978754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文字方塊 66"/>
            <p:cNvSpPr txBox="1"/>
            <p:nvPr/>
          </p:nvSpPr>
          <p:spPr>
            <a:xfrm>
              <a:off x="381848" y="3670718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" name="文字方塊 67"/>
            <p:cNvSpPr txBox="1"/>
            <p:nvPr/>
          </p:nvSpPr>
          <p:spPr>
            <a:xfrm>
              <a:off x="381848" y="408318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文字方塊 68"/>
            <p:cNvSpPr txBox="1"/>
            <p:nvPr/>
          </p:nvSpPr>
          <p:spPr>
            <a:xfrm>
              <a:off x="381848" y="4469764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文字方塊 69"/>
            <p:cNvSpPr txBox="1"/>
            <p:nvPr/>
          </p:nvSpPr>
          <p:spPr>
            <a:xfrm>
              <a:off x="381848" y="4856348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文字方塊 70"/>
            <p:cNvSpPr txBox="1"/>
            <p:nvPr/>
          </p:nvSpPr>
          <p:spPr>
            <a:xfrm>
              <a:off x="381848" y="5265942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文字方塊 71"/>
            <p:cNvSpPr txBox="1"/>
            <p:nvPr/>
          </p:nvSpPr>
          <p:spPr>
            <a:xfrm>
              <a:off x="381848" y="5661152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文字方塊 72"/>
            <p:cNvSpPr txBox="1"/>
            <p:nvPr/>
          </p:nvSpPr>
          <p:spPr>
            <a:xfrm>
              <a:off x="381848" y="6056362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4" name="文字方塊 73"/>
          <p:cNvSpPr txBox="1"/>
          <p:nvPr/>
        </p:nvSpPr>
        <p:spPr>
          <a:xfrm>
            <a:off x="40158" y="2977377"/>
            <a:ext cx="14173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Cost[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文字方塊 74"/>
          <p:cNvSpPr txBox="1"/>
          <p:nvPr/>
        </p:nvSpPr>
        <p:spPr>
          <a:xfrm>
            <a:off x="4429132" y="3400887"/>
            <a:ext cx="47099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</a:t>
            </a:r>
            <a:r>
              <a:rPr lang="en-US" altLang="zh-TW" sz="2000" b="1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[0][2]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min{Cost[0][2], Cost[0][1] + Cost[1][2]}</a:t>
            </a: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min{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4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, 1 + 5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=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79" name="文字方塊 78"/>
          <p:cNvSpPr txBox="1"/>
          <p:nvPr/>
        </p:nvSpPr>
        <p:spPr>
          <a:xfrm>
            <a:off x="4450398" y="1422476"/>
            <a:ext cx="45079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Cost</a:t>
            </a:r>
            <a:r>
              <a:rPr lang="en-US" altLang="zh-TW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min{Cost[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], Cost[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][1] + Cost[1][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]}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AutoShape 193"/>
          <p:cNvSpPr>
            <a:spLocks noChangeArrowheads="1"/>
          </p:cNvSpPr>
          <p:nvPr/>
        </p:nvSpPr>
        <p:spPr bwMode="auto">
          <a:xfrm>
            <a:off x="4076403" y="2317843"/>
            <a:ext cx="1365445" cy="749523"/>
          </a:xfrm>
          <a:prstGeom prst="wedgeRoundRectCallout">
            <a:avLst>
              <a:gd name="adj1" fmla="val 70979"/>
              <a:gd name="adj2" fmla="val -64318"/>
              <a:gd name="adj3" fmla="val 16667"/>
            </a:avLst>
          </a:prstGeom>
          <a:noFill/>
          <a:ln w="28575">
            <a:solidFill>
              <a:schemeClr val="accent3">
                <a:lumMod val="7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9pPr>
          </a:lstStyle>
          <a:p>
            <a:pPr algn="ctr" eaLnBrk="1" hangingPunct="1"/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原來</a:t>
            </a:r>
            <a:r>
              <a:rPr lang="en-US" altLang="zh-TW" sz="2000" b="1" i="1" dirty="0">
                <a:ea typeface="標楷體" panose="03000509000000000000" pitchFamily="65" charset="-120"/>
                <a:cs typeface="Times New Roman" panose="02020603050405020304" pitchFamily="18" charset="0"/>
              </a:rPr>
              <a:t>v</a:t>
            </a:r>
            <a:r>
              <a:rPr lang="en-US" altLang="zh-TW" sz="2000" b="1" i="1" baseline="-25000" dirty="0"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ea typeface="標楷體" panose="03000509000000000000" pitchFamily="65" charset="-120"/>
                <a:cs typeface="Times New Roman" panose="02020603050405020304" pitchFamily="18" charset="0"/>
              </a:rPr>
              <a:t> ~ </a:t>
            </a:r>
            <a:r>
              <a:rPr lang="en-US" altLang="zh-TW" sz="2000" b="1" i="1" dirty="0" err="1">
                <a:ea typeface="標楷體" panose="03000509000000000000" pitchFamily="65" charset="-120"/>
                <a:cs typeface="Times New Roman" panose="02020603050405020304" pitchFamily="18" charset="0"/>
              </a:rPr>
              <a:t>v</a:t>
            </a:r>
            <a:r>
              <a:rPr lang="en-US" altLang="zh-TW" sz="2000" b="1" i="1" baseline="-25000" dirty="0" err="1">
                <a:ea typeface="標楷體" panose="03000509000000000000" pitchFamily="65" charset="-120"/>
                <a:cs typeface="Times New Roman" panose="02020603050405020304" pitchFamily="18" charset="0"/>
              </a:rPr>
              <a:t>j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的距離</a:t>
            </a:r>
          </a:p>
        </p:txBody>
      </p:sp>
      <p:sp>
        <p:nvSpPr>
          <p:cNvPr id="81" name="AutoShape 194"/>
          <p:cNvSpPr>
            <a:spLocks noChangeArrowheads="1"/>
          </p:cNvSpPr>
          <p:nvPr/>
        </p:nvSpPr>
        <p:spPr bwMode="auto">
          <a:xfrm>
            <a:off x="7572602" y="2359965"/>
            <a:ext cx="1295400" cy="751361"/>
          </a:xfrm>
          <a:prstGeom prst="wedgeRoundRectCallout">
            <a:avLst>
              <a:gd name="adj1" fmla="val -74098"/>
              <a:gd name="adj2" fmla="val -70166"/>
              <a:gd name="adj3" fmla="val 16667"/>
            </a:avLst>
          </a:prstGeom>
          <a:noFill/>
          <a:ln w="28575">
            <a:solidFill>
              <a:srgbClr val="7030A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9pPr>
          </a:lstStyle>
          <a:p>
            <a:pPr algn="ctr" eaLnBrk="1" hangingPunct="1"/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經過</a:t>
            </a:r>
            <a:r>
              <a:rPr lang="en-US" altLang="zh-TW" sz="2000" b="1" i="1" dirty="0">
                <a:ea typeface="標楷體" panose="03000509000000000000" pitchFamily="65" charset="-12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ea typeface="標楷體" panose="03000509000000000000" pitchFamily="65" charset="-120"/>
                <a:cs typeface="Times New Roman" panose="02020603050405020304" pitchFamily="18" charset="0"/>
              </a:rPr>
              <a:t>0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的距離</a:t>
            </a:r>
          </a:p>
        </p:txBody>
      </p:sp>
      <p:cxnSp>
        <p:nvCxnSpPr>
          <p:cNvPr id="82" name="直線接點 81"/>
          <p:cNvCxnSpPr/>
          <p:nvPr/>
        </p:nvCxnSpPr>
        <p:spPr>
          <a:xfrm>
            <a:off x="5276388" y="2088000"/>
            <a:ext cx="936000" cy="0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接點 82"/>
          <p:cNvCxnSpPr/>
          <p:nvPr/>
        </p:nvCxnSpPr>
        <p:spPr>
          <a:xfrm>
            <a:off x="6420602" y="2088000"/>
            <a:ext cx="2304000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文字方塊 83"/>
          <p:cNvSpPr txBox="1"/>
          <p:nvPr/>
        </p:nvSpPr>
        <p:spPr>
          <a:xfrm>
            <a:off x="734141" y="4886853"/>
            <a:ext cx="367656" cy="276999"/>
          </a:xfrm>
          <a:prstGeom prst="rect">
            <a:avLst/>
          </a:prstGeom>
          <a:solidFill>
            <a:srgbClr val="E7F3F4"/>
          </a:solidFill>
          <a:ln>
            <a:noFill/>
          </a:ln>
        </p:spPr>
        <p:txBody>
          <a:bodyPr wrap="none" lIns="36000" tIns="0" rIns="36000" bIns="0" rtlCol="0">
            <a:spAutoFit/>
          </a:bodyPr>
          <a:lstStyle/>
          <a:p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3/1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文字方塊 84"/>
          <p:cNvSpPr txBox="1"/>
          <p:nvPr/>
        </p:nvSpPr>
        <p:spPr>
          <a:xfrm>
            <a:off x="4429132" y="4473860"/>
            <a:ext cx="47099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</a:t>
            </a:r>
            <a:r>
              <a:rPr lang="en-US" altLang="zh-TW" sz="2000" b="1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[0][3]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min{Cost[0][3], Cost[0][1] + Cost[1][3]}</a:t>
            </a: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min{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5,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1 + 2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=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86" name="文字方塊 85"/>
          <p:cNvSpPr txBox="1"/>
          <p:nvPr/>
        </p:nvSpPr>
        <p:spPr>
          <a:xfrm>
            <a:off x="4429132" y="5549355"/>
            <a:ext cx="47099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</a:t>
            </a:r>
            <a:r>
              <a:rPr lang="en-US" altLang="zh-TW" sz="2000" b="1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[0][4]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min{Cost[0][4], Cost[0][1] + Cost[1][4]}</a:t>
            </a: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min{</a:t>
            </a:r>
            <a:r>
              <a: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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, 1 + 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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= </a:t>
            </a:r>
            <a:r>
              <a: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</a:t>
            </a:r>
            <a:endParaRPr lang="en-US" altLang="zh-TW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圓角矩形 86"/>
          <p:cNvSpPr/>
          <p:nvPr/>
        </p:nvSpPr>
        <p:spPr>
          <a:xfrm>
            <a:off x="661598" y="4045451"/>
            <a:ext cx="3672000" cy="377958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8" name="圓角矩形 87"/>
          <p:cNvSpPr/>
          <p:nvPr/>
        </p:nvSpPr>
        <p:spPr>
          <a:xfrm>
            <a:off x="1171982" y="3645709"/>
            <a:ext cx="543229" cy="2759289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9" name="文字方塊 88"/>
          <p:cNvSpPr txBox="1"/>
          <p:nvPr/>
        </p:nvSpPr>
        <p:spPr>
          <a:xfrm>
            <a:off x="2321307" y="3706822"/>
            <a:ext cx="367656" cy="276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lIns="36000" tIns="0" rIns="36000" bIns="0" rtlCol="0">
            <a:spAutoFit/>
          </a:bodyPr>
          <a:lstStyle/>
          <a:p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3/1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橢圓 89"/>
          <p:cNvSpPr/>
          <p:nvPr/>
        </p:nvSpPr>
        <p:spPr>
          <a:xfrm>
            <a:off x="1727366" y="3636566"/>
            <a:ext cx="504000" cy="401829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1" name="橢圓 90"/>
          <p:cNvSpPr/>
          <p:nvPr/>
        </p:nvSpPr>
        <p:spPr>
          <a:xfrm>
            <a:off x="2254862" y="3642182"/>
            <a:ext cx="504000" cy="401829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2" name="橢圓 91"/>
          <p:cNvSpPr/>
          <p:nvPr/>
        </p:nvSpPr>
        <p:spPr>
          <a:xfrm>
            <a:off x="2790761" y="3636539"/>
            <a:ext cx="504000" cy="401829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3825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 animBg="1"/>
      <p:bldP spid="89" grpId="0" animBg="1"/>
      <p:bldP spid="90" grpId="0" animBg="1"/>
      <p:bldP spid="90" grpId="1" animBg="1"/>
      <p:bldP spid="91" grpId="0" animBg="1"/>
      <p:bldP spid="91" grpId="1" animBg="1"/>
      <p:bldP spid="92" grpId="0" animBg="1"/>
      <p:bldP spid="92" grpId="1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Floyd </a:t>
            </a:r>
            <a:r>
              <a:rPr lang="zh-TW" altLang="en-US" dirty="0"/>
              <a:t>演算法 </a:t>
            </a:r>
            <a:r>
              <a:rPr lang="en-US" altLang="zh-TW" dirty="0"/>
              <a:t>(4/10)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33</a:t>
            </a:fld>
            <a:endParaRPr lang="en-US" dirty="0"/>
          </a:p>
        </p:txBody>
      </p:sp>
      <p:graphicFrame>
        <p:nvGraphicFramePr>
          <p:cNvPr id="7" name="內容版面配置區 60"/>
          <p:cNvGraphicFramePr>
            <a:graphicFrameLocks/>
          </p:cNvGraphicFramePr>
          <p:nvPr/>
        </p:nvGraphicFramePr>
        <p:xfrm>
          <a:off x="662040" y="3645986"/>
          <a:ext cx="3690750" cy="2759015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2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/6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5/0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/6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5/0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/6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/6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6/6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4/6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0/6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8" name="群組 7"/>
          <p:cNvGrpSpPr/>
          <p:nvPr/>
        </p:nvGrpSpPr>
        <p:grpSpPr>
          <a:xfrm>
            <a:off x="1113633" y="1851693"/>
            <a:ext cx="916823" cy="369332"/>
            <a:chOff x="1369380" y="1970119"/>
            <a:chExt cx="916823" cy="369332"/>
          </a:xfrm>
        </p:grpSpPr>
        <p:cxnSp>
          <p:nvCxnSpPr>
            <p:cNvPr id="9" name="直線接點 8"/>
            <p:cNvCxnSpPr>
              <a:stCxn id="48" idx="2"/>
              <a:endCxn id="39" idx="6"/>
            </p:cNvCxnSpPr>
            <p:nvPr/>
          </p:nvCxnSpPr>
          <p:spPr>
            <a:xfrm flipH="1">
              <a:off x="1369380" y="2258297"/>
              <a:ext cx="916823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字方塊 9"/>
            <p:cNvSpPr txBox="1"/>
            <p:nvPr/>
          </p:nvSpPr>
          <p:spPr>
            <a:xfrm>
              <a:off x="1682064" y="197011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" name="群組 10"/>
          <p:cNvGrpSpPr/>
          <p:nvPr/>
        </p:nvGrpSpPr>
        <p:grpSpPr>
          <a:xfrm>
            <a:off x="1054786" y="1551060"/>
            <a:ext cx="419749" cy="486988"/>
            <a:chOff x="1310533" y="1669486"/>
            <a:chExt cx="419749" cy="486988"/>
          </a:xfrm>
        </p:grpSpPr>
        <p:cxnSp>
          <p:nvCxnSpPr>
            <p:cNvPr id="12" name="直線接點 11"/>
            <p:cNvCxnSpPr>
              <a:stCxn id="39" idx="7"/>
              <a:endCxn id="42" idx="3"/>
            </p:cNvCxnSpPr>
            <p:nvPr/>
          </p:nvCxnSpPr>
          <p:spPr>
            <a:xfrm flipV="1">
              <a:off x="1327203" y="1736700"/>
              <a:ext cx="403079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字方塊 12"/>
            <p:cNvSpPr txBox="1"/>
            <p:nvPr/>
          </p:nvSpPr>
          <p:spPr>
            <a:xfrm>
              <a:off x="1310533" y="166948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" name="群組 13"/>
          <p:cNvGrpSpPr/>
          <p:nvPr/>
        </p:nvGrpSpPr>
        <p:grpSpPr>
          <a:xfrm>
            <a:off x="1054786" y="2241694"/>
            <a:ext cx="419749" cy="445481"/>
            <a:chOff x="1310533" y="2360120"/>
            <a:chExt cx="419749" cy="445481"/>
          </a:xfrm>
        </p:grpSpPr>
        <p:cxnSp>
          <p:nvCxnSpPr>
            <p:cNvPr id="15" name="直線接點 14"/>
            <p:cNvCxnSpPr>
              <a:stCxn id="45" idx="1"/>
              <a:endCxn id="39" idx="5"/>
            </p:cNvCxnSpPr>
            <p:nvPr/>
          </p:nvCxnSpPr>
          <p:spPr>
            <a:xfrm flipH="1" flipV="1">
              <a:off x="1327203" y="2360120"/>
              <a:ext cx="403079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字方塊 15"/>
            <p:cNvSpPr txBox="1"/>
            <p:nvPr/>
          </p:nvSpPr>
          <p:spPr>
            <a:xfrm>
              <a:off x="1310533" y="243626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" name="群組 16"/>
          <p:cNvGrpSpPr/>
          <p:nvPr/>
        </p:nvGrpSpPr>
        <p:grpSpPr>
          <a:xfrm>
            <a:off x="1678181" y="1531033"/>
            <a:ext cx="411886" cy="507015"/>
            <a:chOff x="1933928" y="1649459"/>
            <a:chExt cx="411886" cy="507015"/>
          </a:xfrm>
        </p:grpSpPr>
        <p:cxnSp>
          <p:nvCxnSpPr>
            <p:cNvPr id="18" name="直線接點 17"/>
            <p:cNvCxnSpPr>
              <a:stCxn id="48" idx="1"/>
              <a:endCxn id="42" idx="5"/>
            </p:cNvCxnSpPr>
            <p:nvPr/>
          </p:nvCxnSpPr>
          <p:spPr>
            <a:xfrm flipH="1" flipV="1">
              <a:off x="1933928" y="1736700"/>
              <a:ext cx="394452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字方塊 18"/>
            <p:cNvSpPr txBox="1"/>
            <p:nvPr/>
          </p:nvSpPr>
          <p:spPr>
            <a:xfrm>
              <a:off x="2045732" y="164945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" name="群組 19"/>
          <p:cNvGrpSpPr/>
          <p:nvPr/>
        </p:nvGrpSpPr>
        <p:grpSpPr>
          <a:xfrm>
            <a:off x="1678181" y="2241694"/>
            <a:ext cx="411886" cy="425454"/>
            <a:chOff x="1933928" y="2360120"/>
            <a:chExt cx="411886" cy="425454"/>
          </a:xfrm>
        </p:grpSpPr>
        <p:cxnSp>
          <p:nvCxnSpPr>
            <p:cNvPr id="21" name="直線接點 20"/>
            <p:cNvCxnSpPr>
              <a:stCxn id="48" idx="3"/>
              <a:endCxn id="45" idx="7"/>
            </p:cNvCxnSpPr>
            <p:nvPr/>
          </p:nvCxnSpPr>
          <p:spPr>
            <a:xfrm flipH="1">
              <a:off x="1933928" y="2360120"/>
              <a:ext cx="394452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字方塊 21"/>
            <p:cNvSpPr txBox="1"/>
            <p:nvPr/>
          </p:nvSpPr>
          <p:spPr>
            <a:xfrm>
              <a:off x="2045732" y="241624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3" name="群組 22"/>
          <p:cNvGrpSpPr/>
          <p:nvPr/>
        </p:nvGrpSpPr>
        <p:grpSpPr>
          <a:xfrm>
            <a:off x="2276279" y="1518794"/>
            <a:ext cx="627365" cy="519254"/>
            <a:chOff x="2532026" y="1637220"/>
            <a:chExt cx="627365" cy="519254"/>
          </a:xfrm>
        </p:grpSpPr>
        <p:cxnSp>
          <p:nvCxnSpPr>
            <p:cNvPr id="24" name="直線接點 23"/>
            <p:cNvCxnSpPr>
              <a:stCxn id="51" idx="3"/>
              <a:endCxn id="48" idx="7"/>
            </p:cNvCxnSpPr>
            <p:nvPr/>
          </p:nvCxnSpPr>
          <p:spPr>
            <a:xfrm flipH="1">
              <a:off x="2532026" y="1736700"/>
              <a:ext cx="627365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文字方塊 24"/>
            <p:cNvSpPr txBox="1"/>
            <p:nvPr/>
          </p:nvSpPr>
          <p:spPr>
            <a:xfrm>
              <a:off x="2667499" y="163722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6" name="群組 25"/>
          <p:cNvGrpSpPr/>
          <p:nvPr/>
        </p:nvGrpSpPr>
        <p:grpSpPr>
          <a:xfrm>
            <a:off x="2276279" y="2241694"/>
            <a:ext cx="627365" cy="413215"/>
            <a:chOff x="2532026" y="2360120"/>
            <a:chExt cx="627365" cy="413215"/>
          </a:xfrm>
        </p:grpSpPr>
        <p:cxnSp>
          <p:nvCxnSpPr>
            <p:cNvPr id="27" name="直線接點 26"/>
            <p:cNvCxnSpPr>
              <a:stCxn id="54" idx="1"/>
              <a:endCxn id="48" idx="5"/>
            </p:cNvCxnSpPr>
            <p:nvPr/>
          </p:nvCxnSpPr>
          <p:spPr>
            <a:xfrm flipH="1" flipV="1">
              <a:off x="2532026" y="2360120"/>
              <a:ext cx="627365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字方塊 27"/>
            <p:cNvSpPr txBox="1"/>
            <p:nvPr/>
          </p:nvSpPr>
          <p:spPr>
            <a:xfrm>
              <a:off x="2581239" y="240400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9" name="群組 28"/>
          <p:cNvGrpSpPr/>
          <p:nvPr/>
        </p:nvGrpSpPr>
        <p:grpSpPr>
          <a:xfrm>
            <a:off x="3107290" y="1531033"/>
            <a:ext cx="653245" cy="507015"/>
            <a:chOff x="3363037" y="1649459"/>
            <a:chExt cx="653245" cy="507015"/>
          </a:xfrm>
        </p:grpSpPr>
        <p:cxnSp>
          <p:nvCxnSpPr>
            <p:cNvPr id="30" name="直線接點 29"/>
            <p:cNvCxnSpPr>
              <a:stCxn id="57" idx="1"/>
              <a:endCxn id="51" idx="5"/>
            </p:cNvCxnSpPr>
            <p:nvPr/>
          </p:nvCxnSpPr>
          <p:spPr>
            <a:xfrm flipH="1" flipV="1">
              <a:off x="3363037" y="1736700"/>
              <a:ext cx="653245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文字方塊 30"/>
            <p:cNvSpPr txBox="1"/>
            <p:nvPr/>
          </p:nvSpPr>
          <p:spPr>
            <a:xfrm>
              <a:off x="3582748" y="164945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2" name="群組 31"/>
          <p:cNvGrpSpPr/>
          <p:nvPr/>
        </p:nvGrpSpPr>
        <p:grpSpPr>
          <a:xfrm>
            <a:off x="3107290" y="2241694"/>
            <a:ext cx="653245" cy="425454"/>
            <a:chOff x="3363037" y="2360120"/>
            <a:chExt cx="653245" cy="425454"/>
          </a:xfrm>
        </p:grpSpPr>
        <p:cxnSp>
          <p:nvCxnSpPr>
            <p:cNvPr id="33" name="直線接點 32"/>
            <p:cNvCxnSpPr>
              <a:stCxn id="57" idx="3"/>
              <a:endCxn id="54" idx="7"/>
            </p:cNvCxnSpPr>
            <p:nvPr/>
          </p:nvCxnSpPr>
          <p:spPr>
            <a:xfrm flipH="1">
              <a:off x="3363037" y="2360120"/>
              <a:ext cx="653245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文字方塊 33"/>
            <p:cNvSpPr txBox="1"/>
            <p:nvPr/>
          </p:nvSpPr>
          <p:spPr>
            <a:xfrm>
              <a:off x="3608626" y="241624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5" name="群組 34"/>
          <p:cNvGrpSpPr/>
          <p:nvPr/>
        </p:nvGrpSpPr>
        <p:grpSpPr>
          <a:xfrm>
            <a:off x="1720358" y="2657165"/>
            <a:ext cx="1141109" cy="369332"/>
            <a:chOff x="1254795" y="2775591"/>
            <a:chExt cx="1141109" cy="369332"/>
          </a:xfrm>
        </p:grpSpPr>
        <p:cxnSp>
          <p:nvCxnSpPr>
            <p:cNvPr id="36" name="直線接點 35"/>
            <p:cNvCxnSpPr>
              <a:stCxn id="54" idx="2"/>
              <a:endCxn id="45" idx="6"/>
            </p:cNvCxnSpPr>
            <p:nvPr/>
          </p:nvCxnSpPr>
          <p:spPr>
            <a:xfrm flipH="1">
              <a:off x="1254795" y="2854072"/>
              <a:ext cx="1141109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文字方塊 36"/>
            <p:cNvSpPr txBox="1"/>
            <p:nvPr/>
          </p:nvSpPr>
          <p:spPr>
            <a:xfrm>
              <a:off x="1660675" y="2775591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8" name="群組 37"/>
          <p:cNvGrpSpPr/>
          <p:nvPr/>
        </p:nvGrpSpPr>
        <p:grpSpPr>
          <a:xfrm>
            <a:off x="787532" y="1912075"/>
            <a:ext cx="364202" cy="371796"/>
            <a:chOff x="1043279" y="2030501"/>
            <a:chExt cx="364202" cy="371796"/>
          </a:xfrm>
        </p:grpSpPr>
        <p:sp>
          <p:nvSpPr>
            <p:cNvPr id="39" name="橢圓 38"/>
            <p:cNvSpPr/>
            <p:nvPr/>
          </p:nvSpPr>
          <p:spPr>
            <a:xfrm>
              <a:off x="1081380" y="211429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0" name="文字方塊 39"/>
            <p:cNvSpPr txBox="1"/>
            <p:nvPr/>
          </p:nvSpPr>
          <p:spPr>
            <a:xfrm>
              <a:off x="1043279" y="203050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1" name="群組 40"/>
          <p:cNvGrpSpPr/>
          <p:nvPr/>
        </p:nvGrpSpPr>
        <p:grpSpPr>
          <a:xfrm>
            <a:off x="1394257" y="1288779"/>
            <a:ext cx="364202" cy="371672"/>
            <a:chOff x="1650004" y="1407205"/>
            <a:chExt cx="364202" cy="371672"/>
          </a:xfrm>
        </p:grpSpPr>
        <p:sp>
          <p:nvSpPr>
            <p:cNvPr id="42" name="橢圓 41"/>
            <p:cNvSpPr/>
            <p:nvPr/>
          </p:nvSpPr>
          <p:spPr>
            <a:xfrm>
              <a:off x="1688105" y="149087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3" name="文字方塊 42"/>
            <p:cNvSpPr txBox="1"/>
            <p:nvPr/>
          </p:nvSpPr>
          <p:spPr>
            <a:xfrm>
              <a:off x="1650004" y="1407205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4" name="群組 43"/>
          <p:cNvGrpSpPr/>
          <p:nvPr/>
        </p:nvGrpSpPr>
        <p:grpSpPr>
          <a:xfrm>
            <a:off x="1394257" y="2507850"/>
            <a:ext cx="364202" cy="371796"/>
            <a:chOff x="1650004" y="2626276"/>
            <a:chExt cx="364202" cy="371796"/>
          </a:xfrm>
        </p:grpSpPr>
        <p:sp>
          <p:nvSpPr>
            <p:cNvPr id="45" name="橢圓 44"/>
            <p:cNvSpPr/>
            <p:nvPr/>
          </p:nvSpPr>
          <p:spPr>
            <a:xfrm>
              <a:off x="1688105" y="2710072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6" name="文字方塊 45"/>
            <p:cNvSpPr txBox="1"/>
            <p:nvPr/>
          </p:nvSpPr>
          <p:spPr>
            <a:xfrm>
              <a:off x="1650004" y="262627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7" name="群組 46"/>
          <p:cNvGrpSpPr/>
          <p:nvPr/>
        </p:nvGrpSpPr>
        <p:grpSpPr>
          <a:xfrm>
            <a:off x="1983729" y="1912075"/>
            <a:ext cx="364202" cy="371796"/>
            <a:chOff x="2239476" y="2030501"/>
            <a:chExt cx="364202" cy="371796"/>
          </a:xfrm>
        </p:grpSpPr>
        <p:sp>
          <p:nvSpPr>
            <p:cNvPr id="48" name="橢圓 47"/>
            <p:cNvSpPr/>
            <p:nvPr/>
          </p:nvSpPr>
          <p:spPr>
            <a:xfrm>
              <a:off x="2286203" y="211429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9" name="文字方塊 48"/>
            <p:cNvSpPr txBox="1"/>
            <p:nvPr/>
          </p:nvSpPr>
          <p:spPr>
            <a:xfrm>
              <a:off x="2239476" y="203050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0" name="群組 49"/>
          <p:cNvGrpSpPr/>
          <p:nvPr/>
        </p:nvGrpSpPr>
        <p:grpSpPr>
          <a:xfrm>
            <a:off x="2823366" y="1288655"/>
            <a:ext cx="364202" cy="371796"/>
            <a:chOff x="3079113" y="1407081"/>
            <a:chExt cx="364202" cy="371796"/>
          </a:xfrm>
        </p:grpSpPr>
        <p:sp>
          <p:nvSpPr>
            <p:cNvPr id="51" name="橢圓 50"/>
            <p:cNvSpPr/>
            <p:nvPr/>
          </p:nvSpPr>
          <p:spPr>
            <a:xfrm>
              <a:off x="3117214" y="149087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2" name="文字方塊 51"/>
            <p:cNvSpPr txBox="1"/>
            <p:nvPr/>
          </p:nvSpPr>
          <p:spPr>
            <a:xfrm>
              <a:off x="3079113" y="140708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3" name="群組 52"/>
          <p:cNvGrpSpPr/>
          <p:nvPr/>
        </p:nvGrpSpPr>
        <p:grpSpPr>
          <a:xfrm>
            <a:off x="2813406" y="2507850"/>
            <a:ext cx="364202" cy="371796"/>
            <a:chOff x="3069153" y="2626276"/>
            <a:chExt cx="364202" cy="371796"/>
          </a:xfrm>
        </p:grpSpPr>
        <p:sp>
          <p:nvSpPr>
            <p:cNvPr id="54" name="橢圓 53"/>
            <p:cNvSpPr/>
            <p:nvPr/>
          </p:nvSpPr>
          <p:spPr>
            <a:xfrm>
              <a:off x="3117214" y="2710072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5" name="文字方塊 54"/>
            <p:cNvSpPr txBox="1"/>
            <p:nvPr/>
          </p:nvSpPr>
          <p:spPr>
            <a:xfrm>
              <a:off x="3069153" y="262627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6" name="群組 55"/>
          <p:cNvGrpSpPr/>
          <p:nvPr/>
        </p:nvGrpSpPr>
        <p:grpSpPr>
          <a:xfrm>
            <a:off x="3680257" y="1913593"/>
            <a:ext cx="364202" cy="370278"/>
            <a:chOff x="3936004" y="2032019"/>
            <a:chExt cx="364202" cy="370278"/>
          </a:xfrm>
        </p:grpSpPr>
        <p:sp>
          <p:nvSpPr>
            <p:cNvPr id="57" name="橢圓 56"/>
            <p:cNvSpPr/>
            <p:nvPr/>
          </p:nvSpPr>
          <p:spPr>
            <a:xfrm>
              <a:off x="3974105" y="211429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8" name="文字方塊 57"/>
            <p:cNvSpPr txBox="1"/>
            <p:nvPr/>
          </p:nvSpPr>
          <p:spPr>
            <a:xfrm>
              <a:off x="3936004" y="2032019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9" name="群組 58"/>
          <p:cNvGrpSpPr/>
          <p:nvPr/>
        </p:nvGrpSpPr>
        <p:grpSpPr>
          <a:xfrm>
            <a:off x="297396" y="3272065"/>
            <a:ext cx="3961108" cy="3132934"/>
            <a:chOff x="381848" y="3292760"/>
            <a:chExt cx="3961108" cy="3132934"/>
          </a:xfrm>
        </p:grpSpPr>
        <p:sp>
          <p:nvSpPr>
            <p:cNvPr id="60" name="文字方塊 59"/>
            <p:cNvSpPr txBox="1"/>
            <p:nvPr/>
          </p:nvSpPr>
          <p:spPr>
            <a:xfrm>
              <a:off x="833298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文字方塊 60"/>
            <p:cNvSpPr txBox="1"/>
            <p:nvPr/>
          </p:nvSpPr>
          <p:spPr>
            <a:xfrm>
              <a:off x="1359767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文字方塊 61"/>
            <p:cNvSpPr txBox="1"/>
            <p:nvPr/>
          </p:nvSpPr>
          <p:spPr>
            <a:xfrm>
              <a:off x="1882744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文字方塊 62"/>
            <p:cNvSpPr txBox="1"/>
            <p:nvPr/>
          </p:nvSpPr>
          <p:spPr>
            <a:xfrm>
              <a:off x="2409213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文字方塊 63"/>
            <p:cNvSpPr txBox="1"/>
            <p:nvPr/>
          </p:nvSpPr>
          <p:spPr>
            <a:xfrm>
              <a:off x="2929308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文字方塊 64"/>
            <p:cNvSpPr txBox="1"/>
            <p:nvPr/>
          </p:nvSpPr>
          <p:spPr>
            <a:xfrm>
              <a:off x="3452285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文字方塊 65"/>
            <p:cNvSpPr txBox="1"/>
            <p:nvPr/>
          </p:nvSpPr>
          <p:spPr>
            <a:xfrm>
              <a:off x="3978754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文字方塊 66"/>
            <p:cNvSpPr txBox="1"/>
            <p:nvPr/>
          </p:nvSpPr>
          <p:spPr>
            <a:xfrm>
              <a:off x="381848" y="3670718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" name="文字方塊 67"/>
            <p:cNvSpPr txBox="1"/>
            <p:nvPr/>
          </p:nvSpPr>
          <p:spPr>
            <a:xfrm>
              <a:off x="381848" y="408318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文字方塊 68"/>
            <p:cNvSpPr txBox="1"/>
            <p:nvPr/>
          </p:nvSpPr>
          <p:spPr>
            <a:xfrm>
              <a:off x="381848" y="4469764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文字方塊 69"/>
            <p:cNvSpPr txBox="1"/>
            <p:nvPr/>
          </p:nvSpPr>
          <p:spPr>
            <a:xfrm>
              <a:off x="381848" y="4856348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文字方塊 70"/>
            <p:cNvSpPr txBox="1"/>
            <p:nvPr/>
          </p:nvSpPr>
          <p:spPr>
            <a:xfrm>
              <a:off x="381848" y="5265942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文字方塊 71"/>
            <p:cNvSpPr txBox="1"/>
            <p:nvPr/>
          </p:nvSpPr>
          <p:spPr>
            <a:xfrm>
              <a:off x="381848" y="5661152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文字方塊 72"/>
            <p:cNvSpPr txBox="1"/>
            <p:nvPr/>
          </p:nvSpPr>
          <p:spPr>
            <a:xfrm>
              <a:off x="381848" y="6056362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4" name="文字方塊 73"/>
          <p:cNvSpPr txBox="1"/>
          <p:nvPr/>
        </p:nvSpPr>
        <p:spPr>
          <a:xfrm>
            <a:off x="40158" y="2977377"/>
            <a:ext cx="14173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Cost[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文字方塊 74"/>
          <p:cNvSpPr txBox="1"/>
          <p:nvPr/>
        </p:nvSpPr>
        <p:spPr>
          <a:xfrm>
            <a:off x="4429132" y="3400887"/>
            <a:ext cx="47099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</a:t>
            </a:r>
            <a:r>
              <a:rPr lang="en-US" altLang="zh-TW" sz="2000" b="1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[0][3]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min{Cost[0][3], Cost[0][2] + Cost[2][3]}</a:t>
            </a: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min{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3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, 4 + 4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=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79" name="文字方塊 78"/>
          <p:cNvSpPr txBox="1"/>
          <p:nvPr/>
        </p:nvSpPr>
        <p:spPr>
          <a:xfrm>
            <a:off x="4450398" y="1422476"/>
            <a:ext cx="45079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Cost</a:t>
            </a:r>
            <a:r>
              <a:rPr lang="en-US" altLang="zh-TW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min{Cost[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], Cost[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][1] + Cost[1][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]}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AutoShape 193"/>
          <p:cNvSpPr>
            <a:spLocks noChangeArrowheads="1"/>
          </p:cNvSpPr>
          <p:nvPr/>
        </p:nvSpPr>
        <p:spPr bwMode="auto">
          <a:xfrm>
            <a:off x="4076403" y="2317843"/>
            <a:ext cx="1365445" cy="749523"/>
          </a:xfrm>
          <a:prstGeom prst="wedgeRoundRectCallout">
            <a:avLst>
              <a:gd name="adj1" fmla="val 70979"/>
              <a:gd name="adj2" fmla="val -64318"/>
              <a:gd name="adj3" fmla="val 16667"/>
            </a:avLst>
          </a:prstGeom>
          <a:noFill/>
          <a:ln w="28575">
            <a:solidFill>
              <a:schemeClr val="accent3">
                <a:lumMod val="7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9pPr>
          </a:lstStyle>
          <a:p>
            <a:pPr algn="ctr" eaLnBrk="1" hangingPunct="1"/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原來</a:t>
            </a:r>
            <a:r>
              <a:rPr lang="en-US" altLang="zh-TW" sz="2000" b="1" i="1" dirty="0">
                <a:ea typeface="標楷體" panose="03000509000000000000" pitchFamily="65" charset="-120"/>
                <a:cs typeface="Times New Roman" panose="02020603050405020304" pitchFamily="18" charset="0"/>
              </a:rPr>
              <a:t>v</a:t>
            </a:r>
            <a:r>
              <a:rPr lang="en-US" altLang="zh-TW" sz="2000" b="1" i="1" baseline="-25000" dirty="0"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ea typeface="標楷體" panose="03000509000000000000" pitchFamily="65" charset="-120"/>
                <a:cs typeface="Times New Roman" panose="02020603050405020304" pitchFamily="18" charset="0"/>
              </a:rPr>
              <a:t> ~ </a:t>
            </a:r>
            <a:r>
              <a:rPr lang="en-US" altLang="zh-TW" sz="2000" b="1" i="1" dirty="0" err="1">
                <a:ea typeface="標楷體" panose="03000509000000000000" pitchFamily="65" charset="-120"/>
                <a:cs typeface="Times New Roman" panose="02020603050405020304" pitchFamily="18" charset="0"/>
              </a:rPr>
              <a:t>v</a:t>
            </a:r>
            <a:r>
              <a:rPr lang="en-US" altLang="zh-TW" sz="2000" b="1" i="1" baseline="-25000" dirty="0" err="1">
                <a:ea typeface="標楷體" panose="03000509000000000000" pitchFamily="65" charset="-120"/>
                <a:cs typeface="Times New Roman" panose="02020603050405020304" pitchFamily="18" charset="0"/>
              </a:rPr>
              <a:t>j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的距離</a:t>
            </a:r>
          </a:p>
        </p:txBody>
      </p:sp>
      <p:sp>
        <p:nvSpPr>
          <p:cNvPr id="81" name="AutoShape 194"/>
          <p:cNvSpPr>
            <a:spLocks noChangeArrowheads="1"/>
          </p:cNvSpPr>
          <p:nvPr/>
        </p:nvSpPr>
        <p:spPr bwMode="auto">
          <a:xfrm>
            <a:off x="7572602" y="2359965"/>
            <a:ext cx="1295400" cy="751361"/>
          </a:xfrm>
          <a:prstGeom prst="wedgeRoundRectCallout">
            <a:avLst>
              <a:gd name="adj1" fmla="val -74098"/>
              <a:gd name="adj2" fmla="val -70166"/>
              <a:gd name="adj3" fmla="val 16667"/>
            </a:avLst>
          </a:prstGeom>
          <a:noFill/>
          <a:ln w="28575">
            <a:solidFill>
              <a:srgbClr val="7030A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9pPr>
          </a:lstStyle>
          <a:p>
            <a:pPr algn="ctr" eaLnBrk="1" hangingPunct="1"/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經過</a:t>
            </a:r>
            <a:r>
              <a:rPr lang="en-US" altLang="zh-TW" sz="2000" b="1" i="1" dirty="0">
                <a:ea typeface="標楷體" panose="03000509000000000000" pitchFamily="65" charset="-12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ea typeface="標楷體" panose="03000509000000000000" pitchFamily="65" charset="-120"/>
                <a:cs typeface="Times New Roman" panose="02020603050405020304" pitchFamily="18" charset="0"/>
              </a:rPr>
              <a:t>0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的距離</a:t>
            </a:r>
          </a:p>
        </p:txBody>
      </p:sp>
      <p:cxnSp>
        <p:nvCxnSpPr>
          <p:cNvPr id="82" name="直線接點 81"/>
          <p:cNvCxnSpPr/>
          <p:nvPr/>
        </p:nvCxnSpPr>
        <p:spPr>
          <a:xfrm>
            <a:off x="5276388" y="2088000"/>
            <a:ext cx="936000" cy="0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接點 82"/>
          <p:cNvCxnSpPr/>
          <p:nvPr/>
        </p:nvCxnSpPr>
        <p:spPr>
          <a:xfrm>
            <a:off x="6420602" y="2088000"/>
            <a:ext cx="2304000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文字方塊 83"/>
          <p:cNvSpPr txBox="1"/>
          <p:nvPr/>
        </p:nvSpPr>
        <p:spPr>
          <a:xfrm>
            <a:off x="747424" y="5692500"/>
            <a:ext cx="367656" cy="276999"/>
          </a:xfrm>
          <a:prstGeom prst="rect">
            <a:avLst/>
          </a:prstGeom>
          <a:solidFill>
            <a:srgbClr val="E7F3F4"/>
          </a:solidFill>
          <a:ln>
            <a:noFill/>
          </a:ln>
        </p:spPr>
        <p:txBody>
          <a:bodyPr wrap="none" lIns="36000" tIns="0" rIns="36000" bIns="0" rtlCol="0">
            <a:spAutoFit/>
          </a:bodyPr>
          <a:lstStyle/>
          <a:p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7/2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文字方塊 84"/>
          <p:cNvSpPr txBox="1"/>
          <p:nvPr/>
        </p:nvSpPr>
        <p:spPr>
          <a:xfrm>
            <a:off x="4429132" y="4473860"/>
            <a:ext cx="47099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</a:t>
            </a:r>
            <a:r>
              <a:rPr lang="en-US" altLang="zh-TW" sz="2000" b="1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[0][4]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min{Cost[0][4], Cost[0][2] + Cost[2][4]}</a:t>
            </a: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min{</a:t>
            </a:r>
            <a:r>
              <a: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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, 4 + 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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= </a:t>
            </a:r>
            <a:r>
              <a: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</a:t>
            </a:r>
            <a:endParaRPr lang="en-US" altLang="zh-TW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文字方塊 85"/>
          <p:cNvSpPr txBox="1"/>
          <p:nvPr/>
        </p:nvSpPr>
        <p:spPr>
          <a:xfrm>
            <a:off x="4429132" y="5549355"/>
            <a:ext cx="47099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</a:t>
            </a:r>
            <a:r>
              <a:rPr lang="en-US" altLang="zh-TW" sz="2000" b="1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[0][5]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min{Cost[0][5], Cost[0][2] + Cost[2][5]}</a:t>
            </a: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min{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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,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4 + 3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=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7</a:t>
            </a:r>
            <a:endParaRPr lang="en-US" altLang="zh-TW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圓角矩形 86"/>
          <p:cNvSpPr/>
          <p:nvPr/>
        </p:nvSpPr>
        <p:spPr>
          <a:xfrm>
            <a:off x="661598" y="4438872"/>
            <a:ext cx="3672000" cy="377958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8" name="圓角矩形 87"/>
          <p:cNvSpPr/>
          <p:nvPr/>
        </p:nvSpPr>
        <p:spPr>
          <a:xfrm>
            <a:off x="1692999" y="3645709"/>
            <a:ext cx="543229" cy="2759289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9" name="文字方塊 88"/>
          <p:cNvSpPr txBox="1"/>
          <p:nvPr/>
        </p:nvSpPr>
        <p:spPr>
          <a:xfrm>
            <a:off x="3381072" y="3706733"/>
            <a:ext cx="367656" cy="276999"/>
          </a:xfrm>
          <a:prstGeom prst="rect">
            <a:avLst/>
          </a:prstGeom>
          <a:solidFill>
            <a:srgbClr val="F3F9FA"/>
          </a:solidFill>
          <a:ln>
            <a:noFill/>
          </a:ln>
        </p:spPr>
        <p:txBody>
          <a:bodyPr wrap="none" lIns="36000" tIns="0" rIns="36000" bIns="0" rtlCol="0">
            <a:spAutoFit/>
          </a:bodyPr>
          <a:lstStyle/>
          <a:p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7/2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文字方塊 89"/>
          <p:cNvSpPr txBox="1"/>
          <p:nvPr/>
        </p:nvSpPr>
        <p:spPr>
          <a:xfrm>
            <a:off x="3370549" y="4098760"/>
            <a:ext cx="367656" cy="276999"/>
          </a:xfrm>
          <a:prstGeom prst="rect">
            <a:avLst/>
          </a:prstGeom>
          <a:solidFill>
            <a:srgbClr val="E7F3F4"/>
          </a:solidFill>
          <a:ln>
            <a:noFill/>
          </a:ln>
        </p:spPr>
        <p:txBody>
          <a:bodyPr wrap="none" lIns="36000" tIns="0" rIns="36000" bIns="0" rtlCol="0">
            <a:spAutoFit/>
          </a:bodyPr>
          <a:lstStyle/>
          <a:p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8/2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文字方塊 90"/>
          <p:cNvSpPr txBox="1"/>
          <p:nvPr/>
        </p:nvSpPr>
        <p:spPr>
          <a:xfrm>
            <a:off x="1264771" y="5689860"/>
            <a:ext cx="367656" cy="276999"/>
          </a:xfrm>
          <a:prstGeom prst="rect">
            <a:avLst/>
          </a:prstGeom>
          <a:solidFill>
            <a:srgbClr val="E7F3F4"/>
          </a:solidFill>
          <a:ln>
            <a:noFill/>
          </a:ln>
        </p:spPr>
        <p:txBody>
          <a:bodyPr wrap="none" lIns="36000" tIns="0" rIns="36000" bIns="0" rtlCol="0">
            <a:spAutoFit/>
          </a:bodyPr>
          <a:lstStyle/>
          <a:p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8/2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橢圓 91"/>
          <p:cNvSpPr/>
          <p:nvPr/>
        </p:nvSpPr>
        <p:spPr>
          <a:xfrm>
            <a:off x="2248383" y="3636566"/>
            <a:ext cx="504000" cy="401829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3" name="橢圓 92"/>
          <p:cNvSpPr/>
          <p:nvPr/>
        </p:nvSpPr>
        <p:spPr>
          <a:xfrm>
            <a:off x="2775879" y="3642182"/>
            <a:ext cx="504000" cy="401829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4" name="橢圓 93"/>
          <p:cNvSpPr/>
          <p:nvPr/>
        </p:nvSpPr>
        <p:spPr>
          <a:xfrm>
            <a:off x="3311778" y="3636539"/>
            <a:ext cx="504000" cy="401829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9065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3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4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 animBg="1"/>
      <p:bldP spid="89" grpId="0" animBg="1"/>
      <p:bldP spid="90" grpId="0" animBg="1"/>
      <p:bldP spid="91" grpId="0" animBg="1"/>
      <p:bldP spid="92" grpId="0" animBg="1"/>
      <p:bldP spid="92" grpId="1" animBg="1"/>
      <p:bldP spid="93" grpId="0" animBg="1"/>
      <p:bldP spid="93" grpId="1" animBg="1"/>
      <p:bldP spid="94" grpId="0" animBg="1"/>
      <p:bldP spid="94" grpId="1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Floyd </a:t>
            </a:r>
            <a:r>
              <a:rPr lang="zh-TW" altLang="en-US" dirty="0"/>
              <a:t>演算法 </a:t>
            </a:r>
            <a:r>
              <a:rPr lang="en-US" altLang="zh-TW" dirty="0"/>
              <a:t>(5/10)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34</a:t>
            </a:fld>
            <a:endParaRPr lang="en-US" dirty="0"/>
          </a:p>
        </p:txBody>
      </p:sp>
      <p:graphicFrame>
        <p:nvGraphicFramePr>
          <p:cNvPr id="7" name="內容版面配置區 60"/>
          <p:cNvGraphicFramePr>
            <a:graphicFrameLocks/>
          </p:cNvGraphicFramePr>
          <p:nvPr/>
        </p:nvGraphicFramePr>
        <p:xfrm>
          <a:off x="662040" y="3645986"/>
          <a:ext cx="3690750" cy="2759015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2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7/2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/6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5/0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8/2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/6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5/0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/6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/6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6/6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7/2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8/2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4/6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0/6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8" name="群組 7"/>
          <p:cNvGrpSpPr/>
          <p:nvPr/>
        </p:nvGrpSpPr>
        <p:grpSpPr>
          <a:xfrm>
            <a:off x="1113633" y="1851693"/>
            <a:ext cx="916823" cy="369332"/>
            <a:chOff x="1369380" y="1970119"/>
            <a:chExt cx="916823" cy="369332"/>
          </a:xfrm>
        </p:grpSpPr>
        <p:cxnSp>
          <p:nvCxnSpPr>
            <p:cNvPr id="9" name="直線接點 8"/>
            <p:cNvCxnSpPr>
              <a:stCxn id="48" idx="2"/>
              <a:endCxn id="39" idx="6"/>
            </p:cNvCxnSpPr>
            <p:nvPr/>
          </p:nvCxnSpPr>
          <p:spPr>
            <a:xfrm flipH="1">
              <a:off x="1369380" y="2258297"/>
              <a:ext cx="916823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字方塊 9"/>
            <p:cNvSpPr txBox="1"/>
            <p:nvPr/>
          </p:nvSpPr>
          <p:spPr>
            <a:xfrm>
              <a:off x="1682064" y="197011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" name="群組 10"/>
          <p:cNvGrpSpPr/>
          <p:nvPr/>
        </p:nvGrpSpPr>
        <p:grpSpPr>
          <a:xfrm>
            <a:off x="1054786" y="1551060"/>
            <a:ext cx="419749" cy="486988"/>
            <a:chOff x="1310533" y="1669486"/>
            <a:chExt cx="419749" cy="486988"/>
          </a:xfrm>
        </p:grpSpPr>
        <p:cxnSp>
          <p:nvCxnSpPr>
            <p:cNvPr id="12" name="直線接點 11"/>
            <p:cNvCxnSpPr>
              <a:stCxn id="39" idx="7"/>
              <a:endCxn id="42" idx="3"/>
            </p:cNvCxnSpPr>
            <p:nvPr/>
          </p:nvCxnSpPr>
          <p:spPr>
            <a:xfrm flipV="1">
              <a:off x="1327203" y="1736700"/>
              <a:ext cx="403079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字方塊 12"/>
            <p:cNvSpPr txBox="1"/>
            <p:nvPr/>
          </p:nvSpPr>
          <p:spPr>
            <a:xfrm>
              <a:off x="1310533" y="166948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" name="群組 13"/>
          <p:cNvGrpSpPr/>
          <p:nvPr/>
        </p:nvGrpSpPr>
        <p:grpSpPr>
          <a:xfrm>
            <a:off x="1054786" y="2241694"/>
            <a:ext cx="419749" cy="445481"/>
            <a:chOff x="1310533" y="2360120"/>
            <a:chExt cx="419749" cy="445481"/>
          </a:xfrm>
        </p:grpSpPr>
        <p:cxnSp>
          <p:nvCxnSpPr>
            <p:cNvPr id="15" name="直線接點 14"/>
            <p:cNvCxnSpPr>
              <a:stCxn id="45" idx="1"/>
              <a:endCxn id="39" idx="5"/>
            </p:cNvCxnSpPr>
            <p:nvPr/>
          </p:nvCxnSpPr>
          <p:spPr>
            <a:xfrm flipH="1" flipV="1">
              <a:off x="1327203" y="2360120"/>
              <a:ext cx="403079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字方塊 15"/>
            <p:cNvSpPr txBox="1"/>
            <p:nvPr/>
          </p:nvSpPr>
          <p:spPr>
            <a:xfrm>
              <a:off x="1310533" y="243626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" name="群組 16"/>
          <p:cNvGrpSpPr/>
          <p:nvPr/>
        </p:nvGrpSpPr>
        <p:grpSpPr>
          <a:xfrm>
            <a:off x="1678181" y="1531033"/>
            <a:ext cx="411886" cy="507015"/>
            <a:chOff x="1933928" y="1649459"/>
            <a:chExt cx="411886" cy="507015"/>
          </a:xfrm>
        </p:grpSpPr>
        <p:cxnSp>
          <p:nvCxnSpPr>
            <p:cNvPr id="18" name="直線接點 17"/>
            <p:cNvCxnSpPr>
              <a:stCxn id="48" idx="1"/>
              <a:endCxn id="42" idx="5"/>
            </p:cNvCxnSpPr>
            <p:nvPr/>
          </p:nvCxnSpPr>
          <p:spPr>
            <a:xfrm flipH="1" flipV="1">
              <a:off x="1933928" y="1736700"/>
              <a:ext cx="394452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字方塊 18"/>
            <p:cNvSpPr txBox="1"/>
            <p:nvPr/>
          </p:nvSpPr>
          <p:spPr>
            <a:xfrm>
              <a:off x="2045732" y="164945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" name="群組 19"/>
          <p:cNvGrpSpPr/>
          <p:nvPr/>
        </p:nvGrpSpPr>
        <p:grpSpPr>
          <a:xfrm>
            <a:off x="1678181" y="2241694"/>
            <a:ext cx="411886" cy="425454"/>
            <a:chOff x="1933928" y="2360120"/>
            <a:chExt cx="411886" cy="425454"/>
          </a:xfrm>
        </p:grpSpPr>
        <p:cxnSp>
          <p:nvCxnSpPr>
            <p:cNvPr id="21" name="直線接點 20"/>
            <p:cNvCxnSpPr>
              <a:stCxn id="48" idx="3"/>
              <a:endCxn id="45" idx="7"/>
            </p:cNvCxnSpPr>
            <p:nvPr/>
          </p:nvCxnSpPr>
          <p:spPr>
            <a:xfrm flipH="1">
              <a:off x="1933928" y="2360120"/>
              <a:ext cx="394452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字方塊 21"/>
            <p:cNvSpPr txBox="1"/>
            <p:nvPr/>
          </p:nvSpPr>
          <p:spPr>
            <a:xfrm>
              <a:off x="2045732" y="241624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3" name="群組 22"/>
          <p:cNvGrpSpPr/>
          <p:nvPr/>
        </p:nvGrpSpPr>
        <p:grpSpPr>
          <a:xfrm>
            <a:off x="2276279" y="1518794"/>
            <a:ext cx="627365" cy="519254"/>
            <a:chOff x="2532026" y="1637220"/>
            <a:chExt cx="627365" cy="519254"/>
          </a:xfrm>
        </p:grpSpPr>
        <p:cxnSp>
          <p:nvCxnSpPr>
            <p:cNvPr id="24" name="直線接點 23"/>
            <p:cNvCxnSpPr>
              <a:stCxn id="51" idx="3"/>
              <a:endCxn id="48" idx="7"/>
            </p:cNvCxnSpPr>
            <p:nvPr/>
          </p:nvCxnSpPr>
          <p:spPr>
            <a:xfrm flipH="1">
              <a:off x="2532026" y="1736700"/>
              <a:ext cx="627365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文字方塊 24"/>
            <p:cNvSpPr txBox="1"/>
            <p:nvPr/>
          </p:nvSpPr>
          <p:spPr>
            <a:xfrm>
              <a:off x="2667499" y="163722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6" name="群組 25"/>
          <p:cNvGrpSpPr/>
          <p:nvPr/>
        </p:nvGrpSpPr>
        <p:grpSpPr>
          <a:xfrm>
            <a:off x="2276279" y="2241694"/>
            <a:ext cx="627365" cy="413215"/>
            <a:chOff x="2532026" y="2360120"/>
            <a:chExt cx="627365" cy="413215"/>
          </a:xfrm>
        </p:grpSpPr>
        <p:cxnSp>
          <p:nvCxnSpPr>
            <p:cNvPr id="27" name="直線接點 26"/>
            <p:cNvCxnSpPr>
              <a:stCxn id="54" idx="1"/>
              <a:endCxn id="48" idx="5"/>
            </p:cNvCxnSpPr>
            <p:nvPr/>
          </p:nvCxnSpPr>
          <p:spPr>
            <a:xfrm flipH="1" flipV="1">
              <a:off x="2532026" y="2360120"/>
              <a:ext cx="627365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字方塊 27"/>
            <p:cNvSpPr txBox="1"/>
            <p:nvPr/>
          </p:nvSpPr>
          <p:spPr>
            <a:xfrm>
              <a:off x="2581239" y="240400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9" name="群組 28"/>
          <p:cNvGrpSpPr/>
          <p:nvPr/>
        </p:nvGrpSpPr>
        <p:grpSpPr>
          <a:xfrm>
            <a:off x="3107290" y="1531033"/>
            <a:ext cx="653245" cy="507015"/>
            <a:chOff x="3363037" y="1649459"/>
            <a:chExt cx="653245" cy="507015"/>
          </a:xfrm>
        </p:grpSpPr>
        <p:cxnSp>
          <p:nvCxnSpPr>
            <p:cNvPr id="30" name="直線接點 29"/>
            <p:cNvCxnSpPr>
              <a:stCxn id="57" idx="1"/>
              <a:endCxn id="51" idx="5"/>
            </p:cNvCxnSpPr>
            <p:nvPr/>
          </p:nvCxnSpPr>
          <p:spPr>
            <a:xfrm flipH="1" flipV="1">
              <a:off x="3363037" y="1736700"/>
              <a:ext cx="653245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文字方塊 30"/>
            <p:cNvSpPr txBox="1"/>
            <p:nvPr/>
          </p:nvSpPr>
          <p:spPr>
            <a:xfrm>
              <a:off x="3582748" y="164945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2" name="群組 31"/>
          <p:cNvGrpSpPr/>
          <p:nvPr/>
        </p:nvGrpSpPr>
        <p:grpSpPr>
          <a:xfrm>
            <a:off x="3107290" y="2241694"/>
            <a:ext cx="653245" cy="425454"/>
            <a:chOff x="3363037" y="2360120"/>
            <a:chExt cx="653245" cy="425454"/>
          </a:xfrm>
        </p:grpSpPr>
        <p:cxnSp>
          <p:nvCxnSpPr>
            <p:cNvPr id="33" name="直線接點 32"/>
            <p:cNvCxnSpPr>
              <a:stCxn id="57" idx="3"/>
              <a:endCxn id="54" idx="7"/>
            </p:cNvCxnSpPr>
            <p:nvPr/>
          </p:nvCxnSpPr>
          <p:spPr>
            <a:xfrm flipH="1">
              <a:off x="3363037" y="2360120"/>
              <a:ext cx="653245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文字方塊 33"/>
            <p:cNvSpPr txBox="1"/>
            <p:nvPr/>
          </p:nvSpPr>
          <p:spPr>
            <a:xfrm>
              <a:off x="3608626" y="241624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5" name="群組 34"/>
          <p:cNvGrpSpPr/>
          <p:nvPr/>
        </p:nvGrpSpPr>
        <p:grpSpPr>
          <a:xfrm>
            <a:off x="1720358" y="2657165"/>
            <a:ext cx="1141109" cy="369332"/>
            <a:chOff x="1254795" y="2775591"/>
            <a:chExt cx="1141109" cy="369332"/>
          </a:xfrm>
        </p:grpSpPr>
        <p:cxnSp>
          <p:nvCxnSpPr>
            <p:cNvPr id="36" name="直線接點 35"/>
            <p:cNvCxnSpPr>
              <a:stCxn id="54" idx="2"/>
              <a:endCxn id="45" idx="6"/>
            </p:cNvCxnSpPr>
            <p:nvPr/>
          </p:nvCxnSpPr>
          <p:spPr>
            <a:xfrm flipH="1">
              <a:off x="1254795" y="2854072"/>
              <a:ext cx="1141109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文字方塊 36"/>
            <p:cNvSpPr txBox="1"/>
            <p:nvPr/>
          </p:nvSpPr>
          <p:spPr>
            <a:xfrm>
              <a:off x="1660675" y="2775591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8" name="群組 37"/>
          <p:cNvGrpSpPr/>
          <p:nvPr/>
        </p:nvGrpSpPr>
        <p:grpSpPr>
          <a:xfrm>
            <a:off x="787532" y="1912075"/>
            <a:ext cx="364202" cy="371796"/>
            <a:chOff x="1043279" y="2030501"/>
            <a:chExt cx="364202" cy="371796"/>
          </a:xfrm>
        </p:grpSpPr>
        <p:sp>
          <p:nvSpPr>
            <p:cNvPr id="39" name="橢圓 38"/>
            <p:cNvSpPr/>
            <p:nvPr/>
          </p:nvSpPr>
          <p:spPr>
            <a:xfrm>
              <a:off x="1081380" y="211429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0" name="文字方塊 39"/>
            <p:cNvSpPr txBox="1"/>
            <p:nvPr/>
          </p:nvSpPr>
          <p:spPr>
            <a:xfrm>
              <a:off x="1043279" y="203050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1" name="群組 40"/>
          <p:cNvGrpSpPr/>
          <p:nvPr/>
        </p:nvGrpSpPr>
        <p:grpSpPr>
          <a:xfrm>
            <a:off x="1394257" y="1288779"/>
            <a:ext cx="364202" cy="371672"/>
            <a:chOff x="1650004" y="1407205"/>
            <a:chExt cx="364202" cy="371672"/>
          </a:xfrm>
        </p:grpSpPr>
        <p:sp>
          <p:nvSpPr>
            <p:cNvPr id="42" name="橢圓 41"/>
            <p:cNvSpPr/>
            <p:nvPr/>
          </p:nvSpPr>
          <p:spPr>
            <a:xfrm>
              <a:off x="1688105" y="149087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3" name="文字方塊 42"/>
            <p:cNvSpPr txBox="1"/>
            <p:nvPr/>
          </p:nvSpPr>
          <p:spPr>
            <a:xfrm>
              <a:off x="1650004" y="1407205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4" name="群組 43"/>
          <p:cNvGrpSpPr/>
          <p:nvPr/>
        </p:nvGrpSpPr>
        <p:grpSpPr>
          <a:xfrm>
            <a:off x="1394257" y="2507850"/>
            <a:ext cx="364202" cy="371796"/>
            <a:chOff x="1650004" y="2626276"/>
            <a:chExt cx="364202" cy="371796"/>
          </a:xfrm>
        </p:grpSpPr>
        <p:sp>
          <p:nvSpPr>
            <p:cNvPr id="45" name="橢圓 44"/>
            <p:cNvSpPr/>
            <p:nvPr/>
          </p:nvSpPr>
          <p:spPr>
            <a:xfrm>
              <a:off x="1688105" y="2710072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6" name="文字方塊 45"/>
            <p:cNvSpPr txBox="1"/>
            <p:nvPr/>
          </p:nvSpPr>
          <p:spPr>
            <a:xfrm>
              <a:off x="1650004" y="262627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7" name="群組 46"/>
          <p:cNvGrpSpPr/>
          <p:nvPr/>
        </p:nvGrpSpPr>
        <p:grpSpPr>
          <a:xfrm>
            <a:off x="1983729" y="1912075"/>
            <a:ext cx="364202" cy="371796"/>
            <a:chOff x="2239476" y="2030501"/>
            <a:chExt cx="364202" cy="371796"/>
          </a:xfrm>
        </p:grpSpPr>
        <p:sp>
          <p:nvSpPr>
            <p:cNvPr id="48" name="橢圓 47"/>
            <p:cNvSpPr/>
            <p:nvPr/>
          </p:nvSpPr>
          <p:spPr>
            <a:xfrm>
              <a:off x="2286203" y="211429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9" name="文字方塊 48"/>
            <p:cNvSpPr txBox="1"/>
            <p:nvPr/>
          </p:nvSpPr>
          <p:spPr>
            <a:xfrm>
              <a:off x="2239476" y="203050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0" name="群組 49"/>
          <p:cNvGrpSpPr/>
          <p:nvPr/>
        </p:nvGrpSpPr>
        <p:grpSpPr>
          <a:xfrm>
            <a:off x="2823366" y="1288655"/>
            <a:ext cx="364202" cy="371796"/>
            <a:chOff x="3079113" y="1407081"/>
            <a:chExt cx="364202" cy="371796"/>
          </a:xfrm>
        </p:grpSpPr>
        <p:sp>
          <p:nvSpPr>
            <p:cNvPr id="51" name="橢圓 50"/>
            <p:cNvSpPr/>
            <p:nvPr/>
          </p:nvSpPr>
          <p:spPr>
            <a:xfrm>
              <a:off x="3117214" y="149087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2" name="文字方塊 51"/>
            <p:cNvSpPr txBox="1"/>
            <p:nvPr/>
          </p:nvSpPr>
          <p:spPr>
            <a:xfrm>
              <a:off x="3079113" y="140708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3" name="群組 52"/>
          <p:cNvGrpSpPr/>
          <p:nvPr/>
        </p:nvGrpSpPr>
        <p:grpSpPr>
          <a:xfrm>
            <a:off x="2813406" y="2507850"/>
            <a:ext cx="364202" cy="371796"/>
            <a:chOff x="3069153" y="2626276"/>
            <a:chExt cx="364202" cy="371796"/>
          </a:xfrm>
        </p:grpSpPr>
        <p:sp>
          <p:nvSpPr>
            <p:cNvPr id="54" name="橢圓 53"/>
            <p:cNvSpPr/>
            <p:nvPr/>
          </p:nvSpPr>
          <p:spPr>
            <a:xfrm>
              <a:off x="3117214" y="2710072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5" name="文字方塊 54"/>
            <p:cNvSpPr txBox="1"/>
            <p:nvPr/>
          </p:nvSpPr>
          <p:spPr>
            <a:xfrm>
              <a:off x="3069153" y="262627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6" name="群組 55"/>
          <p:cNvGrpSpPr/>
          <p:nvPr/>
        </p:nvGrpSpPr>
        <p:grpSpPr>
          <a:xfrm>
            <a:off x="3680257" y="1913593"/>
            <a:ext cx="364202" cy="370278"/>
            <a:chOff x="3936004" y="2032019"/>
            <a:chExt cx="364202" cy="370278"/>
          </a:xfrm>
        </p:grpSpPr>
        <p:sp>
          <p:nvSpPr>
            <p:cNvPr id="57" name="橢圓 56"/>
            <p:cNvSpPr/>
            <p:nvPr/>
          </p:nvSpPr>
          <p:spPr>
            <a:xfrm>
              <a:off x="3974105" y="211429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8" name="文字方塊 57"/>
            <p:cNvSpPr txBox="1"/>
            <p:nvPr/>
          </p:nvSpPr>
          <p:spPr>
            <a:xfrm>
              <a:off x="3936004" y="2032019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9" name="群組 58"/>
          <p:cNvGrpSpPr/>
          <p:nvPr/>
        </p:nvGrpSpPr>
        <p:grpSpPr>
          <a:xfrm>
            <a:off x="297396" y="3272065"/>
            <a:ext cx="3961108" cy="3132934"/>
            <a:chOff x="381848" y="3292760"/>
            <a:chExt cx="3961108" cy="3132934"/>
          </a:xfrm>
        </p:grpSpPr>
        <p:sp>
          <p:nvSpPr>
            <p:cNvPr id="60" name="文字方塊 59"/>
            <p:cNvSpPr txBox="1"/>
            <p:nvPr/>
          </p:nvSpPr>
          <p:spPr>
            <a:xfrm>
              <a:off x="833298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文字方塊 60"/>
            <p:cNvSpPr txBox="1"/>
            <p:nvPr/>
          </p:nvSpPr>
          <p:spPr>
            <a:xfrm>
              <a:off x="1359767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文字方塊 61"/>
            <p:cNvSpPr txBox="1"/>
            <p:nvPr/>
          </p:nvSpPr>
          <p:spPr>
            <a:xfrm>
              <a:off x="1882744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文字方塊 62"/>
            <p:cNvSpPr txBox="1"/>
            <p:nvPr/>
          </p:nvSpPr>
          <p:spPr>
            <a:xfrm>
              <a:off x="2409213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文字方塊 63"/>
            <p:cNvSpPr txBox="1"/>
            <p:nvPr/>
          </p:nvSpPr>
          <p:spPr>
            <a:xfrm>
              <a:off x="2929308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文字方塊 64"/>
            <p:cNvSpPr txBox="1"/>
            <p:nvPr/>
          </p:nvSpPr>
          <p:spPr>
            <a:xfrm>
              <a:off x="3452285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文字方塊 65"/>
            <p:cNvSpPr txBox="1"/>
            <p:nvPr/>
          </p:nvSpPr>
          <p:spPr>
            <a:xfrm>
              <a:off x="3978754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文字方塊 66"/>
            <p:cNvSpPr txBox="1"/>
            <p:nvPr/>
          </p:nvSpPr>
          <p:spPr>
            <a:xfrm>
              <a:off x="381848" y="3670718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" name="文字方塊 67"/>
            <p:cNvSpPr txBox="1"/>
            <p:nvPr/>
          </p:nvSpPr>
          <p:spPr>
            <a:xfrm>
              <a:off x="381848" y="408318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文字方塊 68"/>
            <p:cNvSpPr txBox="1"/>
            <p:nvPr/>
          </p:nvSpPr>
          <p:spPr>
            <a:xfrm>
              <a:off x="381848" y="4469764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文字方塊 69"/>
            <p:cNvSpPr txBox="1"/>
            <p:nvPr/>
          </p:nvSpPr>
          <p:spPr>
            <a:xfrm>
              <a:off x="381848" y="4856348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文字方塊 70"/>
            <p:cNvSpPr txBox="1"/>
            <p:nvPr/>
          </p:nvSpPr>
          <p:spPr>
            <a:xfrm>
              <a:off x="381848" y="5265942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文字方塊 71"/>
            <p:cNvSpPr txBox="1"/>
            <p:nvPr/>
          </p:nvSpPr>
          <p:spPr>
            <a:xfrm>
              <a:off x="381848" y="5661152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文字方塊 72"/>
            <p:cNvSpPr txBox="1"/>
            <p:nvPr/>
          </p:nvSpPr>
          <p:spPr>
            <a:xfrm>
              <a:off x="381848" y="6056362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4" name="文字方塊 73"/>
          <p:cNvSpPr txBox="1"/>
          <p:nvPr/>
        </p:nvSpPr>
        <p:spPr>
          <a:xfrm>
            <a:off x="40158" y="2977377"/>
            <a:ext cx="14173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Cost[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文字方塊 74"/>
          <p:cNvSpPr txBox="1"/>
          <p:nvPr/>
        </p:nvSpPr>
        <p:spPr>
          <a:xfrm>
            <a:off x="4429132" y="3400887"/>
            <a:ext cx="47099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</a:t>
            </a:r>
            <a:r>
              <a:rPr lang="en-US" altLang="zh-TW" sz="2000" b="1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[0][4]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min{Cost[0][4], Cost[0][3] + Cost[3][4]}</a:t>
            </a: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min{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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,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3 + 5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=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79" name="文字方塊 78"/>
          <p:cNvSpPr txBox="1"/>
          <p:nvPr/>
        </p:nvSpPr>
        <p:spPr>
          <a:xfrm>
            <a:off x="4450398" y="1422476"/>
            <a:ext cx="45079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Cost</a:t>
            </a:r>
            <a:r>
              <a:rPr lang="en-US" altLang="zh-TW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min{Cost[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], Cost[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][1] + Cost[1][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]}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AutoShape 193"/>
          <p:cNvSpPr>
            <a:spLocks noChangeArrowheads="1"/>
          </p:cNvSpPr>
          <p:nvPr/>
        </p:nvSpPr>
        <p:spPr bwMode="auto">
          <a:xfrm>
            <a:off x="4076403" y="2317843"/>
            <a:ext cx="1365445" cy="749523"/>
          </a:xfrm>
          <a:prstGeom prst="wedgeRoundRectCallout">
            <a:avLst>
              <a:gd name="adj1" fmla="val 70979"/>
              <a:gd name="adj2" fmla="val -64318"/>
              <a:gd name="adj3" fmla="val 16667"/>
            </a:avLst>
          </a:prstGeom>
          <a:noFill/>
          <a:ln w="28575">
            <a:solidFill>
              <a:schemeClr val="accent3">
                <a:lumMod val="7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9pPr>
          </a:lstStyle>
          <a:p>
            <a:pPr algn="ctr" eaLnBrk="1" hangingPunct="1"/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原來</a:t>
            </a:r>
            <a:r>
              <a:rPr lang="en-US" altLang="zh-TW" sz="2000" b="1" i="1" dirty="0">
                <a:ea typeface="標楷體" panose="03000509000000000000" pitchFamily="65" charset="-120"/>
                <a:cs typeface="Times New Roman" panose="02020603050405020304" pitchFamily="18" charset="0"/>
              </a:rPr>
              <a:t>v</a:t>
            </a:r>
            <a:r>
              <a:rPr lang="en-US" altLang="zh-TW" sz="2000" b="1" i="1" baseline="-25000" dirty="0"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ea typeface="標楷體" panose="03000509000000000000" pitchFamily="65" charset="-120"/>
                <a:cs typeface="Times New Roman" panose="02020603050405020304" pitchFamily="18" charset="0"/>
              </a:rPr>
              <a:t> ~ </a:t>
            </a:r>
            <a:r>
              <a:rPr lang="en-US" altLang="zh-TW" sz="2000" b="1" i="1" dirty="0" err="1">
                <a:ea typeface="標楷體" panose="03000509000000000000" pitchFamily="65" charset="-120"/>
                <a:cs typeface="Times New Roman" panose="02020603050405020304" pitchFamily="18" charset="0"/>
              </a:rPr>
              <a:t>v</a:t>
            </a:r>
            <a:r>
              <a:rPr lang="en-US" altLang="zh-TW" sz="2000" b="1" i="1" baseline="-25000" dirty="0" err="1">
                <a:ea typeface="標楷體" panose="03000509000000000000" pitchFamily="65" charset="-120"/>
                <a:cs typeface="Times New Roman" panose="02020603050405020304" pitchFamily="18" charset="0"/>
              </a:rPr>
              <a:t>j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的距離</a:t>
            </a:r>
          </a:p>
        </p:txBody>
      </p:sp>
      <p:sp>
        <p:nvSpPr>
          <p:cNvPr id="81" name="AutoShape 194"/>
          <p:cNvSpPr>
            <a:spLocks noChangeArrowheads="1"/>
          </p:cNvSpPr>
          <p:nvPr/>
        </p:nvSpPr>
        <p:spPr bwMode="auto">
          <a:xfrm>
            <a:off x="7572602" y="2359965"/>
            <a:ext cx="1295400" cy="751361"/>
          </a:xfrm>
          <a:prstGeom prst="wedgeRoundRectCallout">
            <a:avLst>
              <a:gd name="adj1" fmla="val -74098"/>
              <a:gd name="adj2" fmla="val -70166"/>
              <a:gd name="adj3" fmla="val 16667"/>
            </a:avLst>
          </a:prstGeom>
          <a:noFill/>
          <a:ln w="28575">
            <a:solidFill>
              <a:srgbClr val="7030A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9pPr>
          </a:lstStyle>
          <a:p>
            <a:pPr algn="ctr" eaLnBrk="1" hangingPunct="1"/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經過</a:t>
            </a:r>
            <a:r>
              <a:rPr lang="en-US" altLang="zh-TW" sz="2000" b="1" i="1" dirty="0">
                <a:ea typeface="標楷體" panose="03000509000000000000" pitchFamily="65" charset="-12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ea typeface="標楷體" panose="03000509000000000000" pitchFamily="65" charset="-120"/>
                <a:cs typeface="Times New Roman" panose="02020603050405020304" pitchFamily="18" charset="0"/>
              </a:rPr>
              <a:t>0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的距離</a:t>
            </a:r>
          </a:p>
        </p:txBody>
      </p:sp>
      <p:cxnSp>
        <p:nvCxnSpPr>
          <p:cNvPr id="82" name="直線接點 81"/>
          <p:cNvCxnSpPr/>
          <p:nvPr/>
        </p:nvCxnSpPr>
        <p:spPr>
          <a:xfrm>
            <a:off x="5276388" y="2088000"/>
            <a:ext cx="936000" cy="0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接點 82"/>
          <p:cNvCxnSpPr/>
          <p:nvPr/>
        </p:nvCxnSpPr>
        <p:spPr>
          <a:xfrm>
            <a:off x="6420602" y="2088000"/>
            <a:ext cx="2304000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文字方塊 84"/>
          <p:cNvSpPr txBox="1"/>
          <p:nvPr/>
        </p:nvSpPr>
        <p:spPr>
          <a:xfrm>
            <a:off x="4429132" y="4473860"/>
            <a:ext cx="47099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</a:t>
            </a:r>
            <a:r>
              <a:rPr lang="en-US" altLang="zh-TW" sz="2000" b="1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[0][5]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min{Cost[0][5], Cost[0][3] + Cost[3][5]}</a:t>
            </a: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min{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7,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3 + 2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=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5</a:t>
            </a:r>
            <a:endParaRPr lang="en-US" altLang="zh-TW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文字方塊 85"/>
          <p:cNvSpPr txBox="1"/>
          <p:nvPr/>
        </p:nvSpPr>
        <p:spPr>
          <a:xfrm>
            <a:off x="4429132" y="5549355"/>
            <a:ext cx="47099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</a:t>
            </a:r>
            <a:r>
              <a:rPr lang="en-US" altLang="zh-TW" sz="2000" b="1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[0][6]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min{Cost[0][6], Cost[0][3] + Cost[3][6]}</a:t>
            </a: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min{</a:t>
            </a:r>
            <a:r>
              <a: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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, 3 + 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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=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</a:t>
            </a:r>
            <a:endParaRPr lang="en-US" altLang="zh-TW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圓角矩形 86"/>
          <p:cNvSpPr/>
          <p:nvPr/>
        </p:nvSpPr>
        <p:spPr>
          <a:xfrm>
            <a:off x="661598" y="4832293"/>
            <a:ext cx="3672000" cy="377958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8" name="圓角矩形 87"/>
          <p:cNvSpPr/>
          <p:nvPr/>
        </p:nvSpPr>
        <p:spPr>
          <a:xfrm>
            <a:off x="2224649" y="3645709"/>
            <a:ext cx="543229" cy="2759289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9" name="文字方塊 88"/>
          <p:cNvSpPr txBox="1"/>
          <p:nvPr/>
        </p:nvSpPr>
        <p:spPr>
          <a:xfrm>
            <a:off x="2850834" y="3721090"/>
            <a:ext cx="367656" cy="276999"/>
          </a:xfrm>
          <a:prstGeom prst="rect">
            <a:avLst/>
          </a:prstGeom>
          <a:solidFill>
            <a:srgbClr val="F3F9FA"/>
          </a:solidFill>
          <a:ln>
            <a:noFill/>
          </a:ln>
        </p:spPr>
        <p:txBody>
          <a:bodyPr wrap="none" lIns="36000" tIns="0" rIns="36000" bIns="0" rtlCol="0">
            <a:spAutoFit/>
          </a:bodyPr>
          <a:lstStyle/>
          <a:p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8/3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文字方塊 89"/>
          <p:cNvSpPr txBox="1"/>
          <p:nvPr/>
        </p:nvSpPr>
        <p:spPr>
          <a:xfrm>
            <a:off x="2850834" y="4119284"/>
            <a:ext cx="367656" cy="276999"/>
          </a:xfrm>
          <a:prstGeom prst="rect">
            <a:avLst/>
          </a:prstGeom>
          <a:solidFill>
            <a:srgbClr val="E7F3F4"/>
          </a:solidFill>
          <a:ln>
            <a:noFill/>
          </a:ln>
        </p:spPr>
        <p:txBody>
          <a:bodyPr wrap="none" lIns="36000" tIns="0" rIns="36000" bIns="0" rtlCol="0">
            <a:spAutoFit/>
          </a:bodyPr>
          <a:lstStyle/>
          <a:p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7/3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文字方塊 91"/>
          <p:cNvSpPr txBox="1"/>
          <p:nvPr/>
        </p:nvSpPr>
        <p:spPr>
          <a:xfrm>
            <a:off x="3382246" y="3721090"/>
            <a:ext cx="367656" cy="276999"/>
          </a:xfrm>
          <a:prstGeom prst="rect">
            <a:avLst/>
          </a:prstGeom>
          <a:solidFill>
            <a:srgbClr val="F3F9FA"/>
          </a:solidFill>
          <a:ln>
            <a:noFill/>
          </a:ln>
        </p:spPr>
        <p:txBody>
          <a:bodyPr wrap="none" lIns="36000" tIns="0" rIns="36000" bIns="0" rtlCol="0">
            <a:spAutoFit/>
          </a:bodyPr>
          <a:lstStyle/>
          <a:p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5/3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文字方塊 92"/>
          <p:cNvSpPr txBox="1"/>
          <p:nvPr/>
        </p:nvSpPr>
        <p:spPr>
          <a:xfrm>
            <a:off x="741278" y="5298287"/>
            <a:ext cx="367656" cy="276999"/>
          </a:xfrm>
          <a:prstGeom prst="rect">
            <a:avLst/>
          </a:prstGeom>
          <a:solidFill>
            <a:srgbClr val="F3F9FA"/>
          </a:solidFill>
          <a:ln>
            <a:noFill/>
          </a:ln>
        </p:spPr>
        <p:txBody>
          <a:bodyPr wrap="none" lIns="36000" tIns="0" rIns="36000" bIns="0" rtlCol="0">
            <a:spAutoFit/>
          </a:bodyPr>
          <a:lstStyle/>
          <a:p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8/3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文字方塊 93"/>
          <p:cNvSpPr txBox="1"/>
          <p:nvPr/>
        </p:nvSpPr>
        <p:spPr>
          <a:xfrm>
            <a:off x="3377573" y="4119284"/>
            <a:ext cx="367656" cy="276999"/>
          </a:xfrm>
          <a:prstGeom prst="rect">
            <a:avLst/>
          </a:prstGeom>
          <a:solidFill>
            <a:srgbClr val="E7F3F4"/>
          </a:solidFill>
          <a:ln>
            <a:noFill/>
          </a:ln>
        </p:spPr>
        <p:txBody>
          <a:bodyPr wrap="none" lIns="36000" tIns="0" rIns="36000" bIns="0" rtlCol="0">
            <a:spAutoFit/>
          </a:bodyPr>
          <a:lstStyle/>
          <a:p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4/3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文字方塊 94"/>
          <p:cNvSpPr txBox="1"/>
          <p:nvPr/>
        </p:nvSpPr>
        <p:spPr>
          <a:xfrm>
            <a:off x="1275315" y="5678377"/>
            <a:ext cx="367656" cy="276999"/>
          </a:xfrm>
          <a:prstGeom prst="rect">
            <a:avLst/>
          </a:prstGeom>
          <a:solidFill>
            <a:srgbClr val="E7F3F4"/>
          </a:solidFill>
          <a:ln>
            <a:noFill/>
          </a:ln>
        </p:spPr>
        <p:txBody>
          <a:bodyPr wrap="none" lIns="36000" tIns="0" rIns="36000" bIns="0" rtlCol="0">
            <a:spAutoFit/>
          </a:bodyPr>
          <a:lstStyle/>
          <a:p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4/3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文字方塊 95"/>
          <p:cNvSpPr txBox="1"/>
          <p:nvPr/>
        </p:nvSpPr>
        <p:spPr>
          <a:xfrm>
            <a:off x="725066" y="5675005"/>
            <a:ext cx="367656" cy="276999"/>
          </a:xfrm>
          <a:prstGeom prst="rect">
            <a:avLst/>
          </a:prstGeom>
          <a:solidFill>
            <a:srgbClr val="E7F3F4"/>
          </a:solidFill>
          <a:ln>
            <a:noFill/>
          </a:ln>
        </p:spPr>
        <p:txBody>
          <a:bodyPr wrap="none" lIns="36000" tIns="0" rIns="36000" bIns="0" rtlCol="0">
            <a:spAutoFit/>
          </a:bodyPr>
          <a:lstStyle/>
          <a:p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5/3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文字方塊 96"/>
          <p:cNvSpPr txBox="1"/>
          <p:nvPr/>
        </p:nvSpPr>
        <p:spPr>
          <a:xfrm>
            <a:off x="1275385" y="5294471"/>
            <a:ext cx="367656" cy="276999"/>
          </a:xfrm>
          <a:prstGeom prst="rect">
            <a:avLst/>
          </a:prstGeom>
          <a:solidFill>
            <a:srgbClr val="F3F9FA"/>
          </a:solidFill>
          <a:ln>
            <a:noFill/>
          </a:ln>
        </p:spPr>
        <p:txBody>
          <a:bodyPr wrap="none" lIns="36000" tIns="0" rIns="36000" bIns="0" rtlCol="0">
            <a:spAutoFit/>
          </a:bodyPr>
          <a:lstStyle/>
          <a:p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7/3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文字方塊 97"/>
          <p:cNvSpPr txBox="1"/>
          <p:nvPr/>
        </p:nvSpPr>
        <p:spPr>
          <a:xfrm>
            <a:off x="2850834" y="4498170"/>
            <a:ext cx="367656" cy="276999"/>
          </a:xfrm>
          <a:prstGeom prst="rect">
            <a:avLst/>
          </a:prstGeom>
          <a:solidFill>
            <a:srgbClr val="F3F9FA"/>
          </a:solidFill>
          <a:ln>
            <a:noFill/>
          </a:ln>
        </p:spPr>
        <p:txBody>
          <a:bodyPr wrap="none" lIns="36000" tIns="0" rIns="36000" bIns="0" rtlCol="0">
            <a:spAutoFit/>
          </a:bodyPr>
          <a:lstStyle/>
          <a:p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9/3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文字方塊 98"/>
          <p:cNvSpPr txBox="1"/>
          <p:nvPr/>
        </p:nvSpPr>
        <p:spPr>
          <a:xfrm>
            <a:off x="1788993" y="5298287"/>
            <a:ext cx="367656" cy="276999"/>
          </a:xfrm>
          <a:prstGeom prst="rect">
            <a:avLst/>
          </a:prstGeom>
          <a:solidFill>
            <a:srgbClr val="F3F9FA"/>
          </a:solidFill>
          <a:ln>
            <a:noFill/>
          </a:ln>
        </p:spPr>
        <p:txBody>
          <a:bodyPr wrap="none" lIns="36000" tIns="0" rIns="36000" bIns="0" rtlCol="0">
            <a:spAutoFit/>
          </a:bodyPr>
          <a:lstStyle/>
          <a:p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9/3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文字方塊 99"/>
          <p:cNvSpPr txBox="1"/>
          <p:nvPr/>
        </p:nvSpPr>
        <p:spPr>
          <a:xfrm>
            <a:off x="3371613" y="5291233"/>
            <a:ext cx="367656" cy="276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lIns="36000" tIns="0" rIns="36000" bIns="0" rtlCol="0">
            <a:spAutoFit/>
          </a:bodyPr>
          <a:lstStyle/>
          <a:p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7/3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文字方塊 100"/>
          <p:cNvSpPr txBox="1"/>
          <p:nvPr/>
        </p:nvSpPr>
        <p:spPr>
          <a:xfrm>
            <a:off x="2830685" y="5686623"/>
            <a:ext cx="367656" cy="276999"/>
          </a:xfrm>
          <a:prstGeom prst="rect">
            <a:avLst/>
          </a:prstGeom>
          <a:solidFill>
            <a:srgbClr val="E7F3F4"/>
          </a:solidFill>
          <a:ln>
            <a:noFill/>
          </a:ln>
        </p:spPr>
        <p:txBody>
          <a:bodyPr wrap="none" lIns="36000" tIns="0" rIns="36000" bIns="0" rtlCol="0">
            <a:spAutoFit/>
          </a:bodyPr>
          <a:lstStyle/>
          <a:p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7/3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橢圓 101"/>
          <p:cNvSpPr/>
          <p:nvPr/>
        </p:nvSpPr>
        <p:spPr>
          <a:xfrm>
            <a:off x="2780033" y="3636566"/>
            <a:ext cx="504000" cy="401829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3" name="橢圓 102"/>
          <p:cNvSpPr/>
          <p:nvPr/>
        </p:nvSpPr>
        <p:spPr>
          <a:xfrm>
            <a:off x="3307529" y="3642182"/>
            <a:ext cx="504000" cy="401829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4" name="橢圓 103"/>
          <p:cNvSpPr/>
          <p:nvPr/>
        </p:nvSpPr>
        <p:spPr>
          <a:xfrm>
            <a:off x="3843428" y="3636539"/>
            <a:ext cx="504000" cy="401829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4756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8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4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5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 animBg="1"/>
      <p:bldP spid="90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2" grpId="1" animBg="1"/>
      <p:bldP spid="103" grpId="0" animBg="1"/>
      <p:bldP spid="103" grpId="1" animBg="1"/>
      <p:bldP spid="104" grpId="0" animBg="1"/>
      <p:bldP spid="104" grpId="1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Floyd </a:t>
            </a:r>
            <a:r>
              <a:rPr lang="zh-TW" altLang="en-US" dirty="0"/>
              <a:t>演算法 </a:t>
            </a:r>
            <a:r>
              <a:rPr lang="en-US" altLang="zh-TW" dirty="0"/>
              <a:t>(6/10)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35</a:t>
            </a:fld>
            <a:endParaRPr lang="en-US" dirty="0"/>
          </a:p>
        </p:txBody>
      </p:sp>
      <p:graphicFrame>
        <p:nvGraphicFramePr>
          <p:cNvPr id="7" name="內容版面配置區 60"/>
          <p:cNvGraphicFramePr>
            <a:graphicFrameLocks/>
          </p:cNvGraphicFramePr>
          <p:nvPr/>
        </p:nvGraphicFramePr>
        <p:xfrm>
          <a:off x="662040" y="3645986"/>
          <a:ext cx="3690750" cy="2759015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2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8/3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5/3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/6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5/0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7/3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4/3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/6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5/0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9/3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/6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/6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8/3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7/3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9/3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7/3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6/6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5/3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4/3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7/3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4/6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</a:t>
                      </a:r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0/6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8" name="群組 7"/>
          <p:cNvGrpSpPr/>
          <p:nvPr/>
        </p:nvGrpSpPr>
        <p:grpSpPr>
          <a:xfrm>
            <a:off x="1113633" y="1851693"/>
            <a:ext cx="916823" cy="369332"/>
            <a:chOff x="1369380" y="1970119"/>
            <a:chExt cx="916823" cy="369332"/>
          </a:xfrm>
        </p:grpSpPr>
        <p:cxnSp>
          <p:nvCxnSpPr>
            <p:cNvPr id="9" name="直線接點 8"/>
            <p:cNvCxnSpPr>
              <a:stCxn id="48" idx="2"/>
              <a:endCxn id="39" idx="6"/>
            </p:cNvCxnSpPr>
            <p:nvPr/>
          </p:nvCxnSpPr>
          <p:spPr>
            <a:xfrm flipH="1">
              <a:off x="1369380" y="2258297"/>
              <a:ext cx="916823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字方塊 9"/>
            <p:cNvSpPr txBox="1"/>
            <p:nvPr/>
          </p:nvSpPr>
          <p:spPr>
            <a:xfrm>
              <a:off x="1682064" y="197011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" name="群組 10"/>
          <p:cNvGrpSpPr/>
          <p:nvPr/>
        </p:nvGrpSpPr>
        <p:grpSpPr>
          <a:xfrm>
            <a:off x="1054786" y="1551060"/>
            <a:ext cx="419749" cy="486988"/>
            <a:chOff x="1310533" y="1669486"/>
            <a:chExt cx="419749" cy="486988"/>
          </a:xfrm>
        </p:grpSpPr>
        <p:cxnSp>
          <p:nvCxnSpPr>
            <p:cNvPr id="12" name="直線接點 11"/>
            <p:cNvCxnSpPr>
              <a:stCxn id="39" idx="7"/>
              <a:endCxn id="42" idx="3"/>
            </p:cNvCxnSpPr>
            <p:nvPr/>
          </p:nvCxnSpPr>
          <p:spPr>
            <a:xfrm flipV="1">
              <a:off x="1327203" y="1736700"/>
              <a:ext cx="403079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字方塊 12"/>
            <p:cNvSpPr txBox="1"/>
            <p:nvPr/>
          </p:nvSpPr>
          <p:spPr>
            <a:xfrm>
              <a:off x="1310533" y="166948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" name="群組 13"/>
          <p:cNvGrpSpPr/>
          <p:nvPr/>
        </p:nvGrpSpPr>
        <p:grpSpPr>
          <a:xfrm>
            <a:off x="1054786" y="2241694"/>
            <a:ext cx="419749" cy="445481"/>
            <a:chOff x="1310533" y="2360120"/>
            <a:chExt cx="419749" cy="445481"/>
          </a:xfrm>
        </p:grpSpPr>
        <p:cxnSp>
          <p:nvCxnSpPr>
            <p:cNvPr id="15" name="直線接點 14"/>
            <p:cNvCxnSpPr>
              <a:stCxn id="45" idx="1"/>
              <a:endCxn id="39" idx="5"/>
            </p:cNvCxnSpPr>
            <p:nvPr/>
          </p:nvCxnSpPr>
          <p:spPr>
            <a:xfrm flipH="1" flipV="1">
              <a:off x="1327203" y="2360120"/>
              <a:ext cx="403079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字方塊 15"/>
            <p:cNvSpPr txBox="1"/>
            <p:nvPr/>
          </p:nvSpPr>
          <p:spPr>
            <a:xfrm>
              <a:off x="1310533" y="243626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" name="群組 16"/>
          <p:cNvGrpSpPr/>
          <p:nvPr/>
        </p:nvGrpSpPr>
        <p:grpSpPr>
          <a:xfrm>
            <a:off x="1678181" y="1531033"/>
            <a:ext cx="411886" cy="507015"/>
            <a:chOff x="1933928" y="1649459"/>
            <a:chExt cx="411886" cy="507015"/>
          </a:xfrm>
        </p:grpSpPr>
        <p:cxnSp>
          <p:nvCxnSpPr>
            <p:cNvPr id="18" name="直線接點 17"/>
            <p:cNvCxnSpPr>
              <a:stCxn id="48" idx="1"/>
              <a:endCxn id="42" idx="5"/>
            </p:cNvCxnSpPr>
            <p:nvPr/>
          </p:nvCxnSpPr>
          <p:spPr>
            <a:xfrm flipH="1" flipV="1">
              <a:off x="1933928" y="1736700"/>
              <a:ext cx="394452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字方塊 18"/>
            <p:cNvSpPr txBox="1"/>
            <p:nvPr/>
          </p:nvSpPr>
          <p:spPr>
            <a:xfrm>
              <a:off x="2045732" y="164945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" name="群組 19"/>
          <p:cNvGrpSpPr/>
          <p:nvPr/>
        </p:nvGrpSpPr>
        <p:grpSpPr>
          <a:xfrm>
            <a:off x="1678181" y="2241694"/>
            <a:ext cx="411886" cy="425454"/>
            <a:chOff x="1933928" y="2360120"/>
            <a:chExt cx="411886" cy="425454"/>
          </a:xfrm>
        </p:grpSpPr>
        <p:cxnSp>
          <p:nvCxnSpPr>
            <p:cNvPr id="21" name="直線接點 20"/>
            <p:cNvCxnSpPr>
              <a:stCxn id="48" idx="3"/>
              <a:endCxn id="45" idx="7"/>
            </p:cNvCxnSpPr>
            <p:nvPr/>
          </p:nvCxnSpPr>
          <p:spPr>
            <a:xfrm flipH="1">
              <a:off x="1933928" y="2360120"/>
              <a:ext cx="394452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字方塊 21"/>
            <p:cNvSpPr txBox="1"/>
            <p:nvPr/>
          </p:nvSpPr>
          <p:spPr>
            <a:xfrm>
              <a:off x="2045732" y="241624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3" name="群組 22"/>
          <p:cNvGrpSpPr/>
          <p:nvPr/>
        </p:nvGrpSpPr>
        <p:grpSpPr>
          <a:xfrm>
            <a:off x="2276279" y="1518794"/>
            <a:ext cx="627365" cy="519254"/>
            <a:chOff x="2532026" y="1637220"/>
            <a:chExt cx="627365" cy="519254"/>
          </a:xfrm>
        </p:grpSpPr>
        <p:cxnSp>
          <p:nvCxnSpPr>
            <p:cNvPr id="24" name="直線接點 23"/>
            <p:cNvCxnSpPr>
              <a:stCxn id="51" idx="3"/>
              <a:endCxn id="48" idx="7"/>
            </p:cNvCxnSpPr>
            <p:nvPr/>
          </p:nvCxnSpPr>
          <p:spPr>
            <a:xfrm flipH="1">
              <a:off x="2532026" y="1736700"/>
              <a:ext cx="627365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文字方塊 24"/>
            <p:cNvSpPr txBox="1"/>
            <p:nvPr/>
          </p:nvSpPr>
          <p:spPr>
            <a:xfrm>
              <a:off x="2667499" y="163722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6" name="群組 25"/>
          <p:cNvGrpSpPr/>
          <p:nvPr/>
        </p:nvGrpSpPr>
        <p:grpSpPr>
          <a:xfrm>
            <a:off x="2276279" y="2241694"/>
            <a:ext cx="627365" cy="413215"/>
            <a:chOff x="2532026" y="2360120"/>
            <a:chExt cx="627365" cy="413215"/>
          </a:xfrm>
        </p:grpSpPr>
        <p:cxnSp>
          <p:nvCxnSpPr>
            <p:cNvPr id="27" name="直線接點 26"/>
            <p:cNvCxnSpPr>
              <a:stCxn id="54" idx="1"/>
              <a:endCxn id="48" idx="5"/>
            </p:cNvCxnSpPr>
            <p:nvPr/>
          </p:nvCxnSpPr>
          <p:spPr>
            <a:xfrm flipH="1" flipV="1">
              <a:off x="2532026" y="2360120"/>
              <a:ext cx="627365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字方塊 27"/>
            <p:cNvSpPr txBox="1"/>
            <p:nvPr/>
          </p:nvSpPr>
          <p:spPr>
            <a:xfrm>
              <a:off x="2581239" y="240400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9" name="群組 28"/>
          <p:cNvGrpSpPr/>
          <p:nvPr/>
        </p:nvGrpSpPr>
        <p:grpSpPr>
          <a:xfrm>
            <a:off x="3107290" y="1531033"/>
            <a:ext cx="653245" cy="507015"/>
            <a:chOff x="3363037" y="1649459"/>
            <a:chExt cx="653245" cy="507015"/>
          </a:xfrm>
        </p:grpSpPr>
        <p:cxnSp>
          <p:nvCxnSpPr>
            <p:cNvPr id="30" name="直線接點 29"/>
            <p:cNvCxnSpPr>
              <a:stCxn id="57" idx="1"/>
              <a:endCxn id="51" idx="5"/>
            </p:cNvCxnSpPr>
            <p:nvPr/>
          </p:nvCxnSpPr>
          <p:spPr>
            <a:xfrm flipH="1" flipV="1">
              <a:off x="3363037" y="1736700"/>
              <a:ext cx="653245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文字方塊 30"/>
            <p:cNvSpPr txBox="1"/>
            <p:nvPr/>
          </p:nvSpPr>
          <p:spPr>
            <a:xfrm>
              <a:off x="3582748" y="164945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2" name="群組 31"/>
          <p:cNvGrpSpPr/>
          <p:nvPr/>
        </p:nvGrpSpPr>
        <p:grpSpPr>
          <a:xfrm>
            <a:off x="3107290" y="2241694"/>
            <a:ext cx="653245" cy="425454"/>
            <a:chOff x="3363037" y="2360120"/>
            <a:chExt cx="653245" cy="425454"/>
          </a:xfrm>
        </p:grpSpPr>
        <p:cxnSp>
          <p:nvCxnSpPr>
            <p:cNvPr id="33" name="直線接點 32"/>
            <p:cNvCxnSpPr>
              <a:stCxn id="57" idx="3"/>
              <a:endCxn id="54" idx="7"/>
            </p:cNvCxnSpPr>
            <p:nvPr/>
          </p:nvCxnSpPr>
          <p:spPr>
            <a:xfrm flipH="1">
              <a:off x="3363037" y="2360120"/>
              <a:ext cx="653245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文字方塊 33"/>
            <p:cNvSpPr txBox="1"/>
            <p:nvPr/>
          </p:nvSpPr>
          <p:spPr>
            <a:xfrm>
              <a:off x="3608626" y="241624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5" name="群組 34"/>
          <p:cNvGrpSpPr/>
          <p:nvPr/>
        </p:nvGrpSpPr>
        <p:grpSpPr>
          <a:xfrm>
            <a:off x="1720358" y="2657165"/>
            <a:ext cx="1141109" cy="369332"/>
            <a:chOff x="1254795" y="2775591"/>
            <a:chExt cx="1141109" cy="369332"/>
          </a:xfrm>
        </p:grpSpPr>
        <p:cxnSp>
          <p:nvCxnSpPr>
            <p:cNvPr id="36" name="直線接點 35"/>
            <p:cNvCxnSpPr>
              <a:stCxn id="54" idx="2"/>
              <a:endCxn id="45" idx="6"/>
            </p:cNvCxnSpPr>
            <p:nvPr/>
          </p:nvCxnSpPr>
          <p:spPr>
            <a:xfrm flipH="1">
              <a:off x="1254795" y="2854072"/>
              <a:ext cx="1141109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文字方塊 36"/>
            <p:cNvSpPr txBox="1"/>
            <p:nvPr/>
          </p:nvSpPr>
          <p:spPr>
            <a:xfrm>
              <a:off x="1660675" y="2775591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8" name="群組 37"/>
          <p:cNvGrpSpPr/>
          <p:nvPr/>
        </p:nvGrpSpPr>
        <p:grpSpPr>
          <a:xfrm>
            <a:off x="787532" y="1912075"/>
            <a:ext cx="364202" cy="371796"/>
            <a:chOff x="1043279" y="2030501"/>
            <a:chExt cx="364202" cy="371796"/>
          </a:xfrm>
        </p:grpSpPr>
        <p:sp>
          <p:nvSpPr>
            <p:cNvPr id="39" name="橢圓 38"/>
            <p:cNvSpPr/>
            <p:nvPr/>
          </p:nvSpPr>
          <p:spPr>
            <a:xfrm>
              <a:off x="1081380" y="211429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0" name="文字方塊 39"/>
            <p:cNvSpPr txBox="1"/>
            <p:nvPr/>
          </p:nvSpPr>
          <p:spPr>
            <a:xfrm>
              <a:off x="1043279" y="203050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1" name="群組 40"/>
          <p:cNvGrpSpPr/>
          <p:nvPr/>
        </p:nvGrpSpPr>
        <p:grpSpPr>
          <a:xfrm>
            <a:off x="1394257" y="1288779"/>
            <a:ext cx="364202" cy="371672"/>
            <a:chOff x="1650004" y="1407205"/>
            <a:chExt cx="364202" cy="371672"/>
          </a:xfrm>
        </p:grpSpPr>
        <p:sp>
          <p:nvSpPr>
            <p:cNvPr id="42" name="橢圓 41"/>
            <p:cNvSpPr/>
            <p:nvPr/>
          </p:nvSpPr>
          <p:spPr>
            <a:xfrm>
              <a:off x="1688105" y="149087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3" name="文字方塊 42"/>
            <p:cNvSpPr txBox="1"/>
            <p:nvPr/>
          </p:nvSpPr>
          <p:spPr>
            <a:xfrm>
              <a:off x="1650004" y="1407205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4" name="群組 43"/>
          <p:cNvGrpSpPr/>
          <p:nvPr/>
        </p:nvGrpSpPr>
        <p:grpSpPr>
          <a:xfrm>
            <a:off x="1394257" y="2507850"/>
            <a:ext cx="364202" cy="371796"/>
            <a:chOff x="1650004" y="2626276"/>
            <a:chExt cx="364202" cy="371796"/>
          </a:xfrm>
        </p:grpSpPr>
        <p:sp>
          <p:nvSpPr>
            <p:cNvPr id="45" name="橢圓 44"/>
            <p:cNvSpPr/>
            <p:nvPr/>
          </p:nvSpPr>
          <p:spPr>
            <a:xfrm>
              <a:off x="1688105" y="2710072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6" name="文字方塊 45"/>
            <p:cNvSpPr txBox="1"/>
            <p:nvPr/>
          </p:nvSpPr>
          <p:spPr>
            <a:xfrm>
              <a:off x="1650004" y="262627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7" name="群組 46"/>
          <p:cNvGrpSpPr/>
          <p:nvPr/>
        </p:nvGrpSpPr>
        <p:grpSpPr>
          <a:xfrm>
            <a:off x="1983729" y="1912075"/>
            <a:ext cx="364202" cy="371796"/>
            <a:chOff x="2239476" y="2030501"/>
            <a:chExt cx="364202" cy="371796"/>
          </a:xfrm>
        </p:grpSpPr>
        <p:sp>
          <p:nvSpPr>
            <p:cNvPr id="48" name="橢圓 47"/>
            <p:cNvSpPr/>
            <p:nvPr/>
          </p:nvSpPr>
          <p:spPr>
            <a:xfrm>
              <a:off x="2286203" y="211429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9" name="文字方塊 48"/>
            <p:cNvSpPr txBox="1"/>
            <p:nvPr/>
          </p:nvSpPr>
          <p:spPr>
            <a:xfrm>
              <a:off x="2239476" y="203050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0" name="群組 49"/>
          <p:cNvGrpSpPr/>
          <p:nvPr/>
        </p:nvGrpSpPr>
        <p:grpSpPr>
          <a:xfrm>
            <a:off x="2823366" y="1288655"/>
            <a:ext cx="364202" cy="371796"/>
            <a:chOff x="3079113" y="1407081"/>
            <a:chExt cx="364202" cy="371796"/>
          </a:xfrm>
        </p:grpSpPr>
        <p:sp>
          <p:nvSpPr>
            <p:cNvPr id="51" name="橢圓 50"/>
            <p:cNvSpPr/>
            <p:nvPr/>
          </p:nvSpPr>
          <p:spPr>
            <a:xfrm>
              <a:off x="3117214" y="149087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2" name="文字方塊 51"/>
            <p:cNvSpPr txBox="1"/>
            <p:nvPr/>
          </p:nvSpPr>
          <p:spPr>
            <a:xfrm>
              <a:off x="3079113" y="140708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3" name="群組 52"/>
          <p:cNvGrpSpPr/>
          <p:nvPr/>
        </p:nvGrpSpPr>
        <p:grpSpPr>
          <a:xfrm>
            <a:off x="2813406" y="2507850"/>
            <a:ext cx="364202" cy="371796"/>
            <a:chOff x="3069153" y="2626276"/>
            <a:chExt cx="364202" cy="371796"/>
          </a:xfrm>
        </p:grpSpPr>
        <p:sp>
          <p:nvSpPr>
            <p:cNvPr id="54" name="橢圓 53"/>
            <p:cNvSpPr/>
            <p:nvPr/>
          </p:nvSpPr>
          <p:spPr>
            <a:xfrm>
              <a:off x="3117214" y="2710072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5" name="文字方塊 54"/>
            <p:cNvSpPr txBox="1"/>
            <p:nvPr/>
          </p:nvSpPr>
          <p:spPr>
            <a:xfrm>
              <a:off x="3069153" y="262627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6" name="群組 55"/>
          <p:cNvGrpSpPr/>
          <p:nvPr/>
        </p:nvGrpSpPr>
        <p:grpSpPr>
          <a:xfrm>
            <a:off x="3680257" y="1913593"/>
            <a:ext cx="364202" cy="370278"/>
            <a:chOff x="3936004" y="2032019"/>
            <a:chExt cx="364202" cy="370278"/>
          </a:xfrm>
        </p:grpSpPr>
        <p:sp>
          <p:nvSpPr>
            <p:cNvPr id="57" name="橢圓 56"/>
            <p:cNvSpPr/>
            <p:nvPr/>
          </p:nvSpPr>
          <p:spPr>
            <a:xfrm>
              <a:off x="3974105" y="211429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8" name="文字方塊 57"/>
            <p:cNvSpPr txBox="1"/>
            <p:nvPr/>
          </p:nvSpPr>
          <p:spPr>
            <a:xfrm>
              <a:off x="3936004" y="2032019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9" name="群組 58"/>
          <p:cNvGrpSpPr/>
          <p:nvPr/>
        </p:nvGrpSpPr>
        <p:grpSpPr>
          <a:xfrm>
            <a:off x="297396" y="3272065"/>
            <a:ext cx="3961108" cy="3132934"/>
            <a:chOff x="381848" y="3292760"/>
            <a:chExt cx="3961108" cy="3132934"/>
          </a:xfrm>
        </p:grpSpPr>
        <p:sp>
          <p:nvSpPr>
            <p:cNvPr id="60" name="文字方塊 59"/>
            <p:cNvSpPr txBox="1"/>
            <p:nvPr/>
          </p:nvSpPr>
          <p:spPr>
            <a:xfrm>
              <a:off x="833298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文字方塊 60"/>
            <p:cNvSpPr txBox="1"/>
            <p:nvPr/>
          </p:nvSpPr>
          <p:spPr>
            <a:xfrm>
              <a:off x="1359767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文字方塊 61"/>
            <p:cNvSpPr txBox="1"/>
            <p:nvPr/>
          </p:nvSpPr>
          <p:spPr>
            <a:xfrm>
              <a:off x="1882744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文字方塊 62"/>
            <p:cNvSpPr txBox="1"/>
            <p:nvPr/>
          </p:nvSpPr>
          <p:spPr>
            <a:xfrm>
              <a:off x="2409213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文字方塊 63"/>
            <p:cNvSpPr txBox="1"/>
            <p:nvPr/>
          </p:nvSpPr>
          <p:spPr>
            <a:xfrm>
              <a:off x="2929308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文字方塊 64"/>
            <p:cNvSpPr txBox="1"/>
            <p:nvPr/>
          </p:nvSpPr>
          <p:spPr>
            <a:xfrm>
              <a:off x="3452285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文字方塊 65"/>
            <p:cNvSpPr txBox="1"/>
            <p:nvPr/>
          </p:nvSpPr>
          <p:spPr>
            <a:xfrm>
              <a:off x="3978754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文字方塊 66"/>
            <p:cNvSpPr txBox="1"/>
            <p:nvPr/>
          </p:nvSpPr>
          <p:spPr>
            <a:xfrm>
              <a:off x="381848" y="3670718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" name="文字方塊 67"/>
            <p:cNvSpPr txBox="1"/>
            <p:nvPr/>
          </p:nvSpPr>
          <p:spPr>
            <a:xfrm>
              <a:off x="381848" y="408318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文字方塊 68"/>
            <p:cNvSpPr txBox="1"/>
            <p:nvPr/>
          </p:nvSpPr>
          <p:spPr>
            <a:xfrm>
              <a:off x="381848" y="4469764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文字方塊 69"/>
            <p:cNvSpPr txBox="1"/>
            <p:nvPr/>
          </p:nvSpPr>
          <p:spPr>
            <a:xfrm>
              <a:off x="381848" y="4856348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文字方塊 70"/>
            <p:cNvSpPr txBox="1"/>
            <p:nvPr/>
          </p:nvSpPr>
          <p:spPr>
            <a:xfrm>
              <a:off x="381848" y="5265942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文字方塊 71"/>
            <p:cNvSpPr txBox="1"/>
            <p:nvPr/>
          </p:nvSpPr>
          <p:spPr>
            <a:xfrm>
              <a:off x="381848" y="5661152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文字方塊 72"/>
            <p:cNvSpPr txBox="1"/>
            <p:nvPr/>
          </p:nvSpPr>
          <p:spPr>
            <a:xfrm>
              <a:off x="381848" y="6056362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4" name="文字方塊 73"/>
          <p:cNvSpPr txBox="1"/>
          <p:nvPr/>
        </p:nvSpPr>
        <p:spPr>
          <a:xfrm>
            <a:off x="40158" y="2977377"/>
            <a:ext cx="14173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Cost[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文字方塊 74"/>
          <p:cNvSpPr txBox="1"/>
          <p:nvPr/>
        </p:nvSpPr>
        <p:spPr>
          <a:xfrm>
            <a:off x="4429132" y="3400887"/>
            <a:ext cx="47099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</a:t>
            </a:r>
            <a:r>
              <a:rPr lang="en-US" altLang="zh-TW" sz="2000" b="1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[6][0]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min{Cost[6][0], Cost[6][4] + Cost[4][0]}</a:t>
            </a: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min{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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,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6 + 8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=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</a:p>
        </p:txBody>
      </p:sp>
      <p:sp>
        <p:nvSpPr>
          <p:cNvPr id="79" name="文字方塊 78"/>
          <p:cNvSpPr txBox="1"/>
          <p:nvPr/>
        </p:nvSpPr>
        <p:spPr>
          <a:xfrm>
            <a:off x="4450398" y="1422476"/>
            <a:ext cx="45079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Cost</a:t>
            </a:r>
            <a:r>
              <a:rPr lang="en-US" altLang="zh-TW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min{Cost[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], Cost[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][1] + Cost[1][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]}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AutoShape 193"/>
          <p:cNvSpPr>
            <a:spLocks noChangeArrowheads="1"/>
          </p:cNvSpPr>
          <p:nvPr/>
        </p:nvSpPr>
        <p:spPr bwMode="auto">
          <a:xfrm>
            <a:off x="4076403" y="2317843"/>
            <a:ext cx="1365445" cy="749523"/>
          </a:xfrm>
          <a:prstGeom prst="wedgeRoundRectCallout">
            <a:avLst>
              <a:gd name="adj1" fmla="val 70979"/>
              <a:gd name="adj2" fmla="val -64318"/>
              <a:gd name="adj3" fmla="val 16667"/>
            </a:avLst>
          </a:prstGeom>
          <a:noFill/>
          <a:ln w="28575">
            <a:solidFill>
              <a:schemeClr val="accent3">
                <a:lumMod val="7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9pPr>
          </a:lstStyle>
          <a:p>
            <a:pPr algn="ctr" eaLnBrk="1" hangingPunct="1"/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原來</a:t>
            </a:r>
            <a:r>
              <a:rPr lang="en-US" altLang="zh-TW" sz="2000" b="1" i="1" dirty="0">
                <a:ea typeface="標楷體" panose="03000509000000000000" pitchFamily="65" charset="-120"/>
                <a:cs typeface="Times New Roman" panose="02020603050405020304" pitchFamily="18" charset="0"/>
              </a:rPr>
              <a:t>v</a:t>
            </a:r>
            <a:r>
              <a:rPr lang="en-US" altLang="zh-TW" sz="2000" b="1" i="1" baseline="-25000" dirty="0"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ea typeface="標楷體" panose="03000509000000000000" pitchFamily="65" charset="-120"/>
                <a:cs typeface="Times New Roman" panose="02020603050405020304" pitchFamily="18" charset="0"/>
              </a:rPr>
              <a:t> ~ </a:t>
            </a:r>
            <a:r>
              <a:rPr lang="en-US" altLang="zh-TW" sz="2000" b="1" i="1" dirty="0" err="1">
                <a:ea typeface="標楷體" panose="03000509000000000000" pitchFamily="65" charset="-120"/>
                <a:cs typeface="Times New Roman" panose="02020603050405020304" pitchFamily="18" charset="0"/>
              </a:rPr>
              <a:t>v</a:t>
            </a:r>
            <a:r>
              <a:rPr lang="en-US" altLang="zh-TW" sz="2000" b="1" i="1" baseline="-25000" dirty="0" err="1">
                <a:ea typeface="標楷體" panose="03000509000000000000" pitchFamily="65" charset="-120"/>
                <a:cs typeface="Times New Roman" panose="02020603050405020304" pitchFamily="18" charset="0"/>
              </a:rPr>
              <a:t>j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的距離</a:t>
            </a:r>
          </a:p>
        </p:txBody>
      </p:sp>
      <p:sp>
        <p:nvSpPr>
          <p:cNvPr id="81" name="AutoShape 194"/>
          <p:cNvSpPr>
            <a:spLocks noChangeArrowheads="1"/>
          </p:cNvSpPr>
          <p:nvPr/>
        </p:nvSpPr>
        <p:spPr bwMode="auto">
          <a:xfrm>
            <a:off x="7572602" y="2359965"/>
            <a:ext cx="1295400" cy="751361"/>
          </a:xfrm>
          <a:prstGeom prst="wedgeRoundRectCallout">
            <a:avLst>
              <a:gd name="adj1" fmla="val -74098"/>
              <a:gd name="adj2" fmla="val -70166"/>
              <a:gd name="adj3" fmla="val 16667"/>
            </a:avLst>
          </a:prstGeom>
          <a:noFill/>
          <a:ln w="28575">
            <a:solidFill>
              <a:srgbClr val="7030A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9pPr>
          </a:lstStyle>
          <a:p>
            <a:pPr algn="ctr" eaLnBrk="1" hangingPunct="1"/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經過</a:t>
            </a:r>
            <a:r>
              <a:rPr lang="en-US" altLang="zh-TW" sz="2000" b="1" i="1" dirty="0">
                <a:ea typeface="標楷體" panose="03000509000000000000" pitchFamily="65" charset="-12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ea typeface="標楷體" panose="03000509000000000000" pitchFamily="65" charset="-120"/>
                <a:cs typeface="Times New Roman" panose="02020603050405020304" pitchFamily="18" charset="0"/>
              </a:rPr>
              <a:t>0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的距離</a:t>
            </a:r>
          </a:p>
        </p:txBody>
      </p:sp>
      <p:cxnSp>
        <p:nvCxnSpPr>
          <p:cNvPr id="82" name="直線接點 81"/>
          <p:cNvCxnSpPr/>
          <p:nvPr/>
        </p:nvCxnSpPr>
        <p:spPr>
          <a:xfrm>
            <a:off x="5276388" y="2088000"/>
            <a:ext cx="936000" cy="0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接點 82"/>
          <p:cNvCxnSpPr/>
          <p:nvPr/>
        </p:nvCxnSpPr>
        <p:spPr>
          <a:xfrm>
            <a:off x="6420602" y="2088000"/>
            <a:ext cx="2304000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文字方塊 84"/>
          <p:cNvSpPr txBox="1"/>
          <p:nvPr/>
        </p:nvSpPr>
        <p:spPr>
          <a:xfrm>
            <a:off x="4429132" y="4473860"/>
            <a:ext cx="47099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</a:t>
            </a:r>
            <a:r>
              <a:rPr lang="en-US" altLang="zh-TW" sz="2000" b="1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[6][1]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min{Cost[6][1], Cost[6][4] + Cost[4][1]}</a:t>
            </a: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min{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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,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6 + 7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=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13</a:t>
            </a:r>
            <a:endParaRPr lang="en-US" altLang="zh-TW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文字方塊 85"/>
          <p:cNvSpPr txBox="1"/>
          <p:nvPr/>
        </p:nvSpPr>
        <p:spPr>
          <a:xfrm>
            <a:off x="4429132" y="5549355"/>
            <a:ext cx="47099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</a:t>
            </a:r>
            <a:r>
              <a:rPr lang="en-US" altLang="zh-TW" sz="2000" b="1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[6][2]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min{Cost[6][2], Cost[6][4] + Cost[4][2]}</a:t>
            </a: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min{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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,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6 + 9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=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15</a:t>
            </a:r>
            <a:endParaRPr lang="en-US" altLang="zh-TW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圓角矩形 86"/>
          <p:cNvSpPr/>
          <p:nvPr/>
        </p:nvSpPr>
        <p:spPr>
          <a:xfrm>
            <a:off x="661598" y="5236347"/>
            <a:ext cx="3672000" cy="377958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2" name="文字方塊 101"/>
          <p:cNvSpPr txBox="1"/>
          <p:nvPr/>
        </p:nvSpPr>
        <p:spPr>
          <a:xfrm>
            <a:off x="3849707" y="3710152"/>
            <a:ext cx="483072" cy="276999"/>
          </a:xfrm>
          <a:prstGeom prst="rect">
            <a:avLst/>
          </a:prstGeom>
          <a:solidFill>
            <a:srgbClr val="F3F9FA"/>
          </a:solidFill>
          <a:ln>
            <a:noFill/>
          </a:ln>
        </p:spPr>
        <p:txBody>
          <a:bodyPr wrap="none" lIns="36000" tIns="0" rIns="36000" bIns="0" rtlCol="0">
            <a:spAutoFit/>
          </a:bodyPr>
          <a:lstStyle/>
          <a:p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14/4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文字方塊 102"/>
          <p:cNvSpPr txBox="1"/>
          <p:nvPr/>
        </p:nvSpPr>
        <p:spPr>
          <a:xfrm>
            <a:off x="3845425" y="4119284"/>
            <a:ext cx="483072" cy="276999"/>
          </a:xfrm>
          <a:prstGeom prst="rect">
            <a:avLst/>
          </a:prstGeom>
          <a:solidFill>
            <a:srgbClr val="E7F3F4"/>
          </a:solidFill>
          <a:ln>
            <a:noFill/>
          </a:ln>
        </p:spPr>
        <p:txBody>
          <a:bodyPr wrap="none" lIns="36000" tIns="0" rIns="36000" bIns="0" rtlCol="0">
            <a:spAutoFit/>
          </a:bodyPr>
          <a:lstStyle/>
          <a:p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13/4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文字方塊 103"/>
          <p:cNvSpPr txBox="1"/>
          <p:nvPr/>
        </p:nvSpPr>
        <p:spPr>
          <a:xfrm>
            <a:off x="3845425" y="4502234"/>
            <a:ext cx="483072" cy="276999"/>
          </a:xfrm>
          <a:prstGeom prst="rect">
            <a:avLst/>
          </a:prstGeom>
          <a:solidFill>
            <a:srgbClr val="F3F9FA"/>
          </a:solidFill>
          <a:ln>
            <a:noFill/>
          </a:ln>
        </p:spPr>
        <p:txBody>
          <a:bodyPr wrap="none" lIns="36000" tIns="0" rIns="36000" bIns="0" rtlCol="0">
            <a:spAutoFit/>
          </a:bodyPr>
          <a:lstStyle/>
          <a:p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15/4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文字方塊 104"/>
          <p:cNvSpPr txBox="1"/>
          <p:nvPr/>
        </p:nvSpPr>
        <p:spPr>
          <a:xfrm>
            <a:off x="3840119" y="4886853"/>
            <a:ext cx="483072" cy="276999"/>
          </a:xfrm>
          <a:prstGeom prst="rect">
            <a:avLst/>
          </a:prstGeom>
          <a:solidFill>
            <a:srgbClr val="E7F3F4"/>
          </a:solidFill>
          <a:ln>
            <a:noFill/>
          </a:ln>
        </p:spPr>
        <p:txBody>
          <a:bodyPr wrap="none" lIns="36000" tIns="0" rIns="36000" bIns="0" rtlCol="0">
            <a:spAutoFit/>
          </a:bodyPr>
          <a:lstStyle/>
          <a:p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11/4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文字方塊 105"/>
          <p:cNvSpPr txBox="1"/>
          <p:nvPr/>
        </p:nvSpPr>
        <p:spPr>
          <a:xfrm>
            <a:off x="683910" y="6070753"/>
            <a:ext cx="483072" cy="276999"/>
          </a:xfrm>
          <a:prstGeom prst="rect">
            <a:avLst/>
          </a:prstGeom>
          <a:solidFill>
            <a:srgbClr val="F3F9FA"/>
          </a:solidFill>
          <a:ln>
            <a:noFill/>
          </a:ln>
        </p:spPr>
        <p:txBody>
          <a:bodyPr wrap="none" lIns="36000" tIns="0" rIns="36000" bIns="0" rtlCol="0">
            <a:spAutoFit/>
          </a:bodyPr>
          <a:lstStyle/>
          <a:p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14/4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文字方塊 106"/>
          <p:cNvSpPr txBox="1"/>
          <p:nvPr/>
        </p:nvSpPr>
        <p:spPr>
          <a:xfrm>
            <a:off x="1205365" y="6074020"/>
            <a:ext cx="483072" cy="276999"/>
          </a:xfrm>
          <a:prstGeom prst="rect">
            <a:avLst/>
          </a:prstGeom>
          <a:solidFill>
            <a:srgbClr val="F3F9FA"/>
          </a:solidFill>
          <a:ln>
            <a:noFill/>
          </a:ln>
        </p:spPr>
        <p:txBody>
          <a:bodyPr wrap="none" lIns="36000" tIns="0" rIns="36000" bIns="0" rtlCol="0">
            <a:spAutoFit/>
          </a:bodyPr>
          <a:lstStyle/>
          <a:p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13/4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文字方塊 107"/>
          <p:cNvSpPr txBox="1"/>
          <p:nvPr/>
        </p:nvSpPr>
        <p:spPr>
          <a:xfrm>
            <a:off x="1738857" y="6067566"/>
            <a:ext cx="483072" cy="276999"/>
          </a:xfrm>
          <a:prstGeom prst="rect">
            <a:avLst/>
          </a:prstGeom>
          <a:solidFill>
            <a:srgbClr val="F3F9FA"/>
          </a:solidFill>
          <a:ln>
            <a:noFill/>
          </a:ln>
        </p:spPr>
        <p:txBody>
          <a:bodyPr wrap="none" lIns="36000" tIns="0" rIns="36000" bIns="0" rtlCol="0">
            <a:spAutoFit/>
          </a:bodyPr>
          <a:lstStyle/>
          <a:p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15/4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文字方塊 108"/>
          <p:cNvSpPr txBox="1"/>
          <p:nvPr/>
        </p:nvSpPr>
        <p:spPr>
          <a:xfrm>
            <a:off x="2255263" y="6067566"/>
            <a:ext cx="483072" cy="276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lIns="36000" tIns="0" rIns="36000" bIns="0" rtlCol="0">
            <a:spAutoFit/>
          </a:bodyPr>
          <a:lstStyle/>
          <a:p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11/4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圓角矩形 87"/>
          <p:cNvSpPr/>
          <p:nvPr/>
        </p:nvSpPr>
        <p:spPr>
          <a:xfrm>
            <a:off x="2745666" y="3645709"/>
            <a:ext cx="543229" cy="2759289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5" name="橢圓 94"/>
          <p:cNvSpPr/>
          <p:nvPr/>
        </p:nvSpPr>
        <p:spPr>
          <a:xfrm>
            <a:off x="663600" y="6008337"/>
            <a:ext cx="504000" cy="401829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6" name="橢圓 95"/>
          <p:cNvSpPr/>
          <p:nvPr/>
        </p:nvSpPr>
        <p:spPr>
          <a:xfrm>
            <a:off x="1191096" y="6013953"/>
            <a:ext cx="504000" cy="401829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7" name="橢圓 96"/>
          <p:cNvSpPr/>
          <p:nvPr/>
        </p:nvSpPr>
        <p:spPr>
          <a:xfrm>
            <a:off x="1726995" y="6008310"/>
            <a:ext cx="504000" cy="401829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3021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8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4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0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95" grpId="0" animBg="1"/>
      <p:bldP spid="95" grpId="1" animBg="1"/>
      <p:bldP spid="96" grpId="0" animBg="1"/>
      <p:bldP spid="96" grpId="1" animBg="1"/>
      <p:bldP spid="97" grpId="0" animBg="1"/>
      <p:bldP spid="97" grpId="1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Floyd </a:t>
            </a:r>
            <a:r>
              <a:rPr lang="zh-TW" altLang="en-US" dirty="0"/>
              <a:t>演算法 </a:t>
            </a:r>
            <a:r>
              <a:rPr lang="en-US" altLang="zh-TW" dirty="0"/>
              <a:t>(7/10)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36</a:t>
            </a:fld>
            <a:endParaRPr lang="en-US" dirty="0"/>
          </a:p>
        </p:txBody>
      </p:sp>
      <p:graphicFrame>
        <p:nvGraphicFramePr>
          <p:cNvPr id="7" name="內容版面配置區 60"/>
          <p:cNvGraphicFramePr>
            <a:graphicFrameLocks/>
          </p:cNvGraphicFramePr>
          <p:nvPr/>
        </p:nvGraphicFramePr>
        <p:xfrm>
          <a:off x="662040" y="3645986"/>
          <a:ext cx="3690750" cy="2759015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2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8/3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5/3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14/4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5/0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7/3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4/3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13/4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5/0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9/3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15/4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11/4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8/3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7/3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9/3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7/3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6/6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5/3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4/3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7/3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4/6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14/4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13/4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15/4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11/4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0/6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8" name="群組 7"/>
          <p:cNvGrpSpPr/>
          <p:nvPr/>
        </p:nvGrpSpPr>
        <p:grpSpPr>
          <a:xfrm>
            <a:off x="1113633" y="1851693"/>
            <a:ext cx="916823" cy="369332"/>
            <a:chOff x="1369380" y="1970119"/>
            <a:chExt cx="916823" cy="369332"/>
          </a:xfrm>
        </p:grpSpPr>
        <p:cxnSp>
          <p:nvCxnSpPr>
            <p:cNvPr id="9" name="直線接點 8"/>
            <p:cNvCxnSpPr>
              <a:stCxn id="48" idx="2"/>
              <a:endCxn id="39" idx="6"/>
            </p:cNvCxnSpPr>
            <p:nvPr/>
          </p:nvCxnSpPr>
          <p:spPr>
            <a:xfrm flipH="1">
              <a:off x="1369380" y="2258297"/>
              <a:ext cx="916823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字方塊 9"/>
            <p:cNvSpPr txBox="1"/>
            <p:nvPr/>
          </p:nvSpPr>
          <p:spPr>
            <a:xfrm>
              <a:off x="1682064" y="197011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" name="群組 10"/>
          <p:cNvGrpSpPr/>
          <p:nvPr/>
        </p:nvGrpSpPr>
        <p:grpSpPr>
          <a:xfrm>
            <a:off x="1054786" y="1551060"/>
            <a:ext cx="419749" cy="486988"/>
            <a:chOff x="1310533" y="1669486"/>
            <a:chExt cx="419749" cy="486988"/>
          </a:xfrm>
        </p:grpSpPr>
        <p:cxnSp>
          <p:nvCxnSpPr>
            <p:cNvPr id="12" name="直線接點 11"/>
            <p:cNvCxnSpPr>
              <a:stCxn id="39" idx="7"/>
              <a:endCxn id="42" idx="3"/>
            </p:cNvCxnSpPr>
            <p:nvPr/>
          </p:nvCxnSpPr>
          <p:spPr>
            <a:xfrm flipV="1">
              <a:off x="1327203" y="1736700"/>
              <a:ext cx="403079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字方塊 12"/>
            <p:cNvSpPr txBox="1"/>
            <p:nvPr/>
          </p:nvSpPr>
          <p:spPr>
            <a:xfrm>
              <a:off x="1310533" y="166948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" name="群組 13"/>
          <p:cNvGrpSpPr/>
          <p:nvPr/>
        </p:nvGrpSpPr>
        <p:grpSpPr>
          <a:xfrm>
            <a:off x="1054786" y="2241694"/>
            <a:ext cx="419749" cy="445481"/>
            <a:chOff x="1310533" y="2360120"/>
            <a:chExt cx="419749" cy="445481"/>
          </a:xfrm>
        </p:grpSpPr>
        <p:cxnSp>
          <p:nvCxnSpPr>
            <p:cNvPr id="15" name="直線接點 14"/>
            <p:cNvCxnSpPr>
              <a:stCxn id="45" idx="1"/>
              <a:endCxn id="39" idx="5"/>
            </p:cNvCxnSpPr>
            <p:nvPr/>
          </p:nvCxnSpPr>
          <p:spPr>
            <a:xfrm flipH="1" flipV="1">
              <a:off x="1327203" y="2360120"/>
              <a:ext cx="403079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字方塊 15"/>
            <p:cNvSpPr txBox="1"/>
            <p:nvPr/>
          </p:nvSpPr>
          <p:spPr>
            <a:xfrm>
              <a:off x="1310533" y="243626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" name="群組 16"/>
          <p:cNvGrpSpPr/>
          <p:nvPr/>
        </p:nvGrpSpPr>
        <p:grpSpPr>
          <a:xfrm>
            <a:off x="1678181" y="1531033"/>
            <a:ext cx="411886" cy="507015"/>
            <a:chOff x="1933928" y="1649459"/>
            <a:chExt cx="411886" cy="507015"/>
          </a:xfrm>
        </p:grpSpPr>
        <p:cxnSp>
          <p:nvCxnSpPr>
            <p:cNvPr id="18" name="直線接點 17"/>
            <p:cNvCxnSpPr>
              <a:stCxn id="48" idx="1"/>
              <a:endCxn id="42" idx="5"/>
            </p:cNvCxnSpPr>
            <p:nvPr/>
          </p:nvCxnSpPr>
          <p:spPr>
            <a:xfrm flipH="1" flipV="1">
              <a:off x="1933928" y="1736700"/>
              <a:ext cx="394452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字方塊 18"/>
            <p:cNvSpPr txBox="1"/>
            <p:nvPr/>
          </p:nvSpPr>
          <p:spPr>
            <a:xfrm>
              <a:off x="2045732" y="164945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" name="群組 19"/>
          <p:cNvGrpSpPr/>
          <p:nvPr/>
        </p:nvGrpSpPr>
        <p:grpSpPr>
          <a:xfrm>
            <a:off x="1678181" y="2241694"/>
            <a:ext cx="411886" cy="425454"/>
            <a:chOff x="1933928" y="2360120"/>
            <a:chExt cx="411886" cy="425454"/>
          </a:xfrm>
        </p:grpSpPr>
        <p:cxnSp>
          <p:nvCxnSpPr>
            <p:cNvPr id="21" name="直線接點 20"/>
            <p:cNvCxnSpPr>
              <a:stCxn id="48" idx="3"/>
              <a:endCxn id="45" idx="7"/>
            </p:cNvCxnSpPr>
            <p:nvPr/>
          </p:nvCxnSpPr>
          <p:spPr>
            <a:xfrm flipH="1">
              <a:off x="1933928" y="2360120"/>
              <a:ext cx="394452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字方塊 21"/>
            <p:cNvSpPr txBox="1"/>
            <p:nvPr/>
          </p:nvSpPr>
          <p:spPr>
            <a:xfrm>
              <a:off x="2045732" y="241624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3" name="群組 22"/>
          <p:cNvGrpSpPr/>
          <p:nvPr/>
        </p:nvGrpSpPr>
        <p:grpSpPr>
          <a:xfrm>
            <a:off x="2276279" y="1518794"/>
            <a:ext cx="627365" cy="519254"/>
            <a:chOff x="2532026" y="1637220"/>
            <a:chExt cx="627365" cy="519254"/>
          </a:xfrm>
        </p:grpSpPr>
        <p:cxnSp>
          <p:nvCxnSpPr>
            <p:cNvPr id="24" name="直線接點 23"/>
            <p:cNvCxnSpPr>
              <a:stCxn id="51" idx="3"/>
              <a:endCxn id="48" idx="7"/>
            </p:cNvCxnSpPr>
            <p:nvPr/>
          </p:nvCxnSpPr>
          <p:spPr>
            <a:xfrm flipH="1">
              <a:off x="2532026" y="1736700"/>
              <a:ext cx="627365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文字方塊 24"/>
            <p:cNvSpPr txBox="1"/>
            <p:nvPr/>
          </p:nvSpPr>
          <p:spPr>
            <a:xfrm>
              <a:off x="2667499" y="163722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6" name="群組 25"/>
          <p:cNvGrpSpPr/>
          <p:nvPr/>
        </p:nvGrpSpPr>
        <p:grpSpPr>
          <a:xfrm>
            <a:off x="2276279" y="2241694"/>
            <a:ext cx="627365" cy="413215"/>
            <a:chOff x="2532026" y="2360120"/>
            <a:chExt cx="627365" cy="413215"/>
          </a:xfrm>
        </p:grpSpPr>
        <p:cxnSp>
          <p:nvCxnSpPr>
            <p:cNvPr id="27" name="直線接點 26"/>
            <p:cNvCxnSpPr>
              <a:stCxn id="54" idx="1"/>
              <a:endCxn id="48" idx="5"/>
            </p:cNvCxnSpPr>
            <p:nvPr/>
          </p:nvCxnSpPr>
          <p:spPr>
            <a:xfrm flipH="1" flipV="1">
              <a:off x="2532026" y="2360120"/>
              <a:ext cx="627365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字方塊 27"/>
            <p:cNvSpPr txBox="1"/>
            <p:nvPr/>
          </p:nvSpPr>
          <p:spPr>
            <a:xfrm>
              <a:off x="2581239" y="240400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9" name="群組 28"/>
          <p:cNvGrpSpPr/>
          <p:nvPr/>
        </p:nvGrpSpPr>
        <p:grpSpPr>
          <a:xfrm>
            <a:off x="3107290" y="1531033"/>
            <a:ext cx="653245" cy="507015"/>
            <a:chOff x="3363037" y="1649459"/>
            <a:chExt cx="653245" cy="507015"/>
          </a:xfrm>
        </p:grpSpPr>
        <p:cxnSp>
          <p:nvCxnSpPr>
            <p:cNvPr id="30" name="直線接點 29"/>
            <p:cNvCxnSpPr>
              <a:stCxn id="57" idx="1"/>
              <a:endCxn id="51" idx="5"/>
            </p:cNvCxnSpPr>
            <p:nvPr/>
          </p:nvCxnSpPr>
          <p:spPr>
            <a:xfrm flipH="1" flipV="1">
              <a:off x="3363037" y="1736700"/>
              <a:ext cx="653245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文字方塊 30"/>
            <p:cNvSpPr txBox="1"/>
            <p:nvPr/>
          </p:nvSpPr>
          <p:spPr>
            <a:xfrm>
              <a:off x="3582748" y="164945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2" name="群組 31"/>
          <p:cNvGrpSpPr/>
          <p:nvPr/>
        </p:nvGrpSpPr>
        <p:grpSpPr>
          <a:xfrm>
            <a:off x="3107290" y="2241694"/>
            <a:ext cx="653245" cy="425454"/>
            <a:chOff x="3363037" y="2360120"/>
            <a:chExt cx="653245" cy="425454"/>
          </a:xfrm>
        </p:grpSpPr>
        <p:cxnSp>
          <p:nvCxnSpPr>
            <p:cNvPr id="33" name="直線接點 32"/>
            <p:cNvCxnSpPr>
              <a:stCxn id="57" idx="3"/>
              <a:endCxn id="54" idx="7"/>
            </p:cNvCxnSpPr>
            <p:nvPr/>
          </p:nvCxnSpPr>
          <p:spPr>
            <a:xfrm flipH="1">
              <a:off x="3363037" y="2360120"/>
              <a:ext cx="653245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文字方塊 33"/>
            <p:cNvSpPr txBox="1"/>
            <p:nvPr/>
          </p:nvSpPr>
          <p:spPr>
            <a:xfrm>
              <a:off x="3608626" y="241624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5" name="群組 34"/>
          <p:cNvGrpSpPr/>
          <p:nvPr/>
        </p:nvGrpSpPr>
        <p:grpSpPr>
          <a:xfrm>
            <a:off x="1720358" y="2657165"/>
            <a:ext cx="1141109" cy="369332"/>
            <a:chOff x="1254795" y="2775591"/>
            <a:chExt cx="1141109" cy="369332"/>
          </a:xfrm>
        </p:grpSpPr>
        <p:cxnSp>
          <p:nvCxnSpPr>
            <p:cNvPr id="36" name="直線接點 35"/>
            <p:cNvCxnSpPr>
              <a:stCxn id="54" idx="2"/>
              <a:endCxn id="45" idx="6"/>
            </p:cNvCxnSpPr>
            <p:nvPr/>
          </p:nvCxnSpPr>
          <p:spPr>
            <a:xfrm flipH="1">
              <a:off x="1254795" y="2854072"/>
              <a:ext cx="1141109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文字方塊 36"/>
            <p:cNvSpPr txBox="1"/>
            <p:nvPr/>
          </p:nvSpPr>
          <p:spPr>
            <a:xfrm>
              <a:off x="1660675" y="2775591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8" name="群組 37"/>
          <p:cNvGrpSpPr/>
          <p:nvPr/>
        </p:nvGrpSpPr>
        <p:grpSpPr>
          <a:xfrm>
            <a:off x="787532" y="1912075"/>
            <a:ext cx="364202" cy="371796"/>
            <a:chOff x="1043279" y="2030501"/>
            <a:chExt cx="364202" cy="371796"/>
          </a:xfrm>
        </p:grpSpPr>
        <p:sp>
          <p:nvSpPr>
            <p:cNvPr id="39" name="橢圓 38"/>
            <p:cNvSpPr/>
            <p:nvPr/>
          </p:nvSpPr>
          <p:spPr>
            <a:xfrm>
              <a:off x="1081380" y="211429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0" name="文字方塊 39"/>
            <p:cNvSpPr txBox="1"/>
            <p:nvPr/>
          </p:nvSpPr>
          <p:spPr>
            <a:xfrm>
              <a:off x="1043279" y="203050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1" name="群組 40"/>
          <p:cNvGrpSpPr/>
          <p:nvPr/>
        </p:nvGrpSpPr>
        <p:grpSpPr>
          <a:xfrm>
            <a:off x="1394257" y="1288779"/>
            <a:ext cx="364202" cy="371672"/>
            <a:chOff x="1650004" y="1407205"/>
            <a:chExt cx="364202" cy="371672"/>
          </a:xfrm>
        </p:grpSpPr>
        <p:sp>
          <p:nvSpPr>
            <p:cNvPr id="42" name="橢圓 41"/>
            <p:cNvSpPr/>
            <p:nvPr/>
          </p:nvSpPr>
          <p:spPr>
            <a:xfrm>
              <a:off x="1688105" y="149087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3" name="文字方塊 42"/>
            <p:cNvSpPr txBox="1"/>
            <p:nvPr/>
          </p:nvSpPr>
          <p:spPr>
            <a:xfrm>
              <a:off x="1650004" y="1407205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4" name="群組 43"/>
          <p:cNvGrpSpPr/>
          <p:nvPr/>
        </p:nvGrpSpPr>
        <p:grpSpPr>
          <a:xfrm>
            <a:off x="1394257" y="2507850"/>
            <a:ext cx="364202" cy="371796"/>
            <a:chOff x="1650004" y="2626276"/>
            <a:chExt cx="364202" cy="371796"/>
          </a:xfrm>
        </p:grpSpPr>
        <p:sp>
          <p:nvSpPr>
            <p:cNvPr id="45" name="橢圓 44"/>
            <p:cNvSpPr/>
            <p:nvPr/>
          </p:nvSpPr>
          <p:spPr>
            <a:xfrm>
              <a:off x="1688105" y="2710072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6" name="文字方塊 45"/>
            <p:cNvSpPr txBox="1"/>
            <p:nvPr/>
          </p:nvSpPr>
          <p:spPr>
            <a:xfrm>
              <a:off x="1650004" y="262627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7" name="群組 46"/>
          <p:cNvGrpSpPr/>
          <p:nvPr/>
        </p:nvGrpSpPr>
        <p:grpSpPr>
          <a:xfrm>
            <a:off x="1983729" y="1912075"/>
            <a:ext cx="364202" cy="371796"/>
            <a:chOff x="2239476" y="2030501"/>
            <a:chExt cx="364202" cy="371796"/>
          </a:xfrm>
        </p:grpSpPr>
        <p:sp>
          <p:nvSpPr>
            <p:cNvPr id="48" name="橢圓 47"/>
            <p:cNvSpPr/>
            <p:nvPr/>
          </p:nvSpPr>
          <p:spPr>
            <a:xfrm>
              <a:off x="2286203" y="211429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9" name="文字方塊 48"/>
            <p:cNvSpPr txBox="1"/>
            <p:nvPr/>
          </p:nvSpPr>
          <p:spPr>
            <a:xfrm>
              <a:off x="2239476" y="203050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0" name="群組 49"/>
          <p:cNvGrpSpPr/>
          <p:nvPr/>
        </p:nvGrpSpPr>
        <p:grpSpPr>
          <a:xfrm>
            <a:off x="2823366" y="1288655"/>
            <a:ext cx="364202" cy="371796"/>
            <a:chOff x="3079113" y="1407081"/>
            <a:chExt cx="364202" cy="371796"/>
          </a:xfrm>
        </p:grpSpPr>
        <p:sp>
          <p:nvSpPr>
            <p:cNvPr id="51" name="橢圓 50"/>
            <p:cNvSpPr/>
            <p:nvPr/>
          </p:nvSpPr>
          <p:spPr>
            <a:xfrm>
              <a:off x="3117214" y="149087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2" name="文字方塊 51"/>
            <p:cNvSpPr txBox="1"/>
            <p:nvPr/>
          </p:nvSpPr>
          <p:spPr>
            <a:xfrm>
              <a:off x="3079113" y="140708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3" name="群組 52"/>
          <p:cNvGrpSpPr/>
          <p:nvPr/>
        </p:nvGrpSpPr>
        <p:grpSpPr>
          <a:xfrm>
            <a:off x="2813406" y="2507850"/>
            <a:ext cx="364202" cy="371796"/>
            <a:chOff x="3069153" y="2626276"/>
            <a:chExt cx="364202" cy="371796"/>
          </a:xfrm>
        </p:grpSpPr>
        <p:sp>
          <p:nvSpPr>
            <p:cNvPr id="54" name="橢圓 53"/>
            <p:cNvSpPr/>
            <p:nvPr/>
          </p:nvSpPr>
          <p:spPr>
            <a:xfrm>
              <a:off x="3117214" y="2710072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5" name="文字方塊 54"/>
            <p:cNvSpPr txBox="1"/>
            <p:nvPr/>
          </p:nvSpPr>
          <p:spPr>
            <a:xfrm>
              <a:off x="3069153" y="262627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6" name="群組 55"/>
          <p:cNvGrpSpPr/>
          <p:nvPr/>
        </p:nvGrpSpPr>
        <p:grpSpPr>
          <a:xfrm>
            <a:off x="3680257" y="1913593"/>
            <a:ext cx="364202" cy="370278"/>
            <a:chOff x="3936004" y="2032019"/>
            <a:chExt cx="364202" cy="370278"/>
          </a:xfrm>
        </p:grpSpPr>
        <p:sp>
          <p:nvSpPr>
            <p:cNvPr id="57" name="橢圓 56"/>
            <p:cNvSpPr/>
            <p:nvPr/>
          </p:nvSpPr>
          <p:spPr>
            <a:xfrm>
              <a:off x="3974105" y="211429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8" name="文字方塊 57"/>
            <p:cNvSpPr txBox="1"/>
            <p:nvPr/>
          </p:nvSpPr>
          <p:spPr>
            <a:xfrm>
              <a:off x="3936004" y="2032019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9" name="群組 58"/>
          <p:cNvGrpSpPr/>
          <p:nvPr/>
        </p:nvGrpSpPr>
        <p:grpSpPr>
          <a:xfrm>
            <a:off x="297396" y="3272065"/>
            <a:ext cx="3961108" cy="3132934"/>
            <a:chOff x="381848" y="3292760"/>
            <a:chExt cx="3961108" cy="3132934"/>
          </a:xfrm>
        </p:grpSpPr>
        <p:sp>
          <p:nvSpPr>
            <p:cNvPr id="60" name="文字方塊 59"/>
            <p:cNvSpPr txBox="1"/>
            <p:nvPr/>
          </p:nvSpPr>
          <p:spPr>
            <a:xfrm>
              <a:off x="833298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文字方塊 60"/>
            <p:cNvSpPr txBox="1"/>
            <p:nvPr/>
          </p:nvSpPr>
          <p:spPr>
            <a:xfrm>
              <a:off x="1359767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文字方塊 61"/>
            <p:cNvSpPr txBox="1"/>
            <p:nvPr/>
          </p:nvSpPr>
          <p:spPr>
            <a:xfrm>
              <a:off x="1882744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文字方塊 62"/>
            <p:cNvSpPr txBox="1"/>
            <p:nvPr/>
          </p:nvSpPr>
          <p:spPr>
            <a:xfrm>
              <a:off x="2409213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文字方塊 63"/>
            <p:cNvSpPr txBox="1"/>
            <p:nvPr/>
          </p:nvSpPr>
          <p:spPr>
            <a:xfrm>
              <a:off x="2929308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文字方塊 64"/>
            <p:cNvSpPr txBox="1"/>
            <p:nvPr/>
          </p:nvSpPr>
          <p:spPr>
            <a:xfrm>
              <a:off x="3452285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文字方塊 65"/>
            <p:cNvSpPr txBox="1"/>
            <p:nvPr/>
          </p:nvSpPr>
          <p:spPr>
            <a:xfrm>
              <a:off x="3978754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文字方塊 66"/>
            <p:cNvSpPr txBox="1"/>
            <p:nvPr/>
          </p:nvSpPr>
          <p:spPr>
            <a:xfrm>
              <a:off x="381848" y="3670718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" name="文字方塊 67"/>
            <p:cNvSpPr txBox="1"/>
            <p:nvPr/>
          </p:nvSpPr>
          <p:spPr>
            <a:xfrm>
              <a:off x="381848" y="408318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文字方塊 68"/>
            <p:cNvSpPr txBox="1"/>
            <p:nvPr/>
          </p:nvSpPr>
          <p:spPr>
            <a:xfrm>
              <a:off x="381848" y="4469764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文字方塊 69"/>
            <p:cNvSpPr txBox="1"/>
            <p:nvPr/>
          </p:nvSpPr>
          <p:spPr>
            <a:xfrm>
              <a:off x="381848" y="4856348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文字方塊 70"/>
            <p:cNvSpPr txBox="1"/>
            <p:nvPr/>
          </p:nvSpPr>
          <p:spPr>
            <a:xfrm>
              <a:off x="381848" y="5265942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文字方塊 71"/>
            <p:cNvSpPr txBox="1"/>
            <p:nvPr/>
          </p:nvSpPr>
          <p:spPr>
            <a:xfrm>
              <a:off x="381848" y="5661152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文字方塊 72"/>
            <p:cNvSpPr txBox="1"/>
            <p:nvPr/>
          </p:nvSpPr>
          <p:spPr>
            <a:xfrm>
              <a:off x="381848" y="6056362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4" name="文字方塊 73"/>
          <p:cNvSpPr txBox="1"/>
          <p:nvPr/>
        </p:nvSpPr>
        <p:spPr>
          <a:xfrm>
            <a:off x="40158" y="2977377"/>
            <a:ext cx="14173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Cost[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文字方塊 74"/>
          <p:cNvSpPr txBox="1"/>
          <p:nvPr/>
        </p:nvSpPr>
        <p:spPr>
          <a:xfrm>
            <a:off x="4429132" y="3400887"/>
            <a:ext cx="47099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Cost</a:t>
            </a:r>
            <a:r>
              <a:rPr lang="en-US" altLang="zh-TW" sz="2000" b="1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[6][0]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min{Cost[6][0], Cost[6][5] + Cost[5][0]}</a:t>
            </a: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min{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14,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4 + 5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=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  <p:sp>
        <p:nvSpPr>
          <p:cNvPr id="79" name="文字方塊 78"/>
          <p:cNvSpPr txBox="1"/>
          <p:nvPr/>
        </p:nvSpPr>
        <p:spPr>
          <a:xfrm>
            <a:off x="4450398" y="1422476"/>
            <a:ext cx="45079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Cost</a:t>
            </a:r>
            <a:r>
              <a:rPr lang="en-US" altLang="zh-TW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min{Cost[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], Cost[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][1] + Cost[1][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]}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AutoShape 193"/>
          <p:cNvSpPr>
            <a:spLocks noChangeArrowheads="1"/>
          </p:cNvSpPr>
          <p:nvPr/>
        </p:nvSpPr>
        <p:spPr bwMode="auto">
          <a:xfrm>
            <a:off x="4076403" y="2317843"/>
            <a:ext cx="1365445" cy="749523"/>
          </a:xfrm>
          <a:prstGeom prst="wedgeRoundRectCallout">
            <a:avLst>
              <a:gd name="adj1" fmla="val 70979"/>
              <a:gd name="adj2" fmla="val -64318"/>
              <a:gd name="adj3" fmla="val 16667"/>
            </a:avLst>
          </a:prstGeom>
          <a:noFill/>
          <a:ln w="28575">
            <a:solidFill>
              <a:schemeClr val="accent3">
                <a:lumMod val="7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9pPr>
          </a:lstStyle>
          <a:p>
            <a:pPr algn="ctr" eaLnBrk="1" hangingPunct="1"/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原來</a:t>
            </a:r>
            <a:r>
              <a:rPr lang="en-US" altLang="zh-TW" sz="2000" b="1" i="1" dirty="0">
                <a:ea typeface="標楷體" panose="03000509000000000000" pitchFamily="65" charset="-120"/>
                <a:cs typeface="Times New Roman" panose="02020603050405020304" pitchFamily="18" charset="0"/>
              </a:rPr>
              <a:t>v</a:t>
            </a:r>
            <a:r>
              <a:rPr lang="en-US" altLang="zh-TW" sz="2000" b="1" i="1" baseline="-25000" dirty="0"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ea typeface="標楷體" panose="03000509000000000000" pitchFamily="65" charset="-120"/>
                <a:cs typeface="Times New Roman" panose="02020603050405020304" pitchFamily="18" charset="0"/>
              </a:rPr>
              <a:t> ~ </a:t>
            </a:r>
            <a:r>
              <a:rPr lang="en-US" altLang="zh-TW" sz="2000" b="1" i="1" dirty="0" err="1">
                <a:ea typeface="標楷體" panose="03000509000000000000" pitchFamily="65" charset="-120"/>
                <a:cs typeface="Times New Roman" panose="02020603050405020304" pitchFamily="18" charset="0"/>
              </a:rPr>
              <a:t>v</a:t>
            </a:r>
            <a:r>
              <a:rPr lang="en-US" altLang="zh-TW" sz="2000" b="1" i="1" baseline="-25000" dirty="0" err="1">
                <a:ea typeface="標楷體" panose="03000509000000000000" pitchFamily="65" charset="-120"/>
                <a:cs typeface="Times New Roman" panose="02020603050405020304" pitchFamily="18" charset="0"/>
              </a:rPr>
              <a:t>j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的距離</a:t>
            </a:r>
          </a:p>
        </p:txBody>
      </p:sp>
      <p:sp>
        <p:nvSpPr>
          <p:cNvPr id="81" name="AutoShape 194"/>
          <p:cNvSpPr>
            <a:spLocks noChangeArrowheads="1"/>
          </p:cNvSpPr>
          <p:nvPr/>
        </p:nvSpPr>
        <p:spPr bwMode="auto">
          <a:xfrm>
            <a:off x="7572602" y="2359965"/>
            <a:ext cx="1295400" cy="751361"/>
          </a:xfrm>
          <a:prstGeom prst="wedgeRoundRectCallout">
            <a:avLst>
              <a:gd name="adj1" fmla="val -74098"/>
              <a:gd name="adj2" fmla="val -70166"/>
              <a:gd name="adj3" fmla="val 16667"/>
            </a:avLst>
          </a:prstGeom>
          <a:noFill/>
          <a:ln w="28575">
            <a:solidFill>
              <a:srgbClr val="7030A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9pPr>
          </a:lstStyle>
          <a:p>
            <a:pPr algn="ctr" eaLnBrk="1" hangingPunct="1"/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經過</a:t>
            </a:r>
            <a:r>
              <a:rPr lang="en-US" altLang="zh-TW" sz="2000" b="1" i="1" dirty="0">
                <a:ea typeface="標楷體" panose="03000509000000000000" pitchFamily="65" charset="-12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ea typeface="標楷體" panose="03000509000000000000" pitchFamily="65" charset="-120"/>
                <a:cs typeface="Times New Roman" panose="02020603050405020304" pitchFamily="18" charset="0"/>
              </a:rPr>
              <a:t>0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的距離</a:t>
            </a:r>
          </a:p>
        </p:txBody>
      </p:sp>
      <p:cxnSp>
        <p:nvCxnSpPr>
          <p:cNvPr id="82" name="直線接點 81"/>
          <p:cNvCxnSpPr/>
          <p:nvPr/>
        </p:nvCxnSpPr>
        <p:spPr>
          <a:xfrm>
            <a:off x="5276388" y="2088000"/>
            <a:ext cx="936000" cy="0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接點 82"/>
          <p:cNvCxnSpPr/>
          <p:nvPr/>
        </p:nvCxnSpPr>
        <p:spPr>
          <a:xfrm>
            <a:off x="6420602" y="2088000"/>
            <a:ext cx="2304000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文字方塊 84"/>
          <p:cNvSpPr txBox="1"/>
          <p:nvPr/>
        </p:nvSpPr>
        <p:spPr>
          <a:xfrm>
            <a:off x="4429132" y="4473860"/>
            <a:ext cx="47099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Cost</a:t>
            </a:r>
            <a:r>
              <a:rPr lang="en-US" altLang="zh-TW" sz="2000" b="1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[6][1]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min{Cost[6][1], Cost[6][5] + Cost[5][1]}</a:t>
            </a: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min{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13,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4 + 4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=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8</a:t>
            </a:r>
            <a:endParaRPr lang="en-US" altLang="zh-TW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文字方塊 85"/>
          <p:cNvSpPr txBox="1"/>
          <p:nvPr/>
        </p:nvSpPr>
        <p:spPr>
          <a:xfrm>
            <a:off x="4429132" y="5549355"/>
            <a:ext cx="47099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</a:t>
            </a:r>
            <a:r>
              <a:rPr lang="en-US" altLang="zh-TW" sz="2000" b="1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[6][2]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min{Cost[6][2], Cost[6][5] + Cost[5][2]}</a:t>
            </a: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min{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15,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4 + 3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=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7</a:t>
            </a:r>
            <a:endParaRPr lang="en-US" altLang="zh-TW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圓角矩形 86"/>
          <p:cNvSpPr/>
          <p:nvPr/>
        </p:nvSpPr>
        <p:spPr>
          <a:xfrm>
            <a:off x="661598" y="5619135"/>
            <a:ext cx="3672000" cy="377958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8" name="圓角矩形 87"/>
          <p:cNvSpPr/>
          <p:nvPr/>
        </p:nvSpPr>
        <p:spPr>
          <a:xfrm>
            <a:off x="3277316" y="3645709"/>
            <a:ext cx="543229" cy="2759289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2" name="文字方塊 91"/>
          <p:cNvSpPr txBox="1"/>
          <p:nvPr/>
        </p:nvSpPr>
        <p:spPr>
          <a:xfrm>
            <a:off x="3872991" y="3710152"/>
            <a:ext cx="418803" cy="276999"/>
          </a:xfrm>
          <a:prstGeom prst="rect">
            <a:avLst/>
          </a:prstGeom>
          <a:solidFill>
            <a:srgbClr val="F3F9FA"/>
          </a:solidFill>
          <a:ln>
            <a:noFill/>
          </a:ln>
        </p:spPr>
        <p:txBody>
          <a:bodyPr wrap="square" lIns="36000" tIns="0" rIns="36000" bIns="0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9/5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文字方塊 92"/>
          <p:cNvSpPr txBox="1"/>
          <p:nvPr/>
        </p:nvSpPr>
        <p:spPr>
          <a:xfrm>
            <a:off x="3876529" y="4107111"/>
            <a:ext cx="418803" cy="276999"/>
          </a:xfrm>
          <a:prstGeom prst="rect">
            <a:avLst/>
          </a:prstGeom>
          <a:solidFill>
            <a:srgbClr val="E7F3F4"/>
          </a:solidFill>
          <a:ln>
            <a:noFill/>
          </a:ln>
        </p:spPr>
        <p:txBody>
          <a:bodyPr wrap="square" lIns="36000" tIns="0" rIns="36000" bIns="0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8/5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文字方塊 93"/>
          <p:cNvSpPr txBox="1"/>
          <p:nvPr/>
        </p:nvSpPr>
        <p:spPr>
          <a:xfrm>
            <a:off x="3876529" y="4500532"/>
            <a:ext cx="418803" cy="276999"/>
          </a:xfrm>
          <a:prstGeom prst="rect">
            <a:avLst/>
          </a:prstGeom>
          <a:solidFill>
            <a:srgbClr val="F3F9FA"/>
          </a:solidFill>
          <a:ln>
            <a:noFill/>
          </a:ln>
        </p:spPr>
        <p:txBody>
          <a:bodyPr wrap="square" lIns="36000" tIns="0" rIns="36000" bIns="0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7/5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文字方塊 94"/>
          <p:cNvSpPr txBox="1"/>
          <p:nvPr/>
        </p:nvSpPr>
        <p:spPr>
          <a:xfrm>
            <a:off x="3880067" y="4897491"/>
            <a:ext cx="418803" cy="276999"/>
          </a:xfrm>
          <a:prstGeom prst="rect">
            <a:avLst/>
          </a:prstGeom>
          <a:solidFill>
            <a:srgbClr val="E7F3F4"/>
          </a:solidFill>
          <a:ln>
            <a:noFill/>
          </a:ln>
        </p:spPr>
        <p:txBody>
          <a:bodyPr wrap="square" lIns="36000" tIns="0" rIns="36000" bIns="0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6/5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文字方塊 95"/>
          <p:cNvSpPr txBox="1"/>
          <p:nvPr/>
        </p:nvSpPr>
        <p:spPr>
          <a:xfrm>
            <a:off x="707180" y="6085467"/>
            <a:ext cx="418803" cy="276999"/>
          </a:xfrm>
          <a:prstGeom prst="rect">
            <a:avLst/>
          </a:prstGeom>
          <a:solidFill>
            <a:srgbClr val="F3F9FA"/>
          </a:solidFill>
          <a:ln>
            <a:noFill/>
          </a:ln>
        </p:spPr>
        <p:txBody>
          <a:bodyPr wrap="square" lIns="36000" tIns="0" rIns="36000" bIns="0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9/5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文字方塊 96"/>
          <p:cNvSpPr txBox="1"/>
          <p:nvPr/>
        </p:nvSpPr>
        <p:spPr>
          <a:xfrm>
            <a:off x="1766393" y="6085467"/>
            <a:ext cx="418803" cy="276999"/>
          </a:xfrm>
          <a:prstGeom prst="rect">
            <a:avLst/>
          </a:prstGeom>
          <a:solidFill>
            <a:srgbClr val="F3F9FA"/>
          </a:solidFill>
          <a:ln>
            <a:noFill/>
          </a:ln>
        </p:spPr>
        <p:txBody>
          <a:bodyPr wrap="square" lIns="36000" tIns="0" rIns="36000" bIns="0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7/5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文字方塊 97"/>
          <p:cNvSpPr txBox="1"/>
          <p:nvPr/>
        </p:nvSpPr>
        <p:spPr>
          <a:xfrm>
            <a:off x="1241980" y="6085843"/>
            <a:ext cx="418803" cy="276999"/>
          </a:xfrm>
          <a:prstGeom prst="rect">
            <a:avLst/>
          </a:prstGeom>
          <a:solidFill>
            <a:srgbClr val="F3F9FA"/>
          </a:solidFill>
          <a:ln>
            <a:noFill/>
          </a:ln>
        </p:spPr>
        <p:txBody>
          <a:bodyPr wrap="square" lIns="36000" tIns="0" rIns="36000" bIns="0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8/5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文字方塊 98"/>
          <p:cNvSpPr txBox="1"/>
          <p:nvPr/>
        </p:nvSpPr>
        <p:spPr>
          <a:xfrm>
            <a:off x="2296280" y="6089085"/>
            <a:ext cx="418803" cy="276999"/>
          </a:xfrm>
          <a:prstGeom prst="rect">
            <a:avLst/>
          </a:prstGeom>
          <a:solidFill>
            <a:srgbClr val="F3F9FA"/>
          </a:solidFill>
          <a:ln>
            <a:noFill/>
          </a:ln>
        </p:spPr>
        <p:txBody>
          <a:bodyPr wrap="square" lIns="36000" tIns="0" rIns="36000" bIns="0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6/5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橢圓 99"/>
          <p:cNvSpPr/>
          <p:nvPr/>
        </p:nvSpPr>
        <p:spPr>
          <a:xfrm>
            <a:off x="663600" y="6008337"/>
            <a:ext cx="504000" cy="401829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1" name="橢圓 100"/>
          <p:cNvSpPr/>
          <p:nvPr/>
        </p:nvSpPr>
        <p:spPr>
          <a:xfrm>
            <a:off x="1191096" y="6013953"/>
            <a:ext cx="504000" cy="401829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2" name="橢圓 101"/>
          <p:cNvSpPr/>
          <p:nvPr/>
        </p:nvSpPr>
        <p:spPr>
          <a:xfrm>
            <a:off x="1726995" y="6008310"/>
            <a:ext cx="504000" cy="401829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4689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8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4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0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0" grpId="1" animBg="1"/>
      <p:bldP spid="101" grpId="0" animBg="1"/>
      <p:bldP spid="101" grpId="1" animBg="1"/>
      <p:bldP spid="102" grpId="0" animBg="1"/>
      <p:bldP spid="102" grpId="1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Floyd </a:t>
            </a:r>
            <a:r>
              <a:rPr lang="zh-TW" altLang="en-US" dirty="0"/>
              <a:t>演算法 </a:t>
            </a:r>
            <a:r>
              <a:rPr lang="en-US" altLang="zh-TW" dirty="0"/>
              <a:t>(8/10)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37</a:t>
            </a:fld>
            <a:endParaRPr lang="en-US" dirty="0"/>
          </a:p>
        </p:txBody>
      </p:sp>
      <p:graphicFrame>
        <p:nvGraphicFramePr>
          <p:cNvPr id="7" name="內容版面配置區 60"/>
          <p:cNvGraphicFramePr>
            <a:graphicFrameLocks/>
          </p:cNvGraphicFramePr>
          <p:nvPr/>
        </p:nvGraphicFramePr>
        <p:xfrm>
          <a:off x="662040" y="3645986"/>
          <a:ext cx="3690750" cy="2759015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2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8/3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5/3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9/5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5/0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7/3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4/3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8/5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5/0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9/3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7/5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6/5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8/3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7/3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9/3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7/3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6/6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5/3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4/3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7/3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4/6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9/5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8/5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7/5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6/5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0/6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8" name="群組 7"/>
          <p:cNvGrpSpPr/>
          <p:nvPr/>
        </p:nvGrpSpPr>
        <p:grpSpPr>
          <a:xfrm>
            <a:off x="1113633" y="1851693"/>
            <a:ext cx="916823" cy="369332"/>
            <a:chOff x="1369380" y="1970119"/>
            <a:chExt cx="916823" cy="369332"/>
          </a:xfrm>
        </p:grpSpPr>
        <p:cxnSp>
          <p:nvCxnSpPr>
            <p:cNvPr id="9" name="直線接點 8"/>
            <p:cNvCxnSpPr>
              <a:stCxn id="48" idx="2"/>
              <a:endCxn id="39" idx="6"/>
            </p:cNvCxnSpPr>
            <p:nvPr/>
          </p:nvCxnSpPr>
          <p:spPr>
            <a:xfrm flipH="1">
              <a:off x="1369380" y="2258297"/>
              <a:ext cx="916823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字方塊 9"/>
            <p:cNvSpPr txBox="1"/>
            <p:nvPr/>
          </p:nvSpPr>
          <p:spPr>
            <a:xfrm>
              <a:off x="1682064" y="197011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" name="群組 10"/>
          <p:cNvGrpSpPr/>
          <p:nvPr/>
        </p:nvGrpSpPr>
        <p:grpSpPr>
          <a:xfrm>
            <a:off x="1054786" y="1551060"/>
            <a:ext cx="419749" cy="486988"/>
            <a:chOff x="1310533" y="1669486"/>
            <a:chExt cx="419749" cy="486988"/>
          </a:xfrm>
        </p:grpSpPr>
        <p:cxnSp>
          <p:nvCxnSpPr>
            <p:cNvPr id="12" name="直線接點 11"/>
            <p:cNvCxnSpPr>
              <a:stCxn id="39" idx="7"/>
              <a:endCxn id="42" idx="3"/>
            </p:cNvCxnSpPr>
            <p:nvPr/>
          </p:nvCxnSpPr>
          <p:spPr>
            <a:xfrm flipV="1">
              <a:off x="1327203" y="1736700"/>
              <a:ext cx="403079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字方塊 12"/>
            <p:cNvSpPr txBox="1"/>
            <p:nvPr/>
          </p:nvSpPr>
          <p:spPr>
            <a:xfrm>
              <a:off x="1310533" y="166948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" name="群組 13"/>
          <p:cNvGrpSpPr/>
          <p:nvPr/>
        </p:nvGrpSpPr>
        <p:grpSpPr>
          <a:xfrm>
            <a:off x="1054786" y="2241694"/>
            <a:ext cx="419749" cy="445481"/>
            <a:chOff x="1310533" y="2360120"/>
            <a:chExt cx="419749" cy="445481"/>
          </a:xfrm>
        </p:grpSpPr>
        <p:cxnSp>
          <p:nvCxnSpPr>
            <p:cNvPr id="15" name="直線接點 14"/>
            <p:cNvCxnSpPr>
              <a:stCxn id="45" idx="1"/>
              <a:endCxn id="39" idx="5"/>
            </p:cNvCxnSpPr>
            <p:nvPr/>
          </p:nvCxnSpPr>
          <p:spPr>
            <a:xfrm flipH="1" flipV="1">
              <a:off x="1327203" y="2360120"/>
              <a:ext cx="403079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字方塊 15"/>
            <p:cNvSpPr txBox="1"/>
            <p:nvPr/>
          </p:nvSpPr>
          <p:spPr>
            <a:xfrm>
              <a:off x="1310533" y="243626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" name="群組 16"/>
          <p:cNvGrpSpPr/>
          <p:nvPr/>
        </p:nvGrpSpPr>
        <p:grpSpPr>
          <a:xfrm>
            <a:off x="1678181" y="1531033"/>
            <a:ext cx="411886" cy="507015"/>
            <a:chOff x="1933928" y="1649459"/>
            <a:chExt cx="411886" cy="507015"/>
          </a:xfrm>
        </p:grpSpPr>
        <p:cxnSp>
          <p:nvCxnSpPr>
            <p:cNvPr id="18" name="直線接點 17"/>
            <p:cNvCxnSpPr>
              <a:stCxn id="48" idx="1"/>
              <a:endCxn id="42" idx="5"/>
            </p:cNvCxnSpPr>
            <p:nvPr/>
          </p:nvCxnSpPr>
          <p:spPr>
            <a:xfrm flipH="1" flipV="1">
              <a:off x="1933928" y="1736700"/>
              <a:ext cx="394452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字方塊 18"/>
            <p:cNvSpPr txBox="1"/>
            <p:nvPr/>
          </p:nvSpPr>
          <p:spPr>
            <a:xfrm>
              <a:off x="2045732" y="164945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" name="群組 19"/>
          <p:cNvGrpSpPr/>
          <p:nvPr/>
        </p:nvGrpSpPr>
        <p:grpSpPr>
          <a:xfrm>
            <a:off x="1678181" y="2241694"/>
            <a:ext cx="411886" cy="425454"/>
            <a:chOff x="1933928" y="2360120"/>
            <a:chExt cx="411886" cy="425454"/>
          </a:xfrm>
        </p:grpSpPr>
        <p:cxnSp>
          <p:nvCxnSpPr>
            <p:cNvPr id="21" name="直線接點 20"/>
            <p:cNvCxnSpPr>
              <a:stCxn id="48" idx="3"/>
              <a:endCxn id="45" idx="7"/>
            </p:cNvCxnSpPr>
            <p:nvPr/>
          </p:nvCxnSpPr>
          <p:spPr>
            <a:xfrm flipH="1">
              <a:off x="1933928" y="2360120"/>
              <a:ext cx="394452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字方塊 21"/>
            <p:cNvSpPr txBox="1"/>
            <p:nvPr/>
          </p:nvSpPr>
          <p:spPr>
            <a:xfrm>
              <a:off x="2045732" y="241624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3" name="群組 22"/>
          <p:cNvGrpSpPr/>
          <p:nvPr/>
        </p:nvGrpSpPr>
        <p:grpSpPr>
          <a:xfrm>
            <a:off x="2276279" y="1518794"/>
            <a:ext cx="627365" cy="519254"/>
            <a:chOff x="2532026" y="1637220"/>
            <a:chExt cx="627365" cy="519254"/>
          </a:xfrm>
        </p:grpSpPr>
        <p:cxnSp>
          <p:nvCxnSpPr>
            <p:cNvPr id="24" name="直線接點 23"/>
            <p:cNvCxnSpPr>
              <a:stCxn id="51" idx="3"/>
              <a:endCxn id="48" idx="7"/>
            </p:cNvCxnSpPr>
            <p:nvPr/>
          </p:nvCxnSpPr>
          <p:spPr>
            <a:xfrm flipH="1">
              <a:off x="2532026" y="1736700"/>
              <a:ext cx="627365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文字方塊 24"/>
            <p:cNvSpPr txBox="1"/>
            <p:nvPr/>
          </p:nvSpPr>
          <p:spPr>
            <a:xfrm>
              <a:off x="2667499" y="163722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6" name="群組 25"/>
          <p:cNvGrpSpPr/>
          <p:nvPr/>
        </p:nvGrpSpPr>
        <p:grpSpPr>
          <a:xfrm>
            <a:off x="2276279" y="2241694"/>
            <a:ext cx="627365" cy="413215"/>
            <a:chOff x="2532026" y="2360120"/>
            <a:chExt cx="627365" cy="413215"/>
          </a:xfrm>
        </p:grpSpPr>
        <p:cxnSp>
          <p:nvCxnSpPr>
            <p:cNvPr id="27" name="直線接點 26"/>
            <p:cNvCxnSpPr>
              <a:stCxn id="54" idx="1"/>
              <a:endCxn id="48" idx="5"/>
            </p:cNvCxnSpPr>
            <p:nvPr/>
          </p:nvCxnSpPr>
          <p:spPr>
            <a:xfrm flipH="1" flipV="1">
              <a:off x="2532026" y="2360120"/>
              <a:ext cx="627365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字方塊 27"/>
            <p:cNvSpPr txBox="1"/>
            <p:nvPr/>
          </p:nvSpPr>
          <p:spPr>
            <a:xfrm>
              <a:off x="2581239" y="240400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9" name="群組 28"/>
          <p:cNvGrpSpPr/>
          <p:nvPr/>
        </p:nvGrpSpPr>
        <p:grpSpPr>
          <a:xfrm>
            <a:off x="3107290" y="1531033"/>
            <a:ext cx="653245" cy="507015"/>
            <a:chOff x="3363037" y="1649459"/>
            <a:chExt cx="653245" cy="507015"/>
          </a:xfrm>
        </p:grpSpPr>
        <p:cxnSp>
          <p:nvCxnSpPr>
            <p:cNvPr id="30" name="直線接點 29"/>
            <p:cNvCxnSpPr>
              <a:stCxn id="57" idx="1"/>
              <a:endCxn id="51" idx="5"/>
            </p:cNvCxnSpPr>
            <p:nvPr/>
          </p:nvCxnSpPr>
          <p:spPr>
            <a:xfrm flipH="1" flipV="1">
              <a:off x="3363037" y="1736700"/>
              <a:ext cx="653245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文字方塊 30"/>
            <p:cNvSpPr txBox="1"/>
            <p:nvPr/>
          </p:nvSpPr>
          <p:spPr>
            <a:xfrm>
              <a:off x="3582748" y="164945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2" name="群組 31"/>
          <p:cNvGrpSpPr/>
          <p:nvPr/>
        </p:nvGrpSpPr>
        <p:grpSpPr>
          <a:xfrm>
            <a:off x="3107290" y="2241694"/>
            <a:ext cx="653245" cy="425454"/>
            <a:chOff x="3363037" y="2360120"/>
            <a:chExt cx="653245" cy="425454"/>
          </a:xfrm>
        </p:grpSpPr>
        <p:cxnSp>
          <p:nvCxnSpPr>
            <p:cNvPr id="33" name="直線接點 32"/>
            <p:cNvCxnSpPr>
              <a:stCxn id="57" idx="3"/>
              <a:endCxn id="54" idx="7"/>
            </p:cNvCxnSpPr>
            <p:nvPr/>
          </p:nvCxnSpPr>
          <p:spPr>
            <a:xfrm flipH="1">
              <a:off x="3363037" y="2360120"/>
              <a:ext cx="653245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文字方塊 33"/>
            <p:cNvSpPr txBox="1"/>
            <p:nvPr/>
          </p:nvSpPr>
          <p:spPr>
            <a:xfrm>
              <a:off x="3608626" y="241624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5" name="群組 34"/>
          <p:cNvGrpSpPr/>
          <p:nvPr/>
        </p:nvGrpSpPr>
        <p:grpSpPr>
          <a:xfrm>
            <a:off x="1720358" y="2657165"/>
            <a:ext cx="1141109" cy="369332"/>
            <a:chOff x="1254795" y="2775591"/>
            <a:chExt cx="1141109" cy="369332"/>
          </a:xfrm>
        </p:grpSpPr>
        <p:cxnSp>
          <p:nvCxnSpPr>
            <p:cNvPr id="36" name="直線接點 35"/>
            <p:cNvCxnSpPr>
              <a:stCxn id="54" idx="2"/>
              <a:endCxn id="45" idx="6"/>
            </p:cNvCxnSpPr>
            <p:nvPr/>
          </p:nvCxnSpPr>
          <p:spPr>
            <a:xfrm flipH="1">
              <a:off x="1254795" y="2854072"/>
              <a:ext cx="1141109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文字方塊 36"/>
            <p:cNvSpPr txBox="1"/>
            <p:nvPr/>
          </p:nvSpPr>
          <p:spPr>
            <a:xfrm>
              <a:off x="1660675" y="2775591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8" name="群組 37"/>
          <p:cNvGrpSpPr/>
          <p:nvPr/>
        </p:nvGrpSpPr>
        <p:grpSpPr>
          <a:xfrm>
            <a:off x="787532" y="1912075"/>
            <a:ext cx="364202" cy="371796"/>
            <a:chOff x="1043279" y="2030501"/>
            <a:chExt cx="364202" cy="371796"/>
          </a:xfrm>
        </p:grpSpPr>
        <p:sp>
          <p:nvSpPr>
            <p:cNvPr id="39" name="橢圓 38"/>
            <p:cNvSpPr/>
            <p:nvPr/>
          </p:nvSpPr>
          <p:spPr>
            <a:xfrm>
              <a:off x="1081380" y="211429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0" name="文字方塊 39"/>
            <p:cNvSpPr txBox="1"/>
            <p:nvPr/>
          </p:nvSpPr>
          <p:spPr>
            <a:xfrm>
              <a:off x="1043279" y="203050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1" name="群組 40"/>
          <p:cNvGrpSpPr/>
          <p:nvPr/>
        </p:nvGrpSpPr>
        <p:grpSpPr>
          <a:xfrm>
            <a:off x="1394257" y="1288779"/>
            <a:ext cx="364202" cy="371672"/>
            <a:chOff x="1650004" y="1407205"/>
            <a:chExt cx="364202" cy="371672"/>
          </a:xfrm>
        </p:grpSpPr>
        <p:sp>
          <p:nvSpPr>
            <p:cNvPr id="42" name="橢圓 41"/>
            <p:cNvSpPr/>
            <p:nvPr/>
          </p:nvSpPr>
          <p:spPr>
            <a:xfrm>
              <a:off x="1688105" y="149087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3" name="文字方塊 42"/>
            <p:cNvSpPr txBox="1"/>
            <p:nvPr/>
          </p:nvSpPr>
          <p:spPr>
            <a:xfrm>
              <a:off x="1650004" y="1407205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4" name="群組 43"/>
          <p:cNvGrpSpPr/>
          <p:nvPr/>
        </p:nvGrpSpPr>
        <p:grpSpPr>
          <a:xfrm>
            <a:off x="1394257" y="2507850"/>
            <a:ext cx="364202" cy="371796"/>
            <a:chOff x="1650004" y="2626276"/>
            <a:chExt cx="364202" cy="371796"/>
          </a:xfrm>
        </p:grpSpPr>
        <p:sp>
          <p:nvSpPr>
            <p:cNvPr id="45" name="橢圓 44"/>
            <p:cNvSpPr/>
            <p:nvPr/>
          </p:nvSpPr>
          <p:spPr>
            <a:xfrm>
              <a:off x="1688105" y="2710072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6" name="文字方塊 45"/>
            <p:cNvSpPr txBox="1"/>
            <p:nvPr/>
          </p:nvSpPr>
          <p:spPr>
            <a:xfrm>
              <a:off x="1650004" y="262627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7" name="群組 46"/>
          <p:cNvGrpSpPr/>
          <p:nvPr/>
        </p:nvGrpSpPr>
        <p:grpSpPr>
          <a:xfrm>
            <a:off x="1983729" y="1912075"/>
            <a:ext cx="364202" cy="371796"/>
            <a:chOff x="2239476" y="2030501"/>
            <a:chExt cx="364202" cy="371796"/>
          </a:xfrm>
        </p:grpSpPr>
        <p:sp>
          <p:nvSpPr>
            <p:cNvPr id="48" name="橢圓 47"/>
            <p:cNvSpPr/>
            <p:nvPr/>
          </p:nvSpPr>
          <p:spPr>
            <a:xfrm>
              <a:off x="2286203" y="211429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9" name="文字方塊 48"/>
            <p:cNvSpPr txBox="1"/>
            <p:nvPr/>
          </p:nvSpPr>
          <p:spPr>
            <a:xfrm>
              <a:off x="2239476" y="203050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0" name="群組 49"/>
          <p:cNvGrpSpPr/>
          <p:nvPr/>
        </p:nvGrpSpPr>
        <p:grpSpPr>
          <a:xfrm>
            <a:off x="2823366" y="1288655"/>
            <a:ext cx="364202" cy="371796"/>
            <a:chOff x="3079113" y="1407081"/>
            <a:chExt cx="364202" cy="371796"/>
          </a:xfrm>
        </p:grpSpPr>
        <p:sp>
          <p:nvSpPr>
            <p:cNvPr id="51" name="橢圓 50"/>
            <p:cNvSpPr/>
            <p:nvPr/>
          </p:nvSpPr>
          <p:spPr>
            <a:xfrm>
              <a:off x="3117214" y="149087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2" name="文字方塊 51"/>
            <p:cNvSpPr txBox="1"/>
            <p:nvPr/>
          </p:nvSpPr>
          <p:spPr>
            <a:xfrm>
              <a:off x="3079113" y="140708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3" name="群組 52"/>
          <p:cNvGrpSpPr/>
          <p:nvPr/>
        </p:nvGrpSpPr>
        <p:grpSpPr>
          <a:xfrm>
            <a:off x="2813406" y="2507850"/>
            <a:ext cx="364202" cy="371796"/>
            <a:chOff x="3069153" y="2626276"/>
            <a:chExt cx="364202" cy="371796"/>
          </a:xfrm>
        </p:grpSpPr>
        <p:sp>
          <p:nvSpPr>
            <p:cNvPr id="54" name="橢圓 53"/>
            <p:cNvSpPr/>
            <p:nvPr/>
          </p:nvSpPr>
          <p:spPr>
            <a:xfrm>
              <a:off x="3117214" y="2710072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5" name="文字方塊 54"/>
            <p:cNvSpPr txBox="1"/>
            <p:nvPr/>
          </p:nvSpPr>
          <p:spPr>
            <a:xfrm>
              <a:off x="3069153" y="262627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6" name="群組 55"/>
          <p:cNvGrpSpPr/>
          <p:nvPr/>
        </p:nvGrpSpPr>
        <p:grpSpPr>
          <a:xfrm>
            <a:off x="3680257" y="1913593"/>
            <a:ext cx="364202" cy="370278"/>
            <a:chOff x="3936004" y="2032019"/>
            <a:chExt cx="364202" cy="370278"/>
          </a:xfrm>
        </p:grpSpPr>
        <p:sp>
          <p:nvSpPr>
            <p:cNvPr id="57" name="橢圓 56"/>
            <p:cNvSpPr/>
            <p:nvPr/>
          </p:nvSpPr>
          <p:spPr>
            <a:xfrm>
              <a:off x="3974105" y="211429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8" name="文字方塊 57"/>
            <p:cNvSpPr txBox="1"/>
            <p:nvPr/>
          </p:nvSpPr>
          <p:spPr>
            <a:xfrm>
              <a:off x="3936004" y="2032019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9" name="群組 58"/>
          <p:cNvGrpSpPr/>
          <p:nvPr/>
        </p:nvGrpSpPr>
        <p:grpSpPr>
          <a:xfrm>
            <a:off x="297396" y="3272065"/>
            <a:ext cx="3961108" cy="3132934"/>
            <a:chOff x="381848" y="3292760"/>
            <a:chExt cx="3961108" cy="3132934"/>
          </a:xfrm>
        </p:grpSpPr>
        <p:sp>
          <p:nvSpPr>
            <p:cNvPr id="60" name="文字方塊 59"/>
            <p:cNvSpPr txBox="1"/>
            <p:nvPr/>
          </p:nvSpPr>
          <p:spPr>
            <a:xfrm>
              <a:off x="833298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文字方塊 60"/>
            <p:cNvSpPr txBox="1"/>
            <p:nvPr/>
          </p:nvSpPr>
          <p:spPr>
            <a:xfrm>
              <a:off x="1359767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文字方塊 61"/>
            <p:cNvSpPr txBox="1"/>
            <p:nvPr/>
          </p:nvSpPr>
          <p:spPr>
            <a:xfrm>
              <a:off x="1882744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文字方塊 62"/>
            <p:cNvSpPr txBox="1"/>
            <p:nvPr/>
          </p:nvSpPr>
          <p:spPr>
            <a:xfrm>
              <a:off x="2409213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文字方塊 63"/>
            <p:cNvSpPr txBox="1"/>
            <p:nvPr/>
          </p:nvSpPr>
          <p:spPr>
            <a:xfrm>
              <a:off x="2929308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文字方塊 64"/>
            <p:cNvSpPr txBox="1"/>
            <p:nvPr/>
          </p:nvSpPr>
          <p:spPr>
            <a:xfrm>
              <a:off x="3452285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文字方塊 65"/>
            <p:cNvSpPr txBox="1"/>
            <p:nvPr/>
          </p:nvSpPr>
          <p:spPr>
            <a:xfrm>
              <a:off x="3978754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文字方塊 66"/>
            <p:cNvSpPr txBox="1"/>
            <p:nvPr/>
          </p:nvSpPr>
          <p:spPr>
            <a:xfrm>
              <a:off x="381848" y="3670718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" name="文字方塊 67"/>
            <p:cNvSpPr txBox="1"/>
            <p:nvPr/>
          </p:nvSpPr>
          <p:spPr>
            <a:xfrm>
              <a:off x="381848" y="408318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文字方塊 68"/>
            <p:cNvSpPr txBox="1"/>
            <p:nvPr/>
          </p:nvSpPr>
          <p:spPr>
            <a:xfrm>
              <a:off x="381848" y="4469764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文字方塊 69"/>
            <p:cNvSpPr txBox="1"/>
            <p:nvPr/>
          </p:nvSpPr>
          <p:spPr>
            <a:xfrm>
              <a:off x="381848" y="4856348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文字方塊 70"/>
            <p:cNvSpPr txBox="1"/>
            <p:nvPr/>
          </p:nvSpPr>
          <p:spPr>
            <a:xfrm>
              <a:off x="381848" y="5265942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文字方塊 71"/>
            <p:cNvSpPr txBox="1"/>
            <p:nvPr/>
          </p:nvSpPr>
          <p:spPr>
            <a:xfrm>
              <a:off x="381848" y="5661152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文字方塊 72"/>
            <p:cNvSpPr txBox="1"/>
            <p:nvPr/>
          </p:nvSpPr>
          <p:spPr>
            <a:xfrm>
              <a:off x="381848" y="6056362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4" name="文字方塊 73"/>
          <p:cNvSpPr txBox="1"/>
          <p:nvPr/>
        </p:nvSpPr>
        <p:spPr>
          <a:xfrm>
            <a:off x="40158" y="2977377"/>
            <a:ext cx="14173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Cost[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文字方塊 74"/>
          <p:cNvSpPr txBox="1"/>
          <p:nvPr/>
        </p:nvSpPr>
        <p:spPr>
          <a:xfrm>
            <a:off x="4429132" y="3400887"/>
            <a:ext cx="47099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</a:t>
            </a:r>
            <a:r>
              <a:rPr lang="en-US" altLang="zh-TW" sz="2000" b="1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[0][1]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min{Cost[0][1], Cost[0][6] + Cost[6][1]}</a:t>
            </a: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min{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1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, 9 + 8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=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79" name="文字方塊 78"/>
          <p:cNvSpPr txBox="1"/>
          <p:nvPr/>
        </p:nvSpPr>
        <p:spPr>
          <a:xfrm>
            <a:off x="4450398" y="1422476"/>
            <a:ext cx="45079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Cost</a:t>
            </a:r>
            <a:r>
              <a:rPr lang="en-US" altLang="zh-TW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min{Cost[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], Cost[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][1] + Cost[1][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]}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AutoShape 193"/>
          <p:cNvSpPr>
            <a:spLocks noChangeArrowheads="1"/>
          </p:cNvSpPr>
          <p:nvPr/>
        </p:nvSpPr>
        <p:spPr bwMode="auto">
          <a:xfrm>
            <a:off x="4076403" y="2317843"/>
            <a:ext cx="1365445" cy="749523"/>
          </a:xfrm>
          <a:prstGeom prst="wedgeRoundRectCallout">
            <a:avLst>
              <a:gd name="adj1" fmla="val 70979"/>
              <a:gd name="adj2" fmla="val -64318"/>
              <a:gd name="adj3" fmla="val 16667"/>
            </a:avLst>
          </a:prstGeom>
          <a:noFill/>
          <a:ln w="28575">
            <a:solidFill>
              <a:schemeClr val="accent3">
                <a:lumMod val="7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9pPr>
          </a:lstStyle>
          <a:p>
            <a:pPr algn="ctr" eaLnBrk="1" hangingPunct="1"/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原來</a:t>
            </a:r>
            <a:r>
              <a:rPr lang="en-US" altLang="zh-TW" sz="2000" b="1" i="1" dirty="0">
                <a:ea typeface="標楷體" panose="03000509000000000000" pitchFamily="65" charset="-120"/>
                <a:cs typeface="Times New Roman" panose="02020603050405020304" pitchFamily="18" charset="0"/>
              </a:rPr>
              <a:t>v</a:t>
            </a:r>
            <a:r>
              <a:rPr lang="en-US" altLang="zh-TW" sz="2000" b="1" i="1" baseline="-25000" dirty="0"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ea typeface="標楷體" panose="03000509000000000000" pitchFamily="65" charset="-120"/>
                <a:cs typeface="Times New Roman" panose="02020603050405020304" pitchFamily="18" charset="0"/>
              </a:rPr>
              <a:t> ~ </a:t>
            </a:r>
            <a:r>
              <a:rPr lang="en-US" altLang="zh-TW" sz="2000" b="1" i="1" dirty="0" err="1">
                <a:ea typeface="標楷體" panose="03000509000000000000" pitchFamily="65" charset="-120"/>
                <a:cs typeface="Times New Roman" panose="02020603050405020304" pitchFamily="18" charset="0"/>
              </a:rPr>
              <a:t>v</a:t>
            </a:r>
            <a:r>
              <a:rPr lang="en-US" altLang="zh-TW" sz="2000" b="1" i="1" baseline="-25000" dirty="0" err="1">
                <a:ea typeface="標楷體" panose="03000509000000000000" pitchFamily="65" charset="-120"/>
                <a:cs typeface="Times New Roman" panose="02020603050405020304" pitchFamily="18" charset="0"/>
              </a:rPr>
              <a:t>j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的距離</a:t>
            </a:r>
          </a:p>
        </p:txBody>
      </p:sp>
      <p:sp>
        <p:nvSpPr>
          <p:cNvPr id="81" name="AutoShape 194"/>
          <p:cNvSpPr>
            <a:spLocks noChangeArrowheads="1"/>
          </p:cNvSpPr>
          <p:nvPr/>
        </p:nvSpPr>
        <p:spPr bwMode="auto">
          <a:xfrm>
            <a:off x="7572602" y="2359965"/>
            <a:ext cx="1295400" cy="751361"/>
          </a:xfrm>
          <a:prstGeom prst="wedgeRoundRectCallout">
            <a:avLst>
              <a:gd name="adj1" fmla="val -74098"/>
              <a:gd name="adj2" fmla="val -70166"/>
              <a:gd name="adj3" fmla="val 16667"/>
            </a:avLst>
          </a:prstGeom>
          <a:noFill/>
          <a:ln w="28575">
            <a:solidFill>
              <a:srgbClr val="7030A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9pPr>
          </a:lstStyle>
          <a:p>
            <a:pPr algn="ctr" eaLnBrk="1" hangingPunct="1"/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經過</a:t>
            </a:r>
            <a:r>
              <a:rPr lang="en-US" altLang="zh-TW" sz="2000" b="1" i="1" dirty="0">
                <a:ea typeface="標楷體" panose="03000509000000000000" pitchFamily="65" charset="-12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ea typeface="標楷體" panose="03000509000000000000" pitchFamily="65" charset="-120"/>
                <a:cs typeface="Times New Roman" panose="02020603050405020304" pitchFamily="18" charset="0"/>
              </a:rPr>
              <a:t>0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的距離</a:t>
            </a:r>
          </a:p>
        </p:txBody>
      </p:sp>
      <p:cxnSp>
        <p:nvCxnSpPr>
          <p:cNvPr id="82" name="直線接點 81"/>
          <p:cNvCxnSpPr/>
          <p:nvPr/>
        </p:nvCxnSpPr>
        <p:spPr>
          <a:xfrm>
            <a:off x="5276388" y="2088000"/>
            <a:ext cx="936000" cy="0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接點 82"/>
          <p:cNvCxnSpPr/>
          <p:nvPr/>
        </p:nvCxnSpPr>
        <p:spPr>
          <a:xfrm>
            <a:off x="6420602" y="2088000"/>
            <a:ext cx="2304000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文字方塊 84"/>
          <p:cNvSpPr txBox="1"/>
          <p:nvPr/>
        </p:nvSpPr>
        <p:spPr>
          <a:xfrm>
            <a:off x="4429132" y="4473860"/>
            <a:ext cx="47099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Cost</a:t>
            </a:r>
            <a:r>
              <a:rPr lang="en-US" altLang="zh-TW" sz="2000" b="1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[2][3]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min{Cost[2][3], Cost[2][6] + Cost[6][3]}</a:t>
            </a: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min{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4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, 7 + 6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=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4</a:t>
            </a:r>
            <a:endParaRPr lang="en-US" altLang="zh-TW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文字方塊 85"/>
          <p:cNvSpPr txBox="1"/>
          <p:nvPr/>
        </p:nvSpPr>
        <p:spPr>
          <a:xfrm>
            <a:off x="4429132" y="5549355"/>
            <a:ext cx="47099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</a:t>
            </a:r>
            <a:r>
              <a:rPr lang="en-US" altLang="zh-TW" sz="2000" b="1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[4][5]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min{Cost[4][5], Cost[4][6] + Cost[6][5]}</a:t>
            </a: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min{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7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, 6 + 4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=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7</a:t>
            </a:r>
            <a:endParaRPr lang="en-US" altLang="zh-TW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圓角矩形 86"/>
          <p:cNvSpPr/>
          <p:nvPr/>
        </p:nvSpPr>
        <p:spPr>
          <a:xfrm>
            <a:off x="661598" y="6012556"/>
            <a:ext cx="3672000" cy="377958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8" name="圓角矩形 87"/>
          <p:cNvSpPr/>
          <p:nvPr/>
        </p:nvSpPr>
        <p:spPr>
          <a:xfrm>
            <a:off x="3808966" y="3645709"/>
            <a:ext cx="543229" cy="2759289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4" name="橢圓 83"/>
          <p:cNvSpPr/>
          <p:nvPr/>
        </p:nvSpPr>
        <p:spPr>
          <a:xfrm>
            <a:off x="1196713" y="3633774"/>
            <a:ext cx="504000" cy="401829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9" name="橢圓 88"/>
          <p:cNvSpPr/>
          <p:nvPr/>
        </p:nvSpPr>
        <p:spPr>
          <a:xfrm>
            <a:off x="2244799" y="4427183"/>
            <a:ext cx="504000" cy="401829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0" name="橢圓 89"/>
          <p:cNvSpPr/>
          <p:nvPr/>
        </p:nvSpPr>
        <p:spPr>
          <a:xfrm>
            <a:off x="3310929" y="5223383"/>
            <a:ext cx="504000" cy="401829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5821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8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7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animBg="1"/>
      <p:bldP spid="88" grpId="0" animBg="1"/>
      <p:bldP spid="84" grpId="0" animBg="1"/>
      <p:bldP spid="84" grpId="1" animBg="1"/>
      <p:bldP spid="89" grpId="0" animBg="1"/>
      <p:bldP spid="89" grpId="1" animBg="1"/>
      <p:bldP spid="90" grpId="0" animBg="1"/>
      <p:bldP spid="90" grpId="1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Floyd </a:t>
            </a:r>
            <a:r>
              <a:rPr lang="zh-TW" altLang="en-US" dirty="0"/>
              <a:t>演算法 </a:t>
            </a:r>
            <a:r>
              <a:rPr lang="en-US" altLang="zh-TW" dirty="0"/>
              <a:t>(9/10)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38</a:t>
            </a:fld>
            <a:endParaRPr lang="en-US" dirty="0"/>
          </a:p>
        </p:txBody>
      </p:sp>
      <p:graphicFrame>
        <p:nvGraphicFramePr>
          <p:cNvPr id="7" name="內容版面配置區 60"/>
          <p:cNvGraphicFramePr>
            <a:graphicFrameLocks/>
          </p:cNvGraphicFramePr>
          <p:nvPr/>
        </p:nvGraphicFramePr>
        <p:xfrm>
          <a:off x="662040" y="3645986"/>
          <a:ext cx="3690750" cy="2759015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2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7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8/3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5/3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9/5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5/0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7/3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4/3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8/5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5/0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9/3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7/5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2/1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6/5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8/3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7/3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9/3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7/3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6/6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5/3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4/3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3/2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7/3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4/6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41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9/5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8/5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7/5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6/5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6/4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4/5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0/6</a:t>
                      </a:r>
                      <a:endParaRPr lang="zh-TW" alt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8" name="群組 7"/>
          <p:cNvGrpSpPr/>
          <p:nvPr/>
        </p:nvGrpSpPr>
        <p:grpSpPr>
          <a:xfrm>
            <a:off x="1113633" y="1851693"/>
            <a:ext cx="916823" cy="369332"/>
            <a:chOff x="1369380" y="1970119"/>
            <a:chExt cx="916823" cy="369332"/>
          </a:xfrm>
        </p:grpSpPr>
        <p:cxnSp>
          <p:nvCxnSpPr>
            <p:cNvPr id="9" name="直線接點 8"/>
            <p:cNvCxnSpPr>
              <a:stCxn id="48" idx="2"/>
              <a:endCxn id="39" idx="6"/>
            </p:cNvCxnSpPr>
            <p:nvPr/>
          </p:nvCxnSpPr>
          <p:spPr>
            <a:xfrm flipH="1">
              <a:off x="1369380" y="2258297"/>
              <a:ext cx="916823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字方塊 9"/>
            <p:cNvSpPr txBox="1"/>
            <p:nvPr/>
          </p:nvSpPr>
          <p:spPr>
            <a:xfrm>
              <a:off x="1682064" y="197011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" name="群組 10"/>
          <p:cNvGrpSpPr/>
          <p:nvPr/>
        </p:nvGrpSpPr>
        <p:grpSpPr>
          <a:xfrm>
            <a:off x="1054786" y="1551060"/>
            <a:ext cx="419749" cy="486988"/>
            <a:chOff x="1310533" y="1669486"/>
            <a:chExt cx="419749" cy="486988"/>
          </a:xfrm>
        </p:grpSpPr>
        <p:cxnSp>
          <p:nvCxnSpPr>
            <p:cNvPr id="12" name="直線接點 11"/>
            <p:cNvCxnSpPr>
              <a:stCxn id="39" idx="7"/>
              <a:endCxn id="42" idx="3"/>
            </p:cNvCxnSpPr>
            <p:nvPr/>
          </p:nvCxnSpPr>
          <p:spPr>
            <a:xfrm flipV="1">
              <a:off x="1327203" y="1736700"/>
              <a:ext cx="403079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字方塊 12"/>
            <p:cNvSpPr txBox="1"/>
            <p:nvPr/>
          </p:nvSpPr>
          <p:spPr>
            <a:xfrm>
              <a:off x="1310533" y="166948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" name="群組 13"/>
          <p:cNvGrpSpPr/>
          <p:nvPr/>
        </p:nvGrpSpPr>
        <p:grpSpPr>
          <a:xfrm>
            <a:off x="1054786" y="2241694"/>
            <a:ext cx="419749" cy="445481"/>
            <a:chOff x="1310533" y="2360120"/>
            <a:chExt cx="419749" cy="445481"/>
          </a:xfrm>
        </p:grpSpPr>
        <p:cxnSp>
          <p:nvCxnSpPr>
            <p:cNvPr id="15" name="直線接點 14"/>
            <p:cNvCxnSpPr>
              <a:stCxn id="45" idx="1"/>
              <a:endCxn id="39" idx="5"/>
            </p:cNvCxnSpPr>
            <p:nvPr/>
          </p:nvCxnSpPr>
          <p:spPr>
            <a:xfrm flipH="1" flipV="1">
              <a:off x="1327203" y="2360120"/>
              <a:ext cx="403079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字方塊 15"/>
            <p:cNvSpPr txBox="1"/>
            <p:nvPr/>
          </p:nvSpPr>
          <p:spPr>
            <a:xfrm>
              <a:off x="1310533" y="243626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" name="群組 16"/>
          <p:cNvGrpSpPr/>
          <p:nvPr/>
        </p:nvGrpSpPr>
        <p:grpSpPr>
          <a:xfrm>
            <a:off x="1678181" y="1531033"/>
            <a:ext cx="411886" cy="507015"/>
            <a:chOff x="1933928" y="1649459"/>
            <a:chExt cx="411886" cy="507015"/>
          </a:xfrm>
        </p:grpSpPr>
        <p:cxnSp>
          <p:nvCxnSpPr>
            <p:cNvPr id="18" name="直線接點 17"/>
            <p:cNvCxnSpPr>
              <a:stCxn id="48" idx="1"/>
              <a:endCxn id="42" idx="5"/>
            </p:cNvCxnSpPr>
            <p:nvPr/>
          </p:nvCxnSpPr>
          <p:spPr>
            <a:xfrm flipH="1" flipV="1">
              <a:off x="1933928" y="1736700"/>
              <a:ext cx="394452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字方塊 18"/>
            <p:cNvSpPr txBox="1"/>
            <p:nvPr/>
          </p:nvSpPr>
          <p:spPr>
            <a:xfrm>
              <a:off x="2045732" y="164945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" name="群組 19"/>
          <p:cNvGrpSpPr/>
          <p:nvPr/>
        </p:nvGrpSpPr>
        <p:grpSpPr>
          <a:xfrm>
            <a:off x="1678181" y="2241694"/>
            <a:ext cx="411886" cy="425454"/>
            <a:chOff x="1933928" y="2360120"/>
            <a:chExt cx="411886" cy="425454"/>
          </a:xfrm>
        </p:grpSpPr>
        <p:cxnSp>
          <p:nvCxnSpPr>
            <p:cNvPr id="21" name="直線接點 20"/>
            <p:cNvCxnSpPr>
              <a:stCxn id="48" idx="3"/>
              <a:endCxn id="45" idx="7"/>
            </p:cNvCxnSpPr>
            <p:nvPr/>
          </p:nvCxnSpPr>
          <p:spPr>
            <a:xfrm flipH="1">
              <a:off x="1933928" y="2360120"/>
              <a:ext cx="394452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字方塊 21"/>
            <p:cNvSpPr txBox="1"/>
            <p:nvPr/>
          </p:nvSpPr>
          <p:spPr>
            <a:xfrm>
              <a:off x="2045732" y="241624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3" name="群組 22"/>
          <p:cNvGrpSpPr/>
          <p:nvPr/>
        </p:nvGrpSpPr>
        <p:grpSpPr>
          <a:xfrm>
            <a:off x="2276279" y="1518794"/>
            <a:ext cx="627365" cy="519254"/>
            <a:chOff x="2532026" y="1637220"/>
            <a:chExt cx="627365" cy="519254"/>
          </a:xfrm>
        </p:grpSpPr>
        <p:cxnSp>
          <p:nvCxnSpPr>
            <p:cNvPr id="24" name="直線接點 23"/>
            <p:cNvCxnSpPr>
              <a:stCxn id="51" idx="3"/>
              <a:endCxn id="48" idx="7"/>
            </p:cNvCxnSpPr>
            <p:nvPr/>
          </p:nvCxnSpPr>
          <p:spPr>
            <a:xfrm flipH="1">
              <a:off x="2532026" y="1736700"/>
              <a:ext cx="627365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文字方塊 24"/>
            <p:cNvSpPr txBox="1"/>
            <p:nvPr/>
          </p:nvSpPr>
          <p:spPr>
            <a:xfrm>
              <a:off x="2667499" y="163722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6" name="群組 25"/>
          <p:cNvGrpSpPr/>
          <p:nvPr/>
        </p:nvGrpSpPr>
        <p:grpSpPr>
          <a:xfrm>
            <a:off x="2276279" y="2241694"/>
            <a:ext cx="627365" cy="413215"/>
            <a:chOff x="2532026" y="2360120"/>
            <a:chExt cx="627365" cy="413215"/>
          </a:xfrm>
        </p:grpSpPr>
        <p:cxnSp>
          <p:nvCxnSpPr>
            <p:cNvPr id="27" name="直線接點 26"/>
            <p:cNvCxnSpPr>
              <a:stCxn id="54" idx="1"/>
              <a:endCxn id="48" idx="5"/>
            </p:cNvCxnSpPr>
            <p:nvPr/>
          </p:nvCxnSpPr>
          <p:spPr>
            <a:xfrm flipH="1" flipV="1">
              <a:off x="2532026" y="2360120"/>
              <a:ext cx="627365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字方塊 27"/>
            <p:cNvSpPr txBox="1"/>
            <p:nvPr/>
          </p:nvSpPr>
          <p:spPr>
            <a:xfrm>
              <a:off x="2581239" y="240400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9" name="群組 28"/>
          <p:cNvGrpSpPr/>
          <p:nvPr/>
        </p:nvGrpSpPr>
        <p:grpSpPr>
          <a:xfrm>
            <a:off x="3107290" y="1531033"/>
            <a:ext cx="653245" cy="507015"/>
            <a:chOff x="3363037" y="1649459"/>
            <a:chExt cx="653245" cy="507015"/>
          </a:xfrm>
        </p:grpSpPr>
        <p:cxnSp>
          <p:nvCxnSpPr>
            <p:cNvPr id="30" name="直線接點 29"/>
            <p:cNvCxnSpPr>
              <a:stCxn id="57" idx="1"/>
              <a:endCxn id="51" idx="5"/>
            </p:cNvCxnSpPr>
            <p:nvPr/>
          </p:nvCxnSpPr>
          <p:spPr>
            <a:xfrm flipH="1" flipV="1">
              <a:off x="3363037" y="1736700"/>
              <a:ext cx="653245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文字方塊 30"/>
            <p:cNvSpPr txBox="1"/>
            <p:nvPr/>
          </p:nvSpPr>
          <p:spPr>
            <a:xfrm>
              <a:off x="3582748" y="164945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2" name="群組 31"/>
          <p:cNvGrpSpPr/>
          <p:nvPr/>
        </p:nvGrpSpPr>
        <p:grpSpPr>
          <a:xfrm>
            <a:off x="3107290" y="2241694"/>
            <a:ext cx="653245" cy="425454"/>
            <a:chOff x="3363037" y="2360120"/>
            <a:chExt cx="653245" cy="425454"/>
          </a:xfrm>
        </p:grpSpPr>
        <p:cxnSp>
          <p:nvCxnSpPr>
            <p:cNvPr id="33" name="直線接點 32"/>
            <p:cNvCxnSpPr>
              <a:stCxn id="57" idx="3"/>
              <a:endCxn id="54" idx="7"/>
            </p:cNvCxnSpPr>
            <p:nvPr/>
          </p:nvCxnSpPr>
          <p:spPr>
            <a:xfrm flipH="1">
              <a:off x="3363037" y="2360120"/>
              <a:ext cx="653245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文字方塊 33"/>
            <p:cNvSpPr txBox="1"/>
            <p:nvPr/>
          </p:nvSpPr>
          <p:spPr>
            <a:xfrm>
              <a:off x="3608626" y="241624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5" name="群組 34"/>
          <p:cNvGrpSpPr/>
          <p:nvPr/>
        </p:nvGrpSpPr>
        <p:grpSpPr>
          <a:xfrm>
            <a:off x="1720358" y="2657165"/>
            <a:ext cx="1141109" cy="369332"/>
            <a:chOff x="1254795" y="2775591"/>
            <a:chExt cx="1141109" cy="369332"/>
          </a:xfrm>
        </p:grpSpPr>
        <p:cxnSp>
          <p:nvCxnSpPr>
            <p:cNvPr id="36" name="直線接點 35"/>
            <p:cNvCxnSpPr>
              <a:stCxn id="54" idx="2"/>
              <a:endCxn id="45" idx="6"/>
            </p:cNvCxnSpPr>
            <p:nvPr/>
          </p:nvCxnSpPr>
          <p:spPr>
            <a:xfrm flipH="1">
              <a:off x="1254795" y="2854072"/>
              <a:ext cx="1141109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文字方塊 36"/>
            <p:cNvSpPr txBox="1"/>
            <p:nvPr/>
          </p:nvSpPr>
          <p:spPr>
            <a:xfrm>
              <a:off x="1660675" y="2775591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8" name="群組 37"/>
          <p:cNvGrpSpPr/>
          <p:nvPr/>
        </p:nvGrpSpPr>
        <p:grpSpPr>
          <a:xfrm>
            <a:off x="787532" y="1912075"/>
            <a:ext cx="364202" cy="371796"/>
            <a:chOff x="1043279" y="2030501"/>
            <a:chExt cx="364202" cy="371796"/>
          </a:xfrm>
        </p:grpSpPr>
        <p:sp>
          <p:nvSpPr>
            <p:cNvPr id="39" name="橢圓 38"/>
            <p:cNvSpPr/>
            <p:nvPr/>
          </p:nvSpPr>
          <p:spPr>
            <a:xfrm>
              <a:off x="1081380" y="211429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0" name="文字方塊 39"/>
            <p:cNvSpPr txBox="1"/>
            <p:nvPr/>
          </p:nvSpPr>
          <p:spPr>
            <a:xfrm>
              <a:off x="1043279" y="203050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1" name="群組 40"/>
          <p:cNvGrpSpPr/>
          <p:nvPr/>
        </p:nvGrpSpPr>
        <p:grpSpPr>
          <a:xfrm>
            <a:off x="1394257" y="1288779"/>
            <a:ext cx="364202" cy="371672"/>
            <a:chOff x="1650004" y="1407205"/>
            <a:chExt cx="364202" cy="371672"/>
          </a:xfrm>
        </p:grpSpPr>
        <p:sp>
          <p:nvSpPr>
            <p:cNvPr id="42" name="橢圓 41"/>
            <p:cNvSpPr/>
            <p:nvPr/>
          </p:nvSpPr>
          <p:spPr>
            <a:xfrm>
              <a:off x="1688105" y="149087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3" name="文字方塊 42"/>
            <p:cNvSpPr txBox="1"/>
            <p:nvPr/>
          </p:nvSpPr>
          <p:spPr>
            <a:xfrm>
              <a:off x="1650004" y="1407205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4" name="群組 43"/>
          <p:cNvGrpSpPr/>
          <p:nvPr/>
        </p:nvGrpSpPr>
        <p:grpSpPr>
          <a:xfrm>
            <a:off x="1394257" y="2507850"/>
            <a:ext cx="364202" cy="371796"/>
            <a:chOff x="1650004" y="2626276"/>
            <a:chExt cx="364202" cy="371796"/>
          </a:xfrm>
        </p:grpSpPr>
        <p:sp>
          <p:nvSpPr>
            <p:cNvPr id="45" name="橢圓 44"/>
            <p:cNvSpPr/>
            <p:nvPr/>
          </p:nvSpPr>
          <p:spPr>
            <a:xfrm>
              <a:off x="1688105" y="2710072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6" name="文字方塊 45"/>
            <p:cNvSpPr txBox="1"/>
            <p:nvPr/>
          </p:nvSpPr>
          <p:spPr>
            <a:xfrm>
              <a:off x="1650004" y="262627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7" name="群組 46"/>
          <p:cNvGrpSpPr/>
          <p:nvPr/>
        </p:nvGrpSpPr>
        <p:grpSpPr>
          <a:xfrm>
            <a:off x="1983729" y="1912075"/>
            <a:ext cx="364202" cy="371796"/>
            <a:chOff x="2239476" y="2030501"/>
            <a:chExt cx="364202" cy="371796"/>
          </a:xfrm>
        </p:grpSpPr>
        <p:sp>
          <p:nvSpPr>
            <p:cNvPr id="48" name="橢圓 47"/>
            <p:cNvSpPr/>
            <p:nvPr/>
          </p:nvSpPr>
          <p:spPr>
            <a:xfrm>
              <a:off x="2286203" y="211429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9" name="文字方塊 48"/>
            <p:cNvSpPr txBox="1"/>
            <p:nvPr/>
          </p:nvSpPr>
          <p:spPr>
            <a:xfrm>
              <a:off x="2239476" y="203050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0" name="群組 49"/>
          <p:cNvGrpSpPr/>
          <p:nvPr/>
        </p:nvGrpSpPr>
        <p:grpSpPr>
          <a:xfrm>
            <a:off x="2823366" y="1288655"/>
            <a:ext cx="364202" cy="371796"/>
            <a:chOff x="3079113" y="1407081"/>
            <a:chExt cx="364202" cy="371796"/>
          </a:xfrm>
        </p:grpSpPr>
        <p:sp>
          <p:nvSpPr>
            <p:cNvPr id="51" name="橢圓 50"/>
            <p:cNvSpPr/>
            <p:nvPr/>
          </p:nvSpPr>
          <p:spPr>
            <a:xfrm>
              <a:off x="3117214" y="149087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2" name="文字方塊 51"/>
            <p:cNvSpPr txBox="1"/>
            <p:nvPr/>
          </p:nvSpPr>
          <p:spPr>
            <a:xfrm>
              <a:off x="3079113" y="140708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3" name="群組 52"/>
          <p:cNvGrpSpPr/>
          <p:nvPr/>
        </p:nvGrpSpPr>
        <p:grpSpPr>
          <a:xfrm>
            <a:off x="2813406" y="2507850"/>
            <a:ext cx="364202" cy="371796"/>
            <a:chOff x="3069153" y="2626276"/>
            <a:chExt cx="364202" cy="371796"/>
          </a:xfrm>
        </p:grpSpPr>
        <p:sp>
          <p:nvSpPr>
            <p:cNvPr id="54" name="橢圓 53"/>
            <p:cNvSpPr/>
            <p:nvPr/>
          </p:nvSpPr>
          <p:spPr>
            <a:xfrm>
              <a:off x="3117214" y="2710072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5" name="文字方塊 54"/>
            <p:cNvSpPr txBox="1"/>
            <p:nvPr/>
          </p:nvSpPr>
          <p:spPr>
            <a:xfrm>
              <a:off x="3069153" y="262627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6" name="群組 55"/>
          <p:cNvGrpSpPr/>
          <p:nvPr/>
        </p:nvGrpSpPr>
        <p:grpSpPr>
          <a:xfrm>
            <a:off x="3680257" y="1913593"/>
            <a:ext cx="364202" cy="370278"/>
            <a:chOff x="3936004" y="2032019"/>
            <a:chExt cx="364202" cy="370278"/>
          </a:xfrm>
        </p:grpSpPr>
        <p:sp>
          <p:nvSpPr>
            <p:cNvPr id="57" name="橢圓 56"/>
            <p:cNvSpPr/>
            <p:nvPr/>
          </p:nvSpPr>
          <p:spPr>
            <a:xfrm>
              <a:off x="3974105" y="211429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8" name="文字方塊 57"/>
            <p:cNvSpPr txBox="1"/>
            <p:nvPr/>
          </p:nvSpPr>
          <p:spPr>
            <a:xfrm>
              <a:off x="3936004" y="2032019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9" name="群組 58"/>
          <p:cNvGrpSpPr/>
          <p:nvPr/>
        </p:nvGrpSpPr>
        <p:grpSpPr>
          <a:xfrm>
            <a:off x="297396" y="3272065"/>
            <a:ext cx="3961108" cy="3132934"/>
            <a:chOff x="381848" y="3292760"/>
            <a:chExt cx="3961108" cy="3132934"/>
          </a:xfrm>
        </p:grpSpPr>
        <p:sp>
          <p:nvSpPr>
            <p:cNvPr id="60" name="文字方塊 59"/>
            <p:cNvSpPr txBox="1"/>
            <p:nvPr/>
          </p:nvSpPr>
          <p:spPr>
            <a:xfrm>
              <a:off x="833298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文字方塊 60"/>
            <p:cNvSpPr txBox="1"/>
            <p:nvPr/>
          </p:nvSpPr>
          <p:spPr>
            <a:xfrm>
              <a:off x="1359767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文字方塊 61"/>
            <p:cNvSpPr txBox="1"/>
            <p:nvPr/>
          </p:nvSpPr>
          <p:spPr>
            <a:xfrm>
              <a:off x="1882744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文字方塊 62"/>
            <p:cNvSpPr txBox="1"/>
            <p:nvPr/>
          </p:nvSpPr>
          <p:spPr>
            <a:xfrm>
              <a:off x="2409213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文字方塊 63"/>
            <p:cNvSpPr txBox="1"/>
            <p:nvPr/>
          </p:nvSpPr>
          <p:spPr>
            <a:xfrm>
              <a:off x="2929308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文字方塊 64"/>
            <p:cNvSpPr txBox="1"/>
            <p:nvPr/>
          </p:nvSpPr>
          <p:spPr>
            <a:xfrm>
              <a:off x="3452285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文字方塊 65"/>
            <p:cNvSpPr txBox="1"/>
            <p:nvPr/>
          </p:nvSpPr>
          <p:spPr>
            <a:xfrm>
              <a:off x="3978754" y="32927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文字方塊 66"/>
            <p:cNvSpPr txBox="1"/>
            <p:nvPr/>
          </p:nvSpPr>
          <p:spPr>
            <a:xfrm>
              <a:off x="381848" y="3670718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" name="文字方塊 67"/>
            <p:cNvSpPr txBox="1"/>
            <p:nvPr/>
          </p:nvSpPr>
          <p:spPr>
            <a:xfrm>
              <a:off x="381848" y="408318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文字方塊 68"/>
            <p:cNvSpPr txBox="1"/>
            <p:nvPr/>
          </p:nvSpPr>
          <p:spPr>
            <a:xfrm>
              <a:off x="381848" y="4469764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文字方塊 69"/>
            <p:cNvSpPr txBox="1"/>
            <p:nvPr/>
          </p:nvSpPr>
          <p:spPr>
            <a:xfrm>
              <a:off x="381848" y="4856348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文字方塊 70"/>
            <p:cNvSpPr txBox="1"/>
            <p:nvPr/>
          </p:nvSpPr>
          <p:spPr>
            <a:xfrm>
              <a:off x="381848" y="5265942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文字方塊 71"/>
            <p:cNvSpPr txBox="1"/>
            <p:nvPr/>
          </p:nvSpPr>
          <p:spPr>
            <a:xfrm>
              <a:off x="381848" y="5661152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文字方塊 72"/>
            <p:cNvSpPr txBox="1"/>
            <p:nvPr/>
          </p:nvSpPr>
          <p:spPr>
            <a:xfrm>
              <a:off x="381848" y="6056362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4" name="文字方塊 73"/>
          <p:cNvSpPr txBox="1"/>
          <p:nvPr/>
        </p:nvSpPr>
        <p:spPr>
          <a:xfrm>
            <a:off x="40158" y="2977377"/>
            <a:ext cx="14173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Cost[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橢圓 83"/>
          <p:cNvSpPr/>
          <p:nvPr/>
        </p:nvSpPr>
        <p:spPr>
          <a:xfrm>
            <a:off x="3835036" y="3641397"/>
            <a:ext cx="504000" cy="401829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9" name="橢圓 88"/>
          <p:cNvSpPr/>
          <p:nvPr/>
        </p:nvSpPr>
        <p:spPr>
          <a:xfrm>
            <a:off x="2254862" y="3633774"/>
            <a:ext cx="504000" cy="401829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0" name="橢圓 89"/>
          <p:cNvSpPr/>
          <p:nvPr/>
        </p:nvSpPr>
        <p:spPr>
          <a:xfrm>
            <a:off x="3297934" y="3639380"/>
            <a:ext cx="504000" cy="401829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91" name="群組 90"/>
          <p:cNvGrpSpPr/>
          <p:nvPr/>
        </p:nvGrpSpPr>
        <p:grpSpPr>
          <a:xfrm>
            <a:off x="5438944" y="1525692"/>
            <a:ext cx="419749" cy="486988"/>
            <a:chOff x="1310533" y="1669486"/>
            <a:chExt cx="419749" cy="486988"/>
          </a:xfrm>
        </p:grpSpPr>
        <p:cxnSp>
          <p:nvCxnSpPr>
            <p:cNvPr id="92" name="直線接點 91"/>
            <p:cNvCxnSpPr>
              <a:stCxn id="104" idx="7"/>
              <a:endCxn id="107" idx="3"/>
            </p:cNvCxnSpPr>
            <p:nvPr/>
          </p:nvCxnSpPr>
          <p:spPr>
            <a:xfrm flipV="1">
              <a:off x="1327203" y="1736700"/>
              <a:ext cx="403079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文字方塊 92"/>
            <p:cNvSpPr txBox="1"/>
            <p:nvPr/>
          </p:nvSpPr>
          <p:spPr>
            <a:xfrm>
              <a:off x="1310533" y="166948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4" name="群組 93"/>
          <p:cNvGrpSpPr/>
          <p:nvPr/>
        </p:nvGrpSpPr>
        <p:grpSpPr>
          <a:xfrm>
            <a:off x="6062339" y="1505665"/>
            <a:ext cx="411886" cy="507015"/>
            <a:chOff x="1933928" y="1649459"/>
            <a:chExt cx="411886" cy="507015"/>
          </a:xfrm>
        </p:grpSpPr>
        <p:cxnSp>
          <p:nvCxnSpPr>
            <p:cNvPr id="95" name="直線接點 94"/>
            <p:cNvCxnSpPr>
              <a:stCxn id="110" idx="1"/>
              <a:endCxn id="107" idx="5"/>
            </p:cNvCxnSpPr>
            <p:nvPr/>
          </p:nvCxnSpPr>
          <p:spPr>
            <a:xfrm flipH="1" flipV="1">
              <a:off x="1933928" y="1736700"/>
              <a:ext cx="394452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文字方塊 95"/>
            <p:cNvSpPr txBox="1"/>
            <p:nvPr/>
          </p:nvSpPr>
          <p:spPr>
            <a:xfrm>
              <a:off x="2045732" y="164945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7" name="群組 96"/>
          <p:cNvGrpSpPr/>
          <p:nvPr/>
        </p:nvGrpSpPr>
        <p:grpSpPr>
          <a:xfrm>
            <a:off x="6660437" y="2216326"/>
            <a:ext cx="627365" cy="413215"/>
            <a:chOff x="2532026" y="2360120"/>
            <a:chExt cx="627365" cy="413215"/>
          </a:xfrm>
        </p:grpSpPr>
        <p:cxnSp>
          <p:nvCxnSpPr>
            <p:cNvPr id="98" name="直線接點 97"/>
            <p:cNvCxnSpPr>
              <a:stCxn id="113" idx="1"/>
              <a:endCxn id="110" idx="5"/>
            </p:cNvCxnSpPr>
            <p:nvPr/>
          </p:nvCxnSpPr>
          <p:spPr>
            <a:xfrm flipH="1" flipV="1">
              <a:off x="2532026" y="2360120"/>
              <a:ext cx="627365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文字方塊 98"/>
            <p:cNvSpPr txBox="1"/>
            <p:nvPr/>
          </p:nvSpPr>
          <p:spPr>
            <a:xfrm>
              <a:off x="2581239" y="240400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0" name="群組 99"/>
          <p:cNvGrpSpPr/>
          <p:nvPr/>
        </p:nvGrpSpPr>
        <p:grpSpPr>
          <a:xfrm>
            <a:off x="7491448" y="2216326"/>
            <a:ext cx="653245" cy="425454"/>
            <a:chOff x="3363037" y="2360120"/>
            <a:chExt cx="653245" cy="425454"/>
          </a:xfrm>
        </p:grpSpPr>
        <p:cxnSp>
          <p:nvCxnSpPr>
            <p:cNvPr id="101" name="直線接點 100"/>
            <p:cNvCxnSpPr>
              <a:stCxn id="116" idx="3"/>
              <a:endCxn id="113" idx="7"/>
            </p:cNvCxnSpPr>
            <p:nvPr/>
          </p:nvCxnSpPr>
          <p:spPr>
            <a:xfrm flipH="1">
              <a:off x="3363037" y="2360120"/>
              <a:ext cx="653245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文字方塊 101"/>
            <p:cNvSpPr txBox="1"/>
            <p:nvPr/>
          </p:nvSpPr>
          <p:spPr>
            <a:xfrm>
              <a:off x="3608626" y="241624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3" name="群組 102"/>
          <p:cNvGrpSpPr/>
          <p:nvPr/>
        </p:nvGrpSpPr>
        <p:grpSpPr>
          <a:xfrm>
            <a:off x="5171690" y="1886707"/>
            <a:ext cx="364202" cy="371796"/>
            <a:chOff x="1043279" y="2030501"/>
            <a:chExt cx="364202" cy="371796"/>
          </a:xfrm>
        </p:grpSpPr>
        <p:sp>
          <p:nvSpPr>
            <p:cNvPr id="104" name="橢圓 103"/>
            <p:cNvSpPr/>
            <p:nvPr/>
          </p:nvSpPr>
          <p:spPr>
            <a:xfrm>
              <a:off x="1081380" y="211429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5" name="文字方塊 104"/>
            <p:cNvSpPr txBox="1"/>
            <p:nvPr/>
          </p:nvSpPr>
          <p:spPr>
            <a:xfrm>
              <a:off x="1043279" y="203050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6" name="群組 105"/>
          <p:cNvGrpSpPr/>
          <p:nvPr/>
        </p:nvGrpSpPr>
        <p:grpSpPr>
          <a:xfrm>
            <a:off x="5778415" y="1263411"/>
            <a:ext cx="364202" cy="371672"/>
            <a:chOff x="1650004" y="1407205"/>
            <a:chExt cx="364202" cy="371672"/>
          </a:xfrm>
        </p:grpSpPr>
        <p:sp>
          <p:nvSpPr>
            <p:cNvPr id="107" name="橢圓 106"/>
            <p:cNvSpPr/>
            <p:nvPr/>
          </p:nvSpPr>
          <p:spPr>
            <a:xfrm>
              <a:off x="1688105" y="149087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8" name="文字方塊 107"/>
            <p:cNvSpPr txBox="1"/>
            <p:nvPr/>
          </p:nvSpPr>
          <p:spPr>
            <a:xfrm>
              <a:off x="1650004" y="1407205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9" name="群組 108"/>
          <p:cNvGrpSpPr/>
          <p:nvPr/>
        </p:nvGrpSpPr>
        <p:grpSpPr>
          <a:xfrm>
            <a:off x="6367887" y="1886707"/>
            <a:ext cx="364202" cy="371796"/>
            <a:chOff x="2239476" y="2030501"/>
            <a:chExt cx="364202" cy="371796"/>
          </a:xfrm>
        </p:grpSpPr>
        <p:sp>
          <p:nvSpPr>
            <p:cNvPr id="110" name="橢圓 109"/>
            <p:cNvSpPr/>
            <p:nvPr/>
          </p:nvSpPr>
          <p:spPr>
            <a:xfrm>
              <a:off x="2286203" y="211429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1" name="文字方塊 110"/>
            <p:cNvSpPr txBox="1"/>
            <p:nvPr/>
          </p:nvSpPr>
          <p:spPr>
            <a:xfrm>
              <a:off x="2239476" y="203050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2" name="群組 111"/>
          <p:cNvGrpSpPr/>
          <p:nvPr/>
        </p:nvGrpSpPr>
        <p:grpSpPr>
          <a:xfrm>
            <a:off x="7197564" y="2482482"/>
            <a:ext cx="364202" cy="371796"/>
            <a:chOff x="3069153" y="2626276"/>
            <a:chExt cx="364202" cy="371796"/>
          </a:xfrm>
        </p:grpSpPr>
        <p:sp>
          <p:nvSpPr>
            <p:cNvPr id="113" name="橢圓 112"/>
            <p:cNvSpPr/>
            <p:nvPr/>
          </p:nvSpPr>
          <p:spPr>
            <a:xfrm>
              <a:off x="3117214" y="2710072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4" name="文字方塊 113"/>
            <p:cNvSpPr txBox="1"/>
            <p:nvPr/>
          </p:nvSpPr>
          <p:spPr>
            <a:xfrm>
              <a:off x="3069153" y="262627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5" name="群組 114"/>
          <p:cNvGrpSpPr/>
          <p:nvPr/>
        </p:nvGrpSpPr>
        <p:grpSpPr>
          <a:xfrm>
            <a:off x="8064415" y="1888225"/>
            <a:ext cx="364202" cy="370278"/>
            <a:chOff x="3936004" y="2032019"/>
            <a:chExt cx="364202" cy="370278"/>
          </a:xfrm>
        </p:grpSpPr>
        <p:sp>
          <p:nvSpPr>
            <p:cNvPr id="116" name="橢圓 115"/>
            <p:cNvSpPr/>
            <p:nvPr/>
          </p:nvSpPr>
          <p:spPr>
            <a:xfrm>
              <a:off x="3974105" y="211429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7" name="文字方塊 116"/>
            <p:cNvSpPr txBox="1"/>
            <p:nvPr/>
          </p:nvSpPr>
          <p:spPr>
            <a:xfrm>
              <a:off x="3936004" y="2032019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8" name="橢圓 117"/>
          <p:cNvSpPr/>
          <p:nvPr/>
        </p:nvSpPr>
        <p:spPr>
          <a:xfrm>
            <a:off x="1201624" y="3633773"/>
            <a:ext cx="504000" cy="401829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文字方塊 2"/>
          <p:cNvSpPr txBox="1"/>
          <p:nvPr/>
        </p:nvSpPr>
        <p:spPr>
          <a:xfrm>
            <a:off x="6040941" y="2977377"/>
            <a:ext cx="16375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cost = 9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9" name="群組 118"/>
          <p:cNvGrpSpPr/>
          <p:nvPr/>
        </p:nvGrpSpPr>
        <p:grpSpPr>
          <a:xfrm>
            <a:off x="6227647" y="4837381"/>
            <a:ext cx="411886" cy="425454"/>
            <a:chOff x="1933928" y="2360120"/>
            <a:chExt cx="411886" cy="425454"/>
          </a:xfrm>
        </p:grpSpPr>
        <p:cxnSp>
          <p:nvCxnSpPr>
            <p:cNvPr id="120" name="直線接點 119"/>
            <p:cNvCxnSpPr>
              <a:stCxn id="129" idx="3"/>
              <a:endCxn id="126" idx="7"/>
            </p:cNvCxnSpPr>
            <p:nvPr/>
          </p:nvCxnSpPr>
          <p:spPr>
            <a:xfrm flipH="1">
              <a:off x="1933928" y="2360120"/>
              <a:ext cx="394452" cy="3921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1" name="文字方塊 120"/>
            <p:cNvSpPr txBox="1"/>
            <p:nvPr/>
          </p:nvSpPr>
          <p:spPr>
            <a:xfrm>
              <a:off x="2045732" y="241624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2" name="群組 121"/>
          <p:cNvGrpSpPr/>
          <p:nvPr/>
        </p:nvGrpSpPr>
        <p:grpSpPr>
          <a:xfrm>
            <a:off x="6825745" y="4114481"/>
            <a:ext cx="627365" cy="519254"/>
            <a:chOff x="2532026" y="1637220"/>
            <a:chExt cx="627365" cy="519254"/>
          </a:xfrm>
        </p:grpSpPr>
        <p:cxnSp>
          <p:nvCxnSpPr>
            <p:cNvPr id="123" name="直線接點 122"/>
            <p:cNvCxnSpPr>
              <a:stCxn id="132" idx="3"/>
              <a:endCxn id="129" idx="7"/>
            </p:cNvCxnSpPr>
            <p:nvPr/>
          </p:nvCxnSpPr>
          <p:spPr>
            <a:xfrm flipH="1">
              <a:off x="2532026" y="1736700"/>
              <a:ext cx="627365" cy="41977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文字方塊 123"/>
            <p:cNvSpPr txBox="1"/>
            <p:nvPr/>
          </p:nvSpPr>
          <p:spPr>
            <a:xfrm>
              <a:off x="2667499" y="163722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5" name="群組 124"/>
          <p:cNvGrpSpPr/>
          <p:nvPr/>
        </p:nvGrpSpPr>
        <p:grpSpPr>
          <a:xfrm>
            <a:off x="5943723" y="5103537"/>
            <a:ext cx="364202" cy="371796"/>
            <a:chOff x="1650004" y="2626276"/>
            <a:chExt cx="364202" cy="371796"/>
          </a:xfrm>
        </p:grpSpPr>
        <p:sp>
          <p:nvSpPr>
            <p:cNvPr id="126" name="橢圓 125"/>
            <p:cNvSpPr/>
            <p:nvPr/>
          </p:nvSpPr>
          <p:spPr>
            <a:xfrm>
              <a:off x="1688105" y="2710072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7" name="文字方塊 126"/>
            <p:cNvSpPr txBox="1"/>
            <p:nvPr/>
          </p:nvSpPr>
          <p:spPr>
            <a:xfrm>
              <a:off x="1650004" y="262627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8" name="群組 127"/>
          <p:cNvGrpSpPr/>
          <p:nvPr/>
        </p:nvGrpSpPr>
        <p:grpSpPr>
          <a:xfrm>
            <a:off x="6533195" y="4507762"/>
            <a:ext cx="364202" cy="371796"/>
            <a:chOff x="2239476" y="2030501"/>
            <a:chExt cx="364202" cy="371796"/>
          </a:xfrm>
        </p:grpSpPr>
        <p:sp>
          <p:nvSpPr>
            <p:cNvPr id="129" name="橢圓 128"/>
            <p:cNvSpPr/>
            <p:nvPr/>
          </p:nvSpPr>
          <p:spPr>
            <a:xfrm>
              <a:off x="2286203" y="211429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0" name="文字方塊 129"/>
            <p:cNvSpPr txBox="1"/>
            <p:nvPr/>
          </p:nvSpPr>
          <p:spPr>
            <a:xfrm>
              <a:off x="2239476" y="203050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31" name="群組 130"/>
          <p:cNvGrpSpPr/>
          <p:nvPr/>
        </p:nvGrpSpPr>
        <p:grpSpPr>
          <a:xfrm>
            <a:off x="7372832" y="3884342"/>
            <a:ext cx="364202" cy="371796"/>
            <a:chOff x="3079113" y="1407081"/>
            <a:chExt cx="364202" cy="371796"/>
          </a:xfrm>
        </p:grpSpPr>
        <p:sp>
          <p:nvSpPr>
            <p:cNvPr id="132" name="橢圓 131"/>
            <p:cNvSpPr/>
            <p:nvPr/>
          </p:nvSpPr>
          <p:spPr>
            <a:xfrm>
              <a:off x="3117214" y="149087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3" name="文字方塊 132"/>
            <p:cNvSpPr txBox="1"/>
            <p:nvPr/>
          </p:nvSpPr>
          <p:spPr>
            <a:xfrm>
              <a:off x="3079113" y="140708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4" name="文字方塊 133"/>
          <p:cNvSpPr txBox="1"/>
          <p:nvPr/>
        </p:nvSpPr>
        <p:spPr>
          <a:xfrm>
            <a:off x="6227647" y="5609557"/>
            <a:ext cx="16375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cost = 9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5" name="橢圓 134"/>
          <p:cNvSpPr/>
          <p:nvPr/>
        </p:nvSpPr>
        <p:spPr>
          <a:xfrm>
            <a:off x="1730991" y="5218558"/>
            <a:ext cx="504000" cy="401829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6" name="橢圓 135"/>
          <p:cNvSpPr/>
          <p:nvPr/>
        </p:nvSpPr>
        <p:spPr>
          <a:xfrm>
            <a:off x="2256257" y="5218558"/>
            <a:ext cx="504000" cy="401829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47211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8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1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000"/>
                            </p:stCondLst>
                            <p:childTnLst>
                              <p:par>
                                <p:cTn id="8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00"/>
                            </p:stCondLst>
                            <p:childTnLst>
                              <p:par>
                                <p:cTn id="10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3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2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 animBg="1"/>
      <p:bldP spid="84" grpId="1" animBg="1"/>
      <p:bldP spid="89" grpId="0" animBg="1"/>
      <p:bldP spid="89" grpId="1" animBg="1"/>
      <p:bldP spid="90" grpId="0" animBg="1"/>
      <p:bldP spid="90" grpId="1" animBg="1"/>
      <p:bldP spid="118" grpId="0" animBg="1"/>
      <p:bldP spid="118" grpId="1" animBg="1"/>
      <p:bldP spid="3" grpId="0"/>
      <p:bldP spid="134" grpId="0"/>
      <p:bldP spid="135" grpId="0" animBg="1"/>
      <p:bldP spid="135" grpId="1" animBg="1"/>
      <p:bldP spid="136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Floyd </a:t>
            </a:r>
            <a:r>
              <a:rPr lang="zh-TW" altLang="en-US" dirty="0"/>
              <a:t>演算法 </a:t>
            </a:r>
            <a:r>
              <a:rPr lang="en-US" altLang="zh-TW" dirty="0"/>
              <a:t>(10/10)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所有情況的時間複雜度</a:t>
            </a:r>
            <a:endParaRPr lang="en-US" altLang="zh-TW" dirty="0"/>
          </a:p>
          <a:p>
            <a:r>
              <a:rPr lang="zh-TW" altLang="en-US" dirty="0">
                <a:solidFill>
                  <a:srgbClr val="0000FF"/>
                </a:solidFill>
              </a:rPr>
              <a:t>基本運算</a:t>
            </a:r>
            <a:r>
              <a:rPr lang="zh-TW" altLang="en-US" dirty="0"/>
              <a:t>：發生在</a:t>
            </a:r>
            <a:r>
              <a:rPr lang="en-US" altLang="zh-TW" dirty="0">
                <a:solidFill>
                  <a:srgbClr val="C00000"/>
                </a:solidFill>
              </a:rPr>
              <a:t>for-</a:t>
            </a:r>
            <a:r>
              <a:rPr lang="en-US" altLang="zh-TW" i="1" dirty="0">
                <a:solidFill>
                  <a:srgbClr val="C00000"/>
                </a:solidFill>
              </a:rPr>
              <a:t>j</a:t>
            </a:r>
            <a:r>
              <a:rPr lang="zh-TW" altLang="en-US" dirty="0"/>
              <a:t>迴圈中的指令</a:t>
            </a:r>
            <a:endParaRPr lang="en-US" altLang="zh-TW" dirty="0"/>
          </a:p>
          <a:p>
            <a:r>
              <a:rPr lang="zh-TW" altLang="en-US" dirty="0">
                <a:solidFill>
                  <a:srgbClr val="0000FF"/>
                </a:solidFill>
              </a:rPr>
              <a:t>輸入大小</a:t>
            </a:r>
            <a:r>
              <a:rPr lang="zh-TW" altLang="en-US" dirty="0"/>
              <a:t>：圖形中頂點的數目</a:t>
            </a:r>
            <a:r>
              <a:rPr lang="en-US" altLang="zh-TW" i="1" dirty="0"/>
              <a:t>n</a:t>
            </a:r>
          </a:p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39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228" b="8890"/>
          <a:stretch/>
        </p:blipFill>
        <p:spPr bwMode="auto">
          <a:xfrm>
            <a:off x="824080" y="2922372"/>
            <a:ext cx="7648219" cy="13177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2761852" y="4736366"/>
                <a:ext cx="3646768" cy="3147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𝒏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𝒏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US" altLang="zh-TW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l-GR" altLang="zh-TW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𝜣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US" altLang="zh-TW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1852" y="4736366"/>
                <a:ext cx="3646768" cy="314766"/>
              </a:xfrm>
              <a:prstGeom prst="rect">
                <a:avLst/>
              </a:prstGeom>
              <a:blipFill rotWithShape="0">
                <a:blip r:embed="rId3"/>
                <a:stretch>
                  <a:fillRect l="-1003" t="-1923" r="-2174" b="-346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19198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動態規劃和最佳化問題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解最佳化問題的演算法步驟：</a:t>
            </a:r>
            <a:endParaRPr lang="en-US" altLang="zh-TW" dirty="0"/>
          </a:p>
          <a:p>
            <a:pPr marL="850392" lvl="1" indent="-457200">
              <a:buFont typeface="+mj-lt"/>
              <a:buAutoNum type="arabicPeriod"/>
            </a:pPr>
            <a:r>
              <a:rPr lang="zh-TW" altLang="en-US" dirty="0"/>
              <a:t>建立</a:t>
            </a:r>
            <a:r>
              <a:rPr lang="zh-TW" altLang="en-US" dirty="0">
                <a:solidFill>
                  <a:srgbClr val="C00000"/>
                </a:solidFill>
              </a:rPr>
              <a:t>遞迴</a:t>
            </a:r>
            <a:r>
              <a:rPr lang="zh-TW" altLang="en-US" dirty="0"/>
              <a:t>以解出該問題其中一個實例之最佳解</a:t>
            </a:r>
            <a:endParaRPr lang="en-US" altLang="zh-TW" dirty="0"/>
          </a:p>
          <a:p>
            <a:pPr marL="850392" lvl="1" indent="-457200">
              <a:buFont typeface="+mj-lt"/>
              <a:buAutoNum type="arabicPeriod"/>
            </a:pPr>
            <a:r>
              <a:rPr lang="zh-TW" altLang="en-US" dirty="0"/>
              <a:t>以</a:t>
            </a:r>
            <a:r>
              <a:rPr lang="en-US" altLang="zh-TW" dirty="0">
                <a:solidFill>
                  <a:srgbClr val="C00000"/>
                </a:solidFill>
              </a:rPr>
              <a:t>bottom-up</a:t>
            </a:r>
            <a:r>
              <a:rPr lang="zh-TW" altLang="en-US" dirty="0"/>
              <a:t>求出最佳解的值</a:t>
            </a:r>
            <a:endParaRPr lang="en-US" altLang="zh-TW" dirty="0"/>
          </a:p>
          <a:p>
            <a:pPr marL="850392" lvl="1" indent="-457200">
              <a:buFont typeface="+mj-lt"/>
              <a:buAutoNum type="arabicPeriod"/>
            </a:pPr>
            <a:r>
              <a:rPr lang="zh-TW" altLang="en-US" dirty="0"/>
              <a:t>以</a:t>
            </a:r>
            <a:r>
              <a:rPr lang="en-US" altLang="zh-TW" dirty="0">
                <a:solidFill>
                  <a:srgbClr val="C00000"/>
                </a:solidFill>
              </a:rPr>
              <a:t>bottom-up</a:t>
            </a:r>
            <a:r>
              <a:rPr lang="zh-TW" altLang="en-US" dirty="0"/>
              <a:t>建構最佳解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>
                <a:solidFill>
                  <a:srgbClr val="0000FF"/>
                </a:solidFill>
              </a:rPr>
              <a:t>最佳化問題定義</a:t>
            </a:r>
            <a:r>
              <a:rPr lang="zh-TW" altLang="en-US" dirty="0"/>
              <a:t>：</a:t>
            </a:r>
            <a:endParaRPr lang="en-US" altLang="zh-TW" dirty="0"/>
          </a:p>
          <a:p>
            <a:pPr lvl="1"/>
            <a:r>
              <a:rPr lang="zh-TW" altLang="en-US" dirty="0"/>
              <a:t>若</a:t>
            </a:r>
            <a:r>
              <a:rPr lang="zh-TW" altLang="en-US" dirty="0">
                <a:solidFill>
                  <a:srgbClr val="C00000"/>
                </a:solidFill>
              </a:rPr>
              <a:t>最佳化原則</a:t>
            </a:r>
            <a:r>
              <a:rPr lang="en-US" altLang="zh-TW" dirty="0">
                <a:solidFill>
                  <a:srgbClr val="C00000"/>
                </a:solidFill>
              </a:rPr>
              <a:t>(principle of optimality)</a:t>
            </a:r>
            <a:r>
              <a:rPr lang="zh-TW" altLang="en-US" dirty="0"/>
              <a:t>要可以應用在某問題上，它必須符合下列原則：當某問題存在最佳解，則表示其所有的子問題也必存在最佳解。</a:t>
            </a:r>
            <a:endParaRPr lang="en-US" altLang="zh-TW" dirty="0"/>
          </a:p>
          <a:p>
            <a:pPr lvl="2"/>
            <a:r>
              <a:rPr lang="zh-TW" altLang="en-US" dirty="0"/>
              <a:t>圖形上找最短路徑</a:t>
            </a:r>
            <a:endParaRPr lang="en-US" altLang="zh-TW" dirty="0"/>
          </a:p>
          <a:p>
            <a:pPr lvl="3"/>
            <a:r>
              <a:rPr lang="en-US" altLang="zh-TW" i="1" dirty="0"/>
              <a:t>v</a:t>
            </a:r>
            <a:r>
              <a:rPr lang="en-US" altLang="zh-TW" baseline="-25000" dirty="0"/>
              <a:t>1</a:t>
            </a:r>
            <a:r>
              <a:rPr lang="en-US" altLang="zh-TW" dirty="0"/>
              <a:t> </a:t>
            </a:r>
            <a:r>
              <a:rPr lang="en-US" altLang="zh-TW" dirty="0">
                <a:sym typeface="Symbol" panose="05050102010706020507" pitchFamily="18" charset="2"/>
              </a:rPr>
              <a:t> </a:t>
            </a:r>
            <a:r>
              <a:rPr lang="en-US" altLang="zh-TW" i="1" dirty="0">
                <a:sym typeface="Symbol" panose="05050102010706020507" pitchFamily="18" charset="2"/>
              </a:rPr>
              <a:t>v</a:t>
            </a:r>
            <a:r>
              <a:rPr lang="en-US" altLang="zh-TW" baseline="-25000" dirty="0">
                <a:sym typeface="Symbol" panose="05050102010706020507" pitchFamily="18" charset="2"/>
              </a:rPr>
              <a:t>2</a:t>
            </a:r>
            <a:r>
              <a:rPr lang="en-US" altLang="zh-TW" dirty="0">
                <a:sym typeface="Symbol" panose="05050102010706020507" pitchFamily="18" charset="2"/>
              </a:rPr>
              <a:t>  </a:t>
            </a:r>
            <a:r>
              <a:rPr lang="en-US" altLang="zh-TW" i="1" dirty="0">
                <a:sym typeface="Symbol" panose="05050102010706020507" pitchFamily="18" charset="2"/>
              </a:rPr>
              <a:t>v</a:t>
            </a:r>
            <a:r>
              <a:rPr lang="en-US" altLang="zh-TW" baseline="-25000" dirty="0">
                <a:sym typeface="Symbol" panose="05050102010706020507" pitchFamily="18" charset="2"/>
              </a:rPr>
              <a:t>4</a:t>
            </a:r>
            <a:r>
              <a:rPr lang="zh-TW" altLang="en-US" dirty="0"/>
              <a:t> </a:t>
            </a:r>
            <a:endParaRPr lang="en-US" altLang="zh-TW" dirty="0"/>
          </a:p>
          <a:p>
            <a:pPr lvl="2"/>
            <a:r>
              <a:rPr lang="zh-TW" altLang="en-US" dirty="0"/>
              <a:t>圖形上找最長路徑</a:t>
            </a:r>
            <a:endParaRPr lang="en-US" altLang="zh-TW" dirty="0"/>
          </a:p>
          <a:p>
            <a:pPr lvl="3"/>
            <a:r>
              <a:rPr lang="en-US" altLang="zh-TW" i="1" dirty="0"/>
              <a:t>v</a:t>
            </a:r>
            <a:r>
              <a:rPr lang="en-US" altLang="zh-TW" baseline="-25000" dirty="0"/>
              <a:t>1</a:t>
            </a:r>
            <a:r>
              <a:rPr lang="en-US" altLang="zh-TW" dirty="0"/>
              <a:t> </a:t>
            </a:r>
            <a:r>
              <a:rPr lang="en-US" altLang="zh-TW" dirty="0">
                <a:sym typeface="Symbol" panose="05050102010706020507" pitchFamily="18" charset="2"/>
              </a:rPr>
              <a:t> </a:t>
            </a:r>
            <a:r>
              <a:rPr lang="en-US" altLang="zh-TW" i="1" dirty="0">
                <a:sym typeface="Symbol" panose="05050102010706020507" pitchFamily="18" charset="2"/>
              </a:rPr>
              <a:t>v</a:t>
            </a:r>
            <a:r>
              <a:rPr lang="en-US" altLang="zh-TW" baseline="-25000" dirty="0">
                <a:sym typeface="Symbol" panose="05050102010706020507" pitchFamily="18" charset="2"/>
              </a:rPr>
              <a:t>3</a:t>
            </a:r>
            <a:r>
              <a:rPr lang="en-US" altLang="zh-TW" dirty="0">
                <a:sym typeface="Symbol" panose="05050102010706020507" pitchFamily="18" charset="2"/>
              </a:rPr>
              <a:t>  </a:t>
            </a:r>
            <a:r>
              <a:rPr lang="en-US" altLang="zh-TW" i="1" dirty="0">
                <a:sym typeface="Symbol" panose="05050102010706020507" pitchFamily="18" charset="2"/>
              </a:rPr>
              <a:t>v</a:t>
            </a:r>
            <a:r>
              <a:rPr lang="en-US" altLang="zh-TW" baseline="-25000" dirty="0">
                <a:sym typeface="Symbol" panose="05050102010706020507" pitchFamily="18" charset="2"/>
              </a:rPr>
              <a:t>2</a:t>
            </a:r>
            <a:r>
              <a:rPr lang="en-US" altLang="zh-TW" dirty="0">
                <a:sym typeface="Symbol" panose="05050102010706020507" pitchFamily="18" charset="2"/>
              </a:rPr>
              <a:t>  </a:t>
            </a:r>
            <a:r>
              <a:rPr lang="en-US" altLang="zh-TW" i="1" dirty="0">
                <a:sym typeface="Symbol" panose="05050102010706020507" pitchFamily="18" charset="2"/>
              </a:rPr>
              <a:t>v</a:t>
            </a:r>
            <a:r>
              <a:rPr lang="en-US" altLang="zh-TW" baseline="-25000" dirty="0">
                <a:sym typeface="Symbol" panose="05050102010706020507" pitchFamily="18" charset="2"/>
              </a:rPr>
              <a:t>4</a:t>
            </a:r>
            <a:r>
              <a:rPr lang="en-US" altLang="zh-TW" dirty="0">
                <a:sym typeface="Symbol" panose="05050102010706020507" pitchFamily="18" charset="2"/>
              </a:rPr>
              <a:t> </a:t>
            </a:r>
          </a:p>
          <a:p>
            <a:pPr lvl="3"/>
            <a:r>
              <a:rPr lang="en-US" altLang="zh-TW" i="1" dirty="0">
                <a:sym typeface="Symbol" panose="05050102010706020507" pitchFamily="18" charset="2"/>
              </a:rPr>
              <a:t>v</a:t>
            </a:r>
            <a:r>
              <a:rPr lang="en-US" altLang="zh-TW" baseline="-25000" dirty="0">
                <a:sym typeface="Symbol" panose="05050102010706020507" pitchFamily="18" charset="2"/>
              </a:rPr>
              <a:t>1</a:t>
            </a:r>
            <a:r>
              <a:rPr lang="en-US" altLang="zh-TW" dirty="0">
                <a:sym typeface="Symbol" panose="05050102010706020507" pitchFamily="18" charset="2"/>
              </a:rPr>
              <a:t>  </a:t>
            </a:r>
            <a:r>
              <a:rPr lang="en-US" altLang="zh-TW" i="1" dirty="0">
                <a:sym typeface="Symbol" panose="05050102010706020507" pitchFamily="18" charset="2"/>
              </a:rPr>
              <a:t>v</a:t>
            </a:r>
            <a:r>
              <a:rPr lang="en-US" altLang="zh-TW" baseline="-25000" dirty="0">
                <a:sym typeface="Symbol" panose="05050102010706020507" pitchFamily="18" charset="2"/>
              </a:rPr>
              <a:t>2  </a:t>
            </a:r>
            <a:r>
              <a:rPr lang="en-US" altLang="zh-TW" dirty="0">
                <a:sym typeface="Symbol" panose="05050102010706020507" pitchFamily="18" charset="2"/>
              </a:rPr>
              <a:t> </a:t>
            </a:r>
            <a:r>
              <a:rPr lang="en-US" altLang="zh-TW" i="1" dirty="0">
                <a:sym typeface="Symbol" panose="05050102010706020507" pitchFamily="18" charset="2"/>
              </a:rPr>
              <a:t>v</a:t>
            </a:r>
            <a:r>
              <a:rPr lang="en-US" altLang="zh-TW" baseline="-25000" dirty="0">
                <a:sym typeface="Symbol" panose="05050102010706020507" pitchFamily="18" charset="2"/>
              </a:rPr>
              <a:t>3</a:t>
            </a:r>
            <a:endParaRPr lang="zh-TW" altLang="en-US" baseline="-25000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3629336" y="4462872"/>
            <a:ext cx="413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solidFill>
                  <a:srgbClr val="C00000"/>
                </a:solidFill>
                <a:sym typeface="Wingdings 2" panose="05020102010507070707" pitchFamily="18" charset="2"/>
              </a:rPr>
              <a:t></a:t>
            </a:r>
            <a:endParaRPr lang="zh-TW" altLang="en-US" sz="2000" b="1" dirty="0">
              <a:solidFill>
                <a:srgbClr val="C00000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3629336" y="5197669"/>
            <a:ext cx="413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solidFill>
                  <a:srgbClr val="C00000"/>
                </a:solidFill>
                <a:sym typeface="Wingdings 2" panose="05020102010507070707" pitchFamily="18" charset="2"/>
              </a:rPr>
              <a:t></a:t>
            </a:r>
            <a:endParaRPr lang="zh-TW" altLang="en-US" sz="2000" b="1" dirty="0">
              <a:solidFill>
                <a:srgbClr val="C00000"/>
              </a:solidFill>
            </a:endParaRPr>
          </a:p>
        </p:txBody>
      </p:sp>
      <p:grpSp>
        <p:nvGrpSpPr>
          <p:cNvPr id="43" name="群組 42"/>
          <p:cNvGrpSpPr/>
          <p:nvPr/>
        </p:nvGrpSpPr>
        <p:grpSpPr>
          <a:xfrm>
            <a:off x="5693687" y="4306330"/>
            <a:ext cx="1261805" cy="1891726"/>
            <a:chOff x="5124247" y="4301819"/>
            <a:chExt cx="1261805" cy="1891726"/>
          </a:xfrm>
        </p:grpSpPr>
        <p:sp>
          <p:nvSpPr>
            <p:cNvPr id="10" name="橢圓 9"/>
            <p:cNvSpPr/>
            <p:nvPr/>
          </p:nvSpPr>
          <p:spPr>
            <a:xfrm>
              <a:off x="6005111" y="4383151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文字方塊 10"/>
            <p:cNvSpPr txBox="1"/>
            <p:nvPr/>
          </p:nvSpPr>
          <p:spPr>
            <a:xfrm>
              <a:off x="5960388" y="4301819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橢圓 12"/>
            <p:cNvSpPr/>
            <p:nvPr/>
          </p:nvSpPr>
          <p:spPr>
            <a:xfrm>
              <a:off x="6005111" y="5145580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文字方塊 13"/>
            <p:cNvSpPr txBox="1"/>
            <p:nvPr/>
          </p:nvSpPr>
          <p:spPr>
            <a:xfrm>
              <a:off x="5960388" y="5064248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橢圓 15"/>
            <p:cNvSpPr/>
            <p:nvPr/>
          </p:nvSpPr>
          <p:spPr>
            <a:xfrm>
              <a:off x="6005111" y="5905545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5960388" y="5824213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橢圓 18"/>
            <p:cNvSpPr/>
            <p:nvPr/>
          </p:nvSpPr>
          <p:spPr>
            <a:xfrm>
              <a:off x="5168970" y="515505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" name="文字方塊 19"/>
            <p:cNvSpPr txBox="1"/>
            <p:nvPr/>
          </p:nvSpPr>
          <p:spPr>
            <a:xfrm>
              <a:off x="5124247" y="5073725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2" name="直線單箭頭接點 21"/>
            <p:cNvCxnSpPr>
              <a:stCxn id="10" idx="4"/>
              <a:endCxn id="13" idx="0"/>
            </p:cNvCxnSpPr>
            <p:nvPr/>
          </p:nvCxnSpPr>
          <p:spPr>
            <a:xfrm>
              <a:off x="6149111" y="4671151"/>
              <a:ext cx="0" cy="47442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單箭頭接點 25"/>
            <p:cNvCxnSpPr>
              <a:stCxn id="10" idx="3"/>
              <a:endCxn id="19" idx="0"/>
            </p:cNvCxnSpPr>
            <p:nvPr/>
          </p:nvCxnSpPr>
          <p:spPr>
            <a:xfrm flipH="1">
              <a:off x="5312970" y="4628974"/>
              <a:ext cx="734318" cy="52608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單箭頭接點 28"/>
            <p:cNvCxnSpPr>
              <a:stCxn id="19" idx="4"/>
              <a:endCxn id="16" idx="1"/>
            </p:cNvCxnSpPr>
            <p:nvPr/>
          </p:nvCxnSpPr>
          <p:spPr>
            <a:xfrm>
              <a:off x="5312970" y="5443057"/>
              <a:ext cx="734318" cy="50466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單箭頭接點 31"/>
            <p:cNvCxnSpPr>
              <a:stCxn id="13" idx="3"/>
              <a:endCxn id="19" idx="5"/>
            </p:cNvCxnSpPr>
            <p:nvPr/>
          </p:nvCxnSpPr>
          <p:spPr>
            <a:xfrm flipH="1">
              <a:off x="5414793" y="5391403"/>
              <a:ext cx="632495" cy="947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單箭頭接點 34"/>
            <p:cNvCxnSpPr>
              <a:stCxn id="19" idx="7"/>
              <a:endCxn id="13" idx="1"/>
            </p:cNvCxnSpPr>
            <p:nvPr/>
          </p:nvCxnSpPr>
          <p:spPr>
            <a:xfrm flipV="1">
              <a:off x="5414793" y="5187757"/>
              <a:ext cx="632495" cy="947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文字方塊 37"/>
            <p:cNvSpPr txBox="1"/>
            <p:nvPr/>
          </p:nvSpPr>
          <p:spPr>
            <a:xfrm>
              <a:off x="5530088" y="456832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文字方塊 38"/>
            <p:cNvSpPr txBox="1"/>
            <p:nvPr/>
          </p:nvSpPr>
          <p:spPr>
            <a:xfrm>
              <a:off x="6085970" y="4725828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文字方塊 39"/>
            <p:cNvSpPr txBox="1"/>
            <p:nvPr/>
          </p:nvSpPr>
          <p:spPr>
            <a:xfrm>
              <a:off x="5584614" y="488130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文字方塊 40"/>
            <p:cNvSpPr txBox="1"/>
            <p:nvPr/>
          </p:nvSpPr>
          <p:spPr>
            <a:xfrm>
              <a:off x="5584231" y="5344591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文字方塊 41"/>
            <p:cNvSpPr txBox="1"/>
            <p:nvPr/>
          </p:nvSpPr>
          <p:spPr>
            <a:xfrm>
              <a:off x="5449930" y="5646157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2" name="群組 51"/>
          <p:cNvGrpSpPr/>
          <p:nvPr/>
        </p:nvGrpSpPr>
        <p:grpSpPr>
          <a:xfrm>
            <a:off x="2087413" y="4773275"/>
            <a:ext cx="840183" cy="311384"/>
            <a:chOff x="1720261" y="4605099"/>
            <a:chExt cx="840183" cy="311384"/>
          </a:xfrm>
        </p:grpSpPr>
        <p:sp>
          <p:nvSpPr>
            <p:cNvPr id="44" name="文字方塊 43"/>
            <p:cNvSpPr txBox="1"/>
            <p:nvPr/>
          </p:nvSpPr>
          <p:spPr>
            <a:xfrm>
              <a:off x="1720261" y="4605099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4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文字方塊 44"/>
            <p:cNvSpPr txBox="1"/>
            <p:nvPr/>
          </p:nvSpPr>
          <p:spPr>
            <a:xfrm>
              <a:off x="2286010" y="4608706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4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4" name="群組 53"/>
          <p:cNvGrpSpPr/>
          <p:nvPr/>
        </p:nvGrpSpPr>
        <p:grpSpPr>
          <a:xfrm>
            <a:off x="2017391" y="5511067"/>
            <a:ext cx="1420618" cy="313988"/>
            <a:chOff x="1650239" y="5342891"/>
            <a:chExt cx="1420618" cy="313988"/>
          </a:xfrm>
        </p:grpSpPr>
        <p:sp>
          <p:nvSpPr>
            <p:cNvPr id="46" name="文字方塊 45"/>
            <p:cNvSpPr txBox="1"/>
            <p:nvPr/>
          </p:nvSpPr>
          <p:spPr>
            <a:xfrm>
              <a:off x="1650239" y="5349102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4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文字方塊 47"/>
            <p:cNvSpPr txBox="1"/>
            <p:nvPr/>
          </p:nvSpPr>
          <p:spPr>
            <a:xfrm>
              <a:off x="2228505" y="5349102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4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文字方塊 48"/>
            <p:cNvSpPr txBox="1"/>
            <p:nvPr/>
          </p:nvSpPr>
          <p:spPr>
            <a:xfrm>
              <a:off x="2796423" y="5342891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4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5" name="群組 54"/>
          <p:cNvGrpSpPr/>
          <p:nvPr/>
        </p:nvGrpSpPr>
        <p:grpSpPr>
          <a:xfrm>
            <a:off x="2006493" y="5892467"/>
            <a:ext cx="852700" cy="307777"/>
            <a:chOff x="1639341" y="5724291"/>
            <a:chExt cx="852700" cy="307777"/>
          </a:xfrm>
        </p:grpSpPr>
        <p:sp>
          <p:nvSpPr>
            <p:cNvPr id="50" name="文字方塊 49"/>
            <p:cNvSpPr txBox="1"/>
            <p:nvPr/>
          </p:nvSpPr>
          <p:spPr>
            <a:xfrm>
              <a:off x="1639341" y="5724291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4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文字方塊 50"/>
            <p:cNvSpPr txBox="1"/>
            <p:nvPr/>
          </p:nvSpPr>
          <p:spPr>
            <a:xfrm>
              <a:off x="2217607" y="5724291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4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52675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連續矩陣相乘 </a:t>
            </a:r>
            <a:r>
              <a:rPr lang="en-US" altLang="zh-TW" dirty="0"/>
              <a:t>(1/14)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>
                <a:solidFill>
                  <a:srgbClr val="C00000"/>
                </a:solidFill>
              </a:rPr>
              <a:t>2</a:t>
            </a:r>
            <a:r>
              <a:rPr lang="en-US" altLang="zh-TW" dirty="0"/>
              <a:t> </a:t>
            </a:r>
            <a:r>
              <a:rPr lang="en-US" altLang="zh-TW" dirty="0">
                <a:sym typeface="Symbol" panose="05050102010706020507" pitchFamily="18" charset="2"/>
              </a:rPr>
              <a:t> </a:t>
            </a:r>
            <a:r>
              <a:rPr lang="en-US" altLang="zh-TW" dirty="0">
                <a:solidFill>
                  <a:srgbClr val="0000FF"/>
                </a:solidFill>
                <a:sym typeface="Symbol" panose="05050102010706020507" pitchFamily="18" charset="2"/>
              </a:rPr>
              <a:t>3</a:t>
            </a:r>
            <a:r>
              <a:rPr lang="zh-TW" altLang="en-US" dirty="0">
                <a:sym typeface="Symbol" panose="05050102010706020507" pitchFamily="18" charset="2"/>
              </a:rPr>
              <a:t> 的矩陣乘上 </a:t>
            </a:r>
            <a:r>
              <a:rPr lang="en-US" altLang="zh-TW" dirty="0">
                <a:solidFill>
                  <a:srgbClr val="0000FF"/>
                </a:solidFill>
                <a:sym typeface="Symbol" panose="05050102010706020507" pitchFamily="18" charset="2"/>
              </a:rPr>
              <a:t>3</a:t>
            </a:r>
            <a:r>
              <a:rPr lang="en-US" altLang="zh-TW" dirty="0">
                <a:sym typeface="Symbol" panose="05050102010706020507" pitchFamily="18" charset="2"/>
              </a:rPr>
              <a:t>  </a:t>
            </a:r>
            <a:r>
              <a:rPr lang="en-US" altLang="zh-TW" dirty="0">
                <a:solidFill>
                  <a:srgbClr val="C00000"/>
                </a:solidFill>
                <a:sym typeface="Symbol" panose="05050102010706020507" pitchFamily="18" charset="2"/>
              </a:rPr>
              <a:t>4</a:t>
            </a:r>
            <a:r>
              <a:rPr lang="zh-TW" altLang="en-US" dirty="0">
                <a:sym typeface="Symbol" panose="05050102010706020507" pitchFamily="18" charset="2"/>
              </a:rPr>
              <a:t>的矩陣共需要 </a:t>
            </a:r>
            <a:r>
              <a:rPr lang="en-US" altLang="zh-TW" dirty="0">
                <a:solidFill>
                  <a:srgbClr val="C00000"/>
                </a:solidFill>
                <a:sym typeface="Symbol" panose="05050102010706020507" pitchFamily="18" charset="2"/>
              </a:rPr>
              <a:t>2</a:t>
            </a:r>
            <a:r>
              <a:rPr lang="en-US" altLang="zh-TW" dirty="0">
                <a:sym typeface="Symbol" panose="05050102010706020507" pitchFamily="18" charset="2"/>
              </a:rPr>
              <a:t>  </a:t>
            </a:r>
            <a:r>
              <a:rPr lang="en-US" altLang="zh-TW" dirty="0">
                <a:solidFill>
                  <a:srgbClr val="C00000"/>
                </a:solidFill>
                <a:sym typeface="Symbol" panose="05050102010706020507" pitchFamily="18" charset="2"/>
              </a:rPr>
              <a:t>4</a:t>
            </a:r>
            <a:r>
              <a:rPr lang="en-US" altLang="zh-TW" dirty="0">
                <a:sym typeface="Symbol" panose="05050102010706020507" pitchFamily="18" charset="2"/>
              </a:rPr>
              <a:t>  </a:t>
            </a:r>
            <a:r>
              <a:rPr lang="en-US" altLang="zh-TW" dirty="0">
                <a:solidFill>
                  <a:srgbClr val="0000FF"/>
                </a:solidFill>
                <a:sym typeface="Symbol" panose="05050102010706020507" pitchFamily="18" charset="2"/>
              </a:rPr>
              <a:t>3</a:t>
            </a:r>
            <a:r>
              <a:rPr lang="en-US" altLang="zh-TW" dirty="0">
                <a:sym typeface="Symbol" panose="05050102010706020507" pitchFamily="18" charset="2"/>
              </a:rPr>
              <a:t> </a:t>
            </a:r>
            <a:r>
              <a:rPr lang="zh-TW" altLang="en-US" dirty="0">
                <a:sym typeface="Symbol" panose="05050102010706020507" pitchFamily="18" charset="2"/>
              </a:rPr>
              <a:t>次乘法</a:t>
            </a:r>
            <a:endParaRPr lang="en-US" altLang="zh-TW" dirty="0">
              <a:sym typeface="Symbol" panose="05050102010706020507" pitchFamily="18" charset="2"/>
            </a:endParaRPr>
          </a:p>
          <a:p>
            <a:r>
              <a:rPr lang="en-US" altLang="zh-TW" i="1" dirty="0" err="1">
                <a:solidFill>
                  <a:srgbClr val="C00000"/>
                </a:solidFill>
                <a:sym typeface="Symbol" panose="05050102010706020507" pitchFamily="18" charset="2"/>
              </a:rPr>
              <a:t>i</a:t>
            </a:r>
            <a:r>
              <a:rPr lang="en-US" altLang="zh-TW" dirty="0">
                <a:sym typeface="Symbol" panose="05050102010706020507" pitchFamily="18" charset="2"/>
              </a:rPr>
              <a:t>  </a:t>
            </a:r>
            <a:r>
              <a:rPr lang="en-US" altLang="zh-TW" i="1" dirty="0">
                <a:solidFill>
                  <a:srgbClr val="0000FF"/>
                </a:solidFill>
                <a:sym typeface="Symbol" panose="05050102010706020507" pitchFamily="18" charset="2"/>
              </a:rPr>
              <a:t>j</a:t>
            </a:r>
            <a:r>
              <a:rPr lang="en-US" altLang="zh-TW" dirty="0">
                <a:sym typeface="Symbol" panose="05050102010706020507" pitchFamily="18" charset="2"/>
              </a:rPr>
              <a:t> </a:t>
            </a:r>
            <a:r>
              <a:rPr lang="zh-TW" altLang="en-US" dirty="0">
                <a:sym typeface="Symbol" panose="05050102010706020507" pitchFamily="18" charset="2"/>
              </a:rPr>
              <a:t>的矩陣乘上 </a:t>
            </a:r>
            <a:r>
              <a:rPr lang="en-US" altLang="zh-TW" i="1" dirty="0">
                <a:solidFill>
                  <a:srgbClr val="0000FF"/>
                </a:solidFill>
                <a:sym typeface="Symbol" panose="05050102010706020507" pitchFamily="18" charset="2"/>
              </a:rPr>
              <a:t>j</a:t>
            </a:r>
            <a:r>
              <a:rPr lang="en-US" altLang="zh-TW" dirty="0">
                <a:sym typeface="Symbol" panose="05050102010706020507" pitchFamily="18" charset="2"/>
              </a:rPr>
              <a:t>  </a:t>
            </a:r>
            <a:r>
              <a:rPr lang="en-US" altLang="zh-TW" i="1" dirty="0">
                <a:solidFill>
                  <a:srgbClr val="C00000"/>
                </a:solidFill>
                <a:sym typeface="Symbol" panose="05050102010706020507" pitchFamily="18" charset="2"/>
              </a:rPr>
              <a:t>k</a:t>
            </a:r>
            <a:r>
              <a:rPr lang="zh-TW" altLang="en-US" dirty="0">
                <a:sym typeface="Symbol" panose="05050102010706020507" pitchFamily="18" charset="2"/>
              </a:rPr>
              <a:t> 的矩陣共需要 </a:t>
            </a:r>
            <a:r>
              <a:rPr lang="en-US" altLang="zh-TW" i="1" dirty="0" err="1">
                <a:solidFill>
                  <a:srgbClr val="C00000"/>
                </a:solidFill>
                <a:sym typeface="Symbol" panose="05050102010706020507" pitchFamily="18" charset="2"/>
              </a:rPr>
              <a:t>i</a:t>
            </a:r>
            <a:r>
              <a:rPr lang="en-US" altLang="zh-TW" dirty="0">
                <a:sym typeface="Symbol" panose="05050102010706020507" pitchFamily="18" charset="2"/>
              </a:rPr>
              <a:t>  </a:t>
            </a:r>
            <a:r>
              <a:rPr lang="en-US" altLang="zh-TW" i="1" dirty="0">
                <a:solidFill>
                  <a:srgbClr val="C00000"/>
                </a:solidFill>
                <a:sym typeface="Symbol" panose="05050102010706020507" pitchFamily="18" charset="2"/>
              </a:rPr>
              <a:t>k</a:t>
            </a:r>
            <a:r>
              <a:rPr lang="en-US" altLang="zh-TW" dirty="0">
                <a:sym typeface="Symbol" panose="05050102010706020507" pitchFamily="18" charset="2"/>
              </a:rPr>
              <a:t>  </a:t>
            </a:r>
            <a:r>
              <a:rPr lang="en-US" altLang="zh-TW" i="1" dirty="0">
                <a:solidFill>
                  <a:srgbClr val="0000FF"/>
                </a:solidFill>
                <a:sym typeface="Symbol" panose="05050102010706020507" pitchFamily="18" charset="2"/>
              </a:rPr>
              <a:t>j</a:t>
            </a:r>
          </a:p>
          <a:p>
            <a:endParaRPr lang="en-US" altLang="zh-TW" dirty="0">
              <a:sym typeface="Symbol" panose="05050102010706020507" pitchFamily="18" charset="2"/>
            </a:endParaRPr>
          </a:p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2039742" y="1584747"/>
                <a:ext cx="5209952" cy="7326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e>
                              <m:e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TW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𝟕</m:t>
                                </m:r>
                              </m:e>
                              <m:e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𝟖</m:t>
                                </m:r>
                              </m:e>
                              <m:e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𝟗</m:t>
                                </m:r>
                              </m:e>
                              <m:e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𝟑</m:t>
                                </m:r>
                              </m:e>
                              <m:e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𝟒</m:t>
                                </m:r>
                              </m:e>
                              <m:e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𝟓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𝟔</m:t>
                                </m:r>
                              </m:e>
                              <m:e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𝟕</m:t>
                                </m:r>
                              </m:e>
                              <m:e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𝟖</m:t>
                                </m:r>
                              </m:e>
                              <m:e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𝟗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TW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𝟗</m:t>
                                </m:r>
                              </m:e>
                              <m:e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𝟑𝟓</m:t>
                                </m:r>
                              </m:e>
                              <m:e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𝟒𝟏</m:t>
                                </m:r>
                              </m:e>
                              <m:e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𝟑𝟖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𝟕𝟒</m:t>
                                </m:r>
                              </m:e>
                              <m:e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𝟖𝟗</m:t>
                                </m:r>
                              </m:e>
                              <m:e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𝟏𝟎𝟒</m:t>
                                </m:r>
                              </m:e>
                              <m:e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𝟖𝟑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b="1" dirty="0"/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9742" y="1584747"/>
                <a:ext cx="5209952" cy="732636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橢圓 7"/>
          <p:cNvSpPr/>
          <p:nvPr/>
        </p:nvSpPr>
        <p:spPr>
          <a:xfrm>
            <a:off x="5121870" y="1686692"/>
            <a:ext cx="420130" cy="264341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2894571" y="3110795"/>
                <a:ext cx="281327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𝟐𝟗</m:t>
                      </m:r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TW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TW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𝟕</m:t>
                      </m:r>
                      <m:r>
                        <a:rPr lang="en-US" altLang="zh-TW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TW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n-US" altLang="zh-TW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TW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n-US" altLang="zh-TW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TW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  <m:r>
                        <a:rPr lang="en-US" altLang="zh-TW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TW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zh-TW" altLang="en-US" b="1" dirty="0"/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4571" y="3110795"/>
                <a:ext cx="2813271" cy="276999"/>
              </a:xfrm>
              <a:prstGeom prst="rect">
                <a:avLst/>
              </a:prstGeom>
              <a:blipFill rotWithShape="0">
                <a:blip r:embed="rId3"/>
                <a:stretch>
                  <a:fillRect l="-1518" r="-1518" b="-65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群組 12"/>
          <p:cNvGrpSpPr/>
          <p:nvPr/>
        </p:nvGrpSpPr>
        <p:grpSpPr>
          <a:xfrm>
            <a:off x="4103544" y="2395864"/>
            <a:ext cx="1082348" cy="2196000"/>
            <a:chOff x="4103544" y="1728617"/>
            <a:chExt cx="1082348" cy="2196000"/>
          </a:xfrm>
        </p:grpSpPr>
        <p:sp>
          <p:nvSpPr>
            <p:cNvPr id="11" name="右大括弧 10"/>
            <p:cNvSpPr/>
            <p:nvPr/>
          </p:nvSpPr>
          <p:spPr>
            <a:xfrm>
              <a:off x="4463490" y="1728617"/>
              <a:ext cx="252000" cy="2196000"/>
            </a:xfrm>
            <a:prstGeom prst="rightBrace">
              <a:avLst>
                <a:gd name="adj1" fmla="val 56062"/>
                <a:gd name="adj2" fmla="val 50000"/>
              </a:avLst>
            </a:prstGeom>
            <a:ln w="19050">
              <a:solidFill>
                <a:srgbClr val="C00000"/>
              </a:solidFill>
            </a:ln>
            <a:scene3d>
              <a:camera prst="orthographicFront">
                <a:rot lat="0" lon="0" rev="16200000"/>
              </a:camera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文字方塊 11"/>
            <p:cNvSpPr txBox="1"/>
            <p:nvPr/>
          </p:nvSpPr>
          <p:spPr>
            <a:xfrm>
              <a:off x="4103544" y="2919383"/>
              <a:ext cx="108234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3</a:t>
              </a:r>
              <a:r>
                <a:rPr lang="zh-TW" altLang="en-US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次乘法</a:t>
              </a:r>
            </a:p>
          </p:txBody>
        </p:sp>
      </p:grpSp>
      <p:sp>
        <p:nvSpPr>
          <p:cNvPr id="14" name="圓角矩形圖說文字 13"/>
          <p:cNvSpPr/>
          <p:nvPr/>
        </p:nvSpPr>
        <p:spPr>
          <a:xfrm>
            <a:off x="920588" y="2451756"/>
            <a:ext cx="1445741" cy="524665"/>
          </a:xfrm>
          <a:prstGeom prst="wedgeRoundRectCallout">
            <a:avLst>
              <a:gd name="adj1" fmla="val 86005"/>
              <a:gd name="adj2" fmla="val 9782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共有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8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個</a:t>
            </a:r>
          </a:p>
        </p:txBody>
      </p:sp>
    </p:spTree>
    <p:extLst>
      <p:ext uri="{BB962C8B-B14F-4D97-AF65-F5344CB8AC3E}">
        <p14:creationId xmlns:p14="http://schemas.microsoft.com/office/powerpoint/2010/main" val="2434188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連續矩陣相乘 </a:t>
            </a:r>
            <a:r>
              <a:rPr lang="en-US" altLang="zh-TW" dirty="0"/>
              <a:t>(2/14)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四個矩陣相乘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42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2161666" y="1916832"/>
                <a:ext cx="5494261" cy="5132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m>
                        <m:mPr>
                          <m:mcs>
                            <m:mc>
                              <m:mcPr>
                                <m:count m:val="7"/>
                                <m:mcJc m:val="center"/>
                              </m:mcPr>
                            </m:mc>
                          </m:mcs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altLang="zh-TW" sz="2000" b="1" i="1"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</m:e>
                          <m:e>
                            <m:r>
                              <a:rPr lang="en-US" altLang="zh-TW" sz="2000" b="1" i="1">
                                <a:latin typeface="Cambria Math" panose="02040503050406030204" pitchFamily="18" charset="0"/>
                              </a:rPr>
                              <m:t>𝑩</m:t>
                            </m:r>
                          </m:e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</m:e>
                          <m:e>
                            <m:r>
                              <a:rPr lang="en-US" altLang="zh-TW" sz="2000" b="1" i="1"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</m:e>
                          <m:e>
                            <m:r>
                              <a:rPr lang="en-US" altLang="zh-TW" sz="2000" b="1" i="1">
                                <a:latin typeface="Cambria Math" panose="02040503050406030204" pitchFamily="18" charset="0"/>
                              </a:rPr>
                              <m:t>𝑫</m:t>
                            </m:r>
                          </m:e>
                        </m:mr>
                        <m:mr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𝟐𝟎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e>
                          <m:e/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𝟑𝟎</m:t>
                            </m:r>
                          </m:e>
                          <m:e/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𝟑𝟎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𝟏𝟐</m:t>
                            </m:r>
                          </m:e>
                          <m:e/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𝟏𝟐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𝟖</m:t>
                            </m:r>
                          </m:e>
                        </m:mr>
                      </m:m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1666" y="1916832"/>
                <a:ext cx="5494261" cy="51328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1079479" y="2811374"/>
                <a:ext cx="697979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m>
                        <m:mPr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𝑨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𝑩</m:t>
                            </m:r>
                            <m:d>
                              <m:d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</m:e>
                            </m:d>
                            <m:r>
                              <m:rPr>
                                <m:brk m:alnAt="7"/>
                              </m:rP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𝟑𝟎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𝟏𝟐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𝟖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𝟑𝟎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𝟖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𝟐𝟎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𝟖</m:t>
                            </m:r>
                          </m:e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𝟑𝟔𝟖𝟎</m:t>
                            </m:r>
                          </m:e>
                        </m:mr>
                      </m:m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479" y="2811374"/>
                <a:ext cx="6979796" cy="307777"/>
              </a:xfrm>
              <a:prstGeom prst="rect">
                <a:avLst/>
              </a:prstGeom>
              <a:blipFill rotWithShape="0">
                <a:blip r:embed="rId3"/>
                <a:stretch>
                  <a:fillRect l="-349" r="-349" b="-3529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線接點 9"/>
          <p:cNvCxnSpPr/>
          <p:nvPr/>
        </p:nvCxnSpPr>
        <p:spPr>
          <a:xfrm>
            <a:off x="5654102" y="3119151"/>
            <a:ext cx="1260000" cy="0"/>
          </a:xfrm>
          <a:prstGeom prst="line">
            <a:avLst/>
          </a:prstGeom>
          <a:ln w="19050">
            <a:solidFill>
              <a:srgbClr val="1616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>
            <a:off x="1656010" y="3119151"/>
            <a:ext cx="468000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>
            <a:off x="4150697" y="3119151"/>
            <a:ext cx="1260000" cy="0"/>
          </a:xfrm>
          <a:prstGeom prst="line">
            <a:avLst/>
          </a:prstGeom>
          <a:ln w="190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>
            <a:off x="1422010" y="3185053"/>
            <a:ext cx="720000" cy="0"/>
          </a:xfrm>
          <a:prstGeom prst="line">
            <a:avLst/>
          </a:prstGeom>
          <a:ln w="190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2529902" y="3119151"/>
            <a:ext cx="1368000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1123389" y="3250955"/>
            <a:ext cx="1044000" cy="0"/>
          </a:xfrm>
          <a:prstGeom prst="line">
            <a:avLst/>
          </a:prstGeom>
          <a:ln w="19050">
            <a:solidFill>
              <a:srgbClr val="1616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/>
              <p:cNvSpPr txBox="1"/>
              <p:nvPr/>
            </p:nvSpPr>
            <p:spPr>
              <a:xfrm>
                <a:off x="778136" y="3729011"/>
                <a:ext cx="7614200" cy="14498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m>
                        <m:mPr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d>
                              <m:d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𝑨𝑩</m:t>
                                </m:r>
                              </m:e>
                            </m:d>
                            <m:d>
                              <m:d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𝑪𝑫</m:t>
                                </m:r>
                              </m:e>
                            </m:d>
                          </m:e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𝟐𝟎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𝟑𝟎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𝟑𝟎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𝟏𝟐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𝟖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𝟐𝟎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𝟑𝟎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𝟖</m:t>
                            </m:r>
                          </m:e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𝟖𝟖𝟖𝟎</m:t>
                            </m:r>
                          </m:e>
                        </m:mr>
                        <m:mr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𝑨</m:t>
                            </m:r>
                            <m:d>
                              <m:d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ctrlPr>
                                      <a:rPr lang="en-US" altLang="zh-TW" sz="2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2000" b="1" i="1" smtClean="0">
                                        <a:latin typeface="Cambria Math" panose="02040503050406030204" pitchFamily="18" charset="0"/>
                                      </a:rPr>
                                      <m:t>𝑩𝑪</m:t>
                                    </m:r>
                                  </m:e>
                                </m:d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</m:e>
                            </m:d>
                          </m:e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𝟑𝟎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𝟏𝟐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𝟏𝟐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𝟖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𝟐𝟎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𝟖</m:t>
                            </m:r>
                          </m:e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𝟏𝟐𝟑𝟐</m:t>
                            </m:r>
                          </m:e>
                        </m:mr>
                        <m:mr>
                          <m:e>
                            <m:d>
                              <m:d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ctrlPr>
                                      <a:rPr lang="en-US" altLang="zh-TW" sz="2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2000" b="1" i="1" smtClean="0">
                                        <a:latin typeface="Cambria Math" panose="02040503050406030204" pitchFamily="18" charset="0"/>
                                      </a:rPr>
                                      <m:t>𝑨𝑩</m:t>
                                    </m:r>
                                  </m:e>
                                </m:d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e>
                            </m:d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𝑫</m:t>
                            </m:r>
                          </m:e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𝟐𝟎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𝟑𝟎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𝟐𝟎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𝟑𝟎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𝟏𝟐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𝟐𝟎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𝟏𝟐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𝟖</m:t>
                            </m:r>
                          </m:e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𝟏𝟎𝟑𝟐𝟎</m:t>
                            </m:r>
                          </m:e>
                        </m:mr>
                        <m:mr>
                          <m:e>
                            <m:d>
                              <m:d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d>
                                  <m:dPr>
                                    <m:ctrlPr>
                                      <a:rPr lang="en-US" altLang="zh-TW" sz="2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2000" b="1" i="1" smtClean="0">
                                        <a:latin typeface="Cambria Math" panose="02040503050406030204" pitchFamily="18" charset="0"/>
                                      </a:rPr>
                                      <m:t>𝑩𝑪</m:t>
                                    </m:r>
                                  </m:e>
                                </m:d>
                              </m:e>
                            </m:d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𝑫</m:t>
                            </m:r>
                          </m:e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𝟑𝟎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𝟏𝟐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𝟐𝟎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𝟏𝟐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𝟐𝟎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𝟏𝟐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𝟖</m:t>
                            </m:r>
                          </m:e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𝟑𝟏𝟐𝟎</m:t>
                            </m:r>
                          </m:e>
                        </m:mr>
                      </m:m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16" name="文字方塊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136" y="3729011"/>
                <a:ext cx="7614200" cy="144988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橢圓 16"/>
          <p:cNvSpPr/>
          <p:nvPr/>
        </p:nvSpPr>
        <p:spPr>
          <a:xfrm>
            <a:off x="7556151" y="4100883"/>
            <a:ext cx="784660" cy="264341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0814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6" grpId="0"/>
      <p:bldP spid="17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連續矩陣相乘 </a:t>
            </a:r>
            <a:r>
              <a:rPr lang="en-US" altLang="zh-TW" dirty="0"/>
              <a:t>(3/14)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i="1" dirty="0"/>
              <a:t>n</a:t>
            </a:r>
            <a:r>
              <a:rPr lang="zh-TW" altLang="en-US" dirty="0"/>
              <a:t>個矩陣相乘</a:t>
            </a:r>
            <a:endParaRPr lang="en-US" altLang="zh-TW" dirty="0"/>
          </a:p>
          <a:p>
            <a:pPr lvl="1"/>
            <a:r>
              <a:rPr lang="zh-TW" altLang="en-US" dirty="0"/>
              <a:t>目標：建立演算法找出矩陣相乘的最佳順序</a:t>
            </a:r>
            <a:r>
              <a:rPr lang="en-US" altLang="zh-TW" dirty="0"/>
              <a:t>(</a:t>
            </a:r>
            <a:r>
              <a:rPr lang="zh-TW" altLang="en-US" dirty="0">
                <a:solidFill>
                  <a:srgbClr val="C00000"/>
                </a:solidFill>
              </a:rPr>
              <a:t>乘法次數最少</a:t>
            </a:r>
            <a:r>
              <a:rPr lang="en-US" altLang="zh-TW" dirty="0"/>
              <a:t>)</a:t>
            </a:r>
          </a:p>
          <a:p>
            <a:endParaRPr lang="en-US" altLang="zh-TW" dirty="0"/>
          </a:p>
          <a:p>
            <a:r>
              <a:rPr lang="zh-TW" altLang="en-US" dirty="0"/>
              <a:t>暴力法</a:t>
            </a:r>
            <a:r>
              <a:rPr lang="en-US" altLang="zh-TW" dirty="0"/>
              <a:t>(brute-force)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3524765" y="2740108"/>
                <a:ext cx="151951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…</m:t>
                      </m:r>
                      <m:sSub>
                        <m:sSub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4765" y="2740108"/>
                <a:ext cx="1519519" cy="307777"/>
              </a:xfrm>
              <a:prstGeom prst="rect">
                <a:avLst/>
              </a:prstGeom>
              <a:blipFill rotWithShape="0">
                <a:blip r:embed="rId2"/>
                <a:stretch>
                  <a:fillRect l="-3213" r="-402" b="-156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1406726" y="4082659"/>
                <a:ext cx="173111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…</m:t>
                      </m:r>
                      <m:sSub>
                        <m:sSub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6726" y="4082659"/>
                <a:ext cx="1731115" cy="307777"/>
              </a:xfrm>
              <a:prstGeom prst="rect">
                <a:avLst/>
              </a:prstGeom>
              <a:blipFill rotWithShape="0">
                <a:blip r:embed="rId3"/>
                <a:stretch>
                  <a:fillRect l="-3169" t="-4000" r="-4930" b="-36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群組 19"/>
          <p:cNvGrpSpPr/>
          <p:nvPr/>
        </p:nvGrpSpPr>
        <p:grpSpPr>
          <a:xfrm>
            <a:off x="1466188" y="4393235"/>
            <a:ext cx="2058577" cy="527286"/>
            <a:chOff x="1466188" y="4393235"/>
            <a:chExt cx="2058577" cy="527286"/>
          </a:xfrm>
        </p:grpSpPr>
        <p:sp>
          <p:nvSpPr>
            <p:cNvPr id="9" name="右大括弧 8"/>
            <p:cNvSpPr/>
            <p:nvPr/>
          </p:nvSpPr>
          <p:spPr>
            <a:xfrm rot="5400000">
              <a:off x="2307482" y="3863585"/>
              <a:ext cx="201089" cy="1260389"/>
            </a:xfrm>
            <a:prstGeom prst="rightBrace">
              <a:avLst>
                <a:gd name="adj1" fmla="val 43889"/>
                <a:gd name="adj2" fmla="val 50000"/>
              </a:avLst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文字方塊 9"/>
            <p:cNvSpPr txBox="1"/>
            <p:nvPr/>
          </p:nvSpPr>
          <p:spPr>
            <a:xfrm>
              <a:off x="1466188" y="4520411"/>
              <a:ext cx="205857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 err="1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t</a:t>
              </a:r>
              <a:r>
                <a:rPr lang="en-US" altLang="zh-TW" sz="2000" b="1" i="1" baseline="-25000" dirty="0" err="1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n</a:t>
              </a:r>
              <a:r>
                <a:rPr lang="en-US" altLang="zh-TW" sz="2000" b="1" baseline="-25000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–1</a:t>
              </a:r>
              <a:r>
                <a:rPr lang="zh-TW" altLang="en-US" sz="20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種不同的順序</a:t>
              </a:r>
            </a:p>
          </p:txBody>
        </p:sp>
      </p:grpSp>
      <p:sp>
        <p:nvSpPr>
          <p:cNvPr id="11" name="文字方塊 10"/>
          <p:cNvSpPr txBox="1"/>
          <p:nvPr/>
        </p:nvSpPr>
        <p:spPr>
          <a:xfrm>
            <a:off x="5152808" y="2693941"/>
            <a:ext cx="18886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 err="1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</a:t>
            </a:r>
            <a:r>
              <a:rPr lang="en-US" altLang="zh-TW" sz="2000" b="1" i="1" baseline="-25000" dirty="0" err="1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種不同的順序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/>
              <p:cNvSpPr txBox="1"/>
              <p:nvPr/>
            </p:nvSpPr>
            <p:spPr>
              <a:xfrm>
                <a:off x="5439807" y="4082659"/>
                <a:ext cx="203196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…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9807" y="4082659"/>
                <a:ext cx="2031967" cy="307777"/>
              </a:xfrm>
              <a:prstGeom prst="rect">
                <a:avLst/>
              </a:prstGeom>
              <a:blipFill rotWithShape="0">
                <a:blip r:embed="rId4"/>
                <a:stretch>
                  <a:fillRect l="-4192" t="-4000" b="-36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群組 20"/>
          <p:cNvGrpSpPr/>
          <p:nvPr/>
        </p:nvGrpSpPr>
        <p:grpSpPr>
          <a:xfrm>
            <a:off x="5295301" y="4393234"/>
            <a:ext cx="2058577" cy="527287"/>
            <a:chOff x="5295301" y="4393234"/>
            <a:chExt cx="2058577" cy="527287"/>
          </a:xfrm>
        </p:grpSpPr>
        <p:sp>
          <p:nvSpPr>
            <p:cNvPr id="13" name="右大括弧 12"/>
            <p:cNvSpPr/>
            <p:nvPr/>
          </p:nvSpPr>
          <p:spPr>
            <a:xfrm rot="5400000">
              <a:off x="6190586" y="3719779"/>
              <a:ext cx="201089" cy="1548000"/>
            </a:xfrm>
            <a:prstGeom prst="rightBrace">
              <a:avLst>
                <a:gd name="adj1" fmla="val 43889"/>
                <a:gd name="adj2" fmla="val 50000"/>
              </a:avLst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文字方塊 13"/>
            <p:cNvSpPr txBox="1"/>
            <p:nvPr/>
          </p:nvSpPr>
          <p:spPr>
            <a:xfrm>
              <a:off x="5295301" y="4520411"/>
              <a:ext cx="205857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 err="1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t</a:t>
              </a:r>
              <a:r>
                <a:rPr lang="en-US" altLang="zh-TW" sz="2000" b="1" i="1" baseline="-25000" dirty="0" err="1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n</a:t>
              </a:r>
              <a:r>
                <a:rPr lang="en-US" altLang="zh-TW" sz="2000" b="1" baseline="-25000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–1</a:t>
              </a:r>
              <a:r>
                <a:rPr lang="zh-TW" altLang="en-US" sz="20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種不同的順序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/>
              <p:cNvSpPr txBox="1"/>
              <p:nvPr/>
            </p:nvSpPr>
            <p:spPr>
              <a:xfrm>
                <a:off x="2836659" y="5204819"/>
                <a:ext cx="289572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US" altLang="zh-TW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TW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TW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sSub>
                        <m:sSub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15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6659" y="5204819"/>
                <a:ext cx="2895729" cy="307777"/>
              </a:xfrm>
              <a:prstGeom prst="rect">
                <a:avLst/>
              </a:prstGeom>
              <a:blipFill rotWithShape="0">
                <a:blip r:embed="rId5"/>
                <a:stretch>
                  <a:fillRect l="-1263" r="-632" b="-18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/>
              <p:cNvSpPr txBox="1"/>
              <p:nvPr/>
            </p:nvSpPr>
            <p:spPr>
              <a:xfrm>
                <a:off x="3894576" y="5569169"/>
                <a:ext cx="77989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16" name="文字方塊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4576" y="5569169"/>
                <a:ext cx="779893" cy="307777"/>
              </a:xfrm>
              <a:prstGeom prst="rect">
                <a:avLst/>
              </a:prstGeom>
              <a:blipFill rotWithShape="0">
                <a:blip r:embed="rId6"/>
                <a:stretch>
                  <a:fillRect l="-6250" r="-6250" b="-18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/>
              <p:cNvSpPr txBox="1"/>
              <p:nvPr/>
            </p:nvSpPr>
            <p:spPr>
              <a:xfrm>
                <a:off x="3895060" y="5933519"/>
                <a:ext cx="1170449" cy="3147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US" altLang="zh-TW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sSup>
                        <m:sSup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17" name="文字方塊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5060" y="5933519"/>
                <a:ext cx="1170449" cy="314766"/>
              </a:xfrm>
              <a:prstGeom prst="rect">
                <a:avLst/>
              </a:prstGeom>
              <a:blipFill rotWithShape="0">
                <a:blip r:embed="rId7"/>
                <a:stretch>
                  <a:fillRect l="-4167" r="-2083" b="-134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文字方塊 17"/>
          <p:cNvSpPr txBox="1"/>
          <p:nvPr/>
        </p:nvSpPr>
        <p:spPr>
          <a:xfrm>
            <a:off x="1711743" y="3443990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r>
              <a:rPr lang="en-US" altLang="zh-TW" sz="2000" b="1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最後乘</a:t>
            </a:r>
          </a:p>
        </p:txBody>
      </p:sp>
      <p:sp>
        <p:nvSpPr>
          <p:cNvPr id="19" name="文字方塊 18"/>
          <p:cNvSpPr txBox="1"/>
          <p:nvPr/>
        </p:nvSpPr>
        <p:spPr>
          <a:xfrm>
            <a:off x="5714486" y="3443990"/>
            <a:ext cx="12202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r>
              <a:rPr lang="en-US" altLang="zh-TW" sz="2000" b="1" i="1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最後乘</a:t>
            </a:r>
          </a:p>
        </p:txBody>
      </p:sp>
      <p:sp>
        <p:nvSpPr>
          <p:cNvPr id="22" name="圓角矩形圖說文字 21"/>
          <p:cNvSpPr/>
          <p:nvPr/>
        </p:nvSpPr>
        <p:spPr>
          <a:xfrm>
            <a:off x="5931244" y="5290478"/>
            <a:ext cx="1268682" cy="520466"/>
          </a:xfrm>
          <a:prstGeom prst="wedgeRoundRectCallout">
            <a:avLst>
              <a:gd name="adj1" fmla="val -112870"/>
              <a:gd name="adj2" fmla="val 11473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指數時間</a:t>
            </a:r>
          </a:p>
        </p:txBody>
      </p:sp>
    </p:spTree>
    <p:extLst>
      <p:ext uri="{BB962C8B-B14F-4D97-AF65-F5344CB8AC3E}">
        <p14:creationId xmlns:p14="http://schemas.microsoft.com/office/powerpoint/2010/main" val="3516828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1" grpId="0"/>
      <p:bldP spid="12" grpId="0"/>
      <p:bldP spid="15" grpId="0"/>
      <p:bldP spid="16" grpId="0"/>
      <p:bldP spid="17" grpId="0"/>
      <p:bldP spid="18" grpId="0"/>
      <p:bldP spid="19" grpId="0"/>
      <p:bldP spid="22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連續矩陣相乘 </a:t>
            </a:r>
            <a:r>
              <a:rPr lang="en-US" altLang="zh-TW" dirty="0"/>
              <a:t>(4/14)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矩陣相乘問題是否符合最佳化問題原則？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2977974" y="1998701"/>
                <a:ext cx="2851422" cy="5442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d>
                        <m:d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</a:rPr>
                                            <m:t>𝑨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</a:rPr>
                                            <m:t>𝑨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𝑨</m:t>
                                      </m:r>
                                    </m:e>
                                    <m:sub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𝟒</m:t>
                                      </m:r>
                                    </m:sub>
                                  </m:sSub>
                                </m:e>
                              </m:d>
                              <m:sSub>
                                <m:sSubPr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𝟓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7974" y="1998701"/>
                <a:ext cx="2851422" cy="54425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3829560" y="3604869"/>
                <a:ext cx="115211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9560" y="3604869"/>
                <a:ext cx="1152110" cy="307777"/>
              </a:xfrm>
              <a:prstGeom prst="rect">
                <a:avLst/>
              </a:prstGeom>
              <a:blipFill rotWithShape="0">
                <a:blip r:embed="rId3"/>
                <a:stretch>
                  <a:fillRect r="-2116" b="-156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字方塊 8"/>
          <p:cNvSpPr txBox="1"/>
          <p:nvPr/>
        </p:nvSpPr>
        <p:spPr>
          <a:xfrm>
            <a:off x="3067319" y="4990676"/>
            <a:ext cx="27063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programming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向下箭號 9"/>
          <p:cNvSpPr/>
          <p:nvPr/>
        </p:nvSpPr>
        <p:spPr>
          <a:xfrm>
            <a:off x="4194999" y="2898668"/>
            <a:ext cx="451022" cy="29604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向下箭號 10"/>
          <p:cNvSpPr/>
          <p:nvPr/>
        </p:nvSpPr>
        <p:spPr>
          <a:xfrm>
            <a:off x="4194999" y="4288248"/>
            <a:ext cx="451022" cy="29604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7653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 animBg="1"/>
      <p:bldP spid="11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連續矩陣相乘 </a:t>
            </a:r>
            <a:r>
              <a:rPr lang="en-US" altLang="zh-TW" dirty="0"/>
              <a:t>(5/14)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5937" y="1777827"/>
                <a:ext cx="9158597" cy="8989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m>
                        <m:mPr>
                          <m:mcs>
                            <m:mc>
                              <m:mcPr>
                                <m:count m:val="11"/>
                                <m:mcJc m:val="center"/>
                              </m:mcPr>
                            </m:mc>
                          </m:mcs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𝟓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e>
                          <m:e/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𝟑</m:t>
                            </m:r>
                          </m:e>
                          <m:e/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𝟒</m:t>
                            </m:r>
                          </m:e>
                          <m:e/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𝟒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𝟔</m:t>
                            </m:r>
                          </m:e>
                          <m:e/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𝟔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𝟕</m:t>
                            </m:r>
                          </m:e>
                          <m:e/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𝟕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𝟖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e>
                          <m:e/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e>
                          <m:e/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𝟑</m:t>
                                </m:r>
                              </m:sub>
                            </m:sSub>
                          </m:e>
                          <m:e/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sub>
                            </m:sSub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𝟒</m:t>
                                </m:r>
                              </m:sub>
                            </m:sSub>
                          </m:e>
                          <m:e/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sub>
                            </m:sSub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𝟓</m:t>
                                </m:r>
                              </m:sub>
                            </m:sSub>
                          </m:e>
                          <m:e/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sub>
                            </m:sSub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𝟔</m:t>
                                </m:r>
                              </m:sub>
                            </m:sSub>
                          </m:e>
                        </m:mr>
                      </m:m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7" y="1777827"/>
                <a:ext cx="9158597" cy="89890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1842010" y="3368251"/>
                <a:ext cx="115211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sub>
                      </m:sSub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2010" y="3368251"/>
                <a:ext cx="1152110" cy="307777"/>
              </a:xfrm>
              <a:prstGeom prst="rect">
                <a:avLst/>
              </a:prstGeom>
              <a:blipFill rotWithShape="0">
                <a:blip r:embed="rId3"/>
                <a:stretch>
                  <a:fillRect r="-2116" b="-18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1842010" y="4180888"/>
                <a:ext cx="115211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d>
                        <m:d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2010" y="4180888"/>
                <a:ext cx="1152110" cy="307777"/>
              </a:xfrm>
              <a:prstGeom prst="rect">
                <a:avLst/>
              </a:prstGeom>
              <a:blipFill rotWithShape="0">
                <a:blip r:embed="rId4"/>
                <a:stretch>
                  <a:fillRect l="-4233" b="-18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/>
              <p:cNvSpPr txBox="1"/>
              <p:nvPr/>
            </p:nvSpPr>
            <p:spPr>
              <a:xfrm>
                <a:off x="3086100" y="3368251"/>
                <a:ext cx="3730893" cy="5325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sub>
                            </m:sSub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𝟒</m:t>
                                </m:r>
                              </m:sub>
                            </m:sSub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𝟓</m:t>
                                </m:r>
                              </m:sub>
                            </m:sSub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𝟑</m:t>
                                </m:r>
                              </m:sub>
                            </m:sSub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𝟓</m:t>
                                </m:r>
                              </m:sub>
                            </m:sSub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𝟔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</m:e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𝟒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𝟔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𝟕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𝟒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𝟕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𝟖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𝟑𝟗𝟐</m:t>
                            </m:r>
                          </m:e>
                        </m:mr>
                      </m:m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10" name="文字方塊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6100" y="3368251"/>
                <a:ext cx="3730893" cy="53258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/>
              <p:cNvSpPr txBox="1"/>
              <p:nvPr/>
            </p:nvSpPr>
            <p:spPr>
              <a:xfrm>
                <a:off x="3086100" y="4180888"/>
                <a:ext cx="3730893" cy="5388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sub>
                            </m:sSub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𝟓</m:t>
                                </m:r>
                              </m:sub>
                            </m:sSub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𝟔</m:t>
                                </m:r>
                              </m:sub>
                            </m:sSub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𝟑</m:t>
                                </m:r>
                              </m:sub>
                            </m:sSub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𝟒</m:t>
                                </m:r>
                              </m:sub>
                            </m:sSub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𝟔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</m:e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𝟔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𝟕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𝟖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𝟒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𝟔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𝟖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𝟓𝟐𝟖</m:t>
                            </m:r>
                          </m:e>
                        </m:mr>
                      </m:m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6100" y="4180888"/>
                <a:ext cx="3730893" cy="538865"/>
              </a:xfrm>
              <a:prstGeom prst="rect">
                <a:avLst/>
              </a:prstGeom>
              <a:blipFill rotWithShape="0">
                <a:blip r:embed="rId6"/>
                <a:stretch>
                  <a:fillRect b="-11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/>
              <p:cNvSpPr txBox="1"/>
              <p:nvPr/>
            </p:nvSpPr>
            <p:spPr>
              <a:xfrm>
                <a:off x="1842010" y="5033075"/>
                <a:ext cx="5085303" cy="65517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𝑴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e>
                      </m:d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𝒎𝒊𝒏𝒊𝒎𝒖𝒎</m:t>
                      </m:r>
                      <m:d>
                        <m:d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𝟓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</m:sub>
                          </m:sSub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𝟓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𝟔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altLang="zh-TW" sz="2000" b="1" i="1" dirty="0">
                  <a:latin typeface="Cambria Math" panose="02040503050406030204" pitchFamily="18" charset="0"/>
                </a:endParaRPr>
              </a:p>
              <a:p>
                <a:r>
                  <a:rPr lang="en-US" altLang="zh-TW" sz="2000" b="1" dirty="0"/>
                  <a:t>                 </a:t>
                </a:r>
                <a14:m>
                  <m:oMath xmlns:m="http://schemas.openxmlformats.org/officeDocument/2006/math">
                    <m:r>
                      <a:rPr lang="en-US" altLang="zh-TW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 b="1" i="1" smtClean="0">
                        <a:latin typeface="Cambria Math" panose="02040503050406030204" pitchFamily="18" charset="0"/>
                      </a:rPr>
                      <m:t>𝒎𝒊𝒏𝒊𝒎𝒖𝒎</m:t>
                    </m:r>
                    <m:d>
                      <m:dPr>
                        <m:ctrlP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  <m:t>𝟑𝟗𝟐</m:t>
                        </m:r>
                        <m: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  <m:t>𝟓𝟐𝟖</m:t>
                        </m:r>
                      </m:e>
                    </m:d>
                    <m:r>
                      <a:rPr lang="en-US" altLang="zh-TW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 b="1" i="1" smtClean="0">
                        <a:latin typeface="Cambria Math" panose="02040503050406030204" pitchFamily="18" charset="0"/>
                      </a:rPr>
                      <m:t>𝟑𝟗𝟐</m:t>
                    </m:r>
                  </m:oMath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2010" y="5033075"/>
                <a:ext cx="5085303" cy="655179"/>
              </a:xfrm>
              <a:prstGeom prst="rect">
                <a:avLst/>
              </a:prstGeom>
              <a:blipFill rotWithShape="0">
                <a:blip r:embed="rId7"/>
                <a:stretch>
                  <a:fillRect l="-120" b="-373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圓角矩形 12"/>
          <p:cNvSpPr/>
          <p:nvPr/>
        </p:nvSpPr>
        <p:spPr>
          <a:xfrm>
            <a:off x="4806778" y="1612557"/>
            <a:ext cx="4275438" cy="1149178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4072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連續矩陣相乘 </a:t>
            </a:r>
            <a:r>
              <a:rPr lang="en-US" altLang="zh-TW" dirty="0"/>
              <a:t>(6/14)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5937" y="1777827"/>
                <a:ext cx="9158597" cy="8989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m>
                        <m:mPr>
                          <m:mcs>
                            <m:mc>
                              <m:mcPr>
                                <m:count m:val="11"/>
                                <m:mcJc m:val="center"/>
                              </m:mcPr>
                            </m:mc>
                          </m:mcs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𝟓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e>
                          <m:e/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𝟑</m:t>
                            </m:r>
                          </m:e>
                          <m:e/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𝟒</m:t>
                            </m:r>
                          </m:e>
                          <m:e/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𝟒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𝟔</m:t>
                            </m:r>
                          </m:e>
                          <m:e/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𝟔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𝟕</m:t>
                            </m:r>
                          </m:e>
                          <m:e/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𝟕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𝟖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e>
                          <m:e/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e>
                          <m:e/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𝟑</m:t>
                                </m:r>
                              </m:sub>
                            </m:sSub>
                          </m:e>
                          <m:e/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sub>
                            </m:sSub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𝟒</m:t>
                                </m:r>
                              </m:sub>
                            </m:sSub>
                          </m:e>
                          <m:e/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sub>
                            </m:sSub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𝟓</m:t>
                                </m:r>
                              </m:sub>
                            </m:sSub>
                          </m:e>
                          <m:e/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sub>
                            </m:sSub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𝟔</m:t>
                                </m:r>
                              </m:sub>
                            </m:sSub>
                          </m:e>
                        </m:mr>
                      </m:m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7" y="1777827"/>
                <a:ext cx="9158597" cy="89890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1298307" y="3122977"/>
                <a:ext cx="203042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d>
                        <m:d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8307" y="3122977"/>
                <a:ext cx="2030428" cy="307777"/>
              </a:xfrm>
              <a:prstGeom prst="rect">
                <a:avLst/>
              </a:prstGeom>
              <a:blipFill rotWithShape="0">
                <a:blip r:embed="rId3"/>
                <a:stretch>
                  <a:fillRect l="-2402" b="-176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1191868" y="3661905"/>
                <a:ext cx="224330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sub>
                              </m:s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1868" y="3661905"/>
                <a:ext cx="2243306" cy="307777"/>
              </a:xfrm>
              <a:prstGeom prst="rect">
                <a:avLst/>
              </a:prstGeom>
              <a:blipFill rotWithShape="0">
                <a:blip r:embed="rId4"/>
                <a:stretch>
                  <a:fillRect b="-18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/>
              <p:cNvSpPr txBox="1"/>
              <p:nvPr/>
            </p:nvSpPr>
            <p:spPr>
              <a:xfrm>
                <a:off x="1191868" y="4182835"/>
                <a:ext cx="224330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sub>
                              </m:s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13" name="文字方塊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1868" y="4182835"/>
                <a:ext cx="2243306" cy="307777"/>
              </a:xfrm>
              <a:prstGeom prst="rect">
                <a:avLst/>
              </a:prstGeom>
              <a:blipFill rotWithShape="0">
                <a:blip r:embed="rId5"/>
                <a:stretch>
                  <a:fillRect b="-176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/>
              <p:cNvSpPr txBox="1"/>
              <p:nvPr/>
            </p:nvSpPr>
            <p:spPr>
              <a:xfrm>
                <a:off x="1191868" y="4689261"/>
                <a:ext cx="224330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15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1868" y="4689261"/>
                <a:ext cx="2243306" cy="307777"/>
              </a:xfrm>
              <a:prstGeom prst="rect">
                <a:avLst/>
              </a:prstGeom>
              <a:blipFill rotWithShape="0">
                <a:blip r:embed="rId6"/>
                <a:stretch>
                  <a:fillRect b="-176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/>
              <p:cNvSpPr txBox="1"/>
              <p:nvPr/>
            </p:nvSpPr>
            <p:spPr>
              <a:xfrm>
                <a:off x="1298307" y="5232882"/>
                <a:ext cx="203042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sub>
                      </m:sSub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16" name="文字方塊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8307" y="5232882"/>
                <a:ext cx="2030428" cy="307777"/>
              </a:xfrm>
              <a:prstGeom prst="rect">
                <a:avLst/>
              </a:prstGeom>
              <a:blipFill rotWithShape="0">
                <a:blip r:embed="rId7"/>
                <a:stretch>
                  <a:fillRect r="-1201" b="-176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" name="群組 31"/>
          <p:cNvGrpSpPr/>
          <p:nvPr/>
        </p:nvGrpSpPr>
        <p:grpSpPr>
          <a:xfrm>
            <a:off x="1621543" y="3122977"/>
            <a:ext cx="1381897" cy="2417682"/>
            <a:chOff x="1621543" y="3122977"/>
            <a:chExt cx="1381897" cy="2417682"/>
          </a:xfrm>
        </p:grpSpPr>
        <p:cxnSp>
          <p:nvCxnSpPr>
            <p:cNvPr id="18" name="直線接點 17"/>
            <p:cNvCxnSpPr/>
            <p:nvPr/>
          </p:nvCxnSpPr>
          <p:spPr>
            <a:xfrm>
              <a:off x="1621543" y="3122977"/>
              <a:ext cx="0" cy="307777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接點 18"/>
            <p:cNvCxnSpPr/>
            <p:nvPr/>
          </p:nvCxnSpPr>
          <p:spPr>
            <a:xfrm>
              <a:off x="2021079" y="3661905"/>
              <a:ext cx="0" cy="307777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接點 19"/>
            <p:cNvCxnSpPr/>
            <p:nvPr/>
          </p:nvCxnSpPr>
          <p:spPr>
            <a:xfrm>
              <a:off x="2308098" y="4182835"/>
              <a:ext cx="0" cy="307777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接點 20"/>
            <p:cNvCxnSpPr/>
            <p:nvPr/>
          </p:nvCxnSpPr>
          <p:spPr>
            <a:xfrm>
              <a:off x="2601845" y="4689261"/>
              <a:ext cx="0" cy="307777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接點 21"/>
            <p:cNvCxnSpPr/>
            <p:nvPr/>
          </p:nvCxnSpPr>
          <p:spPr>
            <a:xfrm>
              <a:off x="3003440" y="5232882"/>
              <a:ext cx="0" cy="307777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/>
              <p:cNvSpPr txBox="1"/>
              <p:nvPr/>
            </p:nvSpPr>
            <p:spPr>
              <a:xfrm>
                <a:off x="3873838" y="3122977"/>
                <a:ext cx="216905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𝑴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𝑴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e>
                      </m:d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23" name="文字方塊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3838" y="3122977"/>
                <a:ext cx="2169055" cy="307777"/>
              </a:xfrm>
              <a:prstGeom prst="rect">
                <a:avLst/>
              </a:prstGeom>
              <a:blipFill rotWithShape="0">
                <a:blip r:embed="rId8"/>
                <a:stretch>
                  <a:fillRect l="-1966" b="-58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/>
              <p:cNvSpPr txBox="1"/>
              <p:nvPr/>
            </p:nvSpPr>
            <p:spPr>
              <a:xfrm>
                <a:off x="3873838" y="3661904"/>
                <a:ext cx="216905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𝑴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𝑴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e>
                      </m:d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24" name="文字方塊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3838" y="3661904"/>
                <a:ext cx="2169055" cy="307777"/>
              </a:xfrm>
              <a:prstGeom prst="rect">
                <a:avLst/>
              </a:prstGeom>
              <a:blipFill rotWithShape="0">
                <a:blip r:embed="rId9"/>
                <a:stretch>
                  <a:fillRect l="-1966" b="-8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/>
              <p:cNvSpPr txBox="1"/>
              <p:nvPr/>
            </p:nvSpPr>
            <p:spPr>
              <a:xfrm>
                <a:off x="3873838" y="4182835"/>
                <a:ext cx="216905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𝑴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𝑴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e>
                      </m:d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25" name="文字方塊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3838" y="4182835"/>
                <a:ext cx="2169055" cy="307777"/>
              </a:xfrm>
              <a:prstGeom prst="rect">
                <a:avLst/>
              </a:prstGeom>
              <a:blipFill rotWithShape="0">
                <a:blip r:embed="rId10"/>
                <a:stretch>
                  <a:fillRect l="-1966" b="-58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/>
              <p:cNvSpPr txBox="1"/>
              <p:nvPr/>
            </p:nvSpPr>
            <p:spPr>
              <a:xfrm>
                <a:off x="3873838" y="4689261"/>
                <a:ext cx="216905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𝑴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</m:d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𝑴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e>
                      </m:d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26" name="文字方塊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3838" y="4689261"/>
                <a:ext cx="2169055" cy="307777"/>
              </a:xfrm>
              <a:prstGeom prst="rect">
                <a:avLst/>
              </a:prstGeom>
              <a:blipFill rotWithShape="0">
                <a:blip r:embed="rId11"/>
                <a:stretch>
                  <a:fillRect l="-1966" b="-58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/>
              <p:cNvSpPr txBox="1"/>
              <p:nvPr/>
            </p:nvSpPr>
            <p:spPr>
              <a:xfrm>
                <a:off x="3873838" y="5232882"/>
                <a:ext cx="216905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𝑴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e>
                      </m:d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𝑴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e>
                      </m:d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27" name="文字方塊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3838" y="5232882"/>
                <a:ext cx="2169055" cy="307777"/>
              </a:xfrm>
              <a:prstGeom prst="rect">
                <a:avLst/>
              </a:prstGeom>
              <a:blipFill rotWithShape="0">
                <a:blip r:embed="rId12"/>
                <a:stretch>
                  <a:fillRect l="-1966" b="-58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群組 30"/>
          <p:cNvGrpSpPr/>
          <p:nvPr/>
        </p:nvGrpSpPr>
        <p:grpSpPr>
          <a:xfrm>
            <a:off x="7213150" y="3122977"/>
            <a:ext cx="1538977" cy="2417682"/>
            <a:chOff x="7213150" y="3122977"/>
            <a:chExt cx="1538977" cy="2417682"/>
          </a:xfrm>
        </p:grpSpPr>
        <p:sp>
          <p:nvSpPr>
            <p:cNvPr id="29" name="右大括弧 28"/>
            <p:cNvSpPr/>
            <p:nvPr/>
          </p:nvSpPr>
          <p:spPr>
            <a:xfrm>
              <a:off x="7213150" y="3122977"/>
              <a:ext cx="262688" cy="2417682"/>
            </a:xfrm>
            <a:prstGeom prst="rightBrace">
              <a:avLst>
                <a:gd name="adj1" fmla="val 57725"/>
                <a:gd name="adj2" fmla="val 50000"/>
              </a:avLst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0" name="文字方塊 29"/>
            <p:cNvSpPr txBox="1"/>
            <p:nvPr/>
          </p:nvSpPr>
          <p:spPr>
            <a:xfrm>
              <a:off x="7501464" y="3887585"/>
              <a:ext cx="1250663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20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minimum</a:t>
              </a:r>
            </a:p>
            <a:p>
              <a:pPr algn="ctr"/>
              <a:r>
                <a:rPr lang="zh-TW" altLang="en-US" sz="20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最小值</a:t>
              </a:r>
            </a:p>
          </p:txBody>
        </p:sp>
      </p:grpSp>
      <p:grpSp>
        <p:nvGrpSpPr>
          <p:cNvPr id="36" name="群組 35"/>
          <p:cNvGrpSpPr/>
          <p:nvPr/>
        </p:nvGrpSpPr>
        <p:grpSpPr>
          <a:xfrm>
            <a:off x="1940012" y="5798806"/>
            <a:ext cx="5896934" cy="400431"/>
            <a:chOff x="1940012" y="5798806"/>
            <a:chExt cx="5896934" cy="4004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字方塊 27"/>
                <p:cNvSpPr txBox="1"/>
                <p:nvPr/>
              </p:nvSpPr>
              <p:spPr>
                <a:xfrm>
                  <a:off x="3873838" y="5806330"/>
                  <a:ext cx="3805978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  <m:t>𝑴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</m:d>
                        <m: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  <m:t>𝑴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𝟔</m:t>
                            </m:r>
                          </m:e>
                        </m:d>
                        <m: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TW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US" altLang="zh-TW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𝟔</m:t>
                            </m:r>
                          </m:sub>
                        </m:sSub>
                      </m:oMath>
                    </m:oMathPara>
                  </a14:m>
                  <a:endParaRPr lang="zh-TW" altLang="en-US" sz="2000" b="1" dirty="0"/>
                </a:p>
              </p:txBody>
            </p:sp>
          </mc:Choice>
          <mc:Fallback xmlns="">
            <p:sp>
              <p:nvSpPr>
                <p:cNvPr id="28" name="文字方塊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73838" y="5806330"/>
                  <a:ext cx="3805978" cy="307777"/>
                </a:xfrm>
                <a:prstGeom prst="rect">
                  <a:avLst/>
                </a:prstGeom>
                <a:blipFill>
                  <a:blip r:embed="rId13"/>
                  <a:stretch>
                    <a:fillRect l="-960" r="-320" b="-1764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字方塊 32"/>
                <p:cNvSpPr txBox="1"/>
                <p:nvPr/>
              </p:nvSpPr>
              <p:spPr>
                <a:xfrm>
                  <a:off x="1940012" y="5798806"/>
                  <a:ext cx="5896934" cy="40043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zh-TW" sz="20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𝟔</m:t>
                            </m:r>
                          </m:e>
                        </m:d>
                        <m:r>
                          <a:rPr lang="en-US" altLang="zh-TW" sz="20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US" altLang="zh-TW" sz="20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zh-TW" sz="2000" b="1" i="0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a:rPr lang="en-US" altLang="zh-TW" sz="2000" b="1" i="0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𝐦𝐢𝐧</m:t>
                                </m:r>
                              </m:e>
                              <m:lim>
                                <m:r>
                                  <a:rPr lang="en-US" altLang="zh-TW" sz="2000" b="1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altLang="zh-TW" sz="2000" b="1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altLang="zh-TW" sz="2000" b="1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𝒌</m:t>
                                </m:r>
                                <m:r>
                                  <a:rPr lang="en-US" altLang="zh-TW" sz="2000" b="1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altLang="zh-TW" sz="2000" b="1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𝟓</m:t>
                                </m:r>
                              </m:lim>
                            </m:limLow>
                          </m:fName>
                          <m:e>
                            <m:d>
                              <m:dPr>
                                <m:ctrlPr>
                                  <a:rPr lang="en-US" altLang="zh-TW" sz="2000" b="1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000" b="1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                                                                    </m:t>
                                </m:r>
                              </m:e>
                            </m:d>
                          </m:e>
                        </m:func>
                      </m:oMath>
                    </m:oMathPara>
                  </a14:m>
                  <a:endParaRPr lang="zh-TW" altLang="en-US" sz="2000" b="1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文字方塊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40012" y="5798806"/>
                  <a:ext cx="5896934" cy="400431"/>
                </a:xfrm>
                <a:prstGeom prst="rect">
                  <a:avLst/>
                </a:prstGeom>
                <a:blipFill>
                  <a:blip r:embed="rId14"/>
                  <a:stretch>
                    <a:fillRect l="-413" b="-1666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4" name="橢圓 33"/>
          <p:cNvSpPr/>
          <p:nvPr/>
        </p:nvSpPr>
        <p:spPr>
          <a:xfrm>
            <a:off x="3855305" y="3135333"/>
            <a:ext cx="1082598" cy="307777"/>
          </a:xfrm>
          <a:prstGeom prst="ellipse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橢圓 34"/>
          <p:cNvSpPr/>
          <p:nvPr/>
        </p:nvSpPr>
        <p:spPr>
          <a:xfrm>
            <a:off x="5013041" y="5255185"/>
            <a:ext cx="1082598" cy="307777"/>
          </a:xfrm>
          <a:prstGeom prst="ellipse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5926647" y="3075923"/>
                <a:ext cx="130503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sSub>
                        <m:sSubPr>
                          <m:ctrlPr>
                            <a:rPr lang="en-US" altLang="zh-TW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altLang="zh-TW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𝟔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6647" y="3075923"/>
                <a:ext cx="1305037" cy="400110"/>
              </a:xfrm>
              <a:prstGeom prst="rect">
                <a:avLst/>
              </a:prstGeom>
              <a:blipFill rotWithShape="0">
                <a:blip r:embed="rId15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5927014" y="3603363"/>
                <a:ext cx="130503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sSub>
                        <m:sSubPr>
                          <m:ctrlPr>
                            <a:rPr lang="en-US" altLang="zh-TW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altLang="zh-TW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𝟔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7014" y="3603363"/>
                <a:ext cx="1305037" cy="400110"/>
              </a:xfrm>
              <a:prstGeom prst="rect">
                <a:avLst/>
              </a:prstGeom>
              <a:blipFill rotWithShape="0">
                <a:blip r:embed="rId16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5927014" y="4128030"/>
                <a:ext cx="130503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sSub>
                        <m:sSubPr>
                          <m:ctrlPr>
                            <a:rPr lang="en-US" altLang="zh-TW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altLang="zh-TW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𝟔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7014" y="4128030"/>
                <a:ext cx="1305037" cy="400110"/>
              </a:xfrm>
              <a:prstGeom prst="rect">
                <a:avLst/>
              </a:prstGeom>
              <a:blipFill rotWithShape="0">
                <a:blip r:embed="rId17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/>
              <p:cNvSpPr/>
              <p:nvPr/>
            </p:nvSpPr>
            <p:spPr>
              <a:xfrm>
                <a:off x="5926647" y="4634177"/>
                <a:ext cx="130503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sSub>
                        <m:sSubPr>
                          <m:ctrlPr>
                            <a:rPr lang="en-US" altLang="zh-TW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altLang="zh-TW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sSub>
                        <m:sSubPr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𝟔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6647" y="4634177"/>
                <a:ext cx="1305037" cy="400110"/>
              </a:xfrm>
              <a:prstGeom prst="rect">
                <a:avLst/>
              </a:prstGeom>
              <a:blipFill rotWithShape="0">
                <a:blip r:embed="rId18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/>
              <p:cNvSpPr/>
              <p:nvPr/>
            </p:nvSpPr>
            <p:spPr>
              <a:xfrm>
                <a:off x="5926647" y="5184005"/>
                <a:ext cx="130183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sSub>
                        <m:sSubPr>
                          <m:ctrlPr>
                            <a:rPr lang="en-US" altLang="zh-TW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altLang="zh-TW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  <m:sSub>
                        <m:sSubPr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𝟔</m:t>
                          </m:r>
                        </m:sub>
                      </m:sSub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6647" y="5184005"/>
                <a:ext cx="1301831" cy="400110"/>
              </a:xfrm>
              <a:prstGeom prst="rect">
                <a:avLst/>
              </a:prstGeom>
              <a:blipFill rotWithShape="0">
                <a:blip r:embed="rId19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6804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3" grpId="0"/>
      <p:bldP spid="15" grpId="0"/>
      <p:bldP spid="16" grpId="0"/>
      <p:bldP spid="23" grpId="0"/>
      <p:bldP spid="24" grpId="0"/>
      <p:bldP spid="25" grpId="0"/>
      <p:bldP spid="26" grpId="0"/>
      <p:bldP spid="27" grpId="0"/>
      <p:bldP spid="34" grpId="0" animBg="1"/>
      <p:bldP spid="35" grpId="0" animBg="1"/>
      <p:bldP spid="10" grpId="0"/>
      <p:bldP spid="11" grpId="0"/>
      <p:bldP spid="12" grpId="0"/>
      <p:bldP spid="14" grpId="0"/>
      <p:bldP spid="17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連續矩陣相乘 </a:t>
            </a:r>
            <a:r>
              <a:rPr lang="en-US" altLang="zh-TW" dirty="0"/>
              <a:t>(7/14)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47</a:t>
            </a:fld>
            <a:endParaRPr lang="en-US" dirty="0"/>
          </a:p>
        </p:txBody>
      </p:sp>
      <p:grpSp>
        <p:nvGrpSpPr>
          <p:cNvPr id="17" name="群組 16"/>
          <p:cNvGrpSpPr/>
          <p:nvPr/>
        </p:nvGrpSpPr>
        <p:grpSpPr>
          <a:xfrm>
            <a:off x="1699045" y="1915860"/>
            <a:ext cx="5896934" cy="1137289"/>
            <a:chOff x="1699055" y="1393623"/>
            <a:chExt cx="5896934" cy="113728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字方塊 6"/>
                <p:cNvSpPr txBox="1"/>
                <p:nvPr/>
              </p:nvSpPr>
              <p:spPr>
                <a:xfrm>
                  <a:off x="3632881" y="1401147"/>
                  <a:ext cx="3805978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  <m:t>𝑴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</m:d>
                        <m: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  <m:t>𝑴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𝟔</m:t>
                            </m:r>
                          </m:e>
                        </m:d>
                        <m: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TW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US" altLang="zh-TW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𝟔</m:t>
                            </m:r>
                          </m:sub>
                        </m:sSub>
                      </m:oMath>
                    </m:oMathPara>
                  </a14:m>
                  <a:endParaRPr lang="zh-TW" altLang="en-US" sz="2000" b="1" dirty="0"/>
                </a:p>
              </p:txBody>
            </p:sp>
          </mc:Choice>
          <mc:Fallback xmlns="">
            <p:sp>
              <p:nvSpPr>
                <p:cNvPr id="7" name="文字方塊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32881" y="1401147"/>
                  <a:ext cx="3805978" cy="307777"/>
                </a:xfrm>
                <a:prstGeom prst="rect">
                  <a:avLst/>
                </a:prstGeom>
                <a:blipFill rotWithShape="0">
                  <a:blip r:embed="rId2"/>
                  <a:stretch>
                    <a:fillRect l="-1122" r="-481" b="-20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字方塊 7"/>
                <p:cNvSpPr txBox="1"/>
                <p:nvPr/>
              </p:nvSpPr>
              <p:spPr>
                <a:xfrm>
                  <a:off x="1699055" y="1393623"/>
                  <a:ext cx="5896934" cy="40043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zh-TW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𝟔</m:t>
                            </m:r>
                          </m:e>
                        </m:d>
                        <m:r>
                          <a:rPr lang="en-US" altLang="zh-TW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zh-TW" sz="2000" b="1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a:rPr lang="en-US" altLang="zh-TW" sz="2000" b="1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𝐦𝐢𝐧</m:t>
                                </m:r>
                              </m:e>
                              <m:lim>
                                <m:r>
                                  <a:rPr lang="en-US" altLang="zh-TW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altLang="zh-TW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altLang="zh-TW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𝒌</m:t>
                                </m:r>
                                <m:r>
                                  <a:rPr lang="en-US" altLang="zh-TW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altLang="zh-TW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𝟓</m:t>
                                </m:r>
                              </m:lim>
                            </m:limLow>
                          </m:fName>
                          <m:e>
                            <m:d>
                              <m:dPr>
                                <m:ctrlPr>
                                  <a:rPr lang="en-US" altLang="zh-TW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                                                                   </m:t>
                                </m:r>
                              </m:e>
                            </m:d>
                          </m:e>
                        </m:func>
                      </m:oMath>
                    </m:oMathPara>
                  </a14:m>
                  <a:endParaRPr lang="zh-TW" altLang="en-US" sz="20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文字方塊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99055" y="1393623"/>
                  <a:ext cx="5896934" cy="400431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l="-517" b="-1666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字方塊 8"/>
                <p:cNvSpPr txBox="1"/>
                <p:nvPr/>
              </p:nvSpPr>
              <p:spPr>
                <a:xfrm>
                  <a:off x="1699055" y="1854706"/>
                  <a:ext cx="1450525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zh-TW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  <m:r>
                          <a:rPr lang="en-US" altLang="zh-TW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oMath>
                    </m:oMathPara>
                  </a14:m>
                  <a:endParaRPr lang="zh-TW" altLang="en-US" sz="20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文字方塊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99055" y="1854706"/>
                  <a:ext cx="1450525" cy="307777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l="-3782" r="-3361" b="-6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字方塊 9"/>
                <p:cNvSpPr txBox="1"/>
                <p:nvPr/>
              </p:nvSpPr>
              <p:spPr>
                <a:xfrm>
                  <a:off x="1699055" y="2223135"/>
                  <a:ext cx="1450525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zh-TW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𝟔</m:t>
                            </m:r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𝟔</m:t>
                            </m:r>
                          </m:e>
                        </m:d>
                        <m:r>
                          <a:rPr lang="en-US" altLang="zh-TW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oMath>
                    </m:oMathPara>
                  </a14:m>
                  <a:endParaRPr lang="zh-TW" altLang="en-US" sz="20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文字方塊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99055" y="2223135"/>
                  <a:ext cx="1450525" cy="307777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l="-3782" r="-3361" b="-588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" name="群組 15"/>
          <p:cNvGrpSpPr/>
          <p:nvPr/>
        </p:nvGrpSpPr>
        <p:grpSpPr>
          <a:xfrm>
            <a:off x="1699045" y="4099700"/>
            <a:ext cx="5948230" cy="808293"/>
            <a:chOff x="1673807" y="3498555"/>
            <a:chExt cx="5948230" cy="80829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字方塊 12"/>
                <p:cNvSpPr txBox="1"/>
                <p:nvPr/>
              </p:nvSpPr>
              <p:spPr>
                <a:xfrm>
                  <a:off x="3632881" y="3509794"/>
                  <a:ext cx="3858877" cy="336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  <m:t>𝑴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</m:d>
                        <m: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  <m:t>𝑴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𝒋</m:t>
                            </m:r>
                          </m:e>
                        </m:d>
                        <m: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TW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US" altLang="zh-TW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altLang="zh-TW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TW" sz="20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US" altLang="zh-TW" sz="20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b>
                        </m:sSub>
                      </m:oMath>
                    </m:oMathPara>
                  </a14:m>
                  <a:endParaRPr lang="zh-TW" altLang="en-US" sz="2000" b="1" dirty="0"/>
                </a:p>
              </p:txBody>
            </p:sp>
          </mc:Choice>
          <mc:Fallback xmlns="">
            <p:sp>
              <p:nvSpPr>
                <p:cNvPr id="13" name="文字方塊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32881" y="3509794"/>
                  <a:ext cx="3858877" cy="336887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l="-948" r="-948" b="-2678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字方塊 13"/>
                <p:cNvSpPr txBox="1"/>
                <p:nvPr/>
              </p:nvSpPr>
              <p:spPr>
                <a:xfrm>
                  <a:off x="1673807" y="3498555"/>
                  <a:ext cx="5948230" cy="43986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zh-TW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𝒋</m:t>
                            </m:r>
                          </m:e>
                        </m:d>
                        <m:r>
                          <a:rPr lang="en-US" altLang="zh-TW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zh-TW" sz="2000" b="1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a:rPr lang="en-US" altLang="zh-TW" sz="2000" b="1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𝐦𝐢𝐧</m:t>
                                </m:r>
                              </m:e>
                              <m:lim>
                                <m:r>
                                  <a:rPr lang="en-US" altLang="zh-TW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  <m:r>
                                  <a:rPr lang="en-US" altLang="zh-TW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altLang="zh-TW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𝒌</m:t>
                                </m:r>
                                <m:r>
                                  <a:rPr lang="en-US" altLang="zh-TW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altLang="zh-TW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𝒋</m:t>
                                </m:r>
                                <m:r>
                                  <a:rPr lang="en-US" altLang="zh-TW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</m:lim>
                            </m:limLow>
                          </m:fName>
                          <m:e>
                            <m:d>
                              <m:dPr>
                                <m:ctrlPr>
                                  <a:rPr lang="en-US" altLang="zh-TW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                                                                   </m:t>
                                </m:r>
                              </m:e>
                            </m:d>
                          </m:e>
                        </m:func>
                      </m:oMath>
                    </m:oMathPara>
                  </a14:m>
                  <a:endParaRPr lang="zh-TW" altLang="en-US" sz="20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文字方塊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3807" y="3498555"/>
                  <a:ext cx="5948230" cy="439864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l="-513" b="-1944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字方塊 14"/>
                <p:cNvSpPr txBox="1"/>
                <p:nvPr/>
              </p:nvSpPr>
              <p:spPr>
                <a:xfrm>
                  <a:off x="1673807" y="3999071"/>
                  <a:ext cx="1331903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zh-TW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</m:d>
                        <m:r>
                          <a:rPr lang="en-US" altLang="zh-TW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oMath>
                    </m:oMathPara>
                  </a14:m>
                  <a:endParaRPr lang="zh-TW" altLang="en-US" sz="20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文字方塊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3807" y="3999071"/>
                  <a:ext cx="1331903" cy="307777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 l="-4128" r="-3670" b="-8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8" name="向下箭號 17"/>
          <p:cNvSpPr/>
          <p:nvPr/>
        </p:nvSpPr>
        <p:spPr>
          <a:xfrm>
            <a:off x="4256929" y="3428788"/>
            <a:ext cx="624895" cy="45102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2598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連續矩陣相乘 </a:t>
            </a:r>
            <a:r>
              <a:rPr lang="en-US" altLang="zh-TW" dirty="0"/>
              <a:t>(8/14)</a:t>
            </a:r>
            <a:endParaRPr lang="zh-TW" altLang="en-US" dirty="0"/>
          </a:p>
        </p:txBody>
      </p:sp>
      <p:graphicFrame>
        <p:nvGraphicFramePr>
          <p:cNvPr id="8" name="內容版面配置區 7"/>
          <p:cNvGraphicFramePr>
            <a:graphicFrameLocks noGrp="1"/>
          </p:cNvGraphicFramePr>
          <p:nvPr>
            <p:ph idx="1"/>
          </p:nvPr>
        </p:nvGraphicFramePr>
        <p:xfrm>
          <a:off x="680073" y="3592825"/>
          <a:ext cx="7936233" cy="27736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363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2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20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20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20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20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620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48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5937" y="1315840"/>
                <a:ext cx="9158597" cy="8989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m>
                        <m:mPr>
                          <m:mcs>
                            <m:mc>
                              <m:mcPr>
                                <m:count m:val="11"/>
                                <m:mcJc m:val="center"/>
                              </m:mcPr>
                            </m:mc>
                          </m:mcs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𝟓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e>
                          <m:e/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𝟑</m:t>
                            </m:r>
                          </m:e>
                          <m:e/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𝟒</m:t>
                            </m:r>
                          </m:e>
                          <m:e/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𝟒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𝟔</m:t>
                            </m:r>
                          </m:e>
                          <m:e/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𝟔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𝟕</m:t>
                            </m:r>
                          </m:e>
                          <m:e/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𝟕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𝟖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e>
                          <m:e/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e>
                          <m:e/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𝟑</m:t>
                                </m:r>
                              </m:sub>
                            </m:sSub>
                          </m:e>
                          <m:e/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sub>
                            </m:sSub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𝟒</m:t>
                                </m:r>
                              </m:sub>
                            </m:sSub>
                          </m:e>
                          <m:e/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sub>
                            </m:sSub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𝟓</m:t>
                                </m:r>
                              </m:sub>
                            </m:sSub>
                          </m:e>
                          <m:e/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sub>
                            </m:sSub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𝟔</m:t>
                                </m:r>
                              </m:sub>
                            </m:sSub>
                          </m:e>
                        </m:mr>
                      </m:m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7" y="1315840"/>
                <a:ext cx="9158597" cy="89890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群組 15"/>
          <p:cNvGrpSpPr/>
          <p:nvPr/>
        </p:nvGrpSpPr>
        <p:grpSpPr>
          <a:xfrm>
            <a:off x="1912727" y="2548699"/>
            <a:ext cx="5948230" cy="808293"/>
            <a:chOff x="1673807" y="3498555"/>
            <a:chExt cx="5948230" cy="80829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字方塊 16"/>
                <p:cNvSpPr txBox="1"/>
                <p:nvPr/>
              </p:nvSpPr>
              <p:spPr>
                <a:xfrm>
                  <a:off x="3632881" y="3509794"/>
                  <a:ext cx="3858877" cy="336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  <m:t>𝑴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</m:d>
                        <m: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  <m:t>𝑴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𝒋</m:t>
                            </m:r>
                          </m:e>
                        </m:d>
                        <m: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TW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US" altLang="zh-TW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altLang="zh-TW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TW" sz="20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US" altLang="zh-TW" sz="20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b>
                        </m:sSub>
                      </m:oMath>
                    </m:oMathPara>
                  </a14:m>
                  <a:endParaRPr lang="zh-TW" altLang="en-US" sz="2000" b="1" dirty="0"/>
                </a:p>
              </p:txBody>
            </p:sp>
          </mc:Choice>
          <mc:Fallback xmlns="">
            <p:sp>
              <p:nvSpPr>
                <p:cNvPr id="13" name="文字方塊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32881" y="3509794"/>
                  <a:ext cx="3858877" cy="336887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l="-948" r="-948" b="-2678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字方塊 17"/>
                <p:cNvSpPr txBox="1"/>
                <p:nvPr/>
              </p:nvSpPr>
              <p:spPr>
                <a:xfrm>
                  <a:off x="1673807" y="3498555"/>
                  <a:ext cx="5948230" cy="43986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zh-TW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𝒋</m:t>
                            </m:r>
                          </m:e>
                        </m:d>
                        <m:r>
                          <a:rPr lang="en-US" altLang="zh-TW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zh-TW" sz="2000" b="1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a:rPr lang="en-US" altLang="zh-TW" sz="2000" b="1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𝐦𝐢𝐧</m:t>
                                </m:r>
                              </m:e>
                              <m:lim>
                                <m:r>
                                  <a:rPr lang="en-US" altLang="zh-TW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  <m:r>
                                  <a:rPr lang="en-US" altLang="zh-TW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altLang="zh-TW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𝒌</m:t>
                                </m:r>
                                <m:r>
                                  <a:rPr lang="en-US" altLang="zh-TW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altLang="zh-TW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𝒋</m:t>
                                </m:r>
                                <m:r>
                                  <a:rPr lang="en-US" altLang="zh-TW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</m:lim>
                            </m:limLow>
                          </m:fName>
                          <m:e>
                            <m:d>
                              <m:dPr>
                                <m:ctrlPr>
                                  <a:rPr lang="en-US" altLang="zh-TW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                                                                   </m:t>
                                </m:r>
                              </m:e>
                            </m:d>
                          </m:e>
                        </m:func>
                      </m:oMath>
                    </m:oMathPara>
                  </a14:m>
                  <a:endParaRPr lang="zh-TW" altLang="en-US" sz="20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文字方塊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3807" y="3498555"/>
                  <a:ext cx="5948230" cy="439864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l="-513" b="-1944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字方塊 18"/>
                <p:cNvSpPr txBox="1"/>
                <p:nvPr/>
              </p:nvSpPr>
              <p:spPr>
                <a:xfrm>
                  <a:off x="1673807" y="3999071"/>
                  <a:ext cx="1331903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zh-TW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</m:d>
                        <m:r>
                          <a:rPr lang="en-US" altLang="zh-TW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oMath>
                    </m:oMathPara>
                  </a14:m>
                  <a:endParaRPr lang="zh-TW" altLang="en-US" sz="20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文字方塊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3807" y="3999071"/>
                  <a:ext cx="1331903" cy="307777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 l="-4128" r="-3670" b="-8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0" name="圓角矩形圖說文字 19"/>
          <p:cNvSpPr/>
          <p:nvPr/>
        </p:nvSpPr>
        <p:spPr>
          <a:xfrm>
            <a:off x="78732" y="4459199"/>
            <a:ext cx="1009210" cy="520466"/>
          </a:xfrm>
          <a:prstGeom prst="wedgeRoundRectCallout">
            <a:avLst>
              <a:gd name="adj1" fmla="val 88730"/>
              <a:gd name="adj2" fmla="val -9419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</a:t>
            </a:r>
            <a:r>
              <a:rPr lang="en-US" altLang="zh-TW" sz="2000" b="1" i="1" dirty="0" err="1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][</a:t>
            </a:r>
            <a:r>
              <a:rPr lang="en-US" altLang="zh-TW" sz="2000" b="1" i="1" dirty="0" err="1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]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22" name="直線接點 21"/>
          <p:cNvCxnSpPr/>
          <p:nvPr/>
        </p:nvCxnSpPr>
        <p:spPr>
          <a:xfrm>
            <a:off x="1044146" y="3991232"/>
            <a:ext cx="7566444" cy="2375273"/>
          </a:xfrm>
          <a:prstGeom prst="line">
            <a:avLst/>
          </a:prstGeom>
          <a:ln w="762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/>
          <p:cNvSpPr txBox="1"/>
          <p:nvPr/>
        </p:nvSpPr>
        <p:spPr>
          <a:xfrm>
            <a:off x="1513703" y="399123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2784389" y="438516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4007708" y="478527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5278394" y="517920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6596449" y="557246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7867135" y="596639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6137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連續矩陣相乘 </a:t>
            </a:r>
            <a:r>
              <a:rPr lang="en-US" altLang="zh-TW" dirty="0"/>
              <a:t>(9/14)</a:t>
            </a:r>
            <a:endParaRPr lang="zh-TW" altLang="en-US" dirty="0"/>
          </a:p>
        </p:txBody>
      </p:sp>
      <p:graphicFrame>
        <p:nvGraphicFramePr>
          <p:cNvPr id="8" name="內容版面配置區 7"/>
          <p:cNvGraphicFramePr>
            <a:graphicFrameLocks noGrp="1"/>
          </p:cNvGraphicFramePr>
          <p:nvPr>
            <p:ph idx="1"/>
          </p:nvPr>
        </p:nvGraphicFramePr>
        <p:xfrm>
          <a:off x="680073" y="3592825"/>
          <a:ext cx="7936233" cy="27736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363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2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20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20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20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20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620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49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5937" y="1315840"/>
                <a:ext cx="9158597" cy="8989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m>
                        <m:mPr>
                          <m:mcs>
                            <m:mc>
                              <m:mcPr>
                                <m:count m:val="11"/>
                                <m:mcJc m:val="center"/>
                              </m:mcPr>
                            </m:mc>
                          </m:mcs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𝟓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e>
                          <m:e/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𝟑</m:t>
                            </m:r>
                          </m:e>
                          <m:e/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𝟒</m:t>
                            </m:r>
                          </m:e>
                          <m:e/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𝟒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𝟔</m:t>
                            </m:r>
                          </m:e>
                          <m:e/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𝟔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𝟕</m:t>
                            </m:r>
                          </m:e>
                          <m:e/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𝟕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𝟖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e>
                          <m:e/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e>
                          <m:e/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𝟑</m:t>
                                </m:r>
                              </m:sub>
                            </m:sSub>
                          </m:e>
                          <m:e/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sub>
                            </m:sSub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𝟒</m:t>
                                </m:r>
                              </m:sub>
                            </m:sSub>
                          </m:e>
                          <m:e/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sub>
                            </m:sSub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𝟓</m:t>
                                </m:r>
                              </m:sub>
                            </m:sSub>
                          </m:e>
                          <m:e/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sub>
                            </m:sSub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𝟔</m:t>
                                </m:r>
                              </m:sub>
                            </m:sSub>
                          </m:e>
                        </m:mr>
                      </m:m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7" y="1315840"/>
                <a:ext cx="9158597" cy="89890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群組 15"/>
          <p:cNvGrpSpPr/>
          <p:nvPr/>
        </p:nvGrpSpPr>
        <p:grpSpPr>
          <a:xfrm>
            <a:off x="1912727" y="2548699"/>
            <a:ext cx="5948230" cy="808293"/>
            <a:chOff x="1673807" y="3498555"/>
            <a:chExt cx="5948230" cy="80829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字方塊 16"/>
                <p:cNvSpPr txBox="1"/>
                <p:nvPr/>
              </p:nvSpPr>
              <p:spPr>
                <a:xfrm>
                  <a:off x="3632881" y="3509794"/>
                  <a:ext cx="3858877" cy="336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  <m:t>𝑴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</m:d>
                        <m: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  <m:t>𝑴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𝒋</m:t>
                            </m:r>
                          </m:e>
                        </m:d>
                        <m: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TW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US" altLang="zh-TW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altLang="zh-TW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TW" sz="20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US" altLang="zh-TW" sz="20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b>
                        </m:sSub>
                      </m:oMath>
                    </m:oMathPara>
                  </a14:m>
                  <a:endParaRPr lang="zh-TW" altLang="en-US" sz="2000" b="1" dirty="0"/>
                </a:p>
              </p:txBody>
            </p:sp>
          </mc:Choice>
          <mc:Fallback xmlns="">
            <p:sp>
              <p:nvSpPr>
                <p:cNvPr id="13" name="文字方塊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32881" y="3509794"/>
                  <a:ext cx="3858877" cy="336887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l="-948" r="-948" b="-2678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字方塊 17"/>
                <p:cNvSpPr txBox="1"/>
                <p:nvPr/>
              </p:nvSpPr>
              <p:spPr>
                <a:xfrm>
                  <a:off x="1673807" y="3498555"/>
                  <a:ext cx="5948230" cy="43986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zh-TW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𝒋</m:t>
                            </m:r>
                          </m:e>
                        </m:d>
                        <m:r>
                          <a:rPr lang="en-US" altLang="zh-TW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zh-TW" sz="2000" b="1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a:rPr lang="en-US" altLang="zh-TW" sz="2000" b="1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𝐦𝐢𝐧</m:t>
                                </m:r>
                              </m:e>
                              <m:lim>
                                <m:r>
                                  <a:rPr lang="en-US" altLang="zh-TW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  <m:r>
                                  <a:rPr lang="en-US" altLang="zh-TW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altLang="zh-TW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𝒌</m:t>
                                </m:r>
                                <m:r>
                                  <a:rPr lang="en-US" altLang="zh-TW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altLang="zh-TW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𝒋</m:t>
                                </m:r>
                                <m:r>
                                  <a:rPr lang="en-US" altLang="zh-TW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</m:lim>
                            </m:limLow>
                          </m:fName>
                          <m:e>
                            <m:d>
                              <m:dPr>
                                <m:ctrlPr>
                                  <a:rPr lang="en-US" altLang="zh-TW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                                                                   </m:t>
                                </m:r>
                              </m:e>
                            </m:d>
                          </m:e>
                        </m:func>
                      </m:oMath>
                    </m:oMathPara>
                  </a14:m>
                  <a:endParaRPr lang="zh-TW" altLang="en-US" sz="20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文字方塊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3807" y="3498555"/>
                  <a:ext cx="5948230" cy="439864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l="-513" b="-1944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字方塊 18"/>
                <p:cNvSpPr txBox="1"/>
                <p:nvPr/>
              </p:nvSpPr>
              <p:spPr>
                <a:xfrm>
                  <a:off x="1673807" y="3999071"/>
                  <a:ext cx="1331903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zh-TW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</m:d>
                        <m:r>
                          <a:rPr lang="en-US" altLang="zh-TW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oMath>
                    </m:oMathPara>
                  </a14:m>
                  <a:endParaRPr lang="zh-TW" altLang="en-US" sz="20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文字方塊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3807" y="3999071"/>
                  <a:ext cx="1331903" cy="307777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 l="-4128" r="-3670" b="-8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" name="文字方塊 8"/>
          <p:cNvSpPr txBox="1"/>
          <p:nvPr/>
        </p:nvSpPr>
        <p:spPr>
          <a:xfrm>
            <a:off x="1513703" y="399123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2784389" y="438516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4007708" y="478527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5278394" y="517920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6596449" y="557246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7867135" y="596639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" name="直線接點 27"/>
          <p:cNvCxnSpPr/>
          <p:nvPr/>
        </p:nvCxnSpPr>
        <p:spPr>
          <a:xfrm>
            <a:off x="2286010" y="3997747"/>
            <a:ext cx="6324580" cy="1986686"/>
          </a:xfrm>
          <a:prstGeom prst="line">
            <a:avLst/>
          </a:prstGeom>
          <a:ln w="762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/>
          <p:cNvSpPr txBox="1"/>
          <p:nvPr/>
        </p:nvSpPr>
        <p:spPr>
          <a:xfrm>
            <a:off x="2615243" y="3991232"/>
            <a:ext cx="6399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30/1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3843469" y="4394646"/>
            <a:ext cx="6399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24/2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5109248" y="4794756"/>
            <a:ext cx="6399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72/3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6363182" y="5179206"/>
            <a:ext cx="7681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168/4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7633868" y="5579316"/>
            <a:ext cx="7681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336/5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圓角矩形圖說文字 29"/>
          <p:cNvSpPr/>
          <p:nvPr/>
        </p:nvSpPr>
        <p:spPr>
          <a:xfrm>
            <a:off x="3966510" y="2806473"/>
            <a:ext cx="4263080" cy="520466"/>
          </a:xfrm>
          <a:prstGeom prst="wedgeRoundRectCallout">
            <a:avLst>
              <a:gd name="adj1" fmla="val -70653"/>
              <a:gd name="adj2" fmla="val 19426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[1][2] =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[1][1] +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[2][2] + 5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 panose="05050102010706020507" pitchFamily="18" charset="2"/>
              </a:rPr>
              <a:t>23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圓角矩形 2"/>
          <p:cNvSpPr/>
          <p:nvPr/>
        </p:nvSpPr>
        <p:spPr>
          <a:xfrm>
            <a:off x="5214274" y="2903838"/>
            <a:ext cx="822002" cy="364524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圓角矩形 28"/>
          <p:cNvSpPr/>
          <p:nvPr/>
        </p:nvSpPr>
        <p:spPr>
          <a:xfrm>
            <a:off x="1496764" y="4009025"/>
            <a:ext cx="342201" cy="364524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圓角矩形 30"/>
          <p:cNvSpPr/>
          <p:nvPr/>
        </p:nvSpPr>
        <p:spPr>
          <a:xfrm>
            <a:off x="6310931" y="2903838"/>
            <a:ext cx="822002" cy="364524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圓角矩形 31"/>
          <p:cNvSpPr/>
          <p:nvPr/>
        </p:nvSpPr>
        <p:spPr>
          <a:xfrm>
            <a:off x="2773825" y="4412439"/>
            <a:ext cx="342201" cy="364524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圓角矩形 32"/>
          <p:cNvSpPr/>
          <p:nvPr/>
        </p:nvSpPr>
        <p:spPr>
          <a:xfrm>
            <a:off x="7327893" y="2905320"/>
            <a:ext cx="822002" cy="364524"/>
          </a:xfrm>
          <a:prstGeom prst="round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9365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500"/>
                            </p:stCondLst>
                            <p:childTnLst>
                              <p:par>
                                <p:cTn id="5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4" grpId="0"/>
      <p:bldP spid="25" grpId="0"/>
      <p:bldP spid="26" grpId="0"/>
      <p:bldP spid="27" grpId="0"/>
      <p:bldP spid="30" grpId="0" animBg="1"/>
      <p:bldP spid="3" grpId="0" animBg="1"/>
      <p:bldP spid="29" grpId="0" animBg="1"/>
      <p:bldP spid="31" grpId="0" animBg="1"/>
      <p:bldP spid="32" grpId="0" animBg="1"/>
      <p:bldP spid="33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連續矩陣相乘 </a:t>
            </a:r>
            <a:r>
              <a:rPr lang="en-US" altLang="zh-TW" dirty="0"/>
              <a:t>(10/14)</a:t>
            </a:r>
            <a:endParaRPr lang="zh-TW" altLang="en-US" dirty="0"/>
          </a:p>
        </p:txBody>
      </p:sp>
      <p:graphicFrame>
        <p:nvGraphicFramePr>
          <p:cNvPr id="8" name="內容版面配置區 7"/>
          <p:cNvGraphicFramePr>
            <a:graphicFrameLocks noGrp="1"/>
          </p:cNvGraphicFramePr>
          <p:nvPr>
            <p:ph idx="1"/>
          </p:nvPr>
        </p:nvGraphicFramePr>
        <p:xfrm>
          <a:off x="680073" y="3592825"/>
          <a:ext cx="7936233" cy="27736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363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2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20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20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20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20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620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50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5937" y="1315840"/>
                <a:ext cx="9158597" cy="8989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m>
                        <m:mPr>
                          <m:mcs>
                            <m:mc>
                              <m:mcPr>
                                <m:count m:val="11"/>
                                <m:mcJc m:val="center"/>
                              </m:mcPr>
                            </m:mc>
                          </m:mcs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𝟓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e>
                          <m:e/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𝟑</m:t>
                            </m:r>
                          </m:e>
                          <m:e/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𝟒</m:t>
                            </m:r>
                          </m:e>
                          <m:e/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𝟒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𝟔</m:t>
                            </m:r>
                          </m:e>
                          <m:e/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𝟔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𝟕</m:t>
                            </m:r>
                          </m:e>
                          <m:e/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𝟕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𝟖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e>
                          <m:e/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e>
                          <m:e/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𝟑</m:t>
                                </m:r>
                              </m:sub>
                            </m:sSub>
                          </m:e>
                          <m:e/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sub>
                            </m:sSub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𝟒</m:t>
                                </m:r>
                              </m:sub>
                            </m:sSub>
                          </m:e>
                          <m:e/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sub>
                            </m:sSub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𝟓</m:t>
                                </m:r>
                              </m:sub>
                            </m:sSub>
                          </m:e>
                          <m:e/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sub>
                            </m:sSub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𝟔</m:t>
                                </m:r>
                              </m:sub>
                            </m:sSub>
                          </m:e>
                        </m:mr>
                      </m:m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7" y="1315840"/>
                <a:ext cx="9158597" cy="89890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群組 15"/>
          <p:cNvGrpSpPr/>
          <p:nvPr/>
        </p:nvGrpSpPr>
        <p:grpSpPr>
          <a:xfrm>
            <a:off x="1912727" y="2548699"/>
            <a:ext cx="5948230" cy="808293"/>
            <a:chOff x="1673807" y="3498555"/>
            <a:chExt cx="5948230" cy="80829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字方塊 16"/>
                <p:cNvSpPr txBox="1"/>
                <p:nvPr/>
              </p:nvSpPr>
              <p:spPr>
                <a:xfrm>
                  <a:off x="3632881" y="3509794"/>
                  <a:ext cx="3858877" cy="336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  <m:t>𝑴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</m:d>
                        <m: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  <m:t>𝑴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𝒋</m:t>
                            </m:r>
                          </m:e>
                        </m:d>
                        <m: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TW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US" altLang="zh-TW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altLang="zh-TW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TW" sz="20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US" altLang="zh-TW" sz="20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b>
                        </m:sSub>
                      </m:oMath>
                    </m:oMathPara>
                  </a14:m>
                  <a:endParaRPr lang="zh-TW" altLang="en-US" sz="2000" b="1" dirty="0"/>
                </a:p>
              </p:txBody>
            </p:sp>
          </mc:Choice>
          <mc:Fallback xmlns="">
            <p:sp>
              <p:nvSpPr>
                <p:cNvPr id="13" name="文字方塊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32881" y="3509794"/>
                  <a:ext cx="3858877" cy="336887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l="-948" r="-948" b="-2678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字方塊 17"/>
                <p:cNvSpPr txBox="1"/>
                <p:nvPr/>
              </p:nvSpPr>
              <p:spPr>
                <a:xfrm>
                  <a:off x="1673807" y="3498555"/>
                  <a:ext cx="5948230" cy="43986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zh-TW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𝒋</m:t>
                            </m:r>
                          </m:e>
                        </m:d>
                        <m:r>
                          <a:rPr lang="en-US" altLang="zh-TW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zh-TW" sz="2000" b="1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a:rPr lang="en-US" altLang="zh-TW" sz="2000" b="1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𝐦𝐢𝐧</m:t>
                                </m:r>
                              </m:e>
                              <m:lim>
                                <m:r>
                                  <a:rPr lang="en-US" altLang="zh-TW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  <m:r>
                                  <a:rPr lang="en-US" altLang="zh-TW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altLang="zh-TW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𝒌</m:t>
                                </m:r>
                                <m:r>
                                  <a:rPr lang="en-US" altLang="zh-TW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altLang="zh-TW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𝒋</m:t>
                                </m:r>
                                <m:r>
                                  <a:rPr lang="en-US" altLang="zh-TW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</m:lim>
                            </m:limLow>
                          </m:fName>
                          <m:e>
                            <m:d>
                              <m:dPr>
                                <m:ctrlPr>
                                  <a:rPr lang="en-US" altLang="zh-TW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                                                                   </m:t>
                                </m:r>
                              </m:e>
                            </m:d>
                          </m:e>
                        </m:func>
                      </m:oMath>
                    </m:oMathPara>
                  </a14:m>
                  <a:endParaRPr lang="zh-TW" altLang="en-US" sz="20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文字方塊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3807" y="3498555"/>
                  <a:ext cx="5948230" cy="439864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l="-513" b="-1944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字方塊 18"/>
                <p:cNvSpPr txBox="1"/>
                <p:nvPr/>
              </p:nvSpPr>
              <p:spPr>
                <a:xfrm>
                  <a:off x="1673807" y="3999071"/>
                  <a:ext cx="1331903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zh-TW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</m:d>
                        <m:r>
                          <a:rPr lang="en-US" altLang="zh-TW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oMath>
                    </m:oMathPara>
                  </a14:m>
                  <a:endParaRPr lang="zh-TW" altLang="en-US" sz="20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文字方塊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3807" y="3999071"/>
                  <a:ext cx="1331903" cy="307777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 l="-4128" r="-3670" b="-8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" name="文字方塊 8"/>
          <p:cNvSpPr txBox="1"/>
          <p:nvPr/>
        </p:nvSpPr>
        <p:spPr>
          <a:xfrm>
            <a:off x="1513703" y="399123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2784389" y="438516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4007708" y="478527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5278394" y="517920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6596449" y="557246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7867135" y="596639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" name="直線接點 27"/>
          <p:cNvCxnSpPr/>
          <p:nvPr/>
        </p:nvCxnSpPr>
        <p:spPr>
          <a:xfrm>
            <a:off x="3559642" y="4001468"/>
            <a:ext cx="5067228" cy="1577848"/>
          </a:xfrm>
          <a:prstGeom prst="line">
            <a:avLst/>
          </a:prstGeom>
          <a:ln w="762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/>
          <p:cNvSpPr txBox="1"/>
          <p:nvPr/>
        </p:nvSpPr>
        <p:spPr>
          <a:xfrm>
            <a:off x="2621421" y="3991232"/>
            <a:ext cx="6399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30/1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3849647" y="4394646"/>
            <a:ext cx="6399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24/2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5115426" y="4794756"/>
            <a:ext cx="6399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72/3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6369360" y="5179206"/>
            <a:ext cx="7681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168/4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7640046" y="5579316"/>
            <a:ext cx="7681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336/5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圓角矩形圖說文字 29"/>
          <p:cNvSpPr/>
          <p:nvPr/>
        </p:nvSpPr>
        <p:spPr>
          <a:xfrm>
            <a:off x="5399514" y="2702788"/>
            <a:ext cx="3665778" cy="721928"/>
          </a:xfrm>
          <a:prstGeom prst="wedgeRoundRectCallout">
            <a:avLst>
              <a:gd name="adj1" fmla="val -74156"/>
              <a:gd name="adj2" fmla="val 14707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[1][1] +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[2][3] + 5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 panose="05050102010706020507" pitchFamily="18" charset="2"/>
              </a:rPr>
              <a:t>24 = 64</a:t>
            </a:r>
          </a:p>
          <a:p>
            <a:pPr algn="ctr"/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 panose="05050102010706020507" pitchFamily="18" charset="2"/>
              </a:rPr>
              <a:t>[1][2] +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 panose="05050102010706020507" pitchFamily="18" charset="2"/>
              </a:rPr>
              <a:t>[3][3] + 534 = 90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圓角矩形 2"/>
          <p:cNvSpPr/>
          <p:nvPr/>
        </p:nvSpPr>
        <p:spPr>
          <a:xfrm>
            <a:off x="3916335" y="4402957"/>
            <a:ext cx="495027" cy="364524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圓角矩形 28"/>
          <p:cNvSpPr/>
          <p:nvPr/>
        </p:nvSpPr>
        <p:spPr>
          <a:xfrm>
            <a:off x="1496764" y="4009025"/>
            <a:ext cx="342201" cy="364524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圓角矩形 30"/>
          <p:cNvSpPr/>
          <p:nvPr/>
        </p:nvSpPr>
        <p:spPr>
          <a:xfrm>
            <a:off x="3990471" y="4799492"/>
            <a:ext cx="330143" cy="364524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圓角矩形 31"/>
          <p:cNvSpPr/>
          <p:nvPr/>
        </p:nvSpPr>
        <p:spPr>
          <a:xfrm>
            <a:off x="2689260" y="4009025"/>
            <a:ext cx="513107" cy="364524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文字方塊 22"/>
          <p:cNvSpPr txBox="1"/>
          <p:nvPr/>
        </p:nvSpPr>
        <p:spPr>
          <a:xfrm>
            <a:off x="3861541" y="3996239"/>
            <a:ext cx="6399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64/1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5121604" y="4391772"/>
            <a:ext cx="6399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72/3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6371574" y="4783539"/>
            <a:ext cx="7681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198/4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7634407" y="5186059"/>
            <a:ext cx="7681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392/5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字方塊 36"/>
              <p:cNvSpPr txBox="1"/>
              <p:nvPr/>
            </p:nvSpPr>
            <p:spPr>
              <a:xfrm>
                <a:off x="464499" y="3085376"/>
                <a:ext cx="1152110" cy="307777"/>
              </a:xfrm>
              <a:prstGeom prst="rect">
                <a:avLst/>
              </a:prstGeom>
              <a:noFill/>
              <a:ln>
                <a:solidFill>
                  <a:srgbClr val="00B05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37" name="文字方塊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499" y="3085376"/>
                <a:ext cx="1152110" cy="307777"/>
              </a:xfrm>
              <a:prstGeom prst="rect">
                <a:avLst/>
              </a:prstGeom>
              <a:blipFill rotWithShape="0">
                <a:blip r:embed="rId9"/>
                <a:stretch>
                  <a:fillRect r="-1571" b="-13208"/>
                </a:stretch>
              </a:blipFill>
              <a:ln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字方塊 37"/>
              <p:cNvSpPr txBox="1"/>
              <p:nvPr/>
            </p:nvSpPr>
            <p:spPr>
              <a:xfrm>
                <a:off x="462120" y="2759957"/>
                <a:ext cx="1152110" cy="307777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d>
                        <m:d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38" name="文字方塊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120" y="2759957"/>
                <a:ext cx="1152110" cy="307777"/>
              </a:xfrm>
              <a:prstGeom prst="rect">
                <a:avLst/>
              </a:prstGeom>
              <a:blipFill rotWithShape="0">
                <a:blip r:embed="rId10"/>
                <a:stretch>
                  <a:fillRect l="-4188" b="-15385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528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" grpId="0" animBg="1"/>
      <p:bldP spid="29" grpId="0" animBg="1"/>
      <p:bldP spid="31" grpId="0" animBg="1"/>
      <p:bldP spid="32" grpId="0" animBg="1"/>
      <p:bldP spid="23" grpId="0"/>
      <p:bldP spid="34" grpId="0"/>
      <p:bldP spid="35" grpId="0"/>
      <p:bldP spid="36" grpId="0"/>
      <p:bldP spid="37" grpId="0" animBg="1"/>
      <p:bldP spid="38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連續矩陣相乘 </a:t>
            </a:r>
            <a:r>
              <a:rPr lang="en-US" altLang="zh-TW" dirty="0"/>
              <a:t>(11/14)</a:t>
            </a:r>
            <a:endParaRPr lang="zh-TW" altLang="en-US" dirty="0"/>
          </a:p>
        </p:txBody>
      </p:sp>
      <p:graphicFrame>
        <p:nvGraphicFramePr>
          <p:cNvPr id="8" name="內容版面配置區 7"/>
          <p:cNvGraphicFramePr>
            <a:graphicFrameLocks noGrp="1"/>
          </p:cNvGraphicFramePr>
          <p:nvPr>
            <p:ph idx="1"/>
          </p:nvPr>
        </p:nvGraphicFramePr>
        <p:xfrm>
          <a:off x="680073" y="3592825"/>
          <a:ext cx="7936233" cy="27736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363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2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20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20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20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20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620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5937" y="1315840"/>
                <a:ext cx="9158597" cy="8989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m>
                        <m:mPr>
                          <m:mcs>
                            <m:mc>
                              <m:mcPr>
                                <m:count m:val="11"/>
                                <m:mcJc m:val="center"/>
                              </m:mcPr>
                            </m:mc>
                          </m:mcs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𝟓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e>
                          <m:e/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𝟑</m:t>
                            </m:r>
                          </m:e>
                          <m:e/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𝟒</m:t>
                            </m:r>
                          </m:e>
                          <m:e/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𝟒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𝟔</m:t>
                            </m:r>
                          </m:e>
                          <m:e/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𝟔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𝟕</m:t>
                            </m:r>
                          </m:e>
                          <m:e/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𝟕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𝟖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e>
                          <m:e/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e>
                          <m:e/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𝟑</m:t>
                                </m:r>
                              </m:sub>
                            </m:sSub>
                          </m:e>
                          <m:e/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sub>
                            </m:sSub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𝟒</m:t>
                                </m:r>
                              </m:sub>
                            </m:sSub>
                          </m:e>
                          <m:e/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sub>
                            </m:sSub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𝟓</m:t>
                                </m:r>
                              </m:sub>
                            </m:sSub>
                          </m:e>
                          <m:e/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sub>
                            </m:sSub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𝟔</m:t>
                                </m:r>
                              </m:sub>
                            </m:sSub>
                          </m:e>
                        </m:mr>
                      </m:m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7" y="1315840"/>
                <a:ext cx="9158597" cy="89890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群組 15"/>
          <p:cNvGrpSpPr/>
          <p:nvPr/>
        </p:nvGrpSpPr>
        <p:grpSpPr>
          <a:xfrm>
            <a:off x="1912727" y="2548699"/>
            <a:ext cx="5948230" cy="808293"/>
            <a:chOff x="1673807" y="3498555"/>
            <a:chExt cx="5948230" cy="80829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字方塊 16"/>
                <p:cNvSpPr txBox="1"/>
                <p:nvPr/>
              </p:nvSpPr>
              <p:spPr>
                <a:xfrm>
                  <a:off x="3632881" y="3509794"/>
                  <a:ext cx="3858877" cy="336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  <m:t>𝑴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</m:d>
                        <m: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  <m:t>𝑴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𝒋</m:t>
                            </m:r>
                          </m:e>
                        </m:d>
                        <m: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TW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US" altLang="zh-TW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altLang="zh-TW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TW" sz="20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US" altLang="zh-TW" sz="20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b>
                        </m:sSub>
                      </m:oMath>
                    </m:oMathPara>
                  </a14:m>
                  <a:endParaRPr lang="zh-TW" altLang="en-US" sz="2000" b="1" dirty="0"/>
                </a:p>
              </p:txBody>
            </p:sp>
          </mc:Choice>
          <mc:Fallback xmlns="">
            <p:sp>
              <p:nvSpPr>
                <p:cNvPr id="13" name="文字方塊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32881" y="3509794"/>
                  <a:ext cx="3858877" cy="336887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l="-948" r="-948" b="-2678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字方塊 17"/>
                <p:cNvSpPr txBox="1"/>
                <p:nvPr/>
              </p:nvSpPr>
              <p:spPr>
                <a:xfrm>
                  <a:off x="1673807" y="3498555"/>
                  <a:ext cx="5948230" cy="43986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zh-TW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𝒋</m:t>
                            </m:r>
                          </m:e>
                        </m:d>
                        <m:r>
                          <a:rPr lang="en-US" altLang="zh-TW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zh-TW" sz="2000" b="1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a:rPr lang="en-US" altLang="zh-TW" sz="2000" b="1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𝐦𝐢𝐧</m:t>
                                </m:r>
                              </m:e>
                              <m:lim>
                                <m:r>
                                  <a:rPr lang="en-US" altLang="zh-TW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  <m:r>
                                  <a:rPr lang="en-US" altLang="zh-TW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altLang="zh-TW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𝒌</m:t>
                                </m:r>
                                <m:r>
                                  <a:rPr lang="en-US" altLang="zh-TW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altLang="zh-TW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𝒋</m:t>
                                </m:r>
                                <m:r>
                                  <a:rPr lang="en-US" altLang="zh-TW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</m:lim>
                            </m:limLow>
                          </m:fName>
                          <m:e>
                            <m:d>
                              <m:dPr>
                                <m:ctrlPr>
                                  <a:rPr lang="en-US" altLang="zh-TW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                                                                   </m:t>
                                </m:r>
                              </m:e>
                            </m:d>
                          </m:e>
                        </m:func>
                      </m:oMath>
                    </m:oMathPara>
                  </a14:m>
                  <a:endParaRPr lang="zh-TW" altLang="en-US" sz="20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文字方塊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3807" y="3498555"/>
                  <a:ext cx="5948230" cy="439864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l="-513" b="-1944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字方塊 18"/>
                <p:cNvSpPr txBox="1"/>
                <p:nvPr/>
              </p:nvSpPr>
              <p:spPr>
                <a:xfrm>
                  <a:off x="1673807" y="3999071"/>
                  <a:ext cx="1331903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zh-TW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</m:d>
                        <m:r>
                          <a:rPr lang="en-US" altLang="zh-TW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oMath>
                    </m:oMathPara>
                  </a14:m>
                  <a:endParaRPr lang="zh-TW" altLang="en-US" sz="20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文字方塊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3807" y="3999071"/>
                  <a:ext cx="1331903" cy="307777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 l="-4128" r="-3670" b="-8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" name="文字方塊 8"/>
          <p:cNvSpPr txBox="1"/>
          <p:nvPr/>
        </p:nvSpPr>
        <p:spPr>
          <a:xfrm>
            <a:off x="1513703" y="399123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2784389" y="438516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4007708" y="478527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5278394" y="517920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6596449" y="557246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7867135" y="596639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" name="直線接點 27"/>
          <p:cNvCxnSpPr/>
          <p:nvPr/>
        </p:nvCxnSpPr>
        <p:spPr>
          <a:xfrm>
            <a:off x="4801496" y="3994615"/>
            <a:ext cx="3831749" cy="1191444"/>
          </a:xfrm>
          <a:prstGeom prst="line">
            <a:avLst/>
          </a:prstGeom>
          <a:ln w="762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/>
          <p:cNvSpPr txBox="1"/>
          <p:nvPr/>
        </p:nvSpPr>
        <p:spPr>
          <a:xfrm>
            <a:off x="2609065" y="3991232"/>
            <a:ext cx="6399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30/1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3837291" y="4394646"/>
            <a:ext cx="6399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24/2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5103070" y="4794756"/>
            <a:ext cx="6399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72/3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6357004" y="5179206"/>
            <a:ext cx="7681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168/4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7627690" y="5579316"/>
            <a:ext cx="7681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336/5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圓角矩形圖說文字 29"/>
          <p:cNvSpPr/>
          <p:nvPr/>
        </p:nvSpPr>
        <p:spPr>
          <a:xfrm>
            <a:off x="5262212" y="2661325"/>
            <a:ext cx="3789401" cy="876131"/>
          </a:xfrm>
          <a:prstGeom prst="wedgeRoundRectCallout">
            <a:avLst>
              <a:gd name="adj1" fmla="val -40786"/>
              <a:gd name="adj2" fmla="val 10828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[1][1] +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[2][4] + 5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 panose="05050102010706020507" pitchFamily="18" charset="2"/>
              </a:rPr>
              <a:t>26 = 132</a:t>
            </a:r>
          </a:p>
          <a:p>
            <a:pPr algn="ctr"/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 panose="05050102010706020507" pitchFamily="18" charset="2"/>
              </a:rPr>
              <a:t>[1][2] +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 panose="05050102010706020507" pitchFamily="18" charset="2"/>
              </a:rPr>
              <a:t>[3][4] + 536 = 192</a:t>
            </a:r>
          </a:p>
          <a:p>
            <a:pPr algn="ctr"/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 panose="05050102010706020507" pitchFamily="18" charset="2"/>
              </a:rPr>
              <a:t>[1][3] +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 panose="05050102010706020507" pitchFamily="18" charset="2"/>
              </a:rPr>
              <a:t>[4][4] + 546 = 184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圓角矩形 2"/>
          <p:cNvSpPr/>
          <p:nvPr/>
        </p:nvSpPr>
        <p:spPr>
          <a:xfrm>
            <a:off x="5156126" y="4393782"/>
            <a:ext cx="503269" cy="364524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圓角矩形 28"/>
          <p:cNvSpPr/>
          <p:nvPr/>
        </p:nvSpPr>
        <p:spPr>
          <a:xfrm>
            <a:off x="1496764" y="4009025"/>
            <a:ext cx="342201" cy="364524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圓角矩形 30"/>
          <p:cNvSpPr/>
          <p:nvPr/>
        </p:nvSpPr>
        <p:spPr>
          <a:xfrm>
            <a:off x="5156126" y="4800776"/>
            <a:ext cx="503269" cy="364524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圓角矩形 31"/>
          <p:cNvSpPr/>
          <p:nvPr/>
        </p:nvSpPr>
        <p:spPr>
          <a:xfrm>
            <a:off x="2658365" y="4009025"/>
            <a:ext cx="521650" cy="364524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文字方塊 22"/>
          <p:cNvSpPr txBox="1"/>
          <p:nvPr/>
        </p:nvSpPr>
        <p:spPr>
          <a:xfrm>
            <a:off x="3843007" y="3996239"/>
            <a:ext cx="6399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64/1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5104844" y="4394488"/>
            <a:ext cx="6399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72/3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6353040" y="4783539"/>
            <a:ext cx="7681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198/4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7615873" y="5186059"/>
            <a:ext cx="7681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392/5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字方塊 36"/>
              <p:cNvSpPr txBox="1"/>
              <p:nvPr/>
            </p:nvSpPr>
            <p:spPr>
              <a:xfrm>
                <a:off x="116541" y="2809468"/>
                <a:ext cx="1657762" cy="307777"/>
              </a:xfrm>
              <a:prstGeom prst="rect">
                <a:avLst/>
              </a:prstGeom>
              <a:noFill/>
              <a:ln>
                <a:solidFill>
                  <a:srgbClr val="00B05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37" name="文字方塊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541" y="2809468"/>
                <a:ext cx="1657762" cy="307777"/>
              </a:xfrm>
              <a:prstGeom prst="rect">
                <a:avLst/>
              </a:prstGeom>
              <a:blipFill rotWithShape="0">
                <a:blip r:embed="rId9"/>
                <a:stretch>
                  <a:fillRect b="-15385"/>
                </a:stretch>
              </a:blipFill>
              <a:ln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字方塊 37"/>
              <p:cNvSpPr txBox="1"/>
              <p:nvPr/>
            </p:nvSpPr>
            <p:spPr>
              <a:xfrm>
                <a:off x="222981" y="2467220"/>
                <a:ext cx="1444883" cy="307777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d>
                        <m:d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38" name="文字方塊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981" y="2467220"/>
                <a:ext cx="1444883" cy="307777"/>
              </a:xfrm>
              <a:prstGeom prst="rect">
                <a:avLst/>
              </a:prstGeom>
              <a:blipFill rotWithShape="0">
                <a:blip r:embed="rId10"/>
                <a:stretch>
                  <a:fillRect l="-3347" b="-15385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圓角矩形 38"/>
          <p:cNvSpPr/>
          <p:nvPr/>
        </p:nvSpPr>
        <p:spPr>
          <a:xfrm>
            <a:off x="5262212" y="5202436"/>
            <a:ext cx="330143" cy="36452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圓角矩形 39"/>
          <p:cNvSpPr/>
          <p:nvPr/>
        </p:nvSpPr>
        <p:spPr>
          <a:xfrm>
            <a:off x="3895228" y="4008497"/>
            <a:ext cx="521650" cy="364524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/>
          <p:cNvSpPr txBox="1"/>
          <p:nvPr/>
        </p:nvSpPr>
        <p:spPr>
          <a:xfrm>
            <a:off x="5042678" y="3979306"/>
            <a:ext cx="7681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132/1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字方塊 41"/>
              <p:cNvSpPr txBox="1"/>
              <p:nvPr/>
            </p:nvSpPr>
            <p:spPr>
              <a:xfrm>
                <a:off x="222981" y="3151716"/>
                <a:ext cx="1444883" cy="307777"/>
              </a:xfrm>
              <a:prstGeom prst="rect">
                <a:avLst/>
              </a:prstGeom>
              <a:noFill/>
              <a:ln>
                <a:solidFill>
                  <a:srgbClr val="0000FF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42" name="文字方塊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981" y="3151716"/>
                <a:ext cx="1444883" cy="307777"/>
              </a:xfrm>
              <a:prstGeom prst="rect">
                <a:avLst/>
              </a:prstGeom>
              <a:blipFill rotWithShape="0">
                <a:blip r:embed="rId11"/>
                <a:stretch>
                  <a:fillRect r="-1255" b="-13208"/>
                </a:stretch>
              </a:blipFill>
              <a:ln>
                <a:solidFill>
                  <a:srgbClr val="0000FF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文字方塊 42"/>
          <p:cNvSpPr txBox="1"/>
          <p:nvPr/>
        </p:nvSpPr>
        <p:spPr>
          <a:xfrm>
            <a:off x="6348452" y="4385594"/>
            <a:ext cx="7681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156/4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文字方塊 43"/>
          <p:cNvSpPr txBox="1"/>
          <p:nvPr/>
        </p:nvSpPr>
        <p:spPr>
          <a:xfrm>
            <a:off x="7623132" y="4762748"/>
            <a:ext cx="7681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366/5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48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" grpId="0" animBg="1"/>
      <p:bldP spid="29" grpId="0" animBg="1"/>
      <p:bldP spid="31" grpId="0" animBg="1"/>
      <p:bldP spid="32" grpId="0" animBg="1"/>
      <p:bldP spid="37" grpId="0" animBg="1"/>
      <p:bldP spid="38" grpId="0" animBg="1"/>
      <p:bldP spid="39" grpId="0" animBg="1"/>
      <p:bldP spid="40" grpId="0" animBg="1"/>
      <p:bldP spid="41" grpId="0"/>
      <p:bldP spid="42" grpId="0" animBg="1"/>
      <p:bldP spid="43" grpId="0"/>
      <p:bldP spid="44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連續矩陣相乘 </a:t>
            </a:r>
            <a:r>
              <a:rPr lang="en-US" altLang="zh-TW" dirty="0"/>
              <a:t>(12/14)</a:t>
            </a:r>
            <a:endParaRPr lang="zh-TW" altLang="en-US" dirty="0"/>
          </a:p>
        </p:txBody>
      </p:sp>
      <p:graphicFrame>
        <p:nvGraphicFramePr>
          <p:cNvPr id="8" name="內容版面配置區 7"/>
          <p:cNvGraphicFramePr>
            <a:graphicFrameLocks noGrp="1"/>
          </p:cNvGraphicFramePr>
          <p:nvPr>
            <p:ph idx="1"/>
          </p:nvPr>
        </p:nvGraphicFramePr>
        <p:xfrm>
          <a:off x="680073" y="3592825"/>
          <a:ext cx="7936233" cy="27736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363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2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20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20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20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20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620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52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5937" y="1315840"/>
                <a:ext cx="9158597" cy="8989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m>
                        <m:mPr>
                          <m:mcs>
                            <m:mc>
                              <m:mcPr>
                                <m:count m:val="11"/>
                                <m:mcJc m:val="center"/>
                              </m:mcPr>
                            </m:mc>
                          </m:mcs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𝟓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e>
                          <m:e/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𝟑</m:t>
                            </m:r>
                          </m:e>
                          <m:e/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𝟒</m:t>
                            </m:r>
                          </m:e>
                          <m:e/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𝟒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𝟔</m:t>
                            </m:r>
                          </m:e>
                          <m:e/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𝟔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𝟕</m:t>
                            </m:r>
                          </m:e>
                          <m:e/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𝟕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𝟖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e>
                          <m:e/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e>
                          <m:e/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𝟑</m:t>
                                </m:r>
                              </m:sub>
                            </m:sSub>
                          </m:e>
                          <m:e/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sub>
                            </m:sSub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𝟒</m:t>
                                </m:r>
                              </m:sub>
                            </m:sSub>
                          </m:e>
                          <m:e/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sub>
                            </m:sSub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𝟓</m:t>
                                </m:r>
                              </m:sub>
                            </m:sSub>
                          </m:e>
                          <m:e/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sub>
                            </m:sSub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𝟔</m:t>
                                </m:r>
                              </m:sub>
                            </m:sSub>
                          </m:e>
                        </m:mr>
                      </m:m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7" y="1315840"/>
                <a:ext cx="9158597" cy="89890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群組 15"/>
          <p:cNvGrpSpPr/>
          <p:nvPr/>
        </p:nvGrpSpPr>
        <p:grpSpPr>
          <a:xfrm>
            <a:off x="1912727" y="2548699"/>
            <a:ext cx="5948230" cy="808293"/>
            <a:chOff x="1673807" y="3498555"/>
            <a:chExt cx="5948230" cy="80829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字方塊 16"/>
                <p:cNvSpPr txBox="1"/>
                <p:nvPr/>
              </p:nvSpPr>
              <p:spPr>
                <a:xfrm>
                  <a:off x="3632881" y="3509794"/>
                  <a:ext cx="3858877" cy="336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  <m:t>𝑴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</m:d>
                        <m: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  <m:t>𝑴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𝒋</m:t>
                            </m:r>
                          </m:e>
                        </m:d>
                        <m: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TW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US" altLang="zh-TW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altLang="zh-TW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TW" sz="20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US" altLang="zh-TW" sz="20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b>
                        </m:sSub>
                      </m:oMath>
                    </m:oMathPara>
                  </a14:m>
                  <a:endParaRPr lang="zh-TW" altLang="en-US" sz="2000" b="1" dirty="0"/>
                </a:p>
              </p:txBody>
            </p:sp>
          </mc:Choice>
          <mc:Fallback xmlns="">
            <p:sp>
              <p:nvSpPr>
                <p:cNvPr id="13" name="文字方塊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32881" y="3509794"/>
                  <a:ext cx="3858877" cy="336887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l="-948" r="-948" b="-2678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字方塊 17"/>
                <p:cNvSpPr txBox="1"/>
                <p:nvPr/>
              </p:nvSpPr>
              <p:spPr>
                <a:xfrm>
                  <a:off x="1673807" y="3498555"/>
                  <a:ext cx="5948230" cy="43986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zh-TW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𝒋</m:t>
                            </m:r>
                          </m:e>
                        </m:d>
                        <m:r>
                          <a:rPr lang="en-US" altLang="zh-TW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zh-TW" sz="2000" b="1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a:rPr lang="en-US" altLang="zh-TW" sz="2000" b="1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𝐦𝐢𝐧</m:t>
                                </m:r>
                              </m:e>
                              <m:lim>
                                <m:r>
                                  <a:rPr lang="en-US" altLang="zh-TW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  <m:r>
                                  <a:rPr lang="en-US" altLang="zh-TW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altLang="zh-TW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𝒌</m:t>
                                </m:r>
                                <m:r>
                                  <a:rPr lang="en-US" altLang="zh-TW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altLang="zh-TW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𝒋</m:t>
                                </m:r>
                                <m:r>
                                  <a:rPr lang="en-US" altLang="zh-TW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</m:lim>
                            </m:limLow>
                          </m:fName>
                          <m:e>
                            <m:d>
                              <m:dPr>
                                <m:ctrlPr>
                                  <a:rPr lang="en-US" altLang="zh-TW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                                                                   </m:t>
                                </m:r>
                              </m:e>
                            </m:d>
                          </m:e>
                        </m:func>
                      </m:oMath>
                    </m:oMathPara>
                  </a14:m>
                  <a:endParaRPr lang="zh-TW" altLang="en-US" sz="20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文字方塊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3807" y="3498555"/>
                  <a:ext cx="5948230" cy="439864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l="-513" b="-1944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字方塊 18"/>
                <p:cNvSpPr txBox="1"/>
                <p:nvPr/>
              </p:nvSpPr>
              <p:spPr>
                <a:xfrm>
                  <a:off x="1673807" y="3999071"/>
                  <a:ext cx="1331903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zh-TW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</m:d>
                        <m:r>
                          <a:rPr lang="en-US" altLang="zh-TW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oMath>
                    </m:oMathPara>
                  </a14:m>
                  <a:endParaRPr lang="zh-TW" altLang="en-US" sz="20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文字方塊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3807" y="3999071"/>
                  <a:ext cx="1331903" cy="307777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 l="-4128" r="-3670" b="-8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" name="文字方塊 8"/>
          <p:cNvSpPr txBox="1"/>
          <p:nvPr/>
        </p:nvSpPr>
        <p:spPr>
          <a:xfrm>
            <a:off x="1513703" y="399123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2784389" y="438516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4007708" y="478527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5278394" y="517920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6596449" y="557246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7867135" y="596639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2615241" y="3991232"/>
            <a:ext cx="6399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30/1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3843465" y="4394646"/>
            <a:ext cx="6399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24/2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5115425" y="4794756"/>
            <a:ext cx="6399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72/3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6356999" y="5179206"/>
            <a:ext cx="7681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168/4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7633866" y="5579316"/>
            <a:ext cx="7681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336/5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3849181" y="3996239"/>
            <a:ext cx="6399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64/1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5113830" y="4385164"/>
            <a:ext cx="6399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72/3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6353035" y="4783539"/>
            <a:ext cx="7681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198/4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7622049" y="5186059"/>
            <a:ext cx="7681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392/5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5042685" y="3979306"/>
            <a:ext cx="7681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132/1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6354630" y="4385594"/>
            <a:ext cx="7681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156/4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文字方塊 43"/>
          <p:cNvSpPr txBox="1"/>
          <p:nvPr/>
        </p:nvSpPr>
        <p:spPr>
          <a:xfrm>
            <a:off x="7616956" y="4762748"/>
            <a:ext cx="7681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366/5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字方塊 44"/>
          <p:cNvSpPr txBox="1"/>
          <p:nvPr/>
        </p:nvSpPr>
        <p:spPr>
          <a:xfrm>
            <a:off x="6346628" y="3990493"/>
            <a:ext cx="7681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226/1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字方塊 45"/>
          <p:cNvSpPr txBox="1"/>
          <p:nvPr/>
        </p:nvSpPr>
        <p:spPr>
          <a:xfrm>
            <a:off x="7608954" y="4394646"/>
            <a:ext cx="7681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268/5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文字方塊 46"/>
          <p:cNvSpPr txBox="1"/>
          <p:nvPr/>
        </p:nvSpPr>
        <p:spPr>
          <a:xfrm>
            <a:off x="7602775" y="3995358"/>
            <a:ext cx="7681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348/1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圓角矩形 47"/>
          <p:cNvSpPr/>
          <p:nvPr/>
        </p:nvSpPr>
        <p:spPr>
          <a:xfrm>
            <a:off x="7656017" y="4008286"/>
            <a:ext cx="623014" cy="364524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2230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連續矩陣相乘 </a:t>
            </a:r>
            <a:r>
              <a:rPr lang="en-US" altLang="zh-TW" dirty="0"/>
              <a:t>(13/14)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5937" y="1305964"/>
                <a:ext cx="9158597" cy="8989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m>
                        <m:mPr>
                          <m:mcs>
                            <m:mc>
                              <m:mcPr>
                                <m:count m:val="11"/>
                                <m:mcJc m:val="center"/>
                              </m:mcPr>
                            </m:mc>
                          </m:mcs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𝟓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e>
                          <m:e/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𝟑</m:t>
                            </m:r>
                          </m:e>
                          <m:e/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𝟒</m:t>
                            </m:r>
                          </m:e>
                          <m:e/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𝟒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𝟔</m:t>
                            </m:r>
                          </m:e>
                          <m:e/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𝟔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𝟕</m:t>
                            </m:r>
                          </m:e>
                          <m:e/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𝟕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𝟖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e>
                          <m:e/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e>
                          <m:e/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𝟑</m:t>
                                </m:r>
                              </m:sub>
                            </m:sSub>
                          </m:e>
                          <m:e/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sub>
                            </m:sSub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𝟒</m:t>
                                </m:r>
                              </m:sub>
                            </m:sSub>
                          </m:e>
                          <m:e/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sub>
                            </m:sSub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𝟓</m:t>
                                </m:r>
                              </m:sub>
                            </m:sSub>
                          </m:e>
                          <m:e/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sub>
                            </m:sSub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𝟔</m:t>
                                </m:r>
                              </m:sub>
                            </m:sSub>
                          </m:e>
                        </m:mr>
                      </m:m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7" y="1305964"/>
                <a:ext cx="9158597" cy="89890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內容版面配置區 7"/>
          <p:cNvGraphicFramePr>
            <a:graphicFrameLocks/>
          </p:cNvGraphicFramePr>
          <p:nvPr/>
        </p:nvGraphicFramePr>
        <p:xfrm>
          <a:off x="655360" y="2249584"/>
          <a:ext cx="7936233" cy="27736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363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2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20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20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20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20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620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1488990" y="264799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2759676" y="304192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3982995" y="344203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5253681" y="383596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6571736" y="422922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7842422" y="462315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2590528" y="2647991"/>
            <a:ext cx="6399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30/1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3818752" y="3051405"/>
            <a:ext cx="6399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24/2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5090712" y="3451515"/>
            <a:ext cx="6399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72/3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6332286" y="3835965"/>
            <a:ext cx="7681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168/4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7609153" y="4236075"/>
            <a:ext cx="7681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336/5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3824468" y="2652998"/>
            <a:ext cx="6399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64/1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5089117" y="3041923"/>
            <a:ext cx="6399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72/3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6328322" y="3440298"/>
            <a:ext cx="7681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198/4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7597336" y="3842818"/>
            <a:ext cx="7681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392/5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5017972" y="2636065"/>
            <a:ext cx="7681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132/1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6329917" y="3042353"/>
            <a:ext cx="7681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156/4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7592243" y="3419507"/>
            <a:ext cx="7681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366/5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6321915" y="2647252"/>
            <a:ext cx="7681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226/1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7584241" y="3051405"/>
            <a:ext cx="7681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268/5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578062" y="2652117"/>
            <a:ext cx="7681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348/1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/>
              <p:cNvSpPr txBox="1"/>
              <p:nvPr/>
            </p:nvSpPr>
            <p:spPr>
              <a:xfrm>
                <a:off x="1054814" y="5563262"/>
                <a:ext cx="203042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d>
                        <m:d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31" name="文字方塊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814" y="5563262"/>
                <a:ext cx="2030428" cy="307777"/>
              </a:xfrm>
              <a:prstGeom prst="rect">
                <a:avLst/>
              </a:prstGeom>
              <a:blipFill>
                <a:blip r:embed="rId3"/>
                <a:stretch>
                  <a:fillRect l="-2102" b="-18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/>
              <p:cNvSpPr txBox="1"/>
              <p:nvPr/>
            </p:nvSpPr>
            <p:spPr>
              <a:xfrm>
                <a:off x="3234865" y="5523636"/>
                <a:ext cx="2260875" cy="3474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d>
                        <m:d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𝟓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32" name="文字方塊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4865" y="5523636"/>
                <a:ext cx="2260875" cy="347403"/>
              </a:xfrm>
              <a:prstGeom prst="rect">
                <a:avLst/>
              </a:prstGeom>
              <a:blipFill>
                <a:blip r:embed="rId4"/>
                <a:stretch>
                  <a:fillRect l="-2156" b="-122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/>
              <p:cNvSpPr txBox="1"/>
              <p:nvPr/>
            </p:nvSpPr>
            <p:spPr>
              <a:xfrm>
                <a:off x="5642213" y="5466490"/>
                <a:ext cx="2555123" cy="4606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d>
                        <m:d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𝑨</m:t>
                                      </m:r>
                                    </m:e>
                                    <m:sub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𝑨</m:t>
                                      </m:r>
                                    </m:e>
                                    <m:sub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𝑨</m:t>
                                      </m:r>
                                    </m:e>
                                    <m:sub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𝟒</m:t>
                                      </m:r>
                                    </m:sub>
                                  </m:sSub>
                                </m:e>
                              </m:d>
                              <m:sSub>
                                <m:sSubPr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𝟓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33" name="文字方塊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2213" y="5466490"/>
                <a:ext cx="2555123" cy="46063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/>
              <p:cNvSpPr txBox="1"/>
              <p:nvPr/>
            </p:nvSpPr>
            <p:spPr>
              <a:xfrm>
                <a:off x="3050109" y="5962098"/>
                <a:ext cx="2851422" cy="5442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d>
                        <m:d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</a:rPr>
                                            <m:t>𝑨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</a:rPr>
                                            <m:t>𝑨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𝑨</m:t>
                                      </m:r>
                                    </m:e>
                                    <m:sub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𝟒</m:t>
                                      </m:r>
                                    </m:sub>
                                  </m:sSub>
                                </m:e>
                              </m:d>
                              <m:sSub>
                                <m:sSubPr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𝟓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34" name="文字方塊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0109" y="5962098"/>
                <a:ext cx="2851422" cy="54425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圓角矩形 35"/>
          <p:cNvSpPr/>
          <p:nvPr/>
        </p:nvSpPr>
        <p:spPr>
          <a:xfrm>
            <a:off x="8011885" y="2661726"/>
            <a:ext cx="334336" cy="364524"/>
          </a:xfrm>
          <a:prstGeom prst="roundRect">
            <a:avLst>
              <a:gd name="adj" fmla="val 50000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圓角矩形 36"/>
          <p:cNvSpPr/>
          <p:nvPr/>
        </p:nvSpPr>
        <p:spPr>
          <a:xfrm>
            <a:off x="8011885" y="3060568"/>
            <a:ext cx="334336" cy="364524"/>
          </a:xfrm>
          <a:prstGeom prst="roundRect">
            <a:avLst>
              <a:gd name="adj" fmla="val 50000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圓角矩形 37"/>
          <p:cNvSpPr/>
          <p:nvPr/>
        </p:nvSpPr>
        <p:spPr>
          <a:xfrm>
            <a:off x="6775266" y="3053177"/>
            <a:ext cx="320279" cy="364524"/>
          </a:xfrm>
          <a:prstGeom prst="roundRect">
            <a:avLst>
              <a:gd name="adj" fmla="val 50000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圓角矩形 38"/>
          <p:cNvSpPr/>
          <p:nvPr/>
        </p:nvSpPr>
        <p:spPr>
          <a:xfrm>
            <a:off x="5390604" y="3057483"/>
            <a:ext cx="329015" cy="364524"/>
          </a:xfrm>
          <a:prstGeom prst="roundRect">
            <a:avLst>
              <a:gd name="adj" fmla="val 50000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/>
              <p:cNvSpPr txBox="1"/>
              <p:nvPr/>
            </p:nvSpPr>
            <p:spPr>
              <a:xfrm>
                <a:off x="3660602" y="5091261"/>
                <a:ext cx="181754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sSub>
                        <m:sSub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  <m:sSub>
                        <m:sSub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sub>
                      </m:sSub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30" name="文字方塊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0602" y="5091261"/>
                <a:ext cx="1817549" cy="307777"/>
              </a:xfrm>
              <a:prstGeom prst="rect">
                <a:avLst/>
              </a:prstGeom>
              <a:blipFill>
                <a:blip r:embed="rId7"/>
                <a:stretch>
                  <a:fillRect l="-2676" r="-1003" b="-176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直線接點 39"/>
          <p:cNvCxnSpPr/>
          <p:nvPr/>
        </p:nvCxnSpPr>
        <p:spPr>
          <a:xfrm>
            <a:off x="3974286" y="5108679"/>
            <a:ext cx="0" cy="307777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/>
          <p:cNvCxnSpPr/>
          <p:nvPr/>
        </p:nvCxnSpPr>
        <p:spPr>
          <a:xfrm>
            <a:off x="2644797" y="5563262"/>
            <a:ext cx="0" cy="307777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/>
          <p:cNvCxnSpPr/>
          <p:nvPr/>
        </p:nvCxnSpPr>
        <p:spPr>
          <a:xfrm>
            <a:off x="4643415" y="5554553"/>
            <a:ext cx="0" cy="307777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/>
          <p:nvPr/>
        </p:nvCxnSpPr>
        <p:spPr>
          <a:xfrm>
            <a:off x="6942478" y="5563262"/>
            <a:ext cx="0" cy="307777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0776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34" grpId="0"/>
      <p:bldP spid="36" grpId="0" animBg="1"/>
      <p:bldP spid="37" grpId="0" animBg="1"/>
      <p:bldP spid="38" grpId="0" animBg="1"/>
      <p:bldP spid="39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連續矩陣相乘 </a:t>
            </a:r>
            <a:r>
              <a:rPr lang="en-US" altLang="zh-TW" dirty="0"/>
              <a:t>(14/14)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所有情況的時間複雜度</a:t>
            </a:r>
            <a:r>
              <a:rPr lang="en-US" altLang="zh-TW" dirty="0"/>
              <a:t>(</a:t>
            </a:r>
            <a:r>
              <a:rPr lang="zh-TW" altLang="en-US" dirty="0"/>
              <a:t>最少乘法次數</a:t>
            </a:r>
            <a:r>
              <a:rPr lang="en-US" altLang="zh-TW" dirty="0"/>
              <a:t>)</a:t>
            </a:r>
          </a:p>
          <a:p>
            <a:r>
              <a:rPr lang="zh-TW" altLang="en-US" dirty="0">
                <a:solidFill>
                  <a:srgbClr val="0000FF"/>
                </a:solidFill>
              </a:rPr>
              <a:t>基本運算</a:t>
            </a:r>
            <a:r>
              <a:rPr lang="zh-TW" altLang="en-US" dirty="0"/>
              <a:t>：</a:t>
            </a:r>
            <a:r>
              <a:rPr lang="zh-TW" altLang="zh-TW" dirty="0"/>
              <a:t>每個不同</a:t>
            </a:r>
            <a:r>
              <a:rPr lang="en-US" altLang="zh-TW" i="1" dirty="0"/>
              <a:t>k</a:t>
            </a:r>
            <a:r>
              <a:rPr lang="zh-TW" altLang="zh-TW" dirty="0"/>
              <a:t>值所執行的指令作為基本運算</a:t>
            </a:r>
            <a:r>
              <a:rPr lang="en-US" altLang="zh-TW" dirty="0"/>
              <a:t>(</a:t>
            </a:r>
            <a:r>
              <a:rPr lang="zh-TW" altLang="zh-TW" dirty="0"/>
              <a:t>包含檢查是否為最小值的「比較」指令</a:t>
            </a:r>
            <a:r>
              <a:rPr lang="en-US" altLang="zh-TW" dirty="0"/>
              <a:t>)</a:t>
            </a:r>
          </a:p>
          <a:p>
            <a:r>
              <a:rPr lang="zh-TW" altLang="en-US" dirty="0">
                <a:solidFill>
                  <a:srgbClr val="0000FF"/>
                </a:solidFill>
              </a:rPr>
              <a:t>輸入大小</a:t>
            </a:r>
            <a:r>
              <a:rPr lang="zh-TW" altLang="en-US" dirty="0"/>
              <a:t>：</a:t>
            </a:r>
            <a:r>
              <a:rPr lang="en-US" altLang="zh-TW" i="1" dirty="0"/>
              <a:t>n</a:t>
            </a:r>
            <a:r>
              <a:rPr lang="zh-TW" altLang="en-US" dirty="0"/>
              <a:t>個矩陣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54</a:t>
            </a:fld>
            <a:endParaRPr lang="en-US" dirty="0"/>
          </a:p>
        </p:txBody>
      </p:sp>
      <p:grpSp>
        <p:nvGrpSpPr>
          <p:cNvPr id="9" name="群組 8"/>
          <p:cNvGrpSpPr/>
          <p:nvPr/>
        </p:nvGrpSpPr>
        <p:grpSpPr>
          <a:xfrm>
            <a:off x="451021" y="2588743"/>
            <a:ext cx="8074299" cy="3212758"/>
            <a:chOff x="759940" y="2526957"/>
            <a:chExt cx="8074299" cy="3212758"/>
          </a:xfrm>
        </p:grpSpPr>
        <p:pic>
          <p:nvPicPr>
            <p:cNvPr id="7" name="Picture 4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32" t="64854"/>
            <a:stretch/>
          </p:blipFill>
          <p:spPr bwMode="auto">
            <a:xfrm>
              <a:off x="759940" y="2526957"/>
              <a:ext cx="5530971" cy="11180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" name="Picture 5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57" b="22837"/>
            <a:stretch/>
          </p:blipFill>
          <p:spPr bwMode="auto">
            <a:xfrm>
              <a:off x="759941" y="3645025"/>
              <a:ext cx="8074298" cy="20946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10" name="圓角矩形圖說文字 9"/>
          <p:cNvSpPr/>
          <p:nvPr/>
        </p:nvSpPr>
        <p:spPr>
          <a:xfrm>
            <a:off x="3358988" y="4009768"/>
            <a:ext cx="5627357" cy="392159"/>
          </a:xfrm>
          <a:prstGeom prst="wedgeRoundRectCallout">
            <a:avLst>
              <a:gd name="adj1" fmla="val -67685"/>
              <a:gd name="adj2" fmla="val 12246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– 1) – </a:t>
            </a:r>
            <a:r>
              <a:rPr lang="en-US" altLang="zh-TW" sz="2000" b="1" i="1" dirty="0" err="1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+ 1 = (</a:t>
            </a:r>
            <a:r>
              <a:rPr lang="en-US" altLang="zh-TW" sz="2000" b="1" i="1" dirty="0" err="1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+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diagonal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 – 1 – </a:t>
            </a:r>
            <a:r>
              <a:rPr lang="en-US" altLang="zh-TW" sz="2000" b="1" i="1" dirty="0" err="1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+ 1 =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diagonal</a:t>
            </a:r>
            <a:endParaRPr lang="zh-TW" altLang="en-US" sz="2000" b="1" i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1" name="圓角矩形圖說文字 10"/>
          <p:cNvSpPr/>
          <p:nvPr/>
        </p:nvSpPr>
        <p:spPr>
          <a:xfrm>
            <a:off x="6117360" y="2863510"/>
            <a:ext cx="1615540" cy="392159"/>
          </a:xfrm>
          <a:prstGeom prst="wedgeRoundRectCallout">
            <a:avLst>
              <a:gd name="adj1" fmla="val -165458"/>
              <a:gd name="adj2" fmla="val 17445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–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diagonal</a:t>
            </a:r>
            <a:endParaRPr lang="zh-TW" altLang="en-US" sz="2000" b="1" i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/>
              <p:cNvSpPr txBox="1"/>
              <p:nvPr/>
            </p:nvSpPr>
            <p:spPr>
              <a:xfrm>
                <a:off x="598517" y="5692042"/>
                <a:ext cx="8015399" cy="9124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ctrlP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𝒊𝒂𝒈𝒐𝒏𝒂𝒍</m:t>
                          </m:r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altLang="zh-TW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  <m:r>
                                    <a:rPr lang="en-US" altLang="zh-TW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𝒅𝒊𝒂𝒈𝒐𝒏𝒂𝒍</m:t>
                                  </m:r>
                                </m:e>
                              </m:d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𝒅𝒊𝒂𝒈𝒐𝒏𝒂𝒍</m:t>
                              </m:r>
                            </m:e>
                          </m:d>
                        </m:e>
                      </m:nary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ox>
                        <m:boxPr>
                          <m:ctrlP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f>
                            <m:fPr>
                              <m:ctrlP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)(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</m:den>
                          </m:f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zh-TW" altLang="en-US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𝚯</m:t>
                          </m:r>
                          <m:d>
                            <m:dPr>
                              <m:ctrlP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  <m:sup>
                                  <m:r>
                                    <a:rPr lang="en-US" altLang="zh-TW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𝟑</m:t>
                                  </m:r>
                                </m:sup>
                              </m:sSup>
                            </m:e>
                          </m:d>
                        </m:e>
                      </m:box>
                    </m:oMath>
                  </m:oMathPara>
                </a14:m>
                <a:endParaRPr lang="zh-TW" altLang="en-US" sz="20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517" y="5692042"/>
                <a:ext cx="8015399" cy="912429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7603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樹 </a:t>
            </a:r>
            <a:r>
              <a:rPr lang="en-US" altLang="zh-TW" dirty="0"/>
              <a:t>Tree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樹的定義</a:t>
            </a:r>
            <a:endParaRPr lang="en-US" altLang="zh-TW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沒有</a:t>
            </a:r>
            <a:r>
              <a: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環路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</a:t>
            </a:r>
            <a:r>
              <a: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連通圖</a:t>
            </a:r>
            <a:endParaRPr lang="en-US" altLang="zh-TW" sz="2000" b="1" dirty="0">
              <a:solidFill>
                <a:srgbClr val="C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一般樹 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general tree</a:t>
            </a:r>
          </a:p>
          <a:p>
            <a:pPr lvl="1"/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無根樹 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unrooted tree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55</a:t>
            </a:fld>
            <a:endParaRPr 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1079683" y="384430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橢圓 8"/>
          <p:cNvSpPr/>
          <p:nvPr/>
        </p:nvSpPr>
        <p:spPr>
          <a:xfrm>
            <a:off x="1091765" y="3919474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/>
        </p:nvSpPr>
        <p:spPr>
          <a:xfrm>
            <a:off x="1067601" y="467819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橢圓 10"/>
          <p:cNvSpPr/>
          <p:nvPr/>
        </p:nvSpPr>
        <p:spPr>
          <a:xfrm>
            <a:off x="1079683" y="4753360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/>
          <p:cNvSpPr txBox="1"/>
          <p:nvPr/>
        </p:nvSpPr>
        <p:spPr>
          <a:xfrm>
            <a:off x="2042966" y="4251575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橢圓 12"/>
          <p:cNvSpPr/>
          <p:nvPr/>
        </p:nvSpPr>
        <p:spPr>
          <a:xfrm>
            <a:off x="2046422" y="4326745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/>
          <p:cNvSpPr txBox="1"/>
          <p:nvPr/>
        </p:nvSpPr>
        <p:spPr>
          <a:xfrm>
            <a:off x="2038701" y="520623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橢圓 14"/>
          <p:cNvSpPr/>
          <p:nvPr/>
        </p:nvSpPr>
        <p:spPr>
          <a:xfrm>
            <a:off x="2050783" y="5264149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" name="直線接點 19"/>
          <p:cNvCxnSpPr>
            <a:stCxn id="11" idx="0"/>
            <a:endCxn id="9" idx="4"/>
          </p:cNvCxnSpPr>
          <p:nvPr/>
        </p:nvCxnSpPr>
        <p:spPr>
          <a:xfrm flipV="1">
            <a:off x="1223683" y="4207474"/>
            <a:ext cx="12082" cy="54588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>
            <a:stCxn id="15" idx="1"/>
            <a:endCxn id="11" idx="5"/>
          </p:cNvCxnSpPr>
          <p:nvPr/>
        </p:nvCxnSpPr>
        <p:spPr>
          <a:xfrm flipH="1" flipV="1">
            <a:off x="1325506" y="4999183"/>
            <a:ext cx="767454" cy="30714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>
            <a:stCxn id="13" idx="3"/>
            <a:endCxn id="11" idx="6"/>
          </p:cNvCxnSpPr>
          <p:nvPr/>
        </p:nvCxnSpPr>
        <p:spPr>
          <a:xfrm flipH="1">
            <a:off x="1367683" y="4572568"/>
            <a:ext cx="720916" cy="32479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>
            <a:stCxn id="9" idx="6"/>
            <a:endCxn id="13" idx="1"/>
          </p:cNvCxnSpPr>
          <p:nvPr/>
        </p:nvCxnSpPr>
        <p:spPr>
          <a:xfrm>
            <a:off x="1379765" y="4063474"/>
            <a:ext cx="708834" cy="30544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字方塊 34"/>
          <p:cNvSpPr txBox="1"/>
          <p:nvPr/>
        </p:nvSpPr>
        <p:spPr>
          <a:xfrm>
            <a:off x="3802755" y="384430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橢圓 35"/>
          <p:cNvSpPr/>
          <p:nvPr/>
        </p:nvSpPr>
        <p:spPr>
          <a:xfrm>
            <a:off x="3814837" y="3919474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文字方塊 36"/>
          <p:cNvSpPr txBox="1"/>
          <p:nvPr/>
        </p:nvSpPr>
        <p:spPr>
          <a:xfrm>
            <a:off x="3790673" y="467819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橢圓 37"/>
          <p:cNvSpPr/>
          <p:nvPr/>
        </p:nvSpPr>
        <p:spPr>
          <a:xfrm>
            <a:off x="3802755" y="4753360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文字方塊 38"/>
          <p:cNvSpPr txBox="1"/>
          <p:nvPr/>
        </p:nvSpPr>
        <p:spPr>
          <a:xfrm>
            <a:off x="4766038" y="4251575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橢圓 39"/>
          <p:cNvSpPr/>
          <p:nvPr/>
        </p:nvSpPr>
        <p:spPr>
          <a:xfrm>
            <a:off x="4769494" y="4326745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/>
          <p:cNvSpPr txBox="1"/>
          <p:nvPr/>
        </p:nvSpPr>
        <p:spPr>
          <a:xfrm>
            <a:off x="4761773" y="520623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橢圓 41"/>
          <p:cNvSpPr/>
          <p:nvPr/>
        </p:nvSpPr>
        <p:spPr>
          <a:xfrm>
            <a:off x="4773855" y="5264149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4" name="直線接點 43"/>
          <p:cNvCxnSpPr>
            <a:stCxn id="42" idx="1"/>
            <a:endCxn id="38" idx="5"/>
          </p:cNvCxnSpPr>
          <p:nvPr/>
        </p:nvCxnSpPr>
        <p:spPr>
          <a:xfrm flipH="1" flipV="1">
            <a:off x="4048578" y="4999183"/>
            <a:ext cx="767454" cy="30714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/>
          <p:cNvCxnSpPr>
            <a:stCxn id="36" idx="6"/>
            <a:endCxn id="40" idx="1"/>
          </p:cNvCxnSpPr>
          <p:nvPr/>
        </p:nvCxnSpPr>
        <p:spPr>
          <a:xfrm>
            <a:off x="4102837" y="4063474"/>
            <a:ext cx="708834" cy="30544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字方塊 46"/>
          <p:cNvSpPr txBox="1"/>
          <p:nvPr/>
        </p:nvSpPr>
        <p:spPr>
          <a:xfrm>
            <a:off x="6549184" y="391971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橢圓 47"/>
          <p:cNvSpPr/>
          <p:nvPr/>
        </p:nvSpPr>
        <p:spPr>
          <a:xfrm>
            <a:off x="6561266" y="3994889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文字方塊 48"/>
          <p:cNvSpPr txBox="1"/>
          <p:nvPr/>
        </p:nvSpPr>
        <p:spPr>
          <a:xfrm>
            <a:off x="6537102" y="475360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橢圓 49"/>
          <p:cNvSpPr/>
          <p:nvPr/>
        </p:nvSpPr>
        <p:spPr>
          <a:xfrm>
            <a:off x="6549184" y="4828775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1" name="文字方塊 50"/>
          <p:cNvSpPr txBox="1"/>
          <p:nvPr/>
        </p:nvSpPr>
        <p:spPr>
          <a:xfrm>
            <a:off x="7512467" y="4326990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橢圓 51"/>
          <p:cNvSpPr/>
          <p:nvPr/>
        </p:nvSpPr>
        <p:spPr>
          <a:xfrm>
            <a:off x="7515923" y="4402160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3" name="文字方塊 52"/>
          <p:cNvSpPr txBox="1"/>
          <p:nvPr/>
        </p:nvSpPr>
        <p:spPr>
          <a:xfrm>
            <a:off x="7508202" y="528164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橢圓 53"/>
          <p:cNvSpPr/>
          <p:nvPr/>
        </p:nvSpPr>
        <p:spPr>
          <a:xfrm>
            <a:off x="7520284" y="5339564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6" name="直線接點 55"/>
          <p:cNvCxnSpPr>
            <a:stCxn id="54" idx="1"/>
            <a:endCxn id="50" idx="5"/>
          </p:cNvCxnSpPr>
          <p:nvPr/>
        </p:nvCxnSpPr>
        <p:spPr>
          <a:xfrm flipH="1" flipV="1">
            <a:off x="6795007" y="5074598"/>
            <a:ext cx="767454" cy="30714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/>
          <p:cNvCxnSpPr>
            <a:stCxn id="52" idx="3"/>
            <a:endCxn id="50" idx="6"/>
          </p:cNvCxnSpPr>
          <p:nvPr/>
        </p:nvCxnSpPr>
        <p:spPr>
          <a:xfrm flipH="1">
            <a:off x="6837184" y="4647983"/>
            <a:ext cx="720916" cy="32479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接點 57"/>
          <p:cNvCxnSpPr>
            <a:stCxn id="48" idx="6"/>
            <a:endCxn id="52" idx="1"/>
          </p:cNvCxnSpPr>
          <p:nvPr/>
        </p:nvCxnSpPr>
        <p:spPr>
          <a:xfrm>
            <a:off x="6849266" y="4138889"/>
            <a:ext cx="708834" cy="30544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字方塊 58"/>
          <p:cNvSpPr txBox="1"/>
          <p:nvPr/>
        </p:nvSpPr>
        <p:spPr>
          <a:xfrm>
            <a:off x="1257128" y="5641647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有環路</a:t>
            </a:r>
          </a:p>
        </p:txBody>
      </p:sp>
      <p:sp>
        <p:nvSpPr>
          <p:cNvPr id="60" name="文字方塊 59"/>
          <p:cNvSpPr txBox="1"/>
          <p:nvPr/>
        </p:nvSpPr>
        <p:spPr>
          <a:xfrm>
            <a:off x="3935761" y="5641647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不連通</a:t>
            </a:r>
          </a:p>
        </p:txBody>
      </p:sp>
      <p:sp>
        <p:nvSpPr>
          <p:cNvPr id="43" name="文字方塊 42"/>
          <p:cNvSpPr txBox="1"/>
          <p:nvPr/>
        </p:nvSpPr>
        <p:spPr>
          <a:xfrm>
            <a:off x="1456599" y="3295915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字方塊 44"/>
          <p:cNvSpPr txBox="1"/>
          <p:nvPr/>
        </p:nvSpPr>
        <p:spPr>
          <a:xfrm>
            <a:off x="4160180" y="3295915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文字方塊 54"/>
          <p:cNvSpPr txBox="1"/>
          <p:nvPr/>
        </p:nvSpPr>
        <p:spPr>
          <a:xfrm>
            <a:off x="6926100" y="3295915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0795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有根樹 </a:t>
            </a:r>
            <a:r>
              <a:rPr lang="en-US" altLang="zh-TW" dirty="0"/>
              <a:t>rooted tree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有一個特定的節點稱為</a:t>
            </a:r>
            <a:r>
              <a: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樹根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root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通常畫在一棵樹的</a:t>
            </a:r>
            <a:r>
              <a: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最上方</a:t>
            </a:r>
            <a:endParaRPr lang="en-US" altLang="zh-TW" sz="2000" b="1" dirty="0">
              <a:solidFill>
                <a:srgbClr val="C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樹根包含零個到多個</a:t>
            </a:r>
            <a:r>
              <a: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子樹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subtree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，畫在樹根</a:t>
            </a:r>
            <a:r>
              <a: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下方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56</a:t>
            </a:fld>
            <a:endParaRPr lang="en-US" dirty="0"/>
          </a:p>
        </p:txBody>
      </p:sp>
      <p:grpSp>
        <p:nvGrpSpPr>
          <p:cNvPr id="19" name="群組 18"/>
          <p:cNvGrpSpPr/>
          <p:nvPr/>
        </p:nvGrpSpPr>
        <p:grpSpPr>
          <a:xfrm>
            <a:off x="146685" y="3094008"/>
            <a:ext cx="8885177" cy="3349912"/>
            <a:chOff x="146685" y="3094008"/>
            <a:chExt cx="8885177" cy="3349912"/>
          </a:xfrm>
        </p:grpSpPr>
        <p:sp>
          <p:nvSpPr>
            <p:cNvPr id="7" name="矩形 6"/>
            <p:cNvSpPr/>
            <p:nvPr/>
          </p:nvSpPr>
          <p:spPr>
            <a:xfrm>
              <a:off x="146685" y="6124742"/>
              <a:ext cx="1337095" cy="31917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b="1" dirty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國內部副理</a:t>
              </a:r>
            </a:p>
          </p:txBody>
        </p:sp>
        <p:sp>
          <p:nvSpPr>
            <p:cNvPr id="8" name="矩形 7"/>
            <p:cNvSpPr/>
            <p:nvPr/>
          </p:nvSpPr>
          <p:spPr>
            <a:xfrm>
              <a:off x="6931325" y="4063042"/>
              <a:ext cx="1337095" cy="31917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b="1" dirty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主任秘書</a:t>
              </a:r>
            </a:p>
          </p:txBody>
        </p:sp>
        <p:sp>
          <p:nvSpPr>
            <p:cNvPr id="9" name="矩形 8"/>
            <p:cNvSpPr/>
            <p:nvPr/>
          </p:nvSpPr>
          <p:spPr>
            <a:xfrm>
              <a:off x="902940" y="5121215"/>
              <a:ext cx="1337095" cy="31917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b="1" dirty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業務經理</a:t>
              </a:r>
            </a:p>
          </p:txBody>
        </p:sp>
        <p:sp>
          <p:nvSpPr>
            <p:cNvPr id="10" name="矩形 9"/>
            <p:cNvSpPr/>
            <p:nvPr/>
          </p:nvSpPr>
          <p:spPr>
            <a:xfrm>
              <a:off x="2472960" y="5121215"/>
              <a:ext cx="1337095" cy="31917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b="1" dirty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人事經理</a:t>
              </a:r>
            </a:p>
          </p:txBody>
        </p:sp>
        <p:sp>
          <p:nvSpPr>
            <p:cNvPr id="11" name="矩形 10"/>
            <p:cNvSpPr/>
            <p:nvPr/>
          </p:nvSpPr>
          <p:spPr>
            <a:xfrm>
              <a:off x="4060232" y="5121215"/>
              <a:ext cx="1337095" cy="31917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b="1" dirty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財務經理</a:t>
              </a:r>
            </a:p>
          </p:txBody>
        </p:sp>
        <p:sp>
          <p:nvSpPr>
            <p:cNvPr id="12" name="矩形 11"/>
            <p:cNvSpPr/>
            <p:nvPr/>
          </p:nvSpPr>
          <p:spPr>
            <a:xfrm>
              <a:off x="3309733" y="6124742"/>
              <a:ext cx="1337095" cy="31917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b="1" dirty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會計主任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4802104" y="6124742"/>
              <a:ext cx="1337095" cy="31917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b="1" dirty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庶務主任</a:t>
              </a:r>
            </a:p>
          </p:txBody>
        </p:sp>
        <p:sp>
          <p:nvSpPr>
            <p:cNvPr id="14" name="矩形 13"/>
            <p:cNvSpPr/>
            <p:nvPr/>
          </p:nvSpPr>
          <p:spPr>
            <a:xfrm>
              <a:off x="6185144" y="5121215"/>
              <a:ext cx="1337095" cy="31917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b="1" dirty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秘書甲</a:t>
              </a:r>
            </a:p>
          </p:txBody>
        </p:sp>
        <p:sp>
          <p:nvSpPr>
            <p:cNvPr id="15" name="矩形 14"/>
            <p:cNvSpPr/>
            <p:nvPr/>
          </p:nvSpPr>
          <p:spPr>
            <a:xfrm>
              <a:off x="7694767" y="5121215"/>
              <a:ext cx="1337095" cy="31917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b="1" dirty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秘書乙</a:t>
              </a:r>
            </a:p>
          </p:txBody>
        </p:sp>
        <p:sp>
          <p:nvSpPr>
            <p:cNvPr id="16" name="矩形 15"/>
            <p:cNvSpPr/>
            <p:nvPr/>
          </p:nvSpPr>
          <p:spPr>
            <a:xfrm>
              <a:off x="2472959" y="4063042"/>
              <a:ext cx="1337095" cy="31917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b="1" dirty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總經理</a:t>
              </a:r>
            </a:p>
          </p:txBody>
        </p:sp>
        <p:sp>
          <p:nvSpPr>
            <p:cNvPr id="17" name="矩形 16"/>
            <p:cNvSpPr/>
            <p:nvPr/>
          </p:nvSpPr>
          <p:spPr>
            <a:xfrm>
              <a:off x="1690780" y="6124742"/>
              <a:ext cx="1337095" cy="31917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b="1" dirty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國外部副理</a:t>
              </a:r>
            </a:p>
          </p:txBody>
        </p:sp>
        <p:sp>
          <p:nvSpPr>
            <p:cNvPr id="18" name="矩形 17"/>
            <p:cNvSpPr/>
            <p:nvPr/>
          </p:nvSpPr>
          <p:spPr>
            <a:xfrm>
              <a:off x="4733029" y="3094008"/>
              <a:ext cx="1337095" cy="31917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b="1" dirty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董事長</a:t>
              </a:r>
            </a:p>
          </p:txBody>
        </p:sp>
        <p:cxnSp>
          <p:nvCxnSpPr>
            <p:cNvPr id="20" name="直線接點 19"/>
            <p:cNvCxnSpPr>
              <a:stCxn id="9" idx="2"/>
              <a:endCxn id="7" idx="0"/>
            </p:cNvCxnSpPr>
            <p:nvPr/>
          </p:nvCxnSpPr>
          <p:spPr>
            <a:xfrm flipH="1">
              <a:off x="815233" y="5440393"/>
              <a:ext cx="756255" cy="68434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接點 20"/>
            <p:cNvCxnSpPr>
              <a:stCxn id="9" idx="2"/>
              <a:endCxn id="17" idx="0"/>
            </p:cNvCxnSpPr>
            <p:nvPr/>
          </p:nvCxnSpPr>
          <p:spPr>
            <a:xfrm>
              <a:off x="1571488" y="5440393"/>
              <a:ext cx="787840" cy="68434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接點 23"/>
            <p:cNvCxnSpPr>
              <a:stCxn id="16" idx="2"/>
              <a:endCxn id="10" idx="0"/>
            </p:cNvCxnSpPr>
            <p:nvPr/>
          </p:nvCxnSpPr>
          <p:spPr>
            <a:xfrm>
              <a:off x="3141507" y="4382220"/>
              <a:ext cx="1" cy="738995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接點 26"/>
            <p:cNvCxnSpPr>
              <a:stCxn id="16" idx="2"/>
              <a:endCxn id="9" idx="0"/>
            </p:cNvCxnSpPr>
            <p:nvPr/>
          </p:nvCxnSpPr>
          <p:spPr>
            <a:xfrm flipH="1">
              <a:off x="1571488" y="4382220"/>
              <a:ext cx="1570019" cy="738995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接點 29"/>
            <p:cNvCxnSpPr>
              <a:stCxn id="16" idx="2"/>
              <a:endCxn id="11" idx="0"/>
            </p:cNvCxnSpPr>
            <p:nvPr/>
          </p:nvCxnSpPr>
          <p:spPr>
            <a:xfrm>
              <a:off x="3141507" y="4382220"/>
              <a:ext cx="1587273" cy="738995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接點 32"/>
            <p:cNvCxnSpPr>
              <a:stCxn id="18" idx="2"/>
              <a:endCxn id="16" idx="0"/>
            </p:cNvCxnSpPr>
            <p:nvPr/>
          </p:nvCxnSpPr>
          <p:spPr>
            <a:xfrm flipH="1">
              <a:off x="3141507" y="3413186"/>
              <a:ext cx="2260070" cy="64985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接點 35"/>
            <p:cNvCxnSpPr>
              <a:stCxn id="18" idx="2"/>
              <a:endCxn id="8" idx="0"/>
            </p:cNvCxnSpPr>
            <p:nvPr/>
          </p:nvCxnSpPr>
          <p:spPr>
            <a:xfrm>
              <a:off x="5401577" y="3413186"/>
              <a:ext cx="2198296" cy="64985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線接點 38"/>
            <p:cNvCxnSpPr>
              <a:stCxn id="8" idx="2"/>
              <a:endCxn id="14" idx="0"/>
            </p:cNvCxnSpPr>
            <p:nvPr/>
          </p:nvCxnSpPr>
          <p:spPr>
            <a:xfrm flipH="1">
              <a:off x="6853692" y="4382220"/>
              <a:ext cx="746181" cy="738995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線接點 41"/>
            <p:cNvCxnSpPr>
              <a:stCxn id="8" idx="2"/>
              <a:endCxn id="15" idx="0"/>
            </p:cNvCxnSpPr>
            <p:nvPr/>
          </p:nvCxnSpPr>
          <p:spPr>
            <a:xfrm>
              <a:off x="7599873" y="4382220"/>
              <a:ext cx="763442" cy="738995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線接點 44"/>
            <p:cNvCxnSpPr>
              <a:stCxn id="11" idx="2"/>
              <a:endCxn id="12" idx="0"/>
            </p:cNvCxnSpPr>
            <p:nvPr/>
          </p:nvCxnSpPr>
          <p:spPr>
            <a:xfrm flipH="1">
              <a:off x="3978281" y="5440393"/>
              <a:ext cx="750499" cy="68434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線接點 47"/>
            <p:cNvCxnSpPr>
              <a:stCxn id="11" idx="2"/>
              <a:endCxn id="13" idx="0"/>
            </p:cNvCxnSpPr>
            <p:nvPr/>
          </p:nvCxnSpPr>
          <p:spPr>
            <a:xfrm>
              <a:off x="4728780" y="5440393"/>
              <a:ext cx="741872" cy="68434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圓角矩形 50"/>
          <p:cNvSpPr/>
          <p:nvPr/>
        </p:nvSpPr>
        <p:spPr>
          <a:xfrm>
            <a:off x="6150624" y="3867504"/>
            <a:ext cx="2924368" cy="1808677"/>
          </a:xfrm>
          <a:prstGeom prst="roundRect">
            <a:avLst>
              <a:gd name="adj" fmla="val 9481"/>
            </a:avLst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2" name="圓角矩形 51"/>
          <p:cNvSpPr/>
          <p:nvPr/>
        </p:nvSpPr>
        <p:spPr>
          <a:xfrm>
            <a:off x="94929" y="3867504"/>
            <a:ext cx="6044269" cy="2679945"/>
          </a:xfrm>
          <a:prstGeom prst="roundRect">
            <a:avLst>
              <a:gd name="adj" fmla="val 6584"/>
            </a:avLst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3" name="圓角矩形圖說文字 52"/>
          <p:cNvSpPr/>
          <p:nvPr/>
        </p:nvSpPr>
        <p:spPr>
          <a:xfrm>
            <a:off x="6674696" y="2257688"/>
            <a:ext cx="1306898" cy="506044"/>
          </a:xfrm>
          <a:prstGeom prst="wedgeRoundRectCallout">
            <a:avLst>
              <a:gd name="adj1" fmla="val -101418"/>
              <a:gd name="adj2" fmla="val 99096"/>
              <a:gd name="adj3" fmla="val 16667"/>
            </a:avLst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樹根</a:t>
            </a:r>
            <a:endParaRPr lang="zh-TW" altLang="en-US" b="1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48967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52" grpId="0" animBg="1"/>
      <p:bldP spid="53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圓角矩形 58"/>
          <p:cNvSpPr/>
          <p:nvPr/>
        </p:nvSpPr>
        <p:spPr>
          <a:xfrm>
            <a:off x="5051989" y="3387774"/>
            <a:ext cx="2889849" cy="1511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8" name="圓角矩形 57"/>
          <p:cNvSpPr/>
          <p:nvPr/>
        </p:nvSpPr>
        <p:spPr>
          <a:xfrm>
            <a:off x="5045900" y="4112614"/>
            <a:ext cx="2889849" cy="1511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7" name="圓角矩形 56"/>
          <p:cNvSpPr/>
          <p:nvPr/>
        </p:nvSpPr>
        <p:spPr>
          <a:xfrm>
            <a:off x="5063706" y="5612694"/>
            <a:ext cx="2889849" cy="1511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6" name="圓角矩形 55"/>
          <p:cNvSpPr/>
          <p:nvPr/>
        </p:nvSpPr>
        <p:spPr>
          <a:xfrm>
            <a:off x="5063706" y="4860627"/>
            <a:ext cx="2889849" cy="1511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樹的相關名詞定義 </a:t>
            </a:r>
            <a:r>
              <a:rPr lang="en-US" altLang="zh-TW" dirty="0"/>
              <a:t>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樹根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(root)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、子樹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(subtree)</a:t>
            </a:r>
          </a:p>
          <a:p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內部節點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(internal node)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：有子樹的節點</a:t>
            </a:r>
            <a:endParaRPr lang="en-US" altLang="zh-TW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非終端節點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(non-terminal node)</a:t>
            </a:r>
          </a:p>
          <a:p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外部節點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(external node)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：無子樹的節點</a:t>
            </a:r>
            <a:endParaRPr lang="en-US" altLang="zh-TW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終端節點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(terminal node)</a:t>
            </a:r>
          </a:p>
          <a:p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父節點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(parent node)</a:t>
            </a:r>
          </a:p>
          <a:p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子節點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(child node)</a:t>
            </a:r>
          </a:p>
          <a:p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兄弟節點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(sibling)</a:t>
            </a:r>
          </a:p>
          <a:p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階度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(level)</a:t>
            </a:r>
          </a:p>
          <a:p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高度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(height)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57</a:t>
            </a:fld>
            <a:endParaRPr lang="en-US" dirty="0"/>
          </a:p>
        </p:txBody>
      </p:sp>
      <p:sp>
        <p:nvSpPr>
          <p:cNvPr id="7" name="橢圓 6"/>
          <p:cNvSpPr/>
          <p:nvPr/>
        </p:nvSpPr>
        <p:spPr>
          <a:xfrm>
            <a:off x="6431396" y="33193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/>
          <p:cNvSpPr/>
          <p:nvPr/>
        </p:nvSpPr>
        <p:spPr>
          <a:xfrm>
            <a:off x="6431396" y="404417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/>
          <p:cNvSpPr/>
          <p:nvPr/>
        </p:nvSpPr>
        <p:spPr>
          <a:xfrm>
            <a:off x="6431396" y="479179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6431396" y="55422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6871796" y="55422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/>
          <p:cNvSpPr/>
          <p:nvPr/>
        </p:nvSpPr>
        <p:spPr>
          <a:xfrm>
            <a:off x="5997200" y="55422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/>
          <p:cNvSpPr/>
          <p:nvPr/>
        </p:nvSpPr>
        <p:spPr>
          <a:xfrm>
            <a:off x="5496868" y="404417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5784868" y="479179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5208868" y="479179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/>
          <p:cNvSpPr/>
          <p:nvPr/>
        </p:nvSpPr>
        <p:spPr>
          <a:xfrm>
            <a:off x="7348672" y="404417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8" name="直線接點 17"/>
          <p:cNvCxnSpPr>
            <a:stCxn id="7" idx="4"/>
            <a:endCxn id="8" idx="0"/>
          </p:cNvCxnSpPr>
          <p:nvPr/>
        </p:nvCxnSpPr>
        <p:spPr>
          <a:xfrm>
            <a:off x="6575396" y="3607332"/>
            <a:ext cx="0" cy="43684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>
            <a:stCxn id="7" idx="3"/>
            <a:endCxn id="13" idx="7"/>
          </p:cNvCxnSpPr>
          <p:nvPr/>
        </p:nvCxnSpPr>
        <p:spPr>
          <a:xfrm flipH="1">
            <a:off x="5742691" y="3565155"/>
            <a:ext cx="730882" cy="52119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>
            <a:stCxn id="7" idx="5"/>
            <a:endCxn id="16" idx="1"/>
          </p:cNvCxnSpPr>
          <p:nvPr/>
        </p:nvCxnSpPr>
        <p:spPr>
          <a:xfrm>
            <a:off x="6677219" y="3565155"/>
            <a:ext cx="713630" cy="52119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>
            <a:stCxn id="8" idx="4"/>
            <a:endCxn id="9" idx="0"/>
          </p:cNvCxnSpPr>
          <p:nvPr/>
        </p:nvCxnSpPr>
        <p:spPr>
          <a:xfrm>
            <a:off x="6575396" y="4332172"/>
            <a:ext cx="0" cy="45962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/>
          <p:cNvCxnSpPr>
            <a:stCxn id="13" idx="4"/>
            <a:endCxn id="15" idx="0"/>
          </p:cNvCxnSpPr>
          <p:nvPr/>
        </p:nvCxnSpPr>
        <p:spPr>
          <a:xfrm flipH="1">
            <a:off x="5352868" y="4332172"/>
            <a:ext cx="288000" cy="45962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/>
          <p:cNvCxnSpPr>
            <a:stCxn id="13" idx="4"/>
            <a:endCxn id="14" idx="0"/>
          </p:cNvCxnSpPr>
          <p:nvPr/>
        </p:nvCxnSpPr>
        <p:spPr>
          <a:xfrm>
            <a:off x="5640868" y="4332172"/>
            <a:ext cx="288000" cy="45962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/>
          <p:cNvCxnSpPr>
            <a:stCxn id="9" idx="4"/>
            <a:endCxn id="10" idx="0"/>
          </p:cNvCxnSpPr>
          <p:nvPr/>
        </p:nvCxnSpPr>
        <p:spPr>
          <a:xfrm>
            <a:off x="6575396" y="5079797"/>
            <a:ext cx="0" cy="46249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/>
          <p:cNvCxnSpPr>
            <a:stCxn id="9" idx="5"/>
            <a:endCxn id="11" idx="0"/>
          </p:cNvCxnSpPr>
          <p:nvPr/>
        </p:nvCxnSpPr>
        <p:spPr>
          <a:xfrm>
            <a:off x="6677219" y="5037620"/>
            <a:ext cx="338577" cy="50467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>
            <a:stCxn id="9" idx="3"/>
            <a:endCxn id="12" idx="0"/>
          </p:cNvCxnSpPr>
          <p:nvPr/>
        </p:nvCxnSpPr>
        <p:spPr>
          <a:xfrm flipH="1">
            <a:off x="6141200" y="5037620"/>
            <a:ext cx="332373" cy="50467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字方塊 45"/>
          <p:cNvSpPr txBox="1"/>
          <p:nvPr/>
        </p:nvSpPr>
        <p:spPr>
          <a:xfrm>
            <a:off x="6427940" y="325278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文字方塊 46"/>
          <p:cNvSpPr txBox="1"/>
          <p:nvPr/>
        </p:nvSpPr>
        <p:spPr>
          <a:xfrm>
            <a:off x="5490112" y="400350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文字方塊 47"/>
          <p:cNvSpPr txBox="1"/>
          <p:nvPr/>
        </p:nvSpPr>
        <p:spPr>
          <a:xfrm>
            <a:off x="6434598" y="3977811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文字方塊 48"/>
          <p:cNvSpPr txBox="1"/>
          <p:nvPr/>
        </p:nvSpPr>
        <p:spPr>
          <a:xfrm>
            <a:off x="7333289" y="398625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文字方塊 49"/>
          <p:cNvSpPr txBox="1"/>
          <p:nvPr/>
        </p:nvSpPr>
        <p:spPr>
          <a:xfrm>
            <a:off x="5202854" y="4716627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文字方塊 50"/>
          <p:cNvSpPr txBox="1"/>
          <p:nvPr/>
        </p:nvSpPr>
        <p:spPr>
          <a:xfrm>
            <a:off x="5798063" y="4725253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文字方塊 51"/>
          <p:cNvSpPr txBox="1"/>
          <p:nvPr/>
        </p:nvSpPr>
        <p:spPr>
          <a:xfrm>
            <a:off x="6433640" y="470183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文字方塊 52"/>
          <p:cNvSpPr txBox="1"/>
          <p:nvPr/>
        </p:nvSpPr>
        <p:spPr>
          <a:xfrm>
            <a:off x="5984747" y="549300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文字方塊 53"/>
          <p:cNvSpPr txBox="1"/>
          <p:nvPr/>
        </p:nvSpPr>
        <p:spPr>
          <a:xfrm>
            <a:off x="6450155" y="5495648"/>
            <a:ext cx="248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文字方塊 54"/>
          <p:cNvSpPr txBox="1"/>
          <p:nvPr/>
        </p:nvSpPr>
        <p:spPr>
          <a:xfrm>
            <a:off x="6908655" y="5475748"/>
            <a:ext cx="248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文字方塊 59"/>
          <p:cNvSpPr txBox="1"/>
          <p:nvPr/>
        </p:nvSpPr>
        <p:spPr>
          <a:xfrm>
            <a:off x="7953555" y="3253007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文字方塊 60"/>
          <p:cNvSpPr txBox="1"/>
          <p:nvPr/>
        </p:nvSpPr>
        <p:spPr>
          <a:xfrm>
            <a:off x="7953555" y="4003505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文字方塊 61"/>
          <p:cNvSpPr txBox="1"/>
          <p:nvPr/>
        </p:nvSpPr>
        <p:spPr>
          <a:xfrm>
            <a:off x="7953555" y="4751518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文字方塊 62"/>
          <p:cNvSpPr txBox="1"/>
          <p:nvPr/>
        </p:nvSpPr>
        <p:spPr>
          <a:xfrm>
            <a:off x="7953555" y="5503585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9982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5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0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5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30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500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  <p:bldP spid="58" grpId="0" animBg="1"/>
      <p:bldP spid="57" grpId="0" animBg="1"/>
      <p:bldP spid="56" grpId="0" animBg="1"/>
      <p:bldP spid="60" grpId="0"/>
      <p:bldP spid="61" grpId="0"/>
      <p:bldP spid="62" grpId="0"/>
      <p:bldP spid="63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樹的相關名詞定義 </a:t>
            </a:r>
            <a:r>
              <a:rPr lang="en-US" altLang="zh-TW" dirty="0"/>
              <a:t>(2/2)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森林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(forest)</a:t>
            </a:r>
            <a:endParaRPr lang="en-US" altLang="zh-TW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父節點指向子節點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58</a:t>
            </a:fld>
            <a:endParaRPr lang="en-US" dirty="0"/>
          </a:p>
        </p:txBody>
      </p:sp>
      <p:grpSp>
        <p:nvGrpSpPr>
          <p:cNvPr id="46" name="群組 45"/>
          <p:cNvGrpSpPr/>
          <p:nvPr/>
        </p:nvGrpSpPr>
        <p:grpSpPr>
          <a:xfrm>
            <a:off x="3442484" y="3935332"/>
            <a:ext cx="2433818" cy="2612192"/>
            <a:chOff x="3442484" y="3935332"/>
            <a:chExt cx="2433818" cy="2612192"/>
          </a:xfrm>
        </p:grpSpPr>
        <p:sp>
          <p:nvSpPr>
            <p:cNvPr id="7" name="橢圓 6"/>
            <p:cNvSpPr/>
            <p:nvPr/>
          </p:nvSpPr>
          <p:spPr>
            <a:xfrm>
              <a:off x="4671026" y="4001876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橢圓 7"/>
            <p:cNvSpPr/>
            <p:nvPr/>
          </p:nvSpPr>
          <p:spPr>
            <a:xfrm>
              <a:off x="4671026" y="4726716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橢圓 8"/>
            <p:cNvSpPr/>
            <p:nvPr/>
          </p:nvSpPr>
          <p:spPr>
            <a:xfrm>
              <a:off x="4671026" y="5474341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橢圓 9"/>
            <p:cNvSpPr/>
            <p:nvPr/>
          </p:nvSpPr>
          <p:spPr>
            <a:xfrm>
              <a:off x="4671026" y="6224836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橢圓 10"/>
            <p:cNvSpPr/>
            <p:nvPr/>
          </p:nvSpPr>
          <p:spPr>
            <a:xfrm>
              <a:off x="5111426" y="6224836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橢圓 11"/>
            <p:cNvSpPr/>
            <p:nvPr/>
          </p:nvSpPr>
          <p:spPr>
            <a:xfrm>
              <a:off x="4236830" y="6224836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橢圓 12"/>
            <p:cNvSpPr/>
            <p:nvPr/>
          </p:nvSpPr>
          <p:spPr>
            <a:xfrm>
              <a:off x="3736498" y="4726716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橢圓 13"/>
            <p:cNvSpPr/>
            <p:nvPr/>
          </p:nvSpPr>
          <p:spPr>
            <a:xfrm>
              <a:off x="4024498" y="5474341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橢圓 14"/>
            <p:cNvSpPr/>
            <p:nvPr/>
          </p:nvSpPr>
          <p:spPr>
            <a:xfrm>
              <a:off x="3448498" y="5474341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橢圓 15"/>
            <p:cNvSpPr/>
            <p:nvPr/>
          </p:nvSpPr>
          <p:spPr>
            <a:xfrm>
              <a:off x="5588302" y="4726716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7" name="直線接點 16"/>
            <p:cNvCxnSpPr>
              <a:stCxn id="7" idx="4"/>
              <a:endCxn id="8" idx="0"/>
            </p:cNvCxnSpPr>
            <p:nvPr/>
          </p:nvCxnSpPr>
          <p:spPr>
            <a:xfrm>
              <a:off x="4815026" y="4289876"/>
              <a:ext cx="0" cy="436840"/>
            </a:xfrm>
            <a:prstGeom prst="line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接點 17"/>
            <p:cNvCxnSpPr>
              <a:stCxn id="7" idx="3"/>
              <a:endCxn id="13" idx="7"/>
            </p:cNvCxnSpPr>
            <p:nvPr/>
          </p:nvCxnSpPr>
          <p:spPr>
            <a:xfrm flipH="1">
              <a:off x="3982321" y="4247699"/>
              <a:ext cx="730882" cy="521194"/>
            </a:xfrm>
            <a:prstGeom prst="line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接點 18"/>
            <p:cNvCxnSpPr>
              <a:stCxn id="7" idx="5"/>
              <a:endCxn id="16" idx="1"/>
            </p:cNvCxnSpPr>
            <p:nvPr/>
          </p:nvCxnSpPr>
          <p:spPr>
            <a:xfrm>
              <a:off x="4916849" y="4247699"/>
              <a:ext cx="713630" cy="521194"/>
            </a:xfrm>
            <a:prstGeom prst="line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接點 19"/>
            <p:cNvCxnSpPr>
              <a:stCxn id="8" idx="4"/>
              <a:endCxn id="9" idx="0"/>
            </p:cNvCxnSpPr>
            <p:nvPr/>
          </p:nvCxnSpPr>
          <p:spPr>
            <a:xfrm>
              <a:off x="4815026" y="5014716"/>
              <a:ext cx="0" cy="459625"/>
            </a:xfrm>
            <a:prstGeom prst="line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接點 20"/>
            <p:cNvCxnSpPr>
              <a:stCxn id="13" idx="4"/>
              <a:endCxn id="15" idx="0"/>
            </p:cNvCxnSpPr>
            <p:nvPr/>
          </p:nvCxnSpPr>
          <p:spPr>
            <a:xfrm flipH="1">
              <a:off x="3592498" y="5014716"/>
              <a:ext cx="288000" cy="459625"/>
            </a:xfrm>
            <a:prstGeom prst="line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接點 21"/>
            <p:cNvCxnSpPr>
              <a:stCxn id="13" idx="4"/>
              <a:endCxn id="14" idx="0"/>
            </p:cNvCxnSpPr>
            <p:nvPr/>
          </p:nvCxnSpPr>
          <p:spPr>
            <a:xfrm>
              <a:off x="3880498" y="5014716"/>
              <a:ext cx="288000" cy="459625"/>
            </a:xfrm>
            <a:prstGeom prst="line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接點 22"/>
            <p:cNvCxnSpPr>
              <a:stCxn id="9" idx="4"/>
              <a:endCxn id="10" idx="0"/>
            </p:cNvCxnSpPr>
            <p:nvPr/>
          </p:nvCxnSpPr>
          <p:spPr>
            <a:xfrm>
              <a:off x="4815026" y="5762341"/>
              <a:ext cx="0" cy="462495"/>
            </a:xfrm>
            <a:prstGeom prst="line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接點 23"/>
            <p:cNvCxnSpPr>
              <a:stCxn id="9" idx="5"/>
              <a:endCxn id="11" idx="0"/>
            </p:cNvCxnSpPr>
            <p:nvPr/>
          </p:nvCxnSpPr>
          <p:spPr>
            <a:xfrm>
              <a:off x="4916849" y="5720164"/>
              <a:ext cx="338577" cy="504672"/>
            </a:xfrm>
            <a:prstGeom prst="line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接點 24"/>
            <p:cNvCxnSpPr>
              <a:stCxn id="9" idx="3"/>
              <a:endCxn id="12" idx="0"/>
            </p:cNvCxnSpPr>
            <p:nvPr/>
          </p:nvCxnSpPr>
          <p:spPr>
            <a:xfrm flipH="1">
              <a:off x="4380830" y="5720164"/>
              <a:ext cx="332373" cy="504672"/>
            </a:xfrm>
            <a:prstGeom prst="line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文字方塊 25"/>
            <p:cNvSpPr txBox="1"/>
            <p:nvPr/>
          </p:nvSpPr>
          <p:spPr>
            <a:xfrm>
              <a:off x="4667570" y="393533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文字方塊 26"/>
            <p:cNvSpPr txBox="1"/>
            <p:nvPr/>
          </p:nvSpPr>
          <p:spPr>
            <a:xfrm>
              <a:off x="3729742" y="468605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文字方塊 27"/>
            <p:cNvSpPr txBox="1"/>
            <p:nvPr/>
          </p:nvSpPr>
          <p:spPr>
            <a:xfrm>
              <a:off x="4674228" y="4660355"/>
              <a:ext cx="2872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文字方塊 28"/>
            <p:cNvSpPr txBox="1"/>
            <p:nvPr/>
          </p:nvSpPr>
          <p:spPr>
            <a:xfrm>
              <a:off x="5572919" y="4668798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文字方塊 29"/>
            <p:cNvSpPr txBox="1"/>
            <p:nvPr/>
          </p:nvSpPr>
          <p:spPr>
            <a:xfrm>
              <a:off x="3442484" y="5399171"/>
              <a:ext cx="2872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文字方塊 30"/>
            <p:cNvSpPr txBox="1"/>
            <p:nvPr/>
          </p:nvSpPr>
          <p:spPr>
            <a:xfrm>
              <a:off x="4037693" y="5407797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文字方塊 31"/>
            <p:cNvSpPr txBox="1"/>
            <p:nvPr/>
          </p:nvSpPr>
          <p:spPr>
            <a:xfrm>
              <a:off x="4673270" y="538438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文字方塊 32"/>
            <p:cNvSpPr txBox="1"/>
            <p:nvPr/>
          </p:nvSpPr>
          <p:spPr>
            <a:xfrm>
              <a:off x="4224377" y="617554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文字方塊 33"/>
            <p:cNvSpPr txBox="1"/>
            <p:nvPr/>
          </p:nvSpPr>
          <p:spPr>
            <a:xfrm>
              <a:off x="4689785" y="6178192"/>
              <a:ext cx="2487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文字方塊 34"/>
            <p:cNvSpPr txBox="1"/>
            <p:nvPr/>
          </p:nvSpPr>
          <p:spPr>
            <a:xfrm>
              <a:off x="5148285" y="6158292"/>
              <a:ext cx="2487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6" name="橢圓 35"/>
          <p:cNvSpPr/>
          <p:nvPr/>
        </p:nvSpPr>
        <p:spPr>
          <a:xfrm>
            <a:off x="5722064" y="147191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橢圓 36"/>
          <p:cNvSpPr/>
          <p:nvPr/>
        </p:nvSpPr>
        <p:spPr>
          <a:xfrm>
            <a:off x="4671026" y="148640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橢圓 37"/>
          <p:cNvSpPr/>
          <p:nvPr/>
        </p:nvSpPr>
        <p:spPr>
          <a:xfrm>
            <a:off x="4671026" y="223402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橢圓 38"/>
          <p:cNvSpPr/>
          <p:nvPr/>
        </p:nvSpPr>
        <p:spPr>
          <a:xfrm>
            <a:off x="4671026" y="298452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橢圓 39"/>
          <p:cNvSpPr/>
          <p:nvPr/>
        </p:nvSpPr>
        <p:spPr>
          <a:xfrm>
            <a:off x="5111426" y="298452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橢圓 40"/>
          <p:cNvSpPr/>
          <p:nvPr/>
        </p:nvSpPr>
        <p:spPr>
          <a:xfrm>
            <a:off x="4236830" y="298452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橢圓 41"/>
          <p:cNvSpPr/>
          <p:nvPr/>
        </p:nvSpPr>
        <p:spPr>
          <a:xfrm>
            <a:off x="3262068" y="148640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橢圓 42"/>
          <p:cNvSpPr/>
          <p:nvPr/>
        </p:nvSpPr>
        <p:spPr>
          <a:xfrm>
            <a:off x="3550068" y="223402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橢圓 43"/>
          <p:cNvSpPr/>
          <p:nvPr/>
        </p:nvSpPr>
        <p:spPr>
          <a:xfrm>
            <a:off x="2974068" y="223402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橢圓 44"/>
          <p:cNvSpPr/>
          <p:nvPr/>
        </p:nvSpPr>
        <p:spPr>
          <a:xfrm>
            <a:off x="6639340" y="219675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8" name="直線接點 47"/>
          <p:cNvCxnSpPr>
            <a:stCxn id="36" idx="5"/>
            <a:endCxn id="45" idx="1"/>
          </p:cNvCxnSpPr>
          <p:nvPr/>
        </p:nvCxnSpPr>
        <p:spPr>
          <a:xfrm>
            <a:off x="5967887" y="1717739"/>
            <a:ext cx="713630" cy="52119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>
            <a:stCxn id="37" idx="4"/>
            <a:endCxn id="38" idx="0"/>
          </p:cNvCxnSpPr>
          <p:nvPr/>
        </p:nvCxnSpPr>
        <p:spPr>
          <a:xfrm>
            <a:off x="4815026" y="1774402"/>
            <a:ext cx="0" cy="45962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/>
          <p:cNvCxnSpPr>
            <a:stCxn id="42" idx="4"/>
            <a:endCxn id="44" idx="0"/>
          </p:cNvCxnSpPr>
          <p:nvPr/>
        </p:nvCxnSpPr>
        <p:spPr>
          <a:xfrm flipH="1">
            <a:off x="3118068" y="1774402"/>
            <a:ext cx="288000" cy="45962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>
            <a:stCxn id="42" idx="4"/>
            <a:endCxn id="43" idx="0"/>
          </p:cNvCxnSpPr>
          <p:nvPr/>
        </p:nvCxnSpPr>
        <p:spPr>
          <a:xfrm>
            <a:off x="3406068" y="1774402"/>
            <a:ext cx="288000" cy="45962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>
            <a:stCxn id="38" idx="4"/>
            <a:endCxn id="39" idx="0"/>
          </p:cNvCxnSpPr>
          <p:nvPr/>
        </p:nvCxnSpPr>
        <p:spPr>
          <a:xfrm>
            <a:off x="4815026" y="2522027"/>
            <a:ext cx="0" cy="46249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>
            <a:stCxn id="38" idx="5"/>
            <a:endCxn id="40" idx="0"/>
          </p:cNvCxnSpPr>
          <p:nvPr/>
        </p:nvCxnSpPr>
        <p:spPr>
          <a:xfrm>
            <a:off x="4916849" y="2479850"/>
            <a:ext cx="338577" cy="50467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>
            <a:stCxn id="38" idx="3"/>
            <a:endCxn id="41" idx="0"/>
          </p:cNvCxnSpPr>
          <p:nvPr/>
        </p:nvCxnSpPr>
        <p:spPr>
          <a:xfrm flipH="1">
            <a:off x="4380830" y="2479850"/>
            <a:ext cx="332373" cy="50467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字方塊 54"/>
          <p:cNvSpPr txBox="1"/>
          <p:nvPr/>
        </p:nvSpPr>
        <p:spPr>
          <a:xfrm>
            <a:off x="5718608" y="140537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文字方塊 55"/>
          <p:cNvSpPr txBox="1"/>
          <p:nvPr/>
        </p:nvSpPr>
        <p:spPr>
          <a:xfrm>
            <a:off x="3255312" y="144573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文字方塊 56"/>
          <p:cNvSpPr txBox="1"/>
          <p:nvPr/>
        </p:nvSpPr>
        <p:spPr>
          <a:xfrm>
            <a:off x="4674228" y="1420041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文字方塊 57"/>
          <p:cNvSpPr txBox="1"/>
          <p:nvPr/>
        </p:nvSpPr>
        <p:spPr>
          <a:xfrm>
            <a:off x="6623957" y="213883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文字方塊 58"/>
          <p:cNvSpPr txBox="1"/>
          <p:nvPr/>
        </p:nvSpPr>
        <p:spPr>
          <a:xfrm>
            <a:off x="2968054" y="2158857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文字方塊 59"/>
          <p:cNvSpPr txBox="1"/>
          <p:nvPr/>
        </p:nvSpPr>
        <p:spPr>
          <a:xfrm>
            <a:off x="3563263" y="2167483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文字方塊 60"/>
          <p:cNvSpPr txBox="1"/>
          <p:nvPr/>
        </p:nvSpPr>
        <p:spPr>
          <a:xfrm>
            <a:off x="4673270" y="214406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文字方塊 61"/>
          <p:cNvSpPr txBox="1"/>
          <p:nvPr/>
        </p:nvSpPr>
        <p:spPr>
          <a:xfrm>
            <a:off x="4224377" y="293523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文字方塊 62"/>
          <p:cNvSpPr txBox="1"/>
          <p:nvPr/>
        </p:nvSpPr>
        <p:spPr>
          <a:xfrm>
            <a:off x="4689785" y="2937878"/>
            <a:ext cx="248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5148285" y="2917978"/>
            <a:ext cx="248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1148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二元樹 </a:t>
            </a:r>
            <a:r>
              <a:rPr lang="en-US" altLang="zh-TW" dirty="0"/>
              <a:t>binary tree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定義：若一棵樹的內部節點</a:t>
            </a:r>
            <a:r>
              <a:rPr lang="zh-TW" altLang="en-US" sz="2000" b="1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最多只有兩個子節點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，則稱此樹為二元樹。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59</a:t>
            </a:fld>
            <a:endParaRPr lang="en-US" dirty="0"/>
          </a:p>
        </p:txBody>
      </p:sp>
      <p:grpSp>
        <p:nvGrpSpPr>
          <p:cNvPr id="8" name="群組 7"/>
          <p:cNvGrpSpPr/>
          <p:nvPr/>
        </p:nvGrpSpPr>
        <p:grpSpPr>
          <a:xfrm>
            <a:off x="2559000" y="2351149"/>
            <a:ext cx="3933627" cy="3297061"/>
            <a:chOff x="2559000" y="2351149"/>
            <a:chExt cx="3933627" cy="3297061"/>
          </a:xfrm>
        </p:grpSpPr>
        <p:sp>
          <p:nvSpPr>
            <p:cNvPr id="7" name="橢圓 6"/>
            <p:cNvSpPr/>
            <p:nvPr/>
          </p:nvSpPr>
          <p:spPr>
            <a:xfrm>
              <a:off x="4447285" y="2351149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橢圓 12"/>
            <p:cNvSpPr/>
            <p:nvPr/>
          </p:nvSpPr>
          <p:spPr>
            <a:xfrm>
              <a:off x="3435123" y="3075989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橢圓 13"/>
            <p:cNvSpPr/>
            <p:nvPr/>
          </p:nvSpPr>
          <p:spPr>
            <a:xfrm>
              <a:off x="3723123" y="3823614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橢圓 14"/>
            <p:cNvSpPr/>
            <p:nvPr/>
          </p:nvSpPr>
          <p:spPr>
            <a:xfrm>
              <a:off x="3147123" y="3823614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橢圓 15"/>
            <p:cNvSpPr/>
            <p:nvPr/>
          </p:nvSpPr>
          <p:spPr>
            <a:xfrm>
              <a:off x="5442195" y="3075989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8" name="直線接點 17"/>
            <p:cNvCxnSpPr>
              <a:stCxn id="7" idx="3"/>
              <a:endCxn id="13" idx="7"/>
            </p:cNvCxnSpPr>
            <p:nvPr/>
          </p:nvCxnSpPr>
          <p:spPr>
            <a:xfrm flipH="1">
              <a:off x="3680946" y="2596972"/>
              <a:ext cx="808516" cy="521194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接點 18"/>
            <p:cNvCxnSpPr>
              <a:stCxn id="7" idx="5"/>
              <a:endCxn id="16" idx="1"/>
            </p:cNvCxnSpPr>
            <p:nvPr/>
          </p:nvCxnSpPr>
          <p:spPr>
            <a:xfrm>
              <a:off x="4693108" y="2596972"/>
              <a:ext cx="791264" cy="521194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接點 20"/>
            <p:cNvCxnSpPr>
              <a:stCxn id="13" idx="4"/>
              <a:endCxn id="15" idx="0"/>
            </p:cNvCxnSpPr>
            <p:nvPr/>
          </p:nvCxnSpPr>
          <p:spPr>
            <a:xfrm flipH="1">
              <a:off x="3291123" y="3363989"/>
              <a:ext cx="288000" cy="459625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接點 21"/>
            <p:cNvCxnSpPr>
              <a:stCxn id="13" idx="4"/>
              <a:endCxn id="14" idx="0"/>
            </p:cNvCxnSpPr>
            <p:nvPr/>
          </p:nvCxnSpPr>
          <p:spPr>
            <a:xfrm>
              <a:off x="3579123" y="3363989"/>
              <a:ext cx="288000" cy="459625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橢圓 35"/>
            <p:cNvSpPr/>
            <p:nvPr/>
          </p:nvSpPr>
          <p:spPr>
            <a:xfrm>
              <a:off x="2847000" y="4612311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7" name="橢圓 36"/>
            <p:cNvSpPr/>
            <p:nvPr/>
          </p:nvSpPr>
          <p:spPr>
            <a:xfrm>
              <a:off x="3135000" y="5359936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8" name="橢圓 37"/>
            <p:cNvSpPr/>
            <p:nvPr/>
          </p:nvSpPr>
          <p:spPr>
            <a:xfrm>
              <a:off x="2559000" y="5359936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39" name="直線接點 38"/>
            <p:cNvCxnSpPr>
              <a:stCxn id="36" idx="4"/>
              <a:endCxn id="38" idx="0"/>
            </p:cNvCxnSpPr>
            <p:nvPr/>
          </p:nvCxnSpPr>
          <p:spPr>
            <a:xfrm flipH="1">
              <a:off x="2703000" y="4900311"/>
              <a:ext cx="288000" cy="459625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接點 39"/>
            <p:cNvCxnSpPr>
              <a:stCxn id="36" idx="4"/>
              <a:endCxn id="37" idx="0"/>
            </p:cNvCxnSpPr>
            <p:nvPr/>
          </p:nvCxnSpPr>
          <p:spPr>
            <a:xfrm>
              <a:off x="2991000" y="4900311"/>
              <a:ext cx="288000" cy="459625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橢圓 40"/>
            <p:cNvSpPr/>
            <p:nvPr/>
          </p:nvSpPr>
          <p:spPr>
            <a:xfrm>
              <a:off x="3450852" y="4612311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42" name="直線接點 41"/>
            <p:cNvCxnSpPr>
              <a:stCxn id="15" idx="4"/>
              <a:endCxn id="41" idx="0"/>
            </p:cNvCxnSpPr>
            <p:nvPr/>
          </p:nvCxnSpPr>
          <p:spPr>
            <a:xfrm>
              <a:off x="3291123" y="4111614"/>
              <a:ext cx="303729" cy="500697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線接點 44"/>
            <p:cNvCxnSpPr>
              <a:stCxn id="15" idx="4"/>
              <a:endCxn id="36" idx="0"/>
            </p:cNvCxnSpPr>
            <p:nvPr/>
          </p:nvCxnSpPr>
          <p:spPr>
            <a:xfrm flipH="1">
              <a:off x="2991000" y="4111614"/>
              <a:ext cx="300123" cy="500697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橢圓 47"/>
            <p:cNvSpPr/>
            <p:nvPr/>
          </p:nvSpPr>
          <p:spPr>
            <a:xfrm>
              <a:off x="3758387" y="5360210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49" name="直線接點 48"/>
            <p:cNvCxnSpPr>
              <a:stCxn id="41" idx="4"/>
              <a:endCxn id="48" idx="0"/>
            </p:cNvCxnSpPr>
            <p:nvPr/>
          </p:nvCxnSpPr>
          <p:spPr>
            <a:xfrm>
              <a:off x="3594852" y="4900311"/>
              <a:ext cx="307535" cy="459899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橢圓 51"/>
            <p:cNvSpPr/>
            <p:nvPr/>
          </p:nvSpPr>
          <p:spPr>
            <a:xfrm>
              <a:off x="4994274" y="3823614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3" name="橢圓 52"/>
            <p:cNvSpPr/>
            <p:nvPr/>
          </p:nvSpPr>
          <p:spPr>
            <a:xfrm>
              <a:off x="4694151" y="4612311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4" name="橢圓 53"/>
            <p:cNvSpPr/>
            <p:nvPr/>
          </p:nvSpPr>
          <p:spPr>
            <a:xfrm>
              <a:off x="5042533" y="5359936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5" name="橢圓 54"/>
            <p:cNvSpPr/>
            <p:nvPr/>
          </p:nvSpPr>
          <p:spPr>
            <a:xfrm>
              <a:off x="4406151" y="5359936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56" name="直線接點 55"/>
            <p:cNvCxnSpPr>
              <a:stCxn id="53" idx="4"/>
              <a:endCxn id="55" idx="0"/>
            </p:cNvCxnSpPr>
            <p:nvPr/>
          </p:nvCxnSpPr>
          <p:spPr>
            <a:xfrm flipH="1">
              <a:off x="4550151" y="4900311"/>
              <a:ext cx="288000" cy="459625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線接點 56"/>
            <p:cNvCxnSpPr>
              <a:stCxn id="58" idx="4"/>
              <a:endCxn id="54" idx="0"/>
            </p:cNvCxnSpPr>
            <p:nvPr/>
          </p:nvCxnSpPr>
          <p:spPr>
            <a:xfrm flipH="1">
              <a:off x="5186533" y="4900311"/>
              <a:ext cx="255470" cy="459625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橢圓 57"/>
            <p:cNvSpPr/>
            <p:nvPr/>
          </p:nvSpPr>
          <p:spPr>
            <a:xfrm>
              <a:off x="5298003" y="4612311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59" name="直線接點 58"/>
            <p:cNvCxnSpPr>
              <a:stCxn id="52" idx="4"/>
              <a:endCxn id="58" idx="0"/>
            </p:cNvCxnSpPr>
            <p:nvPr/>
          </p:nvCxnSpPr>
          <p:spPr>
            <a:xfrm>
              <a:off x="5138274" y="4111614"/>
              <a:ext cx="303729" cy="500697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線接點 59"/>
            <p:cNvCxnSpPr>
              <a:stCxn id="52" idx="4"/>
              <a:endCxn id="53" idx="0"/>
            </p:cNvCxnSpPr>
            <p:nvPr/>
          </p:nvCxnSpPr>
          <p:spPr>
            <a:xfrm flipH="1">
              <a:off x="4838151" y="4111614"/>
              <a:ext cx="300123" cy="500697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橢圓 60"/>
            <p:cNvSpPr/>
            <p:nvPr/>
          </p:nvSpPr>
          <p:spPr>
            <a:xfrm>
              <a:off x="5605538" y="5360210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62" name="直線接點 61"/>
            <p:cNvCxnSpPr>
              <a:stCxn id="58" idx="4"/>
              <a:endCxn id="61" idx="0"/>
            </p:cNvCxnSpPr>
            <p:nvPr/>
          </p:nvCxnSpPr>
          <p:spPr>
            <a:xfrm>
              <a:off x="5442003" y="4900311"/>
              <a:ext cx="307535" cy="459899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線接點 62"/>
            <p:cNvCxnSpPr>
              <a:stCxn id="16" idx="4"/>
              <a:endCxn id="52" idx="0"/>
            </p:cNvCxnSpPr>
            <p:nvPr/>
          </p:nvCxnSpPr>
          <p:spPr>
            <a:xfrm flipH="1">
              <a:off x="5138274" y="3363989"/>
              <a:ext cx="447921" cy="459625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橢圓 66"/>
            <p:cNvSpPr/>
            <p:nvPr/>
          </p:nvSpPr>
          <p:spPr>
            <a:xfrm>
              <a:off x="5651390" y="4612311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68" name="直線接點 67"/>
            <p:cNvCxnSpPr>
              <a:stCxn id="69" idx="4"/>
              <a:endCxn id="67" idx="0"/>
            </p:cNvCxnSpPr>
            <p:nvPr/>
          </p:nvCxnSpPr>
          <p:spPr>
            <a:xfrm flipH="1">
              <a:off x="5795390" y="4111614"/>
              <a:ext cx="265237" cy="500697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橢圓 68"/>
            <p:cNvSpPr/>
            <p:nvPr/>
          </p:nvSpPr>
          <p:spPr>
            <a:xfrm>
              <a:off x="5916627" y="3823614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0" name="橢圓 69"/>
            <p:cNvSpPr/>
            <p:nvPr/>
          </p:nvSpPr>
          <p:spPr>
            <a:xfrm>
              <a:off x="6204627" y="4612311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71" name="直線接點 70"/>
            <p:cNvCxnSpPr>
              <a:stCxn id="69" idx="4"/>
              <a:endCxn id="70" idx="0"/>
            </p:cNvCxnSpPr>
            <p:nvPr/>
          </p:nvCxnSpPr>
          <p:spPr>
            <a:xfrm>
              <a:off x="6060627" y="4111614"/>
              <a:ext cx="288000" cy="500697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線接點 75"/>
            <p:cNvCxnSpPr>
              <a:stCxn id="16" idx="4"/>
              <a:endCxn id="69" idx="0"/>
            </p:cNvCxnSpPr>
            <p:nvPr/>
          </p:nvCxnSpPr>
          <p:spPr>
            <a:xfrm>
              <a:off x="5586195" y="3363989"/>
              <a:ext cx="474432" cy="459625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圓角矩形 45"/>
          <p:cNvSpPr/>
          <p:nvPr/>
        </p:nvSpPr>
        <p:spPr>
          <a:xfrm>
            <a:off x="4268011" y="3021989"/>
            <a:ext cx="2311962" cy="2679945"/>
          </a:xfrm>
          <a:prstGeom prst="roundRect">
            <a:avLst>
              <a:gd name="adj" fmla="val 5472"/>
            </a:avLst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圓角矩形 46"/>
          <p:cNvSpPr/>
          <p:nvPr/>
        </p:nvSpPr>
        <p:spPr>
          <a:xfrm>
            <a:off x="2406474" y="3021989"/>
            <a:ext cx="1754947" cy="2679945"/>
          </a:xfrm>
          <a:prstGeom prst="roundRect">
            <a:avLst>
              <a:gd name="adj" fmla="val 6584"/>
            </a:avLst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0" name="圓角矩形圖說文字 49"/>
          <p:cNvSpPr/>
          <p:nvPr/>
        </p:nvSpPr>
        <p:spPr>
          <a:xfrm>
            <a:off x="6948275" y="1958990"/>
            <a:ext cx="1046547" cy="392159"/>
          </a:xfrm>
          <a:prstGeom prst="wedgeRoundRectCallout">
            <a:avLst>
              <a:gd name="adj1" fmla="val -101584"/>
              <a:gd name="adj2" fmla="val 20596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右子樹</a:t>
            </a:r>
          </a:p>
        </p:txBody>
      </p:sp>
      <p:sp>
        <p:nvSpPr>
          <p:cNvPr id="51" name="圓角矩形圖說文字 50"/>
          <p:cNvSpPr/>
          <p:nvPr/>
        </p:nvSpPr>
        <p:spPr>
          <a:xfrm>
            <a:off x="1132361" y="1958989"/>
            <a:ext cx="1046547" cy="392159"/>
          </a:xfrm>
          <a:prstGeom prst="wedgeRoundRectCallout">
            <a:avLst>
              <a:gd name="adj1" fmla="val 95005"/>
              <a:gd name="adj2" fmla="val 20439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左子樹</a:t>
            </a:r>
          </a:p>
        </p:txBody>
      </p:sp>
    </p:spTree>
    <p:extLst>
      <p:ext uri="{BB962C8B-B14F-4D97-AF65-F5344CB8AC3E}">
        <p14:creationId xmlns:p14="http://schemas.microsoft.com/office/powerpoint/2010/main" val="1053643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7" grpId="0" animBg="1"/>
      <p:bldP spid="50" grpId="0" animBg="1"/>
      <p:bldP spid="51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二元搜尋樹 </a:t>
            </a:r>
            <a:r>
              <a:rPr lang="en-US" altLang="zh-TW" dirty="0"/>
              <a:t>Binary Search Tree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對二元搜尋樹中每一個</a:t>
            </a:r>
            <a:r>
              <a:rPr lang="zh-TW" altLang="en-US" sz="2000" b="1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內部節點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而言，它的</a:t>
            </a:r>
            <a:r>
              <a:rPr lang="zh-TW" altLang="en-US" sz="2000" b="1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左子樹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所有節點的資料值，都</a:t>
            </a:r>
            <a:r>
              <a:rPr lang="zh-TW" altLang="en-US" sz="2000" b="1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小於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它的資料值，它的</a:t>
            </a:r>
            <a:r>
              <a:rPr lang="zh-TW" altLang="en-US" sz="2000" b="1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右子樹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所有節點的資料值，都</a:t>
            </a:r>
            <a:r>
              <a:rPr lang="zh-TW" altLang="en-US" sz="2000" b="1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大於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它的資料值</a:t>
            </a:r>
            <a:endParaRPr lang="en-US" altLang="zh-TW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60</a:t>
            </a:fld>
            <a:endParaRPr lang="en-US" dirty="0"/>
          </a:p>
        </p:txBody>
      </p:sp>
      <p:sp>
        <p:nvSpPr>
          <p:cNvPr id="7" name="橢圓 6"/>
          <p:cNvSpPr/>
          <p:nvPr/>
        </p:nvSpPr>
        <p:spPr>
          <a:xfrm>
            <a:off x="3098979" y="4139081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/>
          <p:cNvSpPr/>
          <p:nvPr/>
        </p:nvSpPr>
        <p:spPr>
          <a:xfrm>
            <a:off x="3422086" y="3618441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/>
          <p:cNvSpPr/>
          <p:nvPr/>
        </p:nvSpPr>
        <p:spPr>
          <a:xfrm>
            <a:off x="4113817" y="362422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4800077" y="3618441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5491808" y="362422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接點 11"/>
          <p:cNvCxnSpPr>
            <a:stCxn id="8" idx="4"/>
            <a:endCxn id="7" idx="0"/>
          </p:cNvCxnSpPr>
          <p:nvPr/>
        </p:nvCxnSpPr>
        <p:spPr>
          <a:xfrm flipH="1">
            <a:off x="3242979" y="3906441"/>
            <a:ext cx="323107" cy="2326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橢圓 12"/>
          <p:cNvSpPr/>
          <p:nvPr/>
        </p:nvSpPr>
        <p:spPr>
          <a:xfrm>
            <a:off x="3764297" y="3072101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5139833" y="3072101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4439836" y="254301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" name="直線接點 15"/>
          <p:cNvCxnSpPr>
            <a:stCxn id="14" idx="4"/>
            <a:endCxn id="11" idx="0"/>
          </p:cNvCxnSpPr>
          <p:nvPr/>
        </p:nvCxnSpPr>
        <p:spPr>
          <a:xfrm>
            <a:off x="5283833" y="3360101"/>
            <a:ext cx="351975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>
            <a:stCxn id="14" idx="4"/>
            <a:endCxn id="10" idx="0"/>
          </p:cNvCxnSpPr>
          <p:nvPr/>
        </p:nvCxnSpPr>
        <p:spPr>
          <a:xfrm flipH="1">
            <a:off x="4944077" y="3360101"/>
            <a:ext cx="339756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>
            <a:stCxn id="13" idx="4"/>
            <a:endCxn id="9" idx="0"/>
          </p:cNvCxnSpPr>
          <p:nvPr/>
        </p:nvCxnSpPr>
        <p:spPr>
          <a:xfrm>
            <a:off x="3908297" y="3360101"/>
            <a:ext cx="349520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>
            <a:stCxn id="13" idx="4"/>
            <a:endCxn id="8" idx="0"/>
          </p:cNvCxnSpPr>
          <p:nvPr/>
        </p:nvCxnSpPr>
        <p:spPr>
          <a:xfrm flipH="1">
            <a:off x="3566086" y="3360101"/>
            <a:ext cx="342211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15" idx="4"/>
            <a:endCxn id="14" idx="0"/>
          </p:cNvCxnSpPr>
          <p:nvPr/>
        </p:nvCxnSpPr>
        <p:spPr>
          <a:xfrm>
            <a:off x="4583836" y="2831014"/>
            <a:ext cx="699997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>
            <a:stCxn id="15" idx="4"/>
            <a:endCxn id="13" idx="0"/>
          </p:cNvCxnSpPr>
          <p:nvPr/>
        </p:nvCxnSpPr>
        <p:spPr>
          <a:xfrm flipH="1">
            <a:off x="3908297" y="2831014"/>
            <a:ext cx="675539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/>
          <p:cNvSpPr txBox="1"/>
          <p:nvPr/>
        </p:nvSpPr>
        <p:spPr>
          <a:xfrm>
            <a:off x="4386955" y="2493722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3708485" y="3022809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39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5084186" y="3014183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3358336" y="3569149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4052297" y="3569149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4736327" y="3566308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5436459" y="3569149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3035229" y="4089564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橢圓 32"/>
          <p:cNvSpPr/>
          <p:nvPr/>
        </p:nvSpPr>
        <p:spPr>
          <a:xfrm>
            <a:off x="3758974" y="4140483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橢圓 33"/>
          <p:cNvSpPr/>
          <p:nvPr/>
        </p:nvSpPr>
        <p:spPr>
          <a:xfrm>
            <a:off x="4450705" y="4140483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5" name="直線接點 34"/>
          <p:cNvCxnSpPr>
            <a:stCxn id="9" idx="4"/>
            <a:endCxn id="33" idx="0"/>
          </p:cNvCxnSpPr>
          <p:nvPr/>
        </p:nvCxnSpPr>
        <p:spPr>
          <a:xfrm flipH="1">
            <a:off x="3902974" y="3912226"/>
            <a:ext cx="354843" cy="22825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接點 37"/>
          <p:cNvCxnSpPr>
            <a:stCxn id="9" idx="4"/>
            <a:endCxn id="34" idx="0"/>
          </p:cNvCxnSpPr>
          <p:nvPr/>
        </p:nvCxnSpPr>
        <p:spPr>
          <a:xfrm>
            <a:off x="4257817" y="3912226"/>
            <a:ext cx="336888" cy="22825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橢圓 40"/>
          <p:cNvSpPr/>
          <p:nvPr/>
        </p:nvSpPr>
        <p:spPr>
          <a:xfrm>
            <a:off x="5184016" y="413885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2" name="直線接點 41"/>
          <p:cNvCxnSpPr>
            <a:stCxn id="41" idx="0"/>
            <a:endCxn id="11" idx="4"/>
          </p:cNvCxnSpPr>
          <p:nvPr/>
        </p:nvCxnSpPr>
        <p:spPr>
          <a:xfrm flipV="1">
            <a:off x="5328016" y="3912226"/>
            <a:ext cx="307792" cy="22663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字方塊 29"/>
          <p:cNvSpPr txBox="1"/>
          <p:nvPr/>
        </p:nvSpPr>
        <p:spPr>
          <a:xfrm>
            <a:off x="3695224" y="4089564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4385928" y="4089564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49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5131207" y="4099817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763926" y="5180364"/>
            <a:ext cx="764016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每個節點包含一個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key</a:t>
            </a:r>
          </a:p>
          <a:p>
            <a:pPr marL="342900" indent="-342900">
              <a:buFont typeface="+mj-lt"/>
              <a:buAutoNum type="arabicPeriod"/>
            </a:pP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節點</a:t>
            </a:r>
            <a:r>
              <a:rPr lang="en-US" altLang="zh-TW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</a:t>
            </a:r>
            <a:r>
              <a: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左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子樹中任一節點的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key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，必須</a:t>
            </a:r>
            <a:r>
              <a: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小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於或等於節點</a:t>
            </a:r>
            <a:r>
              <a:rPr lang="en-US" altLang="zh-TW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key</a:t>
            </a:r>
          </a:p>
          <a:p>
            <a:pPr marL="342900" indent="-342900">
              <a:buFont typeface="+mj-lt"/>
              <a:buAutoNum type="arabicPeriod"/>
            </a:pP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節點</a:t>
            </a:r>
            <a:r>
              <a:rPr lang="en-US" altLang="zh-TW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</a:t>
            </a:r>
            <a:r>
              <a: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右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子樹中任一節點的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key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，必須</a:t>
            </a:r>
            <a:r>
              <a: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大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於或等於節點</a:t>
            </a:r>
            <a:r>
              <a:rPr lang="en-US" altLang="zh-TW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key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7261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樹的深度 </a:t>
            </a:r>
            <a:r>
              <a:rPr lang="en-US" altLang="zh-TW" dirty="0"/>
              <a:t>depth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>
              <a:solidFill>
                <a:srgbClr val="0000FF"/>
              </a:solidFill>
            </a:endParaRPr>
          </a:p>
          <a:p>
            <a:r>
              <a:rPr lang="zh-TW" altLang="en-US" dirty="0">
                <a:solidFill>
                  <a:srgbClr val="0000FF"/>
                </a:solidFill>
              </a:rPr>
              <a:t>平衡</a:t>
            </a:r>
            <a:r>
              <a:rPr lang="en-US" altLang="zh-TW" dirty="0">
                <a:solidFill>
                  <a:srgbClr val="0000FF"/>
                </a:solidFill>
              </a:rPr>
              <a:t>(balance)</a:t>
            </a:r>
            <a:r>
              <a:rPr lang="zh-TW" altLang="en-US" dirty="0"/>
              <a:t>：左右子樹的深度相差沒有超過</a:t>
            </a:r>
            <a:r>
              <a:rPr lang="en-US" altLang="zh-TW" dirty="0">
                <a:solidFill>
                  <a:srgbClr val="C00000"/>
                </a:solidFill>
              </a:rPr>
              <a:t>1</a:t>
            </a:r>
            <a:endParaRPr lang="zh-TW" altLang="en-US" dirty="0">
              <a:solidFill>
                <a:srgbClr val="C00000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61</a:t>
            </a:fld>
            <a:endParaRPr lang="en-US" dirty="0"/>
          </a:p>
        </p:txBody>
      </p:sp>
      <p:cxnSp>
        <p:nvCxnSpPr>
          <p:cNvPr id="91" name="直線接點 90"/>
          <p:cNvCxnSpPr/>
          <p:nvPr/>
        </p:nvCxnSpPr>
        <p:spPr>
          <a:xfrm>
            <a:off x="1081683" y="2009819"/>
            <a:ext cx="6912000" cy="0"/>
          </a:xfrm>
          <a:prstGeom prst="line">
            <a:avLst/>
          </a:prstGeom>
          <a:ln w="762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接點 91"/>
          <p:cNvCxnSpPr/>
          <p:nvPr/>
        </p:nvCxnSpPr>
        <p:spPr>
          <a:xfrm>
            <a:off x="1081683" y="2539100"/>
            <a:ext cx="6912000" cy="0"/>
          </a:xfrm>
          <a:prstGeom prst="line">
            <a:avLst/>
          </a:prstGeom>
          <a:ln w="762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文字方塊 92"/>
          <p:cNvSpPr txBox="1"/>
          <p:nvPr/>
        </p:nvSpPr>
        <p:spPr>
          <a:xfrm>
            <a:off x="7590152" y="1687367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文字方塊 93"/>
          <p:cNvSpPr txBox="1"/>
          <p:nvPr/>
        </p:nvSpPr>
        <p:spPr>
          <a:xfrm>
            <a:off x="7590152" y="2227796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文字方塊 94"/>
          <p:cNvSpPr txBox="1"/>
          <p:nvPr/>
        </p:nvSpPr>
        <p:spPr>
          <a:xfrm>
            <a:off x="7590152" y="2771922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文字方塊 95"/>
          <p:cNvSpPr txBox="1"/>
          <p:nvPr/>
        </p:nvSpPr>
        <p:spPr>
          <a:xfrm>
            <a:off x="7590152" y="3270671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7" name="直線接點 96"/>
          <p:cNvCxnSpPr/>
          <p:nvPr/>
        </p:nvCxnSpPr>
        <p:spPr>
          <a:xfrm>
            <a:off x="1081683" y="3090933"/>
            <a:ext cx="6912000" cy="0"/>
          </a:xfrm>
          <a:prstGeom prst="line">
            <a:avLst/>
          </a:prstGeom>
          <a:ln w="762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線接點 97"/>
          <p:cNvCxnSpPr/>
          <p:nvPr/>
        </p:nvCxnSpPr>
        <p:spPr>
          <a:xfrm>
            <a:off x="1061447" y="3595501"/>
            <a:ext cx="6912000" cy="0"/>
          </a:xfrm>
          <a:prstGeom prst="line">
            <a:avLst/>
          </a:prstGeom>
          <a:ln w="762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橢圓 9"/>
          <p:cNvSpPr/>
          <p:nvPr/>
        </p:nvSpPr>
        <p:spPr>
          <a:xfrm>
            <a:off x="2631469" y="294732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3323200" y="2953113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/>
          <p:cNvSpPr/>
          <p:nvPr/>
        </p:nvSpPr>
        <p:spPr>
          <a:xfrm>
            <a:off x="2133209" y="240098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2971225" y="240098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2543078" y="1871901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" name="直線接點 15"/>
          <p:cNvCxnSpPr>
            <a:stCxn id="14" idx="4"/>
            <a:endCxn id="11" idx="0"/>
          </p:cNvCxnSpPr>
          <p:nvPr/>
        </p:nvCxnSpPr>
        <p:spPr>
          <a:xfrm>
            <a:off x="3115225" y="2688988"/>
            <a:ext cx="351975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>
            <a:stCxn id="14" idx="4"/>
            <a:endCxn id="10" idx="0"/>
          </p:cNvCxnSpPr>
          <p:nvPr/>
        </p:nvCxnSpPr>
        <p:spPr>
          <a:xfrm flipH="1">
            <a:off x="2775469" y="2688988"/>
            <a:ext cx="339756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15" idx="4"/>
            <a:endCxn id="14" idx="0"/>
          </p:cNvCxnSpPr>
          <p:nvPr/>
        </p:nvCxnSpPr>
        <p:spPr>
          <a:xfrm>
            <a:off x="2687078" y="2159901"/>
            <a:ext cx="428147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>
            <a:stCxn id="15" idx="4"/>
            <a:endCxn id="13" idx="0"/>
          </p:cNvCxnSpPr>
          <p:nvPr/>
        </p:nvCxnSpPr>
        <p:spPr>
          <a:xfrm flipH="1">
            <a:off x="2277209" y="2159901"/>
            <a:ext cx="409869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/>
          <p:cNvSpPr txBox="1"/>
          <p:nvPr/>
        </p:nvSpPr>
        <p:spPr>
          <a:xfrm>
            <a:off x="2522256" y="1822609"/>
            <a:ext cx="351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2090923" y="2351696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2947638" y="2343070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2638251" y="2895195"/>
            <a:ext cx="274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3291212" y="2910820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橢圓 33"/>
          <p:cNvSpPr/>
          <p:nvPr/>
        </p:nvSpPr>
        <p:spPr>
          <a:xfrm>
            <a:off x="3015408" y="3467743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5" name="直線接點 34"/>
          <p:cNvCxnSpPr>
            <a:stCxn id="34" idx="0"/>
            <a:endCxn id="11" idx="4"/>
          </p:cNvCxnSpPr>
          <p:nvPr/>
        </p:nvCxnSpPr>
        <p:spPr>
          <a:xfrm flipV="1">
            <a:off x="3159408" y="3241113"/>
            <a:ext cx="307792" cy="22663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字方塊 37"/>
          <p:cNvSpPr txBox="1"/>
          <p:nvPr/>
        </p:nvSpPr>
        <p:spPr>
          <a:xfrm>
            <a:off x="2988715" y="3428704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橢圓 38"/>
          <p:cNvSpPr/>
          <p:nvPr/>
        </p:nvSpPr>
        <p:spPr>
          <a:xfrm>
            <a:off x="3645475" y="3467743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文字方塊 39"/>
          <p:cNvSpPr txBox="1"/>
          <p:nvPr/>
        </p:nvSpPr>
        <p:spPr>
          <a:xfrm>
            <a:off x="3585892" y="3428704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" name="直線接點 40"/>
          <p:cNvCxnSpPr>
            <a:stCxn id="39" idx="0"/>
            <a:endCxn id="11" idx="4"/>
          </p:cNvCxnSpPr>
          <p:nvPr/>
        </p:nvCxnSpPr>
        <p:spPr>
          <a:xfrm flipH="1" flipV="1">
            <a:off x="3467200" y="3241113"/>
            <a:ext cx="322275" cy="22663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橢圓 67"/>
          <p:cNvSpPr/>
          <p:nvPr/>
        </p:nvSpPr>
        <p:spPr>
          <a:xfrm>
            <a:off x="6275465" y="294732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9" name="橢圓 68"/>
          <p:cNvSpPr/>
          <p:nvPr/>
        </p:nvSpPr>
        <p:spPr>
          <a:xfrm>
            <a:off x="6967196" y="2953113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0" name="橢圓 69"/>
          <p:cNvSpPr/>
          <p:nvPr/>
        </p:nvSpPr>
        <p:spPr>
          <a:xfrm>
            <a:off x="5567135" y="240098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1" name="橢圓 70"/>
          <p:cNvSpPr/>
          <p:nvPr/>
        </p:nvSpPr>
        <p:spPr>
          <a:xfrm>
            <a:off x="6615221" y="240098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2" name="橢圓 71"/>
          <p:cNvSpPr/>
          <p:nvPr/>
        </p:nvSpPr>
        <p:spPr>
          <a:xfrm>
            <a:off x="6119115" y="1871901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3" name="直線接點 72"/>
          <p:cNvCxnSpPr>
            <a:stCxn id="71" idx="4"/>
            <a:endCxn id="69" idx="0"/>
          </p:cNvCxnSpPr>
          <p:nvPr/>
        </p:nvCxnSpPr>
        <p:spPr>
          <a:xfrm>
            <a:off x="6759221" y="2688988"/>
            <a:ext cx="351975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接點 73"/>
          <p:cNvCxnSpPr>
            <a:stCxn id="71" idx="4"/>
            <a:endCxn id="68" idx="0"/>
          </p:cNvCxnSpPr>
          <p:nvPr/>
        </p:nvCxnSpPr>
        <p:spPr>
          <a:xfrm flipH="1">
            <a:off x="6419465" y="2688988"/>
            <a:ext cx="339756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接點 74"/>
          <p:cNvCxnSpPr>
            <a:stCxn id="72" idx="4"/>
            <a:endCxn id="71" idx="0"/>
          </p:cNvCxnSpPr>
          <p:nvPr/>
        </p:nvCxnSpPr>
        <p:spPr>
          <a:xfrm>
            <a:off x="6263115" y="2159901"/>
            <a:ext cx="496106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接點 75"/>
          <p:cNvCxnSpPr>
            <a:stCxn id="72" idx="4"/>
            <a:endCxn id="70" idx="0"/>
          </p:cNvCxnSpPr>
          <p:nvPr/>
        </p:nvCxnSpPr>
        <p:spPr>
          <a:xfrm flipH="1">
            <a:off x="5711135" y="2159901"/>
            <a:ext cx="551980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文字方塊 76"/>
          <p:cNvSpPr txBox="1"/>
          <p:nvPr/>
        </p:nvSpPr>
        <p:spPr>
          <a:xfrm>
            <a:off x="6098293" y="1822609"/>
            <a:ext cx="351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文字方塊 77"/>
          <p:cNvSpPr txBox="1"/>
          <p:nvPr/>
        </p:nvSpPr>
        <p:spPr>
          <a:xfrm>
            <a:off x="5524017" y="2343070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文字方塊 78"/>
          <p:cNvSpPr txBox="1"/>
          <p:nvPr/>
        </p:nvSpPr>
        <p:spPr>
          <a:xfrm>
            <a:off x="6591634" y="2343070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文字方塊 79"/>
          <p:cNvSpPr txBox="1"/>
          <p:nvPr/>
        </p:nvSpPr>
        <p:spPr>
          <a:xfrm>
            <a:off x="6250187" y="2895195"/>
            <a:ext cx="338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文字方塊 80"/>
          <p:cNvSpPr txBox="1"/>
          <p:nvPr/>
        </p:nvSpPr>
        <p:spPr>
          <a:xfrm>
            <a:off x="6903148" y="291082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橢圓 81"/>
          <p:cNvSpPr/>
          <p:nvPr/>
        </p:nvSpPr>
        <p:spPr>
          <a:xfrm>
            <a:off x="5245335" y="294097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3" name="直線接點 82"/>
          <p:cNvCxnSpPr>
            <a:stCxn id="82" idx="0"/>
            <a:endCxn id="70" idx="4"/>
          </p:cNvCxnSpPr>
          <p:nvPr/>
        </p:nvCxnSpPr>
        <p:spPr>
          <a:xfrm flipV="1">
            <a:off x="5389335" y="2688988"/>
            <a:ext cx="321800" cy="251986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文字方塊 83"/>
          <p:cNvSpPr txBox="1"/>
          <p:nvPr/>
        </p:nvSpPr>
        <p:spPr>
          <a:xfrm>
            <a:off x="5205480" y="2895195"/>
            <a:ext cx="351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橢圓 84"/>
          <p:cNvSpPr/>
          <p:nvPr/>
        </p:nvSpPr>
        <p:spPr>
          <a:xfrm>
            <a:off x="5875402" y="294097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6" name="文字方塊 85"/>
          <p:cNvSpPr txBox="1"/>
          <p:nvPr/>
        </p:nvSpPr>
        <p:spPr>
          <a:xfrm>
            <a:off x="5879601" y="2895195"/>
            <a:ext cx="274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7" name="直線接點 86"/>
          <p:cNvCxnSpPr>
            <a:stCxn id="85" idx="0"/>
            <a:endCxn id="70" idx="4"/>
          </p:cNvCxnSpPr>
          <p:nvPr/>
        </p:nvCxnSpPr>
        <p:spPr>
          <a:xfrm flipH="1" flipV="1">
            <a:off x="5711135" y="2688988"/>
            <a:ext cx="308267" cy="251986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文字方塊 98"/>
          <p:cNvSpPr txBox="1"/>
          <p:nvPr/>
        </p:nvSpPr>
        <p:spPr>
          <a:xfrm>
            <a:off x="760704" y="1633869"/>
            <a:ext cx="922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depth 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文字方塊 99"/>
          <p:cNvSpPr txBox="1"/>
          <p:nvPr/>
        </p:nvSpPr>
        <p:spPr>
          <a:xfrm>
            <a:off x="761050" y="2168518"/>
            <a:ext cx="922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depth 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文字方塊 100"/>
          <p:cNvSpPr txBox="1"/>
          <p:nvPr/>
        </p:nvSpPr>
        <p:spPr>
          <a:xfrm>
            <a:off x="757609" y="2705821"/>
            <a:ext cx="922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depth 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文字方塊 101"/>
          <p:cNvSpPr txBox="1"/>
          <p:nvPr/>
        </p:nvSpPr>
        <p:spPr>
          <a:xfrm>
            <a:off x="757609" y="3215317"/>
            <a:ext cx="922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depth 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圓角矩形圖說文字 102"/>
          <p:cNvSpPr/>
          <p:nvPr/>
        </p:nvSpPr>
        <p:spPr>
          <a:xfrm>
            <a:off x="7066878" y="4224203"/>
            <a:ext cx="1046547" cy="392159"/>
          </a:xfrm>
          <a:prstGeom prst="wedgeRoundRectCallout">
            <a:avLst>
              <a:gd name="adj1" fmla="val -106897"/>
              <a:gd name="adj2" fmla="val -28558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平衡</a:t>
            </a:r>
          </a:p>
        </p:txBody>
      </p:sp>
      <p:sp>
        <p:nvSpPr>
          <p:cNvPr id="104" name="圓角矩形圖說文字 103"/>
          <p:cNvSpPr/>
          <p:nvPr/>
        </p:nvSpPr>
        <p:spPr>
          <a:xfrm>
            <a:off x="1250964" y="4224202"/>
            <a:ext cx="1046547" cy="392159"/>
          </a:xfrm>
          <a:prstGeom prst="wedgeRoundRectCallout">
            <a:avLst>
              <a:gd name="adj1" fmla="val 95005"/>
              <a:gd name="adj2" fmla="val -28400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非平衡</a:t>
            </a:r>
          </a:p>
        </p:txBody>
      </p:sp>
    </p:spTree>
    <p:extLst>
      <p:ext uri="{BB962C8B-B14F-4D97-AF65-F5344CB8AC3E}">
        <p14:creationId xmlns:p14="http://schemas.microsoft.com/office/powerpoint/2010/main" val="1290548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" grpId="0"/>
      <p:bldP spid="94" grpId="0"/>
      <p:bldP spid="95" grpId="0"/>
      <p:bldP spid="96" grpId="0"/>
      <p:bldP spid="99" grpId="0"/>
      <p:bldP spid="100" grpId="0"/>
      <p:bldP spid="101" grpId="0"/>
      <p:bldP spid="102" grpId="0"/>
      <p:bldP spid="103" grpId="0" animBg="1"/>
      <p:bldP spid="104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最佳二元搜尋樹 </a:t>
            </a:r>
            <a:r>
              <a:rPr lang="en-US" altLang="zh-TW" dirty="0"/>
              <a:t>(1/13)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演算法</a:t>
            </a:r>
            <a:r>
              <a:rPr lang="en-US" altLang="zh-TW" dirty="0"/>
              <a:t>3.8</a:t>
            </a:r>
            <a:r>
              <a:rPr lang="zh-TW" altLang="en-US" dirty="0"/>
              <a:t>：搜尋二元樹</a:t>
            </a:r>
            <a:endParaRPr lang="en-US" altLang="zh-TW" dirty="0"/>
          </a:p>
          <a:p>
            <a:r>
              <a:rPr lang="zh-TW" altLang="en-US" dirty="0">
                <a:solidFill>
                  <a:srgbClr val="0000FF"/>
                </a:solidFill>
              </a:rPr>
              <a:t>問題</a:t>
            </a:r>
            <a:r>
              <a:rPr lang="zh-TW" altLang="en-US" dirty="0"/>
              <a:t>：在二元搜尋樹中搜尋某個</a:t>
            </a:r>
            <a:r>
              <a:rPr lang="en-US" altLang="zh-TW" i="1" dirty="0"/>
              <a:t>key</a:t>
            </a:r>
            <a:r>
              <a:rPr lang="en-US" altLang="zh-TW" dirty="0"/>
              <a:t>(</a:t>
            </a:r>
            <a:r>
              <a:rPr lang="zh-TW" altLang="en-US" dirty="0"/>
              <a:t>假設此</a:t>
            </a:r>
            <a:r>
              <a:rPr lang="en-US" altLang="zh-TW" i="1" dirty="0"/>
              <a:t>key</a:t>
            </a:r>
            <a:r>
              <a:rPr lang="zh-TW" altLang="en-US" dirty="0"/>
              <a:t>必存在樹中</a:t>
            </a:r>
            <a:r>
              <a:rPr lang="en-US" altLang="zh-TW" dirty="0"/>
              <a:t>)</a:t>
            </a:r>
          </a:p>
          <a:p>
            <a:r>
              <a:rPr lang="zh-TW" altLang="en-US" dirty="0">
                <a:solidFill>
                  <a:srgbClr val="0000FF"/>
                </a:solidFill>
              </a:rPr>
              <a:t>輸入</a:t>
            </a:r>
            <a:r>
              <a:rPr lang="zh-TW" altLang="en-US" dirty="0"/>
              <a:t>：</a:t>
            </a:r>
            <a:r>
              <a:rPr lang="en-US" altLang="zh-TW" i="1" dirty="0"/>
              <a:t>tree</a:t>
            </a:r>
            <a:r>
              <a:rPr lang="zh-TW" altLang="en-US" dirty="0"/>
              <a:t>；</a:t>
            </a:r>
            <a:r>
              <a:rPr lang="en-US" altLang="zh-TW" i="1" dirty="0"/>
              <a:t>key</a:t>
            </a:r>
          </a:p>
          <a:p>
            <a:r>
              <a:rPr lang="zh-TW" altLang="en-US" dirty="0">
                <a:solidFill>
                  <a:srgbClr val="0000FF"/>
                </a:solidFill>
              </a:rPr>
              <a:t>輸出</a:t>
            </a:r>
            <a:r>
              <a:rPr lang="zh-TW" altLang="en-US" dirty="0"/>
              <a:t>：該</a:t>
            </a:r>
            <a:r>
              <a:rPr lang="en-US" altLang="zh-TW" i="1" dirty="0"/>
              <a:t>key</a:t>
            </a:r>
            <a:r>
              <a:rPr lang="zh-TW" altLang="en-US" dirty="0"/>
              <a:t>的節點位置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62</a:t>
            </a:fld>
            <a:endParaRPr lang="en-US" dirty="0"/>
          </a:p>
        </p:txBody>
      </p:sp>
      <p:sp>
        <p:nvSpPr>
          <p:cNvPr id="7" name="橢圓 6"/>
          <p:cNvSpPr/>
          <p:nvPr/>
        </p:nvSpPr>
        <p:spPr>
          <a:xfrm>
            <a:off x="2068975" y="381036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/>
          <p:cNvSpPr/>
          <p:nvPr/>
        </p:nvSpPr>
        <p:spPr>
          <a:xfrm>
            <a:off x="2760706" y="3816153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/>
          <p:cNvSpPr/>
          <p:nvPr/>
        </p:nvSpPr>
        <p:spPr>
          <a:xfrm>
            <a:off x="1570715" y="326402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2408731" y="326402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1980584" y="2734941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接點 11"/>
          <p:cNvCxnSpPr>
            <a:stCxn id="10" idx="4"/>
            <a:endCxn id="8" idx="0"/>
          </p:cNvCxnSpPr>
          <p:nvPr/>
        </p:nvCxnSpPr>
        <p:spPr>
          <a:xfrm>
            <a:off x="2552731" y="3552028"/>
            <a:ext cx="351975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>
            <a:stCxn id="10" idx="4"/>
            <a:endCxn id="7" idx="0"/>
          </p:cNvCxnSpPr>
          <p:nvPr/>
        </p:nvCxnSpPr>
        <p:spPr>
          <a:xfrm flipH="1">
            <a:off x="2212975" y="3552028"/>
            <a:ext cx="339756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>
            <a:stCxn id="11" idx="4"/>
            <a:endCxn id="10" idx="0"/>
          </p:cNvCxnSpPr>
          <p:nvPr/>
        </p:nvCxnSpPr>
        <p:spPr>
          <a:xfrm>
            <a:off x="2124584" y="3022941"/>
            <a:ext cx="428147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>
            <a:stCxn id="11" idx="4"/>
            <a:endCxn id="9" idx="0"/>
          </p:cNvCxnSpPr>
          <p:nvPr/>
        </p:nvCxnSpPr>
        <p:spPr>
          <a:xfrm flipH="1">
            <a:off x="1714715" y="3022941"/>
            <a:ext cx="409869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/>
          <p:cNvSpPr txBox="1"/>
          <p:nvPr/>
        </p:nvSpPr>
        <p:spPr>
          <a:xfrm>
            <a:off x="1959762" y="2685649"/>
            <a:ext cx="351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1528429" y="3214736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2385144" y="3206110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2075757" y="3758235"/>
            <a:ext cx="274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2728718" y="3773860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橢圓 20"/>
          <p:cNvSpPr/>
          <p:nvPr/>
        </p:nvSpPr>
        <p:spPr>
          <a:xfrm>
            <a:off x="2452914" y="4330783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2" name="直線接點 21"/>
          <p:cNvCxnSpPr>
            <a:stCxn id="21" idx="0"/>
            <a:endCxn id="8" idx="4"/>
          </p:cNvCxnSpPr>
          <p:nvPr/>
        </p:nvCxnSpPr>
        <p:spPr>
          <a:xfrm flipV="1">
            <a:off x="2596914" y="4104153"/>
            <a:ext cx="307792" cy="22663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字方塊 22"/>
          <p:cNvSpPr txBox="1"/>
          <p:nvPr/>
        </p:nvSpPr>
        <p:spPr>
          <a:xfrm>
            <a:off x="2426221" y="4291744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橢圓 23"/>
          <p:cNvSpPr/>
          <p:nvPr/>
        </p:nvSpPr>
        <p:spPr>
          <a:xfrm>
            <a:off x="3082981" y="4330783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文字方塊 24"/>
          <p:cNvSpPr txBox="1"/>
          <p:nvPr/>
        </p:nvSpPr>
        <p:spPr>
          <a:xfrm>
            <a:off x="3023398" y="4291744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6" name="直線接點 25"/>
          <p:cNvCxnSpPr>
            <a:stCxn id="24" idx="0"/>
            <a:endCxn id="8" idx="4"/>
          </p:cNvCxnSpPr>
          <p:nvPr/>
        </p:nvCxnSpPr>
        <p:spPr>
          <a:xfrm flipH="1" flipV="1">
            <a:off x="2904706" y="4104153"/>
            <a:ext cx="322275" cy="22663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橢圓 26"/>
          <p:cNvSpPr/>
          <p:nvPr/>
        </p:nvSpPr>
        <p:spPr>
          <a:xfrm>
            <a:off x="5712971" y="381036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橢圓 27"/>
          <p:cNvSpPr/>
          <p:nvPr/>
        </p:nvSpPr>
        <p:spPr>
          <a:xfrm>
            <a:off x="6404702" y="3816153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橢圓 28"/>
          <p:cNvSpPr/>
          <p:nvPr/>
        </p:nvSpPr>
        <p:spPr>
          <a:xfrm>
            <a:off x="5004641" y="326402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橢圓 29"/>
          <p:cNvSpPr/>
          <p:nvPr/>
        </p:nvSpPr>
        <p:spPr>
          <a:xfrm>
            <a:off x="6052727" y="326402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橢圓 30"/>
          <p:cNvSpPr/>
          <p:nvPr/>
        </p:nvSpPr>
        <p:spPr>
          <a:xfrm>
            <a:off x="5538087" y="2734941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2" name="直線接點 31"/>
          <p:cNvCxnSpPr>
            <a:stCxn id="30" idx="4"/>
            <a:endCxn id="28" idx="0"/>
          </p:cNvCxnSpPr>
          <p:nvPr/>
        </p:nvCxnSpPr>
        <p:spPr>
          <a:xfrm>
            <a:off x="6196727" y="3552028"/>
            <a:ext cx="351975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>
            <a:stCxn id="30" idx="4"/>
            <a:endCxn id="27" idx="0"/>
          </p:cNvCxnSpPr>
          <p:nvPr/>
        </p:nvCxnSpPr>
        <p:spPr>
          <a:xfrm flipH="1">
            <a:off x="5856971" y="3552028"/>
            <a:ext cx="339756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/>
          <p:cNvCxnSpPr>
            <a:stCxn id="31" idx="4"/>
            <a:endCxn id="30" idx="0"/>
          </p:cNvCxnSpPr>
          <p:nvPr/>
        </p:nvCxnSpPr>
        <p:spPr>
          <a:xfrm>
            <a:off x="5682087" y="3022941"/>
            <a:ext cx="514640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/>
          <p:cNvCxnSpPr>
            <a:stCxn id="31" idx="4"/>
            <a:endCxn id="29" idx="0"/>
          </p:cNvCxnSpPr>
          <p:nvPr/>
        </p:nvCxnSpPr>
        <p:spPr>
          <a:xfrm flipH="1">
            <a:off x="5148641" y="3022941"/>
            <a:ext cx="533446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字方塊 35"/>
          <p:cNvSpPr txBox="1"/>
          <p:nvPr/>
        </p:nvSpPr>
        <p:spPr>
          <a:xfrm>
            <a:off x="5517265" y="2685649"/>
            <a:ext cx="351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4961523" y="3206110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6029140" y="3206110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5687693" y="3758235"/>
            <a:ext cx="338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6340654" y="377386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橢圓 40"/>
          <p:cNvSpPr/>
          <p:nvPr/>
        </p:nvSpPr>
        <p:spPr>
          <a:xfrm>
            <a:off x="4682841" y="380401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2" name="直線接點 41"/>
          <p:cNvCxnSpPr>
            <a:stCxn id="41" idx="0"/>
            <a:endCxn id="29" idx="4"/>
          </p:cNvCxnSpPr>
          <p:nvPr/>
        </p:nvCxnSpPr>
        <p:spPr>
          <a:xfrm flipV="1">
            <a:off x="4826841" y="3552028"/>
            <a:ext cx="321800" cy="251986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字方塊 42"/>
          <p:cNvSpPr txBox="1"/>
          <p:nvPr/>
        </p:nvSpPr>
        <p:spPr>
          <a:xfrm>
            <a:off x="4642986" y="3758235"/>
            <a:ext cx="351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橢圓 43"/>
          <p:cNvSpPr/>
          <p:nvPr/>
        </p:nvSpPr>
        <p:spPr>
          <a:xfrm>
            <a:off x="5312908" y="380401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文字方塊 44"/>
          <p:cNvSpPr txBox="1"/>
          <p:nvPr/>
        </p:nvSpPr>
        <p:spPr>
          <a:xfrm>
            <a:off x="5317107" y="3758235"/>
            <a:ext cx="274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6" name="直線接點 45"/>
          <p:cNvCxnSpPr>
            <a:stCxn id="44" idx="0"/>
            <a:endCxn id="29" idx="4"/>
          </p:cNvCxnSpPr>
          <p:nvPr/>
        </p:nvCxnSpPr>
        <p:spPr>
          <a:xfrm flipH="1" flipV="1">
            <a:off x="5148641" y="3552028"/>
            <a:ext cx="308267" cy="251986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圓角矩形 50"/>
          <p:cNvSpPr/>
          <p:nvPr/>
        </p:nvSpPr>
        <p:spPr>
          <a:xfrm>
            <a:off x="2715265" y="3773860"/>
            <a:ext cx="383365" cy="369332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2" name="圓角矩形 51"/>
          <p:cNvSpPr/>
          <p:nvPr/>
        </p:nvSpPr>
        <p:spPr>
          <a:xfrm>
            <a:off x="6012121" y="3223362"/>
            <a:ext cx="383365" cy="369332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3" name="文字方塊 52"/>
          <p:cNvSpPr txBox="1"/>
          <p:nvPr/>
        </p:nvSpPr>
        <p:spPr>
          <a:xfrm>
            <a:off x="2135451" y="4705398"/>
            <a:ext cx="15263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depth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(U) + 1</a:t>
            </a: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2 + 1 = 3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文字方塊 53"/>
          <p:cNvSpPr txBox="1"/>
          <p:nvPr/>
        </p:nvSpPr>
        <p:spPr>
          <a:xfrm>
            <a:off x="5600908" y="4705398"/>
            <a:ext cx="15263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depth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(U) + 1</a:t>
            </a: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1 + 1 = 2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圓角矩形圖說文字 54"/>
          <p:cNvSpPr/>
          <p:nvPr/>
        </p:nvSpPr>
        <p:spPr>
          <a:xfrm>
            <a:off x="7133456" y="3706209"/>
            <a:ext cx="1352399" cy="392159"/>
          </a:xfrm>
          <a:prstGeom prst="wedgeRoundRectCallout">
            <a:avLst>
              <a:gd name="adj1" fmla="val -98218"/>
              <a:gd name="adj2" fmla="val 22802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搜尋時間</a:t>
            </a:r>
          </a:p>
        </p:txBody>
      </p:sp>
      <p:grpSp>
        <p:nvGrpSpPr>
          <p:cNvPr id="58" name="群組 57"/>
          <p:cNvGrpSpPr/>
          <p:nvPr/>
        </p:nvGrpSpPr>
        <p:grpSpPr>
          <a:xfrm>
            <a:off x="2641796" y="5595545"/>
            <a:ext cx="5054237" cy="854597"/>
            <a:chOff x="2641796" y="5595545"/>
            <a:chExt cx="5054237" cy="854597"/>
          </a:xfrm>
        </p:grpSpPr>
        <p:sp>
          <p:nvSpPr>
            <p:cNvPr id="56" name="文字方塊 55"/>
            <p:cNvSpPr txBox="1"/>
            <p:nvPr/>
          </p:nvSpPr>
          <p:spPr>
            <a:xfrm>
              <a:off x="3816445" y="5742256"/>
              <a:ext cx="3879588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p</a:t>
              </a:r>
              <a:r>
                <a:rPr lang="en-US" altLang="zh-TW" sz="2000" b="1" i="1" baseline="-25000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i</a:t>
              </a:r>
              <a:r>
                <a:rPr lang="zh-TW" altLang="en-US" sz="20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為</a:t>
              </a:r>
              <a:r>
                <a:rPr lang="en-US" altLang="zh-TW" sz="2000" b="1" i="1" dirty="0" err="1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key</a:t>
              </a:r>
              <a:r>
                <a:rPr lang="en-US" altLang="zh-TW" sz="2000" b="1" i="1" baseline="-25000" dirty="0" err="1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i</a:t>
              </a:r>
              <a:r>
                <a:rPr lang="zh-TW" altLang="en-US" sz="20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被當作</a:t>
              </a:r>
              <a:r>
                <a:rPr lang="en-US" altLang="zh-TW" sz="2000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key</a:t>
              </a:r>
              <a:r>
                <a:rPr lang="zh-TW" altLang="en-US" sz="20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的機率</a:t>
              </a:r>
              <a:endPara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  <a:p>
              <a:r>
                <a:rPr lang="en-US" altLang="zh-TW" sz="2000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c</a:t>
              </a:r>
              <a:r>
                <a:rPr lang="en-US" altLang="zh-TW" sz="2000" b="1" i="1" baseline="-25000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i</a:t>
              </a:r>
              <a:r>
                <a:rPr lang="zh-TW" altLang="en-US" sz="20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為搜尋</a:t>
              </a:r>
              <a:r>
                <a:rPr lang="en-US" altLang="zh-TW" sz="2000" b="1" i="1" dirty="0" err="1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key</a:t>
              </a:r>
              <a:r>
                <a:rPr lang="en-US" altLang="zh-TW" sz="2000" b="1" i="1" baseline="-25000" dirty="0" err="1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i</a:t>
              </a:r>
              <a:r>
                <a:rPr lang="zh-TW" altLang="en-US" sz="20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所需比較指令的數目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文字方塊 56"/>
                <p:cNvSpPr txBox="1"/>
                <p:nvPr/>
              </p:nvSpPr>
              <p:spPr>
                <a:xfrm>
                  <a:off x="2641796" y="5595545"/>
                  <a:ext cx="891398" cy="83888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nary>
                          <m:naryPr>
                            <m:chr m:val="∑"/>
                            <m:ctrlPr>
                              <a:rPr lang="en-US" altLang="zh-TW" sz="20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TW" sz="20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altLang="zh-TW" sz="20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TW" sz="20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  <m:sup>
                            <m:r>
                              <a:rPr lang="en-US" altLang="zh-TW" sz="20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TW" sz="2000" b="1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  <a:endParaRPr lang="zh-TW" altLang="en-US" sz="2000" b="1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57" name="文字方塊 5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1796" y="5595545"/>
                  <a:ext cx="891398" cy="838884"/>
                </a:xfrm>
                <a:prstGeom prst="rect">
                  <a:avLst/>
                </a:prstGeom>
                <a:blipFill rotWithShape="0"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9" name="圓角矩形圖說文字 58"/>
          <p:cNvSpPr/>
          <p:nvPr/>
        </p:nvSpPr>
        <p:spPr>
          <a:xfrm>
            <a:off x="467731" y="5170577"/>
            <a:ext cx="1352399" cy="392159"/>
          </a:xfrm>
          <a:prstGeom prst="wedgeRoundRectCallout">
            <a:avLst>
              <a:gd name="adj1" fmla="val 110104"/>
              <a:gd name="adj2" fmla="val 15870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最小化</a:t>
            </a:r>
          </a:p>
        </p:txBody>
      </p:sp>
    </p:spTree>
    <p:extLst>
      <p:ext uri="{BB962C8B-B14F-4D97-AF65-F5344CB8AC3E}">
        <p14:creationId xmlns:p14="http://schemas.microsoft.com/office/powerpoint/2010/main" val="458012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52" grpId="0" animBg="1"/>
      <p:bldP spid="53" grpId="0"/>
      <p:bldP spid="54" grpId="0"/>
      <p:bldP spid="55" grpId="0" animBg="1"/>
      <p:bldP spid="59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最佳二元搜尋樹 </a:t>
            </a:r>
            <a:r>
              <a:rPr lang="en-US" altLang="zh-TW" dirty="0"/>
              <a:t>(2/13)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i="1" dirty="0"/>
          </a:p>
          <a:p>
            <a:r>
              <a:rPr lang="en-US" altLang="zh-TW" i="1" dirty="0"/>
              <a:t>p</a:t>
            </a:r>
            <a:r>
              <a:rPr lang="en-US" altLang="zh-TW" baseline="-25000" dirty="0"/>
              <a:t>1</a:t>
            </a:r>
            <a:r>
              <a:rPr lang="en-US" altLang="zh-TW" dirty="0"/>
              <a:t> = 0.7, </a:t>
            </a:r>
            <a:r>
              <a:rPr lang="en-US" altLang="zh-TW" i="1" dirty="0"/>
              <a:t>p</a:t>
            </a:r>
            <a:r>
              <a:rPr lang="en-US" altLang="zh-TW" baseline="-25000" dirty="0"/>
              <a:t>2</a:t>
            </a:r>
            <a:r>
              <a:rPr lang="en-US" altLang="zh-TW" dirty="0"/>
              <a:t> = 0.2, </a:t>
            </a:r>
            <a:r>
              <a:rPr lang="en-US" altLang="zh-TW" i="1" dirty="0"/>
              <a:t>p</a:t>
            </a:r>
            <a:r>
              <a:rPr lang="en-US" altLang="zh-TW" baseline="-25000" dirty="0"/>
              <a:t>3</a:t>
            </a:r>
            <a:r>
              <a:rPr lang="en-US" altLang="zh-TW" dirty="0"/>
              <a:t> = 0.1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63</a:t>
            </a:fld>
            <a:endParaRPr lang="en-US" dirty="0"/>
          </a:p>
        </p:txBody>
      </p:sp>
      <p:grpSp>
        <p:nvGrpSpPr>
          <p:cNvPr id="68" name="群組 67"/>
          <p:cNvGrpSpPr/>
          <p:nvPr/>
        </p:nvGrpSpPr>
        <p:grpSpPr>
          <a:xfrm>
            <a:off x="4025428" y="1505579"/>
            <a:ext cx="1156797" cy="898419"/>
            <a:chOff x="4025428" y="1863925"/>
            <a:chExt cx="1156797" cy="898419"/>
          </a:xfrm>
        </p:grpSpPr>
        <p:sp>
          <p:nvSpPr>
            <p:cNvPr id="7" name="橢圓 6"/>
            <p:cNvSpPr/>
            <p:nvPr/>
          </p:nvSpPr>
          <p:spPr>
            <a:xfrm>
              <a:off x="4042066" y="2442304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橢圓 7"/>
            <p:cNvSpPr/>
            <p:nvPr/>
          </p:nvSpPr>
          <p:spPr>
            <a:xfrm>
              <a:off x="4880082" y="2442304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橢圓 8"/>
            <p:cNvSpPr/>
            <p:nvPr/>
          </p:nvSpPr>
          <p:spPr>
            <a:xfrm>
              <a:off x="4451935" y="1913217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0" name="直線接點 9"/>
            <p:cNvCxnSpPr>
              <a:stCxn id="9" idx="4"/>
              <a:endCxn id="8" idx="0"/>
            </p:cNvCxnSpPr>
            <p:nvPr/>
          </p:nvCxnSpPr>
          <p:spPr>
            <a:xfrm>
              <a:off x="4595935" y="2201217"/>
              <a:ext cx="428147" cy="241087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線接點 10"/>
            <p:cNvCxnSpPr>
              <a:stCxn id="9" idx="4"/>
              <a:endCxn id="7" idx="0"/>
            </p:cNvCxnSpPr>
            <p:nvPr/>
          </p:nvCxnSpPr>
          <p:spPr>
            <a:xfrm flipH="1">
              <a:off x="4186066" y="2201217"/>
              <a:ext cx="409869" cy="241087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文字方塊 11"/>
            <p:cNvSpPr txBox="1"/>
            <p:nvPr/>
          </p:nvSpPr>
          <p:spPr>
            <a:xfrm>
              <a:off x="4456761" y="1863925"/>
              <a:ext cx="3000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文字方塊 12"/>
            <p:cNvSpPr txBox="1"/>
            <p:nvPr/>
          </p:nvSpPr>
          <p:spPr>
            <a:xfrm>
              <a:off x="4025428" y="239301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文字方塊 13"/>
            <p:cNvSpPr txBox="1"/>
            <p:nvPr/>
          </p:nvSpPr>
          <p:spPr>
            <a:xfrm>
              <a:off x="4882143" y="238438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4" name="群組 63"/>
          <p:cNvGrpSpPr/>
          <p:nvPr/>
        </p:nvGrpSpPr>
        <p:grpSpPr>
          <a:xfrm>
            <a:off x="791815" y="1505579"/>
            <a:ext cx="985907" cy="1447287"/>
            <a:chOff x="791815" y="1863925"/>
            <a:chExt cx="985907" cy="1447287"/>
          </a:xfrm>
        </p:grpSpPr>
        <p:sp>
          <p:nvSpPr>
            <p:cNvPr id="15" name="橢圓 14"/>
            <p:cNvSpPr/>
            <p:nvPr/>
          </p:nvSpPr>
          <p:spPr>
            <a:xfrm>
              <a:off x="797856" y="2982546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橢圓 15"/>
            <p:cNvSpPr/>
            <p:nvPr/>
          </p:nvSpPr>
          <p:spPr>
            <a:xfrm>
              <a:off x="1485998" y="1906491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橢圓 16"/>
            <p:cNvSpPr/>
            <p:nvPr/>
          </p:nvSpPr>
          <p:spPr>
            <a:xfrm>
              <a:off x="1139762" y="2456279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8" name="直線接點 17"/>
            <p:cNvCxnSpPr>
              <a:stCxn id="17" idx="0"/>
              <a:endCxn id="16" idx="3"/>
            </p:cNvCxnSpPr>
            <p:nvPr/>
          </p:nvCxnSpPr>
          <p:spPr>
            <a:xfrm flipV="1">
              <a:off x="1283762" y="2152314"/>
              <a:ext cx="244413" cy="303965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接點 18"/>
            <p:cNvCxnSpPr>
              <a:stCxn id="17" idx="3"/>
              <a:endCxn id="15" idx="0"/>
            </p:cNvCxnSpPr>
            <p:nvPr/>
          </p:nvCxnSpPr>
          <p:spPr>
            <a:xfrm flipH="1">
              <a:off x="941856" y="2702102"/>
              <a:ext cx="240083" cy="280444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文字方塊 19"/>
            <p:cNvSpPr txBox="1"/>
            <p:nvPr/>
          </p:nvSpPr>
          <p:spPr>
            <a:xfrm>
              <a:off x="1133720" y="2404368"/>
              <a:ext cx="3000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文字方塊 20"/>
            <p:cNvSpPr txBox="1"/>
            <p:nvPr/>
          </p:nvSpPr>
          <p:spPr>
            <a:xfrm>
              <a:off x="791815" y="294188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文字方塊 21"/>
            <p:cNvSpPr txBox="1"/>
            <p:nvPr/>
          </p:nvSpPr>
          <p:spPr>
            <a:xfrm>
              <a:off x="1477640" y="1863925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5" name="群組 64"/>
          <p:cNvGrpSpPr/>
          <p:nvPr/>
        </p:nvGrpSpPr>
        <p:grpSpPr>
          <a:xfrm>
            <a:off x="2477182" y="1527443"/>
            <a:ext cx="645032" cy="1449937"/>
            <a:chOff x="2162086" y="1904323"/>
            <a:chExt cx="645032" cy="1449937"/>
          </a:xfrm>
        </p:grpSpPr>
        <p:sp>
          <p:nvSpPr>
            <p:cNvPr id="32" name="橢圓 31"/>
            <p:cNvSpPr/>
            <p:nvPr/>
          </p:nvSpPr>
          <p:spPr>
            <a:xfrm>
              <a:off x="2515394" y="3023212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3" name="橢圓 32"/>
            <p:cNvSpPr/>
            <p:nvPr/>
          </p:nvSpPr>
          <p:spPr>
            <a:xfrm>
              <a:off x="2515394" y="1946889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4" name="橢圓 33"/>
            <p:cNvSpPr/>
            <p:nvPr/>
          </p:nvSpPr>
          <p:spPr>
            <a:xfrm>
              <a:off x="2169158" y="2496677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35" name="直線接點 34"/>
            <p:cNvCxnSpPr>
              <a:stCxn id="34" idx="0"/>
              <a:endCxn id="33" idx="3"/>
            </p:cNvCxnSpPr>
            <p:nvPr/>
          </p:nvCxnSpPr>
          <p:spPr>
            <a:xfrm flipV="1">
              <a:off x="2313158" y="2192712"/>
              <a:ext cx="244413" cy="303965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接點 35"/>
            <p:cNvCxnSpPr>
              <a:stCxn id="34" idx="5"/>
              <a:endCxn id="32" idx="0"/>
            </p:cNvCxnSpPr>
            <p:nvPr/>
          </p:nvCxnSpPr>
          <p:spPr>
            <a:xfrm>
              <a:off x="2414981" y="2742500"/>
              <a:ext cx="244413" cy="280712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文字方塊 36"/>
            <p:cNvSpPr txBox="1"/>
            <p:nvPr/>
          </p:nvSpPr>
          <p:spPr>
            <a:xfrm>
              <a:off x="2162086" y="244230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文字方塊 37"/>
            <p:cNvSpPr txBox="1"/>
            <p:nvPr/>
          </p:nvSpPr>
          <p:spPr>
            <a:xfrm>
              <a:off x="2507036" y="2984928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文字方塊 38"/>
            <p:cNvSpPr txBox="1"/>
            <p:nvPr/>
          </p:nvSpPr>
          <p:spPr>
            <a:xfrm>
              <a:off x="2507036" y="190432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6" name="群組 65"/>
          <p:cNvGrpSpPr/>
          <p:nvPr/>
        </p:nvGrpSpPr>
        <p:grpSpPr>
          <a:xfrm>
            <a:off x="7540101" y="1521265"/>
            <a:ext cx="965214" cy="1426940"/>
            <a:chOff x="7490675" y="1904323"/>
            <a:chExt cx="965214" cy="1426940"/>
          </a:xfrm>
        </p:grpSpPr>
        <p:sp>
          <p:nvSpPr>
            <p:cNvPr id="42" name="橢圓 41"/>
            <p:cNvSpPr/>
            <p:nvPr/>
          </p:nvSpPr>
          <p:spPr>
            <a:xfrm>
              <a:off x="8157747" y="3022944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3" name="橢圓 42"/>
            <p:cNvSpPr/>
            <p:nvPr/>
          </p:nvSpPr>
          <p:spPr>
            <a:xfrm>
              <a:off x="7499003" y="1946889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4" name="橢圓 43"/>
            <p:cNvSpPr/>
            <p:nvPr/>
          </p:nvSpPr>
          <p:spPr>
            <a:xfrm>
              <a:off x="7850926" y="2496677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45" name="直線接點 44"/>
            <p:cNvCxnSpPr>
              <a:stCxn id="44" idx="0"/>
              <a:endCxn id="43" idx="5"/>
            </p:cNvCxnSpPr>
            <p:nvPr/>
          </p:nvCxnSpPr>
          <p:spPr>
            <a:xfrm flipH="1" flipV="1">
              <a:off x="7744826" y="2192712"/>
              <a:ext cx="250100" cy="303965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線接點 45"/>
            <p:cNvCxnSpPr>
              <a:stCxn id="44" idx="5"/>
              <a:endCxn id="42" idx="0"/>
            </p:cNvCxnSpPr>
            <p:nvPr/>
          </p:nvCxnSpPr>
          <p:spPr>
            <a:xfrm>
              <a:off x="8096749" y="2742500"/>
              <a:ext cx="204998" cy="280444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文字方塊 46"/>
            <p:cNvSpPr txBox="1"/>
            <p:nvPr/>
          </p:nvSpPr>
          <p:spPr>
            <a:xfrm>
              <a:off x="7844884" y="2439630"/>
              <a:ext cx="3000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文字方塊 47"/>
            <p:cNvSpPr txBox="1"/>
            <p:nvPr/>
          </p:nvSpPr>
          <p:spPr>
            <a:xfrm>
              <a:off x="7490675" y="190432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文字方塊 48"/>
            <p:cNvSpPr txBox="1"/>
            <p:nvPr/>
          </p:nvSpPr>
          <p:spPr>
            <a:xfrm>
              <a:off x="8155807" y="2961931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7" name="群組 66"/>
          <p:cNvGrpSpPr/>
          <p:nvPr/>
        </p:nvGrpSpPr>
        <p:grpSpPr>
          <a:xfrm>
            <a:off x="6052092" y="1513189"/>
            <a:ext cx="664846" cy="1433499"/>
            <a:chOff x="6002666" y="1871535"/>
            <a:chExt cx="664846" cy="1433499"/>
          </a:xfrm>
        </p:grpSpPr>
        <p:sp>
          <p:nvSpPr>
            <p:cNvPr id="50" name="橢圓 49"/>
            <p:cNvSpPr/>
            <p:nvPr/>
          </p:nvSpPr>
          <p:spPr>
            <a:xfrm>
              <a:off x="6027378" y="2982346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1" name="橢圓 50"/>
            <p:cNvSpPr/>
            <p:nvPr/>
          </p:nvSpPr>
          <p:spPr>
            <a:xfrm>
              <a:off x="6002666" y="1912201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2" name="橢圓 51"/>
            <p:cNvSpPr/>
            <p:nvPr/>
          </p:nvSpPr>
          <p:spPr>
            <a:xfrm>
              <a:off x="6367429" y="2425052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53" name="直線接點 52"/>
            <p:cNvCxnSpPr>
              <a:stCxn id="52" idx="0"/>
              <a:endCxn id="51" idx="5"/>
            </p:cNvCxnSpPr>
            <p:nvPr/>
          </p:nvCxnSpPr>
          <p:spPr>
            <a:xfrm flipH="1" flipV="1">
              <a:off x="6248489" y="2158024"/>
              <a:ext cx="262940" cy="267028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線接點 53"/>
            <p:cNvCxnSpPr>
              <a:stCxn id="52" idx="3"/>
              <a:endCxn id="50" idx="0"/>
            </p:cNvCxnSpPr>
            <p:nvPr/>
          </p:nvCxnSpPr>
          <p:spPr>
            <a:xfrm flipH="1">
              <a:off x="6171378" y="2670875"/>
              <a:ext cx="238228" cy="311471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文字方塊 54"/>
            <p:cNvSpPr txBox="1"/>
            <p:nvPr/>
          </p:nvSpPr>
          <p:spPr>
            <a:xfrm>
              <a:off x="6027377" y="2935702"/>
              <a:ext cx="3000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文字方塊 55"/>
            <p:cNvSpPr txBox="1"/>
            <p:nvPr/>
          </p:nvSpPr>
          <p:spPr>
            <a:xfrm>
              <a:off x="6002666" y="1871535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文字方塊 56"/>
            <p:cNvSpPr txBox="1"/>
            <p:nvPr/>
          </p:nvSpPr>
          <p:spPr>
            <a:xfrm>
              <a:off x="6367430" y="2373168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9" name="文字方塊 68"/>
          <p:cNvSpPr txBox="1"/>
          <p:nvPr/>
        </p:nvSpPr>
        <p:spPr>
          <a:xfrm>
            <a:off x="2207770" y="4164123"/>
            <a:ext cx="3844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0.7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 3 +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0.2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 2 +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0.1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 1 = 2.6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0" name="群組 69"/>
          <p:cNvGrpSpPr/>
          <p:nvPr/>
        </p:nvGrpSpPr>
        <p:grpSpPr>
          <a:xfrm>
            <a:off x="3937939" y="3049541"/>
            <a:ext cx="5054237" cy="854597"/>
            <a:chOff x="2641796" y="5595545"/>
            <a:chExt cx="5054237" cy="854597"/>
          </a:xfrm>
        </p:grpSpPr>
        <p:sp>
          <p:nvSpPr>
            <p:cNvPr id="71" name="文字方塊 70"/>
            <p:cNvSpPr txBox="1"/>
            <p:nvPr/>
          </p:nvSpPr>
          <p:spPr>
            <a:xfrm>
              <a:off x="3816445" y="5742256"/>
              <a:ext cx="3879588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p</a:t>
              </a:r>
              <a:r>
                <a:rPr lang="en-US" altLang="zh-TW" sz="2000" b="1" i="1" baseline="-25000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i</a:t>
              </a:r>
              <a:r>
                <a:rPr lang="zh-TW" altLang="en-US" sz="20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為</a:t>
              </a:r>
              <a:r>
                <a:rPr lang="en-US" altLang="zh-TW" sz="2000" b="1" i="1" dirty="0" err="1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key</a:t>
              </a:r>
              <a:r>
                <a:rPr lang="en-US" altLang="zh-TW" sz="2000" b="1" i="1" baseline="-25000" dirty="0" err="1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i</a:t>
              </a:r>
              <a:r>
                <a:rPr lang="zh-TW" altLang="en-US" sz="20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被當作</a:t>
              </a:r>
              <a:r>
                <a:rPr lang="en-US" altLang="zh-TW" sz="2000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key</a:t>
              </a:r>
              <a:r>
                <a:rPr lang="zh-TW" altLang="en-US" sz="20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的機率</a:t>
              </a:r>
              <a:endPara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  <a:p>
              <a:r>
                <a:rPr lang="en-US" altLang="zh-TW" sz="2000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c</a:t>
              </a:r>
              <a:r>
                <a:rPr lang="en-US" altLang="zh-TW" sz="2000" b="1" i="1" baseline="-25000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i</a:t>
              </a:r>
              <a:r>
                <a:rPr lang="zh-TW" altLang="en-US" sz="20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為搜尋</a:t>
              </a:r>
              <a:r>
                <a:rPr lang="en-US" altLang="zh-TW" sz="2000" b="1" i="1" dirty="0" err="1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key</a:t>
              </a:r>
              <a:r>
                <a:rPr lang="en-US" altLang="zh-TW" sz="2000" b="1" i="1" baseline="-25000" dirty="0" err="1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i</a:t>
              </a:r>
              <a:r>
                <a:rPr lang="zh-TW" altLang="en-US" sz="20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所需比較指令的數目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文字方塊 71"/>
                <p:cNvSpPr txBox="1"/>
                <p:nvPr/>
              </p:nvSpPr>
              <p:spPr>
                <a:xfrm>
                  <a:off x="2641796" y="5595545"/>
                  <a:ext cx="891398" cy="83888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nary>
                          <m:naryPr>
                            <m:chr m:val="∑"/>
                            <m:ctrlPr>
                              <a:rPr lang="en-US" altLang="zh-TW" sz="20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TW" sz="20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altLang="zh-TW" sz="20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TW" sz="20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  <m:sup>
                            <m:r>
                              <a:rPr lang="en-US" altLang="zh-TW" sz="20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TW" sz="2000" b="1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  <a:endParaRPr lang="zh-TW" altLang="en-US" sz="2000" b="1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72" name="文字方塊 7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1796" y="5595545"/>
                  <a:ext cx="891398" cy="838884"/>
                </a:xfrm>
                <a:prstGeom prst="rect">
                  <a:avLst/>
                </a:prstGeom>
                <a:blipFill rotWithShape="0"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3" name="文字方塊 72"/>
          <p:cNvSpPr txBox="1"/>
          <p:nvPr/>
        </p:nvSpPr>
        <p:spPr>
          <a:xfrm>
            <a:off x="2207770" y="4564233"/>
            <a:ext cx="3844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0.7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 2 +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0.2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 3 +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0.1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 1 = 2.1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文字方塊 73"/>
          <p:cNvSpPr txBox="1"/>
          <p:nvPr/>
        </p:nvSpPr>
        <p:spPr>
          <a:xfrm>
            <a:off x="2207770" y="4957881"/>
            <a:ext cx="3844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0.7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 2 +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0.2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 1 +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0.1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 2 = 1.8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文字方塊 74"/>
          <p:cNvSpPr txBox="1"/>
          <p:nvPr/>
        </p:nvSpPr>
        <p:spPr>
          <a:xfrm>
            <a:off x="2207770" y="5354469"/>
            <a:ext cx="3844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(4)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0.7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 1 +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0.2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 3 +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0.1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 2 = 1.5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文字方塊 75"/>
          <p:cNvSpPr txBox="1"/>
          <p:nvPr/>
        </p:nvSpPr>
        <p:spPr>
          <a:xfrm>
            <a:off x="2207770" y="5741655"/>
            <a:ext cx="3844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(5)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0.7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 1 +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0.2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 2 +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0.1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 3 = 1.4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圓角矩形 77"/>
          <p:cNvSpPr/>
          <p:nvPr/>
        </p:nvSpPr>
        <p:spPr>
          <a:xfrm>
            <a:off x="2207770" y="5762441"/>
            <a:ext cx="3844322" cy="393226"/>
          </a:xfrm>
          <a:prstGeom prst="roundRect">
            <a:avLst>
              <a:gd name="adj" fmla="val 19154"/>
            </a:avLst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79" name="群組 78"/>
          <p:cNvGrpSpPr/>
          <p:nvPr/>
        </p:nvGrpSpPr>
        <p:grpSpPr>
          <a:xfrm>
            <a:off x="6165478" y="4262995"/>
            <a:ext cx="1538977" cy="1969101"/>
            <a:chOff x="7213150" y="3122977"/>
            <a:chExt cx="1538977" cy="1969101"/>
          </a:xfrm>
        </p:grpSpPr>
        <p:sp>
          <p:nvSpPr>
            <p:cNvPr id="80" name="右大括弧 79"/>
            <p:cNvSpPr/>
            <p:nvPr/>
          </p:nvSpPr>
          <p:spPr>
            <a:xfrm>
              <a:off x="7213150" y="3122977"/>
              <a:ext cx="262688" cy="1969101"/>
            </a:xfrm>
            <a:prstGeom prst="rightBrace">
              <a:avLst>
                <a:gd name="adj1" fmla="val 57725"/>
                <a:gd name="adj2" fmla="val 50000"/>
              </a:avLst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1" name="文字方塊 80"/>
            <p:cNvSpPr txBox="1"/>
            <p:nvPr/>
          </p:nvSpPr>
          <p:spPr>
            <a:xfrm>
              <a:off x="7501464" y="3726943"/>
              <a:ext cx="1250663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20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minimum</a:t>
              </a:r>
            </a:p>
            <a:p>
              <a:pPr algn="ctr"/>
              <a:r>
                <a:rPr lang="zh-TW" altLang="en-US" sz="20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最小值</a:t>
              </a:r>
            </a:p>
          </p:txBody>
        </p:sp>
      </p:grpSp>
      <p:sp>
        <p:nvSpPr>
          <p:cNvPr id="82" name="圓角矩形 81">
            <a:hlinkClick r:id="rId3" action="ppaction://hlinksldjump"/>
          </p:cNvPr>
          <p:cNvSpPr/>
          <p:nvPr/>
        </p:nvSpPr>
        <p:spPr>
          <a:xfrm>
            <a:off x="7418973" y="1421027"/>
            <a:ext cx="1335789" cy="1628513"/>
          </a:xfrm>
          <a:prstGeom prst="roundRect">
            <a:avLst>
              <a:gd name="adj" fmla="val 19154"/>
            </a:avLst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2275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/>
      <p:bldP spid="73" grpId="0"/>
      <p:bldP spid="74" grpId="0"/>
      <p:bldP spid="75" grpId="0"/>
      <p:bldP spid="76" grpId="0"/>
      <p:bldP spid="78" grpId="0" animBg="1"/>
      <p:bldP spid="82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最佳二元搜尋樹 </a:t>
            </a:r>
            <a:r>
              <a:rPr lang="en-US" altLang="zh-TW" dirty="0"/>
              <a:t>(3/13)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0000FF"/>
                </a:solidFill>
              </a:rPr>
              <a:t>暴力法</a:t>
            </a:r>
            <a:r>
              <a:rPr lang="zh-TW" altLang="en-US" dirty="0"/>
              <a:t>求最佳二元搜尋樹</a:t>
            </a:r>
            <a:endParaRPr lang="en-US" altLang="zh-TW" dirty="0"/>
          </a:p>
          <a:p>
            <a:pPr lvl="1"/>
            <a:r>
              <a:rPr lang="zh-TW" altLang="en-US" dirty="0"/>
              <a:t>列出所有可能的二元搜尋樹</a:t>
            </a:r>
            <a:endParaRPr lang="en-US" altLang="zh-TW" dirty="0"/>
          </a:p>
          <a:p>
            <a:pPr lvl="1"/>
            <a:r>
              <a:rPr lang="zh-TW" altLang="en-US" dirty="0"/>
              <a:t>深度為</a:t>
            </a:r>
            <a:r>
              <a:rPr lang="en-US" altLang="zh-TW" i="1" dirty="0"/>
              <a:t>n</a:t>
            </a:r>
            <a:r>
              <a:rPr lang="en-US" altLang="zh-TW" dirty="0"/>
              <a:t> – 1</a:t>
            </a:r>
            <a:r>
              <a:rPr lang="zh-TW" altLang="en-US" dirty="0"/>
              <a:t>的二元搜尋樹有</a:t>
            </a:r>
            <a:r>
              <a:rPr lang="en-US" altLang="zh-TW" dirty="0"/>
              <a:t>2</a:t>
            </a:r>
            <a:r>
              <a:rPr lang="en-US" altLang="zh-TW" i="1" baseline="30000" dirty="0"/>
              <a:t>n</a:t>
            </a:r>
            <a:r>
              <a:rPr lang="en-US" altLang="zh-TW" baseline="30000" dirty="0"/>
              <a:t>–1</a:t>
            </a:r>
            <a:r>
              <a:rPr lang="zh-TW" altLang="en-US" dirty="0"/>
              <a:t>種型式</a:t>
            </a:r>
            <a:endParaRPr lang="en-US" altLang="zh-TW" dirty="0"/>
          </a:p>
          <a:p>
            <a:pPr lvl="2"/>
            <a:r>
              <a:rPr lang="zh-TW" altLang="en-US" dirty="0"/>
              <a:t>每一層的節點都有兩種選擇：左子節點、右子節點</a:t>
            </a:r>
            <a:endParaRPr lang="en-US" altLang="zh-TW" dirty="0"/>
          </a:p>
          <a:p>
            <a:pPr lvl="1"/>
            <a:r>
              <a:rPr lang="zh-TW" altLang="en-US" dirty="0"/>
              <a:t>指數時間的演算法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採用</a:t>
            </a:r>
            <a:r>
              <a:rPr lang="zh-TW" altLang="en-US" dirty="0">
                <a:solidFill>
                  <a:srgbClr val="0000FF"/>
                </a:solidFill>
              </a:rPr>
              <a:t>動態規劃演算法</a:t>
            </a:r>
            <a:endParaRPr lang="en-US" altLang="zh-TW" dirty="0">
              <a:solidFill>
                <a:srgbClr val="0000FF"/>
              </a:solidFill>
            </a:endParaRPr>
          </a:p>
          <a:p>
            <a:pPr lvl="1"/>
            <a:endParaRPr lang="en-US" altLang="zh-TW" i="1" dirty="0"/>
          </a:p>
          <a:p>
            <a:pPr lvl="1"/>
            <a:endParaRPr lang="en-US" altLang="zh-TW" i="1" dirty="0"/>
          </a:p>
          <a:p>
            <a:pPr lvl="1"/>
            <a:endParaRPr lang="en-US" altLang="zh-TW" i="1" dirty="0"/>
          </a:p>
          <a:p>
            <a:pPr lvl="1"/>
            <a:endParaRPr lang="en-US" altLang="zh-TW" i="1" dirty="0"/>
          </a:p>
          <a:p>
            <a:pPr lvl="1"/>
            <a:r>
              <a:rPr lang="en-US" altLang="zh-TW" i="1" dirty="0">
                <a:solidFill>
                  <a:srgbClr val="0000FF"/>
                </a:solidFill>
              </a:rPr>
              <a:t>A</a:t>
            </a:r>
            <a:r>
              <a:rPr lang="en-US" altLang="zh-TW" dirty="0">
                <a:solidFill>
                  <a:srgbClr val="0000FF"/>
                </a:solidFill>
              </a:rPr>
              <a:t>[</a:t>
            </a:r>
            <a:r>
              <a:rPr lang="en-US" altLang="zh-TW" i="1" dirty="0" err="1">
                <a:solidFill>
                  <a:srgbClr val="0000FF"/>
                </a:solidFill>
              </a:rPr>
              <a:t>i</a:t>
            </a:r>
            <a:r>
              <a:rPr lang="en-US" altLang="zh-TW" dirty="0">
                <a:solidFill>
                  <a:srgbClr val="0000FF"/>
                </a:solidFill>
              </a:rPr>
              <a:t>][</a:t>
            </a:r>
            <a:r>
              <a:rPr lang="en-US" altLang="zh-TW" i="1" dirty="0">
                <a:solidFill>
                  <a:srgbClr val="0000FF"/>
                </a:solidFill>
              </a:rPr>
              <a:t>j</a:t>
            </a:r>
            <a:r>
              <a:rPr lang="en-US" altLang="zh-TW" dirty="0">
                <a:solidFill>
                  <a:srgbClr val="0000FF"/>
                </a:solidFill>
              </a:rPr>
              <a:t>]</a:t>
            </a:r>
            <a:r>
              <a:rPr lang="zh-TW" altLang="en-US" dirty="0"/>
              <a:t>：針對</a:t>
            </a:r>
            <a:r>
              <a:rPr lang="en-US" altLang="zh-TW" i="1" dirty="0" err="1"/>
              <a:t>key</a:t>
            </a:r>
            <a:r>
              <a:rPr lang="en-US" altLang="zh-TW" i="1" baseline="-25000" dirty="0" err="1"/>
              <a:t>i</a:t>
            </a:r>
            <a:r>
              <a:rPr lang="zh-TW" altLang="en-US" dirty="0"/>
              <a:t>至</a:t>
            </a:r>
            <a:r>
              <a:rPr lang="en-US" altLang="zh-TW" i="1" dirty="0" err="1"/>
              <a:t>key</a:t>
            </a:r>
            <a:r>
              <a:rPr lang="en-US" altLang="zh-TW" i="1" baseline="-25000" dirty="0" err="1"/>
              <a:t>j</a:t>
            </a:r>
            <a:r>
              <a:rPr lang="zh-TW" altLang="en-US" dirty="0"/>
              <a:t>搜尋的最佳二元樹所產生的值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64</a:t>
            </a:fld>
            <a:endParaRPr lang="en-US" dirty="0"/>
          </a:p>
        </p:txBody>
      </p:sp>
      <p:grpSp>
        <p:nvGrpSpPr>
          <p:cNvPr id="7" name="群組 6"/>
          <p:cNvGrpSpPr/>
          <p:nvPr/>
        </p:nvGrpSpPr>
        <p:grpSpPr>
          <a:xfrm>
            <a:off x="2082124" y="4019548"/>
            <a:ext cx="5667129" cy="873894"/>
            <a:chOff x="2641796" y="5595545"/>
            <a:chExt cx="5667129" cy="873894"/>
          </a:xfrm>
        </p:grpSpPr>
        <p:sp>
          <p:nvSpPr>
            <p:cNvPr id="8" name="文字方塊 7"/>
            <p:cNvSpPr txBox="1"/>
            <p:nvPr/>
          </p:nvSpPr>
          <p:spPr>
            <a:xfrm>
              <a:off x="4310715" y="5742256"/>
              <a:ext cx="3998210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p</a:t>
              </a:r>
              <a:r>
                <a:rPr lang="en-US" altLang="zh-TW" sz="2000" b="1" i="1" baseline="-25000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m</a:t>
              </a:r>
              <a:r>
                <a:rPr lang="zh-TW" altLang="en-US" sz="20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為</a:t>
              </a:r>
              <a:r>
                <a:rPr lang="en-US" altLang="zh-TW" sz="2000" b="1" i="1" dirty="0" err="1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key</a:t>
              </a:r>
              <a:r>
                <a:rPr lang="en-US" altLang="zh-TW" sz="2000" b="1" i="1" baseline="-25000" dirty="0" err="1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m</a:t>
              </a:r>
              <a:r>
                <a:rPr lang="zh-TW" altLang="en-US" sz="20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被當作</a:t>
              </a:r>
              <a:r>
                <a:rPr lang="en-US" altLang="zh-TW" sz="2000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key</a:t>
              </a:r>
              <a:r>
                <a:rPr lang="zh-TW" altLang="en-US" sz="20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的機率</a:t>
              </a:r>
              <a:endPara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  <a:p>
              <a:r>
                <a:rPr lang="en-US" altLang="zh-TW" sz="2000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c</a:t>
              </a:r>
              <a:r>
                <a:rPr lang="en-US" altLang="zh-TW" sz="2000" b="1" i="1" baseline="-25000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m</a:t>
              </a:r>
              <a:r>
                <a:rPr lang="zh-TW" altLang="en-US" sz="20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為搜尋</a:t>
              </a:r>
              <a:r>
                <a:rPr lang="en-US" altLang="zh-TW" sz="2000" b="1" i="1" dirty="0" err="1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key</a:t>
              </a:r>
              <a:r>
                <a:rPr lang="en-US" altLang="zh-TW" sz="2000" b="1" i="1" baseline="-25000" dirty="0" err="1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m</a:t>
              </a:r>
              <a:r>
                <a:rPr lang="zh-TW" altLang="en-US" sz="20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所需比較指令的數目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字方塊 8"/>
                <p:cNvSpPr txBox="1"/>
                <p:nvPr/>
              </p:nvSpPr>
              <p:spPr>
                <a:xfrm>
                  <a:off x="2641796" y="5595545"/>
                  <a:ext cx="1138068" cy="87389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nary>
                          <m:naryPr>
                            <m:chr m:val="∑"/>
                            <m:ctrlPr>
                              <a:rPr lang="en-US" altLang="zh-TW" sz="20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TW" sz="20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  <m:r>
                              <a:rPr lang="en-US" altLang="zh-TW" sz="20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TW" sz="20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  <m:sup>
                            <m:r>
                              <a:rPr lang="en-US" altLang="zh-TW" sz="20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TW" sz="2000" b="1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  <a:endParaRPr lang="zh-TW" altLang="en-US" sz="2000" b="1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文字方塊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1796" y="5595545"/>
                  <a:ext cx="1138068" cy="873894"/>
                </a:xfrm>
                <a:prstGeom prst="rect">
                  <a:avLst/>
                </a:prstGeom>
                <a:blipFill rotWithShape="0"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648420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最佳二元搜尋樹 </a:t>
            </a:r>
            <a:r>
              <a:rPr lang="en-US" altLang="zh-TW" dirty="0"/>
              <a:t>(4/13)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i="1" dirty="0"/>
              <a:t>p</a:t>
            </a:r>
            <a:r>
              <a:rPr lang="en-US" altLang="zh-TW" baseline="-25000" dirty="0"/>
              <a:t>1</a:t>
            </a:r>
            <a:r>
              <a:rPr lang="en-US" altLang="zh-TW" dirty="0"/>
              <a:t> = 0.7, </a:t>
            </a:r>
            <a:r>
              <a:rPr lang="en-US" altLang="zh-TW" i="1" dirty="0"/>
              <a:t>p</a:t>
            </a:r>
            <a:r>
              <a:rPr lang="en-US" altLang="zh-TW" baseline="-25000" dirty="0"/>
              <a:t>2</a:t>
            </a:r>
            <a:r>
              <a:rPr lang="en-US" altLang="zh-TW" dirty="0"/>
              <a:t> = 0.2, </a:t>
            </a:r>
            <a:r>
              <a:rPr lang="en-US" altLang="zh-TW" i="1" dirty="0"/>
              <a:t>p</a:t>
            </a:r>
            <a:r>
              <a:rPr lang="en-US" altLang="zh-TW" baseline="-25000" dirty="0"/>
              <a:t>3</a:t>
            </a:r>
            <a:r>
              <a:rPr lang="en-US" altLang="zh-TW" dirty="0"/>
              <a:t> = 0.1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最佳樹的任意子樹對這棵子樹上的眾節點們必須是最佳的</a:t>
            </a:r>
            <a:endParaRPr lang="en-US" altLang="zh-TW" dirty="0"/>
          </a:p>
          <a:p>
            <a:pPr lvl="1"/>
            <a:r>
              <a:rPr lang="zh-TW" altLang="en-US" dirty="0">
                <a:solidFill>
                  <a:srgbClr val="0000FF"/>
                </a:solidFill>
              </a:rPr>
              <a:t>最佳化原則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65</a:t>
            </a:fld>
            <a:endParaRPr lang="en-US" dirty="0"/>
          </a:p>
        </p:txBody>
      </p:sp>
      <p:sp>
        <p:nvSpPr>
          <p:cNvPr id="9" name="橢圓 8"/>
          <p:cNvSpPr/>
          <p:nvPr/>
        </p:nvSpPr>
        <p:spPr>
          <a:xfrm>
            <a:off x="3058885" y="280938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2630738" y="2280300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1" name="直線接點 10"/>
          <p:cNvCxnSpPr>
            <a:stCxn id="10" idx="4"/>
            <a:endCxn id="9" idx="0"/>
          </p:cNvCxnSpPr>
          <p:nvPr/>
        </p:nvCxnSpPr>
        <p:spPr>
          <a:xfrm>
            <a:off x="2774738" y="2568300"/>
            <a:ext cx="428147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/>
          <p:cNvSpPr txBox="1"/>
          <p:nvPr/>
        </p:nvSpPr>
        <p:spPr>
          <a:xfrm>
            <a:off x="2635564" y="2231008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3060946" y="275146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橢圓 16"/>
          <p:cNvSpPr/>
          <p:nvPr/>
        </p:nvSpPr>
        <p:spPr>
          <a:xfrm>
            <a:off x="5719162" y="277734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橢圓 18"/>
          <p:cNvSpPr/>
          <p:nvPr/>
        </p:nvSpPr>
        <p:spPr>
          <a:xfrm>
            <a:off x="6129031" y="2248260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1" name="直線接點 20"/>
          <p:cNvCxnSpPr>
            <a:stCxn id="19" idx="4"/>
            <a:endCxn id="17" idx="0"/>
          </p:cNvCxnSpPr>
          <p:nvPr/>
        </p:nvCxnSpPr>
        <p:spPr>
          <a:xfrm flipH="1">
            <a:off x="5863162" y="2536260"/>
            <a:ext cx="409869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/>
          <p:cNvSpPr txBox="1"/>
          <p:nvPr/>
        </p:nvSpPr>
        <p:spPr>
          <a:xfrm>
            <a:off x="6133857" y="2198968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5702523" y="2728055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5007908" y="3417823"/>
            <a:ext cx="28520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0.2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 2 +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0.1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 1 = 0.5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1297184" y="3417823"/>
            <a:ext cx="28520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0.2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 1 +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0.1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 2 = 0.4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2648648" y="4138369"/>
            <a:ext cx="38731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[2][3]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{0.4, 0.5} = 0.4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圓角矩形 27">
            <a:hlinkClick r:id="rId2" action="ppaction://hlinksldjump"/>
          </p:cNvPr>
          <p:cNvSpPr/>
          <p:nvPr/>
        </p:nvSpPr>
        <p:spPr>
          <a:xfrm>
            <a:off x="2490651" y="2231008"/>
            <a:ext cx="957943" cy="1078685"/>
          </a:xfrm>
          <a:prstGeom prst="roundRect">
            <a:avLst>
              <a:gd name="adj" fmla="val 19154"/>
            </a:avLst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29" name="群組 28"/>
          <p:cNvGrpSpPr/>
          <p:nvPr/>
        </p:nvGrpSpPr>
        <p:grpSpPr>
          <a:xfrm>
            <a:off x="736603" y="1822790"/>
            <a:ext cx="965214" cy="1426940"/>
            <a:chOff x="7490675" y="1904323"/>
            <a:chExt cx="965214" cy="1426940"/>
          </a:xfrm>
        </p:grpSpPr>
        <p:sp>
          <p:nvSpPr>
            <p:cNvPr id="30" name="橢圓 29"/>
            <p:cNvSpPr/>
            <p:nvPr/>
          </p:nvSpPr>
          <p:spPr>
            <a:xfrm>
              <a:off x="8157747" y="3022944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1" name="橢圓 30"/>
            <p:cNvSpPr/>
            <p:nvPr/>
          </p:nvSpPr>
          <p:spPr>
            <a:xfrm>
              <a:off x="7499003" y="1946889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2" name="橢圓 31"/>
            <p:cNvSpPr/>
            <p:nvPr/>
          </p:nvSpPr>
          <p:spPr>
            <a:xfrm>
              <a:off x="7850926" y="2496677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33" name="直線接點 32"/>
            <p:cNvCxnSpPr>
              <a:stCxn id="32" idx="0"/>
              <a:endCxn id="31" idx="5"/>
            </p:cNvCxnSpPr>
            <p:nvPr/>
          </p:nvCxnSpPr>
          <p:spPr>
            <a:xfrm flipH="1" flipV="1">
              <a:off x="7744826" y="2192712"/>
              <a:ext cx="250100" cy="303965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接點 33"/>
            <p:cNvCxnSpPr>
              <a:stCxn id="32" idx="5"/>
              <a:endCxn id="30" idx="0"/>
            </p:cNvCxnSpPr>
            <p:nvPr/>
          </p:nvCxnSpPr>
          <p:spPr>
            <a:xfrm>
              <a:off x="8096749" y="2742500"/>
              <a:ext cx="204998" cy="280444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字方塊 34"/>
            <p:cNvSpPr txBox="1"/>
            <p:nvPr/>
          </p:nvSpPr>
          <p:spPr>
            <a:xfrm>
              <a:off x="7844884" y="2439630"/>
              <a:ext cx="3000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文字方塊 35"/>
            <p:cNvSpPr txBox="1"/>
            <p:nvPr/>
          </p:nvSpPr>
          <p:spPr>
            <a:xfrm>
              <a:off x="7490675" y="190432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文字方塊 36"/>
            <p:cNvSpPr txBox="1"/>
            <p:nvPr/>
          </p:nvSpPr>
          <p:spPr>
            <a:xfrm>
              <a:off x="8155807" y="2961931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8" name="圓角矩形 37">
            <a:hlinkClick r:id="rId2" action="ppaction://hlinksldjump"/>
          </p:cNvPr>
          <p:cNvSpPr/>
          <p:nvPr/>
        </p:nvSpPr>
        <p:spPr>
          <a:xfrm>
            <a:off x="954878" y="2231436"/>
            <a:ext cx="917171" cy="1125735"/>
          </a:xfrm>
          <a:prstGeom prst="roundRect">
            <a:avLst>
              <a:gd name="adj" fmla="val 19154"/>
            </a:avLst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2167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  <p:bldP spid="28" grpId="0" animBg="1"/>
      <p:bldP spid="38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最佳二元搜尋樹 </a:t>
            </a:r>
            <a:r>
              <a:rPr lang="en-US" altLang="zh-TW" dirty="0"/>
              <a:t>(5/13)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i="1" dirty="0" err="1"/>
              <a:t>key</a:t>
            </a:r>
            <a:r>
              <a:rPr lang="en-US" altLang="zh-TW" i="1" baseline="-25000" dirty="0" err="1"/>
              <a:t>k</a:t>
            </a:r>
            <a:r>
              <a:rPr lang="zh-TW" altLang="en-US" dirty="0"/>
              <a:t>為樹根時：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66</a:t>
            </a:fld>
            <a:endParaRPr lang="en-US" dirty="0"/>
          </a:p>
        </p:txBody>
      </p:sp>
      <p:sp>
        <p:nvSpPr>
          <p:cNvPr id="10" name="橢圓 9"/>
          <p:cNvSpPr/>
          <p:nvPr/>
        </p:nvSpPr>
        <p:spPr>
          <a:xfrm>
            <a:off x="4346905" y="126448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1" name="直線接點 10"/>
          <p:cNvCxnSpPr>
            <a:stCxn id="10" idx="4"/>
            <a:endCxn id="20" idx="0"/>
          </p:cNvCxnSpPr>
          <p:nvPr/>
        </p:nvCxnSpPr>
        <p:spPr>
          <a:xfrm>
            <a:off x="4490905" y="1552487"/>
            <a:ext cx="910060" cy="578379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>
            <a:stCxn id="10" idx="4"/>
            <a:endCxn id="18" idx="0"/>
          </p:cNvCxnSpPr>
          <p:nvPr/>
        </p:nvCxnSpPr>
        <p:spPr>
          <a:xfrm flipH="1">
            <a:off x="3605301" y="1552487"/>
            <a:ext cx="885604" cy="578379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/>
          <p:cNvSpPr txBox="1"/>
          <p:nvPr/>
        </p:nvSpPr>
        <p:spPr>
          <a:xfrm>
            <a:off x="4351731" y="121519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等腰三角形 17"/>
          <p:cNvSpPr/>
          <p:nvPr/>
        </p:nvSpPr>
        <p:spPr>
          <a:xfrm>
            <a:off x="2927116" y="2130866"/>
            <a:ext cx="1356369" cy="120178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0000FF"/>
              </a:solidFill>
            </a:endParaRPr>
          </a:p>
        </p:txBody>
      </p:sp>
      <p:sp>
        <p:nvSpPr>
          <p:cNvPr id="20" name="等腰三角形 19"/>
          <p:cNvSpPr/>
          <p:nvPr/>
        </p:nvSpPr>
        <p:spPr>
          <a:xfrm>
            <a:off x="4722780" y="2130866"/>
            <a:ext cx="1356369" cy="120178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文字方塊 21"/>
          <p:cNvSpPr txBox="1"/>
          <p:nvPr/>
        </p:nvSpPr>
        <p:spPr>
          <a:xfrm>
            <a:off x="3154910" y="2973293"/>
            <a:ext cx="893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~k</a:t>
            </a:r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1</a:t>
            </a:r>
            <a:endParaRPr lang="zh-TW" altLang="en-US" b="1" i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4933528" y="2973174"/>
            <a:ext cx="934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+ 1</a:t>
            </a:r>
            <a:r>
              <a:rPr lang="en-US" altLang="zh-TW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~n</a:t>
            </a:r>
            <a:endParaRPr lang="zh-TW" altLang="en-US" b="1" i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2933903" y="3342506"/>
            <a:ext cx="13372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[1][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1]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4713817" y="3342506"/>
            <a:ext cx="13837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+ 1][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1257968" y="3850746"/>
            <a:ext cx="66976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[1][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1] + (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+…+ 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0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–1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0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+ 1][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+ (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0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+1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+…+ 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0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群組 6"/>
          <p:cNvGrpSpPr/>
          <p:nvPr/>
        </p:nvGrpSpPr>
        <p:grpSpPr>
          <a:xfrm>
            <a:off x="1160438" y="4247707"/>
            <a:ext cx="1467068" cy="899553"/>
            <a:chOff x="1160438" y="4247707"/>
            <a:chExt cx="1467068" cy="899553"/>
          </a:xfrm>
        </p:grpSpPr>
        <p:sp>
          <p:nvSpPr>
            <p:cNvPr id="28" name="左大括弧 27"/>
            <p:cNvSpPr/>
            <p:nvPr/>
          </p:nvSpPr>
          <p:spPr>
            <a:xfrm rot="16200000">
              <a:off x="1782693" y="3774830"/>
              <a:ext cx="222558" cy="1168312"/>
            </a:xfrm>
            <a:prstGeom prst="leftBrace">
              <a:avLst>
                <a:gd name="adj1" fmla="val 32948"/>
                <a:gd name="adj2" fmla="val 50000"/>
              </a:avLst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2" name="文字方塊 31"/>
            <p:cNvSpPr txBox="1"/>
            <p:nvPr/>
          </p:nvSpPr>
          <p:spPr>
            <a:xfrm>
              <a:off x="1160438" y="4439374"/>
              <a:ext cx="1467068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TW" altLang="en-US" sz="2000" b="1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左子樹平均</a:t>
              </a:r>
              <a:endPara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  <a:p>
              <a:pPr algn="ctr"/>
              <a:r>
                <a:rPr lang="zh-TW" altLang="en-US" sz="2000" b="1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搜尋時間</a:t>
              </a:r>
            </a:p>
          </p:txBody>
        </p:sp>
      </p:grpSp>
      <p:grpSp>
        <p:nvGrpSpPr>
          <p:cNvPr id="8" name="群組 7"/>
          <p:cNvGrpSpPr/>
          <p:nvPr/>
        </p:nvGrpSpPr>
        <p:grpSpPr>
          <a:xfrm>
            <a:off x="2704482" y="4247707"/>
            <a:ext cx="1467068" cy="899553"/>
            <a:chOff x="2704482" y="4247707"/>
            <a:chExt cx="1467068" cy="899553"/>
          </a:xfrm>
        </p:grpSpPr>
        <p:sp>
          <p:nvSpPr>
            <p:cNvPr id="29" name="左大括弧 28"/>
            <p:cNvSpPr/>
            <p:nvPr/>
          </p:nvSpPr>
          <p:spPr>
            <a:xfrm rot="16200000">
              <a:off x="3331862" y="3656986"/>
              <a:ext cx="222558" cy="1404000"/>
            </a:xfrm>
            <a:prstGeom prst="leftBrace">
              <a:avLst>
                <a:gd name="adj1" fmla="val 32948"/>
                <a:gd name="adj2" fmla="val 50000"/>
              </a:avLst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3" name="文字方塊 32"/>
            <p:cNvSpPr txBox="1"/>
            <p:nvPr/>
          </p:nvSpPr>
          <p:spPr>
            <a:xfrm>
              <a:off x="2704482" y="4439374"/>
              <a:ext cx="1467068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TW" altLang="en-US" sz="2000" b="1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左子樹需要</a:t>
              </a:r>
              <a:endPara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  <a:p>
              <a:pPr algn="ctr"/>
              <a:r>
                <a:rPr lang="zh-TW" altLang="en-US" sz="2000" b="1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比較時間</a:t>
              </a:r>
            </a:p>
          </p:txBody>
        </p:sp>
      </p:grpSp>
      <p:grpSp>
        <p:nvGrpSpPr>
          <p:cNvPr id="9" name="群組 8"/>
          <p:cNvGrpSpPr/>
          <p:nvPr/>
        </p:nvGrpSpPr>
        <p:grpSpPr>
          <a:xfrm>
            <a:off x="4769199" y="4247706"/>
            <a:ext cx="1467068" cy="899554"/>
            <a:chOff x="4769199" y="4247706"/>
            <a:chExt cx="1467068" cy="899554"/>
          </a:xfrm>
        </p:grpSpPr>
        <p:sp>
          <p:nvSpPr>
            <p:cNvPr id="30" name="左大括弧 29"/>
            <p:cNvSpPr/>
            <p:nvPr/>
          </p:nvSpPr>
          <p:spPr>
            <a:xfrm rot="16200000">
              <a:off x="5392021" y="3774829"/>
              <a:ext cx="222558" cy="1168312"/>
            </a:xfrm>
            <a:prstGeom prst="leftBrace">
              <a:avLst>
                <a:gd name="adj1" fmla="val 32948"/>
                <a:gd name="adj2" fmla="val 50000"/>
              </a:avLst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4" name="文字方塊 33"/>
            <p:cNvSpPr txBox="1"/>
            <p:nvPr/>
          </p:nvSpPr>
          <p:spPr>
            <a:xfrm>
              <a:off x="4769199" y="4439374"/>
              <a:ext cx="1467068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TW" altLang="en-US" sz="2000" b="1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右子樹平均</a:t>
              </a:r>
              <a:endPara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  <a:p>
              <a:pPr algn="ctr"/>
              <a:r>
                <a:rPr lang="zh-TW" altLang="en-US" sz="2000" b="1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搜尋時間</a:t>
              </a:r>
            </a:p>
          </p:txBody>
        </p:sp>
      </p:grpSp>
      <p:grpSp>
        <p:nvGrpSpPr>
          <p:cNvPr id="14" name="群組 13"/>
          <p:cNvGrpSpPr/>
          <p:nvPr/>
        </p:nvGrpSpPr>
        <p:grpSpPr>
          <a:xfrm>
            <a:off x="6337955" y="4247706"/>
            <a:ext cx="1467068" cy="899554"/>
            <a:chOff x="6337955" y="4247706"/>
            <a:chExt cx="1467068" cy="899554"/>
          </a:xfrm>
        </p:grpSpPr>
        <p:sp>
          <p:nvSpPr>
            <p:cNvPr id="31" name="左大括弧 30"/>
            <p:cNvSpPr/>
            <p:nvPr/>
          </p:nvSpPr>
          <p:spPr>
            <a:xfrm rot="16200000">
              <a:off x="6959309" y="3656985"/>
              <a:ext cx="222558" cy="1404000"/>
            </a:xfrm>
            <a:prstGeom prst="leftBrace">
              <a:avLst>
                <a:gd name="adj1" fmla="val 32948"/>
                <a:gd name="adj2" fmla="val 50000"/>
              </a:avLst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5" name="文字方塊 34"/>
            <p:cNvSpPr txBox="1"/>
            <p:nvPr/>
          </p:nvSpPr>
          <p:spPr>
            <a:xfrm>
              <a:off x="6337955" y="4439374"/>
              <a:ext cx="1467068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TW" altLang="en-US" sz="2000" b="1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右子樹需要</a:t>
              </a:r>
              <a:endPara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  <a:p>
              <a:pPr algn="ctr"/>
              <a:r>
                <a:rPr lang="zh-TW" altLang="en-US" sz="2000" b="1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比較時間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字方塊 37"/>
              <p:cNvSpPr txBox="1"/>
              <p:nvPr/>
            </p:nvSpPr>
            <p:spPr>
              <a:xfrm>
                <a:off x="2668225" y="5369825"/>
                <a:ext cx="387715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000" b="1" i="1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[1][</a:t>
                </a:r>
                <a:r>
                  <a:rPr lang="en-US" altLang="zh-TW" sz="20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1] + </a:t>
                </a:r>
                <a:r>
                  <a:rPr lang="en-US" altLang="zh-TW" sz="20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</a:t>
                </a:r>
                <a:r>
                  <a:rPr lang="en-US" altLang="zh-TW" sz="20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+ 1][</a:t>
                </a:r>
                <a:r>
                  <a:rPr lang="en-US" altLang="zh-TW" sz="20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 +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  <m: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  <m:e>
                        <m:sSub>
                          <m:sSubPr>
                            <m:ctrlP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𝒎</m:t>
                            </m:r>
                          </m:sub>
                        </m:sSub>
                      </m:e>
                    </m:nary>
                  </m:oMath>
                </a14:m>
                <a:endParaRPr lang="zh-TW" alt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8" name="文字方塊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8225" y="5369825"/>
                <a:ext cx="3877152" cy="307777"/>
              </a:xfrm>
              <a:prstGeom prst="rect">
                <a:avLst/>
              </a:prstGeom>
              <a:blipFill rotWithShape="0">
                <a:blip r:embed="rId2"/>
                <a:stretch>
                  <a:fillRect l="-2358" t="-176000" r="-2673" b="-258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字方塊 38"/>
              <p:cNvSpPr txBox="1"/>
              <p:nvPr/>
            </p:nvSpPr>
            <p:spPr>
              <a:xfrm>
                <a:off x="1423813" y="5773535"/>
                <a:ext cx="6448753" cy="6033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2000" b="1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altLang="zh-TW" sz="2000" b="1" i="0" smtClean="0">
                                  <a:latin typeface="Cambria Math" panose="02040503050406030204" pitchFamily="18" charset="0"/>
                                </a:rPr>
                                <m:t>𝐦𝐢𝐧</m:t>
                              </m:r>
                            </m:e>
                            <m:lim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𝒌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d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d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d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d>
                        </m:e>
                      </m:func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TW" alt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9" name="文字方塊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3813" y="5773535"/>
                <a:ext cx="6448753" cy="6033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圓角矩形圖說文字 39"/>
          <p:cNvSpPr/>
          <p:nvPr/>
        </p:nvSpPr>
        <p:spPr>
          <a:xfrm>
            <a:off x="6876743" y="3978523"/>
            <a:ext cx="1991645" cy="709322"/>
          </a:xfrm>
          <a:prstGeom prst="wedgeRoundRectCallout">
            <a:avLst>
              <a:gd name="adj1" fmla="val -86740"/>
              <a:gd name="adj2" fmla="val 22279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[1][0] = 0</a:t>
            </a:r>
          </a:p>
          <a:p>
            <a:pPr algn="ctr"/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+ 1][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] = 0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9360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38" grpId="0"/>
      <p:bldP spid="39" grpId="0"/>
      <p:bldP spid="40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最佳二元搜尋樹 </a:t>
            </a:r>
            <a:r>
              <a:rPr lang="en-US" altLang="zh-TW" dirty="0"/>
              <a:t>(6/13)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67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1345000" y="1572237"/>
                <a:ext cx="6448753" cy="6033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𝑨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2000" b="1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altLang="zh-TW" sz="2000" b="1" i="0" smtClean="0">
                                  <a:latin typeface="Cambria Math" panose="02040503050406030204" pitchFamily="18" charset="0"/>
                                </a:rPr>
                                <m:t>𝐦𝐢𝐧</m:t>
                              </m:r>
                            </m:e>
                            <m:lim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𝒌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d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d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d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d>
                        </m:e>
                      </m:func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TW" alt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5000" y="1572237"/>
                <a:ext cx="6448753" cy="60337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字方塊 7"/>
          <p:cNvSpPr txBox="1"/>
          <p:nvPr/>
        </p:nvSpPr>
        <p:spPr>
          <a:xfrm>
            <a:off x="1345000" y="2175607"/>
            <a:ext cx="13548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[1][0] = 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1345000" y="2575717"/>
            <a:ext cx="17716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+ 1][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= 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1340921" y="2975827"/>
            <a:ext cx="14398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[1][1] =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0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向下箭號 10"/>
          <p:cNvSpPr/>
          <p:nvPr/>
        </p:nvSpPr>
        <p:spPr>
          <a:xfrm>
            <a:off x="4256928" y="3520431"/>
            <a:ext cx="624895" cy="45102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6" name="群組 15"/>
          <p:cNvGrpSpPr/>
          <p:nvPr/>
        </p:nvGrpSpPr>
        <p:grpSpPr>
          <a:xfrm>
            <a:off x="1340921" y="4137752"/>
            <a:ext cx="5987961" cy="1803700"/>
            <a:chOff x="1340921" y="4137752"/>
            <a:chExt cx="5987961" cy="18037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字方塊 11"/>
                <p:cNvSpPr txBox="1"/>
                <p:nvPr/>
              </p:nvSpPr>
              <p:spPr>
                <a:xfrm>
                  <a:off x="1345000" y="4137752"/>
                  <a:ext cx="5983882" cy="63838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𝒋</m:t>
                            </m:r>
                          </m:e>
                        </m:d>
                        <m: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zh-TW" sz="2000" b="1" i="0" smtClean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a:rPr lang="en-US" altLang="zh-TW" sz="2000" b="1" i="0" smtClean="0">
                                    <a:latin typeface="Cambria Math" panose="02040503050406030204" pitchFamily="18" charset="0"/>
                                  </a:rPr>
                                  <m:t>𝐦𝐢𝐧</m:t>
                                </m:r>
                              </m:e>
                              <m:lim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𝒌</m:t>
                                </m:r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𝒋</m:t>
                                </m:r>
                              </m:lim>
                            </m:limLow>
                          </m:fName>
                          <m:e>
                            <m:d>
                              <m:d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TW" sz="2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20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e>
                                </m:d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TW" sz="2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2000" b="1" i="1" smtClean="0"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  <m:r>
                                      <a:rPr lang="en-US" altLang="zh-TW" sz="2000" b="1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TW" sz="20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</m:d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TW" sz="2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2000" b="1" i="1" smtClean="0"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  <m:r>
                                      <a:rPr lang="en-US" altLang="zh-TW" sz="2000" b="1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zh-TW" sz="20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</m:d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e>
                            </m:d>
                          </m:e>
                        </m:func>
                        <m: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∑"/>
                            <m:limLoc m:val="subSup"/>
                            <m:ctrlP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𝒎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  <m:sup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  <a:endParaRPr lang="zh-TW" alt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2" name="文字方塊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45000" y="4137752"/>
                  <a:ext cx="5983882" cy="63838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文字方塊 12"/>
            <p:cNvSpPr txBox="1"/>
            <p:nvPr/>
          </p:nvSpPr>
          <p:spPr>
            <a:xfrm>
              <a:off x="1345000" y="4741122"/>
              <a:ext cx="168828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TW" sz="20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altLang="zh-TW" sz="2000" b="1" i="1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TW" sz="20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][</a:t>
              </a:r>
              <a:r>
                <a:rPr lang="en-US" altLang="zh-TW" sz="2000" b="1" i="1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TW" sz="20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– 1] = 0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文字方塊 13"/>
            <p:cNvSpPr txBox="1"/>
            <p:nvPr/>
          </p:nvSpPr>
          <p:spPr>
            <a:xfrm>
              <a:off x="1345000" y="5141232"/>
              <a:ext cx="164179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TW" sz="20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altLang="zh-TW" sz="2000" b="1" i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en-US" altLang="zh-TW" sz="20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+ 1][</a:t>
              </a:r>
              <a:r>
                <a:rPr lang="en-US" altLang="zh-TW" sz="2000" b="1" i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en-US" altLang="zh-TW" sz="20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] = 0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文字方塊 14"/>
            <p:cNvSpPr txBox="1"/>
            <p:nvPr/>
          </p:nvSpPr>
          <p:spPr>
            <a:xfrm>
              <a:off x="1340921" y="5541342"/>
              <a:ext cx="132440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TW" sz="20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altLang="zh-TW" sz="2000" b="1" i="1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TW" sz="20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][</a:t>
              </a:r>
              <a:r>
                <a:rPr lang="en-US" altLang="zh-TW" sz="2000" b="1" i="1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TW" sz="20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] = </a:t>
              </a:r>
              <a:r>
                <a:rPr lang="en-US" altLang="zh-TW" sz="2000" b="1" i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altLang="zh-TW" sz="2000" b="1" i="1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zh-TW" altLang="en-US" sz="20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21116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最佳二元搜尋樹 </a:t>
            </a:r>
            <a:r>
              <a:rPr lang="en-US" altLang="zh-TW" dirty="0"/>
              <a:t>(7/13)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內容版面配置區 6"/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1439412" y="1432082"/>
              <a:ext cx="6291648" cy="434594"/>
            </p:xfrm>
            <a:graphic>
              <a:graphicData uri="http://schemas.openxmlformats.org/drawingml/2006/table">
                <a:tbl>
                  <a:tblPr firstRow="1" bandRow="1">
                    <a:tableStyleId>{69CF1AB2-1976-4502-BF36-3FF5EA218861}</a:tableStyleId>
                  </a:tblPr>
                  <a:tblGrid>
                    <a:gridCol w="157291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7291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7291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7291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Key[1] / </a:t>
                          </a:r>
                          <a14:m>
                            <m:oMath xmlns:m="http://schemas.openxmlformats.org/officeDocument/2006/math">
                              <m:box>
                                <m:boxPr>
                                  <m:ctrlPr>
                                    <a:rPr lang="en-US" altLang="zh-TW" sz="2000" i="1" smtClean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boxPr>
                                <m:e>
                                  <m:f>
                                    <m:fPr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𝟑</m:t>
                                      </m:r>
                                    </m:num>
                                    <m:den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𝟖</m:t>
                                      </m:r>
                                    </m:den>
                                  </m:f>
                                </m:e>
                              </m:box>
                            </m:oMath>
                          </a14:m>
                          <a:endParaRPr lang="zh-TW" altLang="en-US" sz="200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Key[2] / </a:t>
                          </a:r>
                          <a14:m>
                            <m:oMath xmlns:m="http://schemas.openxmlformats.org/officeDocument/2006/math">
                              <m:box>
                                <m:boxPr>
                                  <m:ctrlPr>
                                    <a:rPr lang="en-US" altLang="zh-TW" sz="2000" i="1" smtClean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boxPr>
                                <m:e>
                                  <m:f>
                                    <m:fPr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𝟑</m:t>
                                      </m:r>
                                    </m:num>
                                    <m:den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𝟖</m:t>
                                      </m:r>
                                    </m:den>
                                  </m:f>
                                </m:e>
                              </m:box>
                            </m:oMath>
                          </a14:m>
                          <a:endParaRPr lang="zh-TW" altLang="en-US" sz="200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Key[3] / </a:t>
                          </a:r>
                          <a14:m>
                            <m:oMath xmlns:m="http://schemas.openxmlformats.org/officeDocument/2006/math">
                              <m:box>
                                <m:boxPr>
                                  <m:ctrlPr>
                                    <a:rPr lang="en-US" altLang="zh-TW" sz="2000" i="1" smtClean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boxPr>
                                <m:e>
                                  <m:f>
                                    <m:fPr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𝟏</m:t>
                                      </m:r>
                                    </m:num>
                                    <m:den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𝟖</m:t>
                                      </m:r>
                                    </m:den>
                                  </m:f>
                                </m:e>
                              </m:box>
                            </m:oMath>
                          </a14:m>
                          <a:endParaRPr lang="zh-TW" altLang="en-US" sz="200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Key[4] / </a:t>
                          </a:r>
                          <a14:m>
                            <m:oMath xmlns:m="http://schemas.openxmlformats.org/officeDocument/2006/math">
                              <m:box>
                                <m:boxPr>
                                  <m:ctrlPr>
                                    <a:rPr lang="en-US" altLang="zh-TW" sz="2000" i="1" smtClean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boxPr>
                                <m:e>
                                  <m:f>
                                    <m:fPr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𝟏</m:t>
                                      </m:r>
                                    </m:num>
                                    <m:den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𝟖</m:t>
                                      </m:r>
                                    </m:den>
                                  </m:f>
                                </m:e>
                              </m:box>
                            </m:oMath>
                          </a14:m>
                          <a:endParaRPr lang="zh-TW" altLang="en-US" sz="200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內容版面配置區 6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240100874"/>
                  </p:ext>
                </p:extLst>
              </p:nvPr>
            </p:nvGraphicFramePr>
            <p:xfrm>
              <a:off x="1439412" y="1432082"/>
              <a:ext cx="6291648" cy="434594"/>
            </p:xfrm>
            <a:graphic>
              <a:graphicData uri="http://schemas.openxmlformats.org/drawingml/2006/table">
                <a:tbl>
                  <a:tblPr firstRow="1" bandRow="1">
                    <a:tableStyleId>{69CF1AB2-1976-4502-BF36-3FF5EA218861}</a:tableStyleId>
                  </a:tblPr>
                  <a:tblGrid>
                    <a:gridCol w="1572912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1572912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1572912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  <a:gridCol w="1572912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3"/>
                        </a:ext>
                      </a:extLst>
                    </a:gridCol>
                  </a:tblGrid>
                  <a:tr h="434594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388" t="-5479" r="-301163" b="-164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100000" t="-5479" r="-200000" b="-164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200775" t="-5479" r="-100775" b="-164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300775" t="-5479" r="-775" b="-164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68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1439412" y="1866676"/>
                <a:ext cx="5983882" cy="6383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𝑨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</m:e>
                      </m:d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2000" b="1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altLang="zh-TW" sz="2000" b="1" i="0" smtClean="0">
                                  <a:latin typeface="Cambria Math" panose="02040503050406030204" pitchFamily="18" charset="0"/>
                                </a:rPr>
                                <m:t>𝐦𝐢𝐧</m:t>
                              </m:r>
                            </m:e>
                            <m:lim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𝒌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𝒋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e>
                              </m:d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d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d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d>
                        </m:e>
                      </m:func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  <m:sup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TW" alt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9412" y="1866676"/>
                <a:ext cx="5983882" cy="63838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字方塊 8"/>
          <p:cNvSpPr txBox="1"/>
          <p:nvPr/>
        </p:nvSpPr>
        <p:spPr>
          <a:xfrm>
            <a:off x="1439412" y="2548367"/>
            <a:ext cx="16882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zh-TW" sz="20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1] = 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3764338" y="2542962"/>
            <a:ext cx="16417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+ 1][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= 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6042777" y="2549140"/>
            <a:ext cx="13244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zh-TW" sz="20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000" b="1" i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zh-TW" altLang="en-US" sz="2000" b="1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1439412" y="3136978"/>
          <a:ext cx="6096000" cy="23774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14" name="直線接點 13"/>
          <p:cNvCxnSpPr/>
          <p:nvPr/>
        </p:nvCxnSpPr>
        <p:spPr>
          <a:xfrm>
            <a:off x="2452816" y="3538194"/>
            <a:ext cx="5097162" cy="1977082"/>
          </a:xfrm>
          <a:prstGeom prst="line">
            <a:avLst/>
          </a:prstGeom>
          <a:ln w="762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/>
          <p:cNvSpPr txBox="1"/>
          <p:nvPr/>
        </p:nvSpPr>
        <p:spPr>
          <a:xfrm>
            <a:off x="2802433" y="353819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3815837" y="3925948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4833060" y="4329258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5846464" y="471701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6888690" y="511712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圓角矩形圖說文字 19"/>
          <p:cNvSpPr/>
          <p:nvPr/>
        </p:nvSpPr>
        <p:spPr>
          <a:xfrm>
            <a:off x="2512049" y="4917067"/>
            <a:ext cx="1697960" cy="445119"/>
          </a:xfrm>
          <a:prstGeom prst="wedgeRoundRectCallout">
            <a:avLst>
              <a:gd name="adj1" fmla="val 63823"/>
              <a:gd name="adj2" fmla="val -16611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</a:t>
            </a:r>
            <a:r>
              <a:rPr lang="en-US" altLang="zh-TW" sz="2000" b="1" i="1" dirty="0" err="1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][</a:t>
            </a:r>
            <a:r>
              <a:rPr lang="en-US" altLang="zh-TW" sz="2000" b="1" i="1" dirty="0" err="1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– 1] = 0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8404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  <p:bldP spid="19" grpId="0"/>
      <p:bldP spid="20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最佳二元搜尋樹 </a:t>
            </a:r>
            <a:r>
              <a:rPr lang="en-US" altLang="zh-TW" dirty="0"/>
              <a:t>(8/13)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內容版面配置區 6"/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1439412" y="1432082"/>
              <a:ext cx="6291648" cy="434594"/>
            </p:xfrm>
            <a:graphic>
              <a:graphicData uri="http://schemas.openxmlformats.org/drawingml/2006/table">
                <a:tbl>
                  <a:tblPr firstRow="1" bandRow="1">
                    <a:tableStyleId>{69CF1AB2-1976-4502-BF36-3FF5EA218861}</a:tableStyleId>
                  </a:tblPr>
                  <a:tblGrid>
                    <a:gridCol w="157291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7291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7291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7291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Key[1] / </a:t>
                          </a:r>
                          <a14:m>
                            <m:oMath xmlns:m="http://schemas.openxmlformats.org/officeDocument/2006/math">
                              <m:box>
                                <m:boxPr>
                                  <m:ctrlPr>
                                    <a:rPr lang="en-US" altLang="zh-TW" sz="2000" i="1" smtClean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boxPr>
                                <m:e>
                                  <m:f>
                                    <m:fPr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𝟑</m:t>
                                      </m:r>
                                    </m:num>
                                    <m:den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𝟖</m:t>
                                      </m:r>
                                    </m:den>
                                  </m:f>
                                </m:e>
                              </m:box>
                            </m:oMath>
                          </a14:m>
                          <a:endParaRPr lang="zh-TW" altLang="en-US" sz="200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Key[2] / </a:t>
                          </a:r>
                          <a14:m>
                            <m:oMath xmlns:m="http://schemas.openxmlformats.org/officeDocument/2006/math">
                              <m:box>
                                <m:boxPr>
                                  <m:ctrlPr>
                                    <a:rPr lang="en-US" altLang="zh-TW" sz="2000" i="1" smtClean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boxPr>
                                <m:e>
                                  <m:f>
                                    <m:fPr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𝟑</m:t>
                                      </m:r>
                                    </m:num>
                                    <m:den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𝟖</m:t>
                                      </m:r>
                                    </m:den>
                                  </m:f>
                                </m:e>
                              </m:box>
                            </m:oMath>
                          </a14:m>
                          <a:endParaRPr lang="zh-TW" altLang="en-US" sz="200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Key[3] / </a:t>
                          </a:r>
                          <a14:m>
                            <m:oMath xmlns:m="http://schemas.openxmlformats.org/officeDocument/2006/math">
                              <m:box>
                                <m:boxPr>
                                  <m:ctrlPr>
                                    <a:rPr lang="en-US" altLang="zh-TW" sz="2000" i="1" smtClean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boxPr>
                                <m:e>
                                  <m:f>
                                    <m:fPr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𝟏</m:t>
                                      </m:r>
                                    </m:num>
                                    <m:den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𝟖</m:t>
                                      </m:r>
                                    </m:den>
                                  </m:f>
                                </m:e>
                              </m:box>
                            </m:oMath>
                          </a14:m>
                          <a:endParaRPr lang="zh-TW" altLang="en-US" sz="200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Key[4] / </a:t>
                          </a:r>
                          <a14:m>
                            <m:oMath xmlns:m="http://schemas.openxmlformats.org/officeDocument/2006/math">
                              <m:box>
                                <m:boxPr>
                                  <m:ctrlPr>
                                    <a:rPr lang="en-US" altLang="zh-TW" sz="2000" i="1" smtClean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boxPr>
                                <m:e>
                                  <m:f>
                                    <m:fPr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𝟏</m:t>
                                      </m:r>
                                    </m:num>
                                    <m:den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𝟖</m:t>
                                      </m:r>
                                    </m:den>
                                  </m:f>
                                </m:e>
                              </m:box>
                            </m:oMath>
                          </a14:m>
                          <a:endParaRPr lang="zh-TW" altLang="en-US" sz="200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內容版面配置區 6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035373331"/>
                  </p:ext>
                </p:extLst>
              </p:nvPr>
            </p:nvGraphicFramePr>
            <p:xfrm>
              <a:off x="1439412" y="1432082"/>
              <a:ext cx="6291648" cy="434594"/>
            </p:xfrm>
            <a:graphic>
              <a:graphicData uri="http://schemas.openxmlformats.org/drawingml/2006/table">
                <a:tbl>
                  <a:tblPr firstRow="1" bandRow="1">
                    <a:tableStyleId>{69CF1AB2-1976-4502-BF36-3FF5EA218861}</a:tableStyleId>
                  </a:tblPr>
                  <a:tblGrid>
                    <a:gridCol w="1572912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1572912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1572912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  <a:gridCol w="1572912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3"/>
                        </a:ext>
                      </a:extLst>
                    </a:gridCol>
                  </a:tblGrid>
                  <a:tr h="434594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388" t="-5479" r="-301163" b="-164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100000" t="-5479" r="-200000" b="-164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200775" t="-5479" r="-100775" b="-164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300775" t="-5479" r="-775" b="-164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69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1439412" y="1866676"/>
                <a:ext cx="5983882" cy="6383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𝑨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</m:e>
                      </m:d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2000" b="1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altLang="zh-TW" sz="2000" b="1" i="0" smtClean="0">
                                  <a:latin typeface="Cambria Math" panose="02040503050406030204" pitchFamily="18" charset="0"/>
                                </a:rPr>
                                <m:t>𝐦𝐢𝐧</m:t>
                              </m:r>
                            </m:e>
                            <m:lim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𝒌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𝒋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e>
                              </m:d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d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d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d>
                        </m:e>
                      </m:func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  <m:sup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TW" alt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9412" y="1866676"/>
                <a:ext cx="5983882" cy="63838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字方塊 8"/>
          <p:cNvSpPr txBox="1"/>
          <p:nvPr/>
        </p:nvSpPr>
        <p:spPr>
          <a:xfrm>
            <a:off x="1439412" y="2548367"/>
            <a:ext cx="16882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zh-TW" sz="20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1] = 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3764338" y="2542962"/>
            <a:ext cx="16417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+ 1][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= 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6042777" y="2549140"/>
            <a:ext cx="13244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zh-TW" sz="20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000" b="1" i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zh-TW" altLang="en-US" sz="2000" b="1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1439412" y="3136978"/>
          <a:ext cx="6096000" cy="23774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14" name="直線接點 13"/>
          <p:cNvCxnSpPr/>
          <p:nvPr/>
        </p:nvCxnSpPr>
        <p:spPr>
          <a:xfrm>
            <a:off x="3454336" y="3538743"/>
            <a:ext cx="4081076" cy="1578379"/>
          </a:xfrm>
          <a:prstGeom prst="line">
            <a:avLst/>
          </a:prstGeom>
          <a:ln w="762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/>
          <p:cNvSpPr txBox="1"/>
          <p:nvPr/>
        </p:nvSpPr>
        <p:spPr>
          <a:xfrm>
            <a:off x="2802433" y="353819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3815837" y="3925948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4833060" y="4329258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5846464" y="471701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6888690" y="511712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圓角矩形圖說文字 19"/>
          <p:cNvSpPr/>
          <p:nvPr/>
        </p:nvSpPr>
        <p:spPr>
          <a:xfrm>
            <a:off x="2685043" y="4595569"/>
            <a:ext cx="1697960" cy="445119"/>
          </a:xfrm>
          <a:prstGeom prst="wedgeRoundRectCallout">
            <a:avLst>
              <a:gd name="adj1" fmla="val 63823"/>
              <a:gd name="adj2" fmla="val -16611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</a:t>
            </a:r>
            <a:r>
              <a:rPr lang="en-US" altLang="zh-TW" sz="2000" b="1" i="1" dirty="0" err="1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][</a:t>
            </a:r>
            <a:r>
              <a:rPr lang="en-US" altLang="zh-TW" sz="2000" b="1" i="1" dirty="0" err="1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] =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</a:t>
            </a:r>
            <a:r>
              <a:rPr lang="en-US" altLang="zh-TW" sz="2000" b="1" i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endParaRPr lang="zh-TW" altLang="en-US" sz="2000" b="1" i="1" baseline="-25000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/>
              <p:cNvSpPr txBox="1"/>
              <p:nvPr/>
            </p:nvSpPr>
            <p:spPr>
              <a:xfrm>
                <a:off x="3681986" y="3475242"/>
                <a:ext cx="580608" cy="4925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box>
                      <m:boxPr>
                        <m:ctrlPr>
                          <a:rPr lang="en-US" altLang="zh-TW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oxPr>
                      <m:e>
                        <m:f>
                          <m:fPr>
                            <m:ctrlPr>
                              <a:rPr lang="en-US" altLang="zh-TW" b="1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1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𝟑</m:t>
                            </m:r>
                          </m:num>
                          <m:den>
                            <m:r>
                              <a:rPr lang="en-US" altLang="zh-TW" b="1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𝟖</m:t>
                            </m:r>
                          </m:den>
                        </m:f>
                      </m:e>
                    </m:box>
                  </m:oMath>
                </a14:m>
                <a:r>
                  <a:rPr lang="en-US" altLang="zh-TW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/ 1</a:t>
                </a:r>
                <a:endParaRPr lang="zh-TW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文字方塊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1986" y="3475242"/>
                <a:ext cx="580608" cy="492507"/>
              </a:xfrm>
              <a:prstGeom prst="rect">
                <a:avLst/>
              </a:prstGeom>
              <a:blipFill rotWithShape="0">
                <a:blip r:embed="rId4"/>
                <a:stretch>
                  <a:fillRect r="-7368" b="-61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/>
              <p:cNvSpPr txBox="1"/>
              <p:nvPr/>
            </p:nvSpPr>
            <p:spPr>
              <a:xfrm>
                <a:off x="4699209" y="3882702"/>
                <a:ext cx="580608" cy="4925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box>
                      <m:boxPr>
                        <m:ctrlPr>
                          <a:rPr lang="en-US" altLang="zh-TW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oxPr>
                      <m:e>
                        <m:f>
                          <m:fPr>
                            <m:ctrlPr>
                              <a:rPr lang="en-US" altLang="zh-TW" b="1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1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𝟑</m:t>
                            </m:r>
                          </m:num>
                          <m:den>
                            <m:r>
                              <a:rPr lang="en-US" altLang="zh-TW" b="1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𝟖</m:t>
                            </m:r>
                          </m:den>
                        </m:f>
                      </m:e>
                    </m:box>
                  </m:oMath>
                </a14:m>
                <a:r>
                  <a:rPr lang="en-US" altLang="zh-TW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/ 2</a:t>
                </a:r>
                <a:endParaRPr lang="zh-TW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" name="文字方塊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9209" y="3882702"/>
                <a:ext cx="580608" cy="492507"/>
              </a:xfrm>
              <a:prstGeom prst="rect">
                <a:avLst/>
              </a:prstGeom>
              <a:blipFill rotWithShape="0">
                <a:blip r:embed="rId5"/>
                <a:stretch>
                  <a:fillRect r="-7368" b="-61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/>
              <p:cNvSpPr txBox="1"/>
              <p:nvPr/>
            </p:nvSpPr>
            <p:spPr>
              <a:xfrm>
                <a:off x="5712613" y="4283059"/>
                <a:ext cx="580608" cy="4925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box>
                      <m:boxPr>
                        <m:ctrlPr>
                          <a:rPr lang="en-US" altLang="zh-TW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oxPr>
                      <m:e>
                        <m:f>
                          <m:fPr>
                            <m:ctrlPr>
                              <a:rPr lang="en-US" altLang="zh-TW" b="1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1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altLang="zh-TW" b="1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𝟖</m:t>
                            </m:r>
                          </m:den>
                        </m:f>
                      </m:e>
                    </m:box>
                  </m:oMath>
                </a14:m>
                <a:r>
                  <a:rPr lang="en-US" altLang="zh-TW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/ 3</a:t>
                </a:r>
                <a:endParaRPr lang="zh-TW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6" name="文字方塊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2613" y="4283059"/>
                <a:ext cx="580608" cy="492507"/>
              </a:xfrm>
              <a:prstGeom prst="rect">
                <a:avLst/>
              </a:prstGeom>
              <a:blipFill rotWithShape="0">
                <a:blip r:embed="rId6"/>
                <a:stretch>
                  <a:fillRect r="-8421" b="-75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/>
              <p:cNvSpPr txBox="1"/>
              <p:nvPr/>
            </p:nvSpPr>
            <p:spPr>
              <a:xfrm>
                <a:off x="6754839" y="4665788"/>
                <a:ext cx="580608" cy="4925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box>
                      <m:boxPr>
                        <m:ctrlPr>
                          <a:rPr lang="en-US" altLang="zh-TW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oxPr>
                      <m:e>
                        <m:f>
                          <m:fPr>
                            <m:ctrlPr>
                              <a:rPr lang="en-US" altLang="zh-TW" b="1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1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altLang="zh-TW" b="1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𝟖</m:t>
                            </m:r>
                          </m:den>
                        </m:f>
                      </m:e>
                    </m:box>
                  </m:oMath>
                </a14:m>
                <a:r>
                  <a:rPr lang="en-US" altLang="zh-TW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/ 4</a:t>
                </a:r>
                <a:endParaRPr lang="zh-TW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" name="文字方塊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4839" y="4665788"/>
                <a:ext cx="580608" cy="492507"/>
              </a:xfrm>
              <a:prstGeom prst="rect">
                <a:avLst/>
              </a:prstGeom>
              <a:blipFill rotWithShape="0">
                <a:blip r:embed="rId7"/>
                <a:stretch>
                  <a:fillRect r="-8421" b="-61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6131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/>
      <p:bldP spid="25" grpId="0"/>
      <p:bldP spid="26" grpId="0"/>
      <p:bldP spid="27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最佳二元搜尋樹 </a:t>
            </a:r>
            <a:r>
              <a:rPr lang="en-US" altLang="zh-TW" dirty="0"/>
              <a:t>(9/13)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內容版面配置區 6"/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1439412" y="1453806"/>
              <a:ext cx="6291648" cy="434594"/>
            </p:xfrm>
            <a:graphic>
              <a:graphicData uri="http://schemas.openxmlformats.org/drawingml/2006/table">
                <a:tbl>
                  <a:tblPr firstRow="1" bandRow="1">
                    <a:tableStyleId>{69CF1AB2-1976-4502-BF36-3FF5EA218861}</a:tableStyleId>
                  </a:tblPr>
                  <a:tblGrid>
                    <a:gridCol w="157291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7291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7291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7291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Key[1] / </a:t>
                          </a:r>
                          <a14:m>
                            <m:oMath xmlns:m="http://schemas.openxmlformats.org/officeDocument/2006/math">
                              <m:box>
                                <m:boxPr>
                                  <m:ctrlPr>
                                    <a:rPr lang="en-US" altLang="zh-TW" sz="2000" i="1" smtClean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boxPr>
                                <m:e>
                                  <m:f>
                                    <m:fPr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𝟑</m:t>
                                      </m:r>
                                    </m:num>
                                    <m:den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𝟖</m:t>
                                      </m:r>
                                    </m:den>
                                  </m:f>
                                </m:e>
                              </m:box>
                            </m:oMath>
                          </a14:m>
                          <a:endParaRPr lang="zh-TW" altLang="en-US" sz="200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Key[2] / </a:t>
                          </a:r>
                          <a14:m>
                            <m:oMath xmlns:m="http://schemas.openxmlformats.org/officeDocument/2006/math">
                              <m:box>
                                <m:boxPr>
                                  <m:ctrlPr>
                                    <a:rPr lang="en-US" altLang="zh-TW" sz="2000" i="1" smtClean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boxPr>
                                <m:e>
                                  <m:f>
                                    <m:fPr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𝟑</m:t>
                                      </m:r>
                                    </m:num>
                                    <m:den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𝟖</m:t>
                                      </m:r>
                                    </m:den>
                                  </m:f>
                                </m:e>
                              </m:box>
                            </m:oMath>
                          </a14:m>
                          <a:endParaRPr lang="zh-TW" altLang="en-US" sz="200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Key[3] / </a:t>
                          </a:r>
                          <a14:m>
                            <m:oMath xmlns:m="http://schemas.openxmlformats.org/officeDocument/2006/math">
                              <m:box>
                                <m:boxPr>
                                  <m:ctrlPr>
                                    <a:rPr lang="en-US" altLang="zh-TW" sz="2000" i="1" smtClean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boxPr>
                                <m:e>
                                  <m:f>
                                    <m:fPr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𝟏</m:t>
                                      </m:r>
                                    </m:num>
                                    <m:den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𝟖</m:t>
                                      </m:r>
                                    </m:den>
                                  </m:f>
                                </m:e>
                              </m:box>
                            </m:oMath>
                          </a14:m>
                          <a:endParaRPr lang="zh-TW" altLang="en-US" sz="200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Key[4] / </a:t>
                          </a:r>
                          <a14:m>
                            <m:oMath xmlns:m="http://schemas.openxmlformats.org/officeDocument/2006/math">
                              <m:box>
                                <m:boxPr>
                                  <m:ctrlPr>
                                    <a:rPr lang="en-US" altLang="zh-TW" sz="2000" i="1" smtClean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boxPr>
                                <m:e>
                                  <m:f>
                                    <m:fPr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𝟏</m:t>
                                      </m:r>
                                    </m:num>
                                    <m:den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𝟖</m:t>
                                      </m:r>
                                    </m:den>
                                  </m:f>
                                </m:e>
                              </m:box>
                            </m:oMath>
                          </a14:m>
                          <a:endParaRPr lang="zh-TW" altLang="en-US" sz="200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內容版面配置區 6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852117407"/>
                  </p:ext>
                </p:extLst>
              </p:nvPr>
            </p:nvGraphicFramePr>
            <p:xfrm>
              <a:off x="1439412" y="1453806"/>
              <a:ext cx="6291648" cy="434594"/>
            </p:xfrm>
            <a:graphic>
              <a:graphicData uri="http://schemas.openxmlformats.org/drawingml/2006/table">
                <a:tbl>
                  <a:tblPr firstRow="1" bandRow="1">
                    <a:tableStyleId>{69CF1AB2-1976-4502-BF36-3FF5EA218861}</a:tableStyleId>
                  </a:tblPr>
                  <a:tblGrid>
                    <a:gridCol w="1572912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1572912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1572912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  <a:gridCol w="1572912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3"/>
                        </a:ext>
                      </a:extLst>
                    </a:gridCol>
                  </a:tblGrid>
                  <a:tr h="434594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388" t="-5556" r="-301163" b="-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100000" t="-5556" r="-200000" b="-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200775" t="-5556" r="-100775" b="-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300775" t="-5556" r="-775" b="-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70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1439412" y="1888400"/>
                <a:ext cx="5983882" cy="6383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𝑨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</m:e>
                      </m:d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2000" b="1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altLang="zh-TW" sz="2000" b="1" i="0" smtClean="0">
                                  <a:latin typeface="Cambria Math" panose="02040503050406030204" pitchFamily="18" charset="0"/>
                                </a:rPr>
                                <m:t>𝐦𝐢𝐧</m:t>
                              </m:r>
                            </m:e>
                            <m:lim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𝒌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𝒋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e>
                              </m:d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d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d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d>
                        </m:e>
                      </m:func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  <m:sup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TW" alt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9412" y="1888400"/>
                <a:ext cx="5983882" cy="63838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字方塊 8"/>
          <p:cNvSpPr txBox="1"/>
          <p:nvPr/>
        </p:nvSpPr>
        <p:spPr>
          <a:xfrm>
            <a:off x="1439412" y="2570091"/>
            <a:ext cx="16882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zh-TW" sz="20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1] = 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3764338" y="2564686"/>
            <a:ext cx="16417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+ 1][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= 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6042777" y="2570864"/>
            <a:ext cx="13244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zh-TW" sz="20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000" b="1" i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zh-TW" altLang="en-US" sz="2000" b="1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1439412" y="3158702"/>
          <a:ext cx="6096000" cy="23774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14" name="直線接點 13"/>
          <p:cNvCxnSpPr/>
          <p:nvPr/>
        </p:nvCxnSpPr>
        <p:spPr>
          <a:xfrm>
            <a:off x="4464630" y="3559918"/>
            <a:ext cx="3070782" cy="1176004"/>
          </a:xfrm>
          <a:prstGeom prst="line">
            <a:avLst/>
          </a:prstGeom>
          <a:ln w="762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/>
          <p:cNvSpPr txBox="1"/>
          <p:nvPr/>
        </p:nvSpPr>
        <p:spPr>
          <a:xfrm>
            <a:off x="2802433" y="3559918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3815837" y="394767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4833060" y="435098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5846464" y="473873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6888690" y="513884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圓角矩形圖說文字 19"/>
          <p:cNvSpPr/>
          <p:nvPr/>
        </p:nvSpPr>
        <p:spPr>
          <a:xfrm>
            <a:off x="4431353" y="4817881"/>
            <a:ext cx="1131612" cy="445119"/>
          </a:xfrm>
          <a:prstGeom prst="wedgeRoundRectCallout">
            <a:avLst>
              <a:gd name="adj1" fmla="val 63823"/>
              <a:gd name="adj2" fmla="val -16611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[2][3]</a:t>
            </a:r>
            <a:endParaRPr lang="zh-TW" altLang="en-US" sz="2000" b="1" i="1" baseline="-25000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/>
              <p:cNvSpPr txBox="1"/>
              <p:nvPr/>
            </p:nvSpPr>
            <p:spPr>
              <a:xfrm>
                <a:off x="3681986" y="3496966"/>
                <a:ext cx="580608" cy="4925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box>
                      <m:boxPr>
                        <m:ctrlPr>
                          <a:rPr lang="en-US" altLang="zh-TW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oxPr>
                      <m:e>
                        <m:f>
                          <m:fPr>
                            <m:ctrlPr>
                              <a:rPr lang="en-US" altLang="zh-TW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𝟑</m:t>
                            </m:r>
                          </m:num>
                          <m:den>
                            <m:r>
                              <a:rPr lang="en-US" altLang="zh-TW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𝟖</m:t>
                            </m:r>
                          </m:den>
                        </m:f>
                      </m:e>
                    </m:box>
                  </m:oMath>
                </a14:m>
                <a:r>
                  <a:rPr lang="en-US" altLang="zh-TW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/ 1</a:t>
                </a:r>
                <a:endParaRPr lang="zh-TW" alt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文字方塊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1986" y="3496966"/>
                <a:ext cx="580608" cy="492507"/>
              </a:xfrm>
              <a:prstGeom prst="rect">
                <a:avLst/>
              </a:prstGeom>
              <a:blipFill rotWithShape="0">
                <a:blip r:embed="rId4"/>
                <a:stretch>
                  <a:fillRect r="-7368" b="-75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/>
              <p:cNvSpPr txBox="1"/>
              <p:nvPr/>
            </p:nvSpPr>
            <p:spPr>
              <a:xfrm>
                <a:off x="4699209" y="3904426"/>
                <a:ext cx="580608" cy="4925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box>
                      <m:boxPr>
                        <m:ctrlPr>
                          <a:rPr lang="en-US" altLang="zh-TW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oxPr>
                      <m:e>
                        <m:f>
                          <m:fPr>
                            <m:ctrlPr>
                              <a:rPr lang="en-US" altLang="zh-TW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𝟑</m:t>
                            </m:r>
                          </m:num>
                          <m:den>
                            <m:r>
                              <a:rPr lang="en-US" altLang="zh-TW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𝟖</m:t>
                            </m:r>
                          </m:den>
                        </m:f>
                      </m:e>
                    </m:box>
                  </m:oMath>
                </a14:m>
                <a:r>
                  <a:rPr lang="en-US" altLang="zh-TW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/ 2</a:t>
                </a:r>
                <a:endParaRPr lang="zh-TW" alt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" name="文字方塊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9209" y="3904426"/>
                <a:ext cx="580608" cy="492507"/>
              </a:xfrm>
              <a:prstGeom prst="rect">
                <a:avLst/>
              </a:prstGeom>
              <a:blipFill rotWithShape="0">
                <a:blip r:embed="rId5"/>
                <a:stretch>
                  <a:fillRect r="-7368" b="-61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/>
              <p:cNvSpPr txBox="1"/>
              <p:nvPr/>
            </p:nvSpPr>
            <p:spPr>
              <a:xfrm>
                <a:off x="5712613" y="4304783"/>
                <a:ext cx="580608" cy="4925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box>
                      <m:boxPr>
                        <m:ctrlPr>
                          <a:rPr lang="en-US" altLang="zh-TW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oxPr>
                      <m:e>
                        <m:f>
                          <m:fPr>
                            <m:ctrlPr>
                              <a:rPr lang="en-US" altLang="zh-TW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altLang="zh-TW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𝟖</m:t>
                            </m:r>
                          </m:den>
                        </m:f>
                      </m:e>
                    </m:box>
                  </m:oMath>
                </a14:m>
                <a:r>
                  <a:rPr lang="en-US" altLang="zh-TW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/ 3</a:t>
                </a:r>
                <a:endParaRPr lang="zh-TW" alt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6" name="文字方塊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2613" y="4304783"/>
                <a:ext cx="580608" cy="492507"/>
              </a:xfrm>
              <a:prstGeom prst="rect">
                <a:avLst/>
              </a:prstGeom>
              <a:blipFill rotWithShape="0">
                <a:blip r:embed="rId6"/>
                <a:stretch>
                  <a:fillRect r="-8421" b="-61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/>
              <p:cNvSpPr txBox="1"/>
              <p:nvPr/>
            </p:nvSpPr>
            <p:spPr>
              <a:xfrm>
                <a:off x="6754839" y="4687512"/>
                <a:ext cx="580608" cy="4925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box>
                      <m:boxPr>
                        <m:ctrlPr>
                          <a:rPr lang="en-US" altLang="zh-TW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oxPr>
                      <m:e>
                        <m:f>
                          <m:fPr>
                            <m:ctrlPr>
                              <a:rPr lang="en-US" altLang="zh-TW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altLang="zh-TW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𝟖</m:t>
                            </m:r>
                          </m:den>
                        </m:f>
                      </m:e>
                    </m:box>
                  </m:oMath>
                </a14:m>
                <a:r>
                  <a:rPr lang="en-US" altLang="zh-TW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/ 4</a:t>
                </a:r>
                <a:endParaRPr lang="zh-TW" alt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" name="文字方塊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4839" y="4687512"/>
                <a:ext cx="580608" cy="492507"/>
              </a:xfrm>
              <a:prstGeom prst="rect">
                <a:avLst/>
              </a:prstGeom>
              <a:blipFill rotWithShape="0">
                <a:blip r:embed="rId7"/>
                <a:stretch>
                  <a:fillRect r="-8421" b="-61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/>
              <p:cNvSpPr txBox="1"/>
              <p:nvPr/>
            </p:nvSpPr>
            <p:spPr>
              <a:xfrm>
                <a:off x="4689082" y="3496966"/>
                <a:ext cx="580608" cy="4925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box>
                      <m:boxPr>
                        <m:ctrlPr>
                          <a:rPr lang="en-US" altLang="zh-TW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oxPr>
                      <m:e>
                        <m:f>
                          <m:fPr>
                            <m:ctrlPr>
                              <a:rPr lang="en-US" altLang="zh-TW" b="1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1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𝟗</m:t>
                            </m:r>
                          </m:num>
                          <m:den>
                            <m:r>
                              <a:rPr lang="en-US" altLang="zh-TW" b="1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𝟖</m:t>
                            </m:r>
                          </m:den>
                        </m:f>
                      </m:e>
                    </m:box>
                  </m:oMath>
                </a14:m>
                <a:r>
                  <a:rPr lang="en-US" altLang="zh-TW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/ 1</a:t>
                </a:r>
                <a:endParaRPr lang="zh-TW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" name="文字方塊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9082" y="3496966"/>
                <a:ext cx="580608" cy="492507"/>
              </a:xfrm>
              <a:prstGeom prst="rect">
                <a:avLst/>
              </a:prstGeom>
              <a:blipFill rotWithShape="0">
                <a:blip r:embed="rId8"/>
                <a:stretch>
                  <a:fillRect r="-8421" b="-75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/>
              <p:cNvSpPr txBox="1"/>
              <p:nvPr/>
            </p:nvSpPr>
            <p:spPr>
              <a:xfrm>
                <a:off x="5706305" y="3904426"/>
                <a:ext cx="580608" cy="4925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box>
                      <m:boxPr>
                        <m:ctrlPr>
                          <a:rPr lang="en-US" altLang="zh-TW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oxPr>
                      <m:e>
                        <m:f>
                          <m:fPr>
                            <m:ctrlPr>
                              <a:rPr lang="en-US" altLang="zh-TW" b="1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1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𝟓</m:t>
                            </m:r>
                          </m:num>
                          <m:den>
                            <m:r>
                              <a:rPr lang="en-US" altLang="zh-TW" b="1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𝟖</m:t>
                            </m:r>
                          </m:den>
                        </m:f>
                      </m:e>
                    </m:box>
                  </m:oMath>
                </a14:m>
                <a:r>
                  <a:rPr lang="en-US" altLang="zh-TW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/ 2</a:t>
                </a:r>
                <a:endParaRPr lang="zh-TW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8" name="文字方塊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6305" y="3904426"/>
                <a:ext cx="580608" cy="492507"/>
              </a:xfrm>
              <a:prstGeom prst="rect">
                <a:avLst/>
              </a:prstGeom>
              <a:blipFill rotWithShape="0">
                <a:blip r:embed="rId9"/>
                <a:stretch>
                  <a:fillRect r="-8421" b="-740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/>
              <p:cNvSpPr txBox="1"/>
              <p:nvPr/>
            </p:nvSpPr>
            <p:spPr>
              <a:xfrm>
                <a:off x="6750599" y="4304783"/>
                <a:ext cx="580608" cy="4925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box>
                      <m:boxPr>
                        <m:ctrlPr>
                          <a:rPr lang="en-US" altLang="zh-TW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oxPr>
                      <m:e>
                        <m:f>
                          <m:fPr>
                            <m:ctrlPr>
                              <a:rPr lang="en-US" altLang="zh-TW" b="1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1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𝟑</m:t>
                            </m:r>
                          </m:num>
                          <m:den>
                            <m:r>
                              <a:rPr lang="en-US" altLang="zh-TW" b="1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𝟖</m:t>
                            </m:r>
                          </m:den>
                        </m:f>
                      </m:e>
                    </m:box>
                  </m:oMath>
                </a14:m>
                <a:r>
                  <a:rPr lang="en-US" altLang="zh-TW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/ 3</a:t>
                </a:r>
                <a:endParaRPr lang="zh-TW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9" name="文字方塊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0599" y="4304783"/>
                <a:ext cx="580608" cy="492507"/>
              </a:xfrm>
              <a:prstGeom prst="rect">
                <a:avLst/>
              </a:prstGeom>
              <a:blipFill rotWithShape="0">
                <a:blip r:embed="rId10"/>
                <a:stretch>
                  <a:fillRect r="-7292" b="-61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/>
              <p:cNvSpPr txBox="1"/>
              <p:nvPr/>
            </p:nvSpPr>
            <p:spPr>
              <a:xfrm>
                <a:off x="109803" y="5594450"/>
                <a:ext cx="7923708" cy="10749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[2][3] </a:t>
                </a:r>
                <a:r>
                  <a:rPr lang="en-US" altLang="zh-TW" sz="2000" b="1" dirty="0"/>
                  <a:t>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TW" sz="2000" b="1" i="0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lang="en-US" altLang="zh-TW" sz="2000" b="1" i="0" smtClean="0">
                                <a:latin typeface="Cambria Math" panose="02040503050406030204" pitchFamily="18" charset="0"/>
                              </a:rPr>
                              <m:t>𝐦𝐢𝐧</m:t>
                            </m:r>
                          </m:e>
                          <m:lim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𝟑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e>
                                  </m:d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</m:d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e>
                                  </m:d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e>
                                  </m:d>
                                </m:e>
                              </m:mr>
                              <m:mr>
                                <m:e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e>
                                  </m:d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e>
                                  </m:d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𝟒</m:t>
                                      </m:r>
                                    </m:e>
                                  </m:d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e>
                              </m:mr>
                            </m:m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  <m:t>+ </m:t>
                        </m:r>
                        <m:d>
                          <m:dPr>
                            <m:ctrlP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num>
                              <m:den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𝟖</m:t>
                                </m:r>
                              </m:den>
                            </m:f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num>
                              <m:den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𝟖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a:rPr lang="en-US" altLang="zh-TW" sz="2000" b="1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TW" sz="2000" b="0" i="0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TW" sz="2000" b="0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𝟑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box>
                                    <m:boxPr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boxPr>
                                    <m:e>
                                      <m:f>
                                        <m:fPr>
                                          <m:ctrlP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</a:rPr>
                                            <m:t>𝟖</m:t>
                                          </m:r>
                                        </m:den>
                                      </m:f>
                                    </m:e>
                                  </m:box>
                                </m:e>
                              </m:mr>
                              <m:mr>
                                <m:e>
                                  <m:box>
                                    <m:boxPr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boxPr>
                                    <m:e>
                                      <m:f>
                                        <m:fPr>
                                          <m:ctrlP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</a:rPr>
                                            <m:t>𝟖</m:t>
                                          </m:r>
                                        </m:den>
                                      </m:f>
                                    </m:e>
                                  </m:box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box>
                          <m:boxPr>
                            <m:ctrlP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</m:ctrlPr>
                          </m:boxPr>
                          <m:e>
                            <m:f>
                              <m:f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num>
                              <m:den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𝟖</m:t>
                                </m:r>
                              </m:den>
                            </m:f>
                          </m:e>
                        </m:box>
                        <m: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𝟓</m:t>
                            </m:r>
                          </m:num>
                          <m:den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𝟖</m:t>
                            </m:r>
                          </m:den>
                        </m:f>
                      </m:e>
                    </m:func>
                  </m:oMath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13" name="文字方塊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803" y="5594450"/>
                <a:ext cx="7923708" cy="1074910"/>
              </a:xfrm>
              <a:prstGeom prst="rect">
                <a:avLst/>
              </a:prstGeom>
              <a:blipFill>
                <a:blip r:embed="rId11"/>
                <a:stretch>
                  <a:fillRect l="-76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圓角矩形圖說文字 29"/>
          <p:cNvSpPr/>
          <p:nvPr/>
        </p:nvSpPr>
        <p:spPr>
          <a:xfrm>
            <a:off x="8107191" y="4821337"/>
            <a:ext cx="825732" cy="445119"/>
          </a:xfrm>
          <a:prstGeom prst="wedgeRoundRectCallout">
            <a:avLst>
              <a:gd name="adj1" fmla="val -78761"/>
              <a:gd name="adj2" fmla="val 16840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= 2</a:t>
            </a:r>
            <a:endParaRPr lang="zh-TW" altLang="en-US" sz="2000" b="1" i="1" baseline="-25000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6466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4" grpId="0"/>
      <p:bldP spid="28" grpId="0"/>
      <p:bldP spid="29" grpId="0"/>
      <p:bldP spid="13" grpId="0"/>
      <p:bldP spid="30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最佳二元搜尋樹 </a:t>
            </a:r>
            <a:r>
              <a:rPr lang="en-US" altLang="zh-TW" dirty="0"/>
              <a:t>(10/13)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內容版面配置區 6"/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1439412" y="1340768"/>
              <a:ext cx="6291648" cy="434594"/>
            </p:xfrm>
            <a:graphic>
              <a:graphicData uri="http://schemas.openxmlformats.org/drawingml/2006/table">
                <a:tbl>
                  <a:tblPr firstRow="1" bandRow="1">
                    <a:tableStyleId>{69CF1AB2-1976-4502-BF36-3FF5EA218861}</a:tableStyleId>
                  </a:tblPr>
                  <a:tblGrid>
                    <a:gridCol w="157291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7291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7291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7291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Key[1] / </a:t>
                          </a:r>
                          <a14:m>
                            <m:oMath xmlns:m="http://schemas.openxmlformats.org/officeDocument/2006/math">
                              <m:box>
                                <m:boxPr>
                                  <m:ctrlPr>
                                    <a:rPr lang="en-US" altLang="zh-TW" sz="2000" i="1" smtClean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boxPr>
                                <m:e>
                                  <m:f>
                                    <m:fPr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𝟑</m:t>
                                      </m:r>
                                    </m:num>
                                    <m:den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𝟖</m:t>
                                      </m:r>
                                    </m:den>
                                  </m:f>
                                </m:e>
                              </m:box>
                            </m:oMath>
                          </a14:m>
                          <a:endParaRPr lang="zh-TW" altLang="en-US" sz="200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Key[2] / </a:t>
                          </a:r>
                          <a14:m>
                            <m:oMath xmlns:m="http://schemas.openxmlformats.org/officeDocument/2006/math">
                              <m:box>
                                <m:boxPr>
                                  <m:ctrlPr>
                                    <a:rPr lang="en-US" altLang="zh-TW" sz="2000" i="1" smtClean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boxPr>
                                <m:e>
                                  <m:f>
                                    <m:fPr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𝟑</m:t>
                                      </m:r>
                                    </m:num>
                                    <m:den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𝟖</m:t>
                                      </m:r>
                                    </m:den>
                                  </m:f>
                                </m:e>
                              </m:box>
                            </m:oMath>
                          </a14:m>
                          <a:endParaRPr lang="zh-TW" altLang="en-US" sz="200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Key[3] / </a:t>
                          </a:r>
                          <a14:m>
                            <m:oMath xmlns:m="http://schemas.openxmlformats.org/officeDocument/2006/math">
                              <m:box>
                                <m:boxPr>
                                  <m:ctrlPr>
                                    <a:rPr lang="en-US" altLang="zh-TW" sz="2000" i="1" smtClean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boxPr>
                                <m:e>
                                  <m:f>
                                    <m:fPr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𝟏</m:t>
                                      </m:r>
                                    </m:num>
                                    <m:den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𝟖</m:t>
                                      </m:r>
                                    </m:den>
                                  </m:f>
                                </m:e>
                              </m:box>
                            </m:oMath>
                          </a14:m>
                          <a:endParaRPr lang="zh-TW" altLang="en-US" sz="200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Key[4] / </a:t>
                          </a:r>
                          <a14:m>
                            <m:oMath xmlns:m="http://schemas.openxmlformats.org/officeDocument/2006/math">
                              <m:box>
                                <m:boxPr>
                                  <m:ctrlPr>
                                    <a:rPr lang="en-US" altLang="zh-TW" sz="2000" i="1" smtClean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boxPr>
                                <m:e>
                                  <m:f>
                                    <m:fPr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𝟏</m:t>
                                      </m:r>
                                    </m:num>
                                    <m:den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𝟖</m:t>
                                      </m:r>
                                    </m:den>
                                  </m:f>
                                </m:e>
                              </m:box>
                            </m:oMath>
                          </a14:m>
                          <a:endParaRPr lang="zh-TW" altLang="en-US" sz="200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內容版面配置區 6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413125071"/>
                  </p:ext>
                </p:extLst>
              </p:nvPr>
            </p:nvGraphicFramePr>
            <p:xfrm>
              <a:off x="1439412" y="1340768"/>
              <a:ext cx="6291648" cy="434594"/>
            </p:xfrm>
            <a:graphic>
              <a:graphicData uri="http://schemas.openxmlformats.org/drawingml/2006/table">
                <a:tbl>
                  <a:tblPr firstRow="1" bandRow="1">
                    <a:tableStyleId>{69CF1AB2-1976-4502-BF36-3FF5EA218861}</a:tableStyleId>
                  </a:tblPr>
                  <a:tblGrid>
                    <a:gridCol w="1572912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1572912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1572912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  <a:gridCol w="1572912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3"/>
                        </a:ext>
                      </a:extLst>
                    </a:gridCol>
                  </a:tblGrid>
                  <a:tr h="434594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388" t="-5479" r="-301163" b="-164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100000" t="-5479" r="-200000" b="-164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200775" t="-5479" r="-100775" b="-164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300775" t="-5479" r="-775" b="-164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71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1439412" y="1775362"/>
                <a:ext cx="5983882" cy="6383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𝑨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</m:e>
                      </m:d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2000" b="1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altLang="zh-TW" sz="2000" b="1" i="0" smtClean="0">
                                  <a:latin typeface="Cambria Math" panose="02040503050406030204" pitchFamily="18" charset="0"/>
                                </a:rPr>
                                <m:t>𝐦𝐢𝐧</m:t>
                              </m:r>
                            </m:e>
                            <m:lim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𝒌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𝒋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e>
                              </m:d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d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d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d>
                        </m:e>
                      </m:func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  <m:sup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TW" alt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9412" y="1775362"/>
                <a:ext cx="5983882" cy="63838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字方塊 8"/>
          <p:cNvSpPr txBox="1"/>
          <p:nvPr/>
        </p:nvSpPr>
        <p:spPr>
          <a:xfrm>
            <a:off x="1439412" y="2457053"/>
            <a:ext cx="16882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zh-TW" sz="20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1] = 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3764338" y="2451648"/>
            <a:ext cx="16417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+ 1][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= 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6042777" y="2457826"/>
            <a:ext cx="13244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zh-TW" sz="20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000" b="1" i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zh-TW" altLang="en-US" sz="2000" b="1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1439412" y="2885696"/>
          <a:ext cx="6096000" cy="23774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14" name="直線接點 13"/>
          <p:cNvCxnSpPr>
            <a:endCxn id="12" idx="3"/>
          </p:cNvCxnSpPr>
          <p:nvPr/>
        </p:nvCxnSpPr>
        <p:spPr>
          <a:xfrm>
            <a:off x="5505512" y="3300482"/>
            <a:ext cx="2029900" cy="773934"/>
          </a:xfrm>
          <a:prstGeom prst="line">
            <a:avLst/>
          </a:prstGeom>
          <a:ln w="762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/>
          <p:cNvSpPr txBox="1"/>
          <p:nvPr/>
        </p:nvSpPr>
        <p:spPr>
          <a:xfrm>
            <a:off x="2802433" y="328691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3815837" y="367466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4833060" y="407797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5846464" y="446573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6888690" y="486584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圓角矩形圖說文字 19"/>
          <p:cNvSpPr/>
          <p:nvPr/>
        </p:nvSpPr>
        <p:spPr>
          <a:xfrm>
            <a:off x="7731060" y="2756940"/>
            <a:ext cx="1131612" cy="445119"/>
          </a:xfrm>
          <a:prstGeom prst="wedgeRoundRectCallout">
            <a:avLst>
              <a:gd name="adj1" fmla="val -90143"/>
              <a:gd name="adj2" fmla="val 17950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[2][4]</a:t>
            </a:r>
            <a:endParaRPr lang="zh-TW" altLang="en-US" sz="2000" b="1" i="1" baseline="-25000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/>
              <p:cNvSpPr txBox="1"/>
              <p:nvPr/>
            </p:nvSpPr>
            <p:spPr>
              <a:xfrm>
                <a:off x="3681986" y="3223960"/>
                <a:ext cx="580608" cy="4925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box>
                      <m:boxPr>
                        <m:ctrlPr>
                          <a:rPr lang="en-US" altLang="zh-TW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oxPr>
                      <m:e>
                        <m:f>
                          <m:fPr>
                            <m:ctrlPr>
                              <a:rPr lang="en-US" altLang="zh-TW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𝟑</m:t>
                            </m:r>
                          </m:num>
                          <m:den>
                            <m:r>
                              <a:rPr lang="en-US" altLang="zh-TW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𝟖</m:t>
                            </m:r>
                          </m:den>
                        </m:f>
                      </m:e>
                    </m:box>
                  </m:oMath>
                </a14:m>
                <a:r>
                  <a:rPr lang="en-US" altLang="zh-TW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/ 1</a:t>
                </a:r>
                <a:endParaRPr lang="zh-TW" alt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文字方塊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1986" y="3223960"/>
                <a:ext cx="580608" cy="492507"/>
              </a:xfrm>
              <a:prstGeom prst="rect">
                <a:avLst/>
              </a:prstGeom>
              <a:blipFill rotWithShape="0">
                <a:blip r:embed="rId4"/>
                <a:stretch>
                  <a:fillRect r="-7368" b="-61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/>
              <p:cNvSpPr txBox="1"/>
              <p:nvPr/>
            </p:nvSpPr>
            <p:spPr>
              <a:xfrm>
                <a:off x="4699209" y="3631420"/>
                <a:ext cx="580608" cy="4925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box>
                      <m:boxPr>
                        <m:ctrlPr>
                          <a:rPr lang="en-US" altLang="zh-TW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oxPr>
                      <m:e>
                        <m:f>
                          <m:fPr>
                            <m:ctrlPr>
                              <a:rPr lang="en-US" altLang="zh-TW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𝟑</m:t>
                            </m:r>
                          </m:num>
                          <m:den>
                            <m:r>
                              <a:rPr lang="en-US" altLang="zh-TW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𝟖</m:t>
                            </m:r>
                          </m:den>
                        </m:f>
                      </m:e>
                    </m:box>
                  </m:oMath>
                </a14:m>
                <a:r>
                  <a:rPr lang="en-US" altLang="zh-TW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/ 2</a:t>
                </a:r>
                <a:endParaRPr lang="zh-TW" alt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" name="文字方塊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9209" y="3631420"/>
                <a:ext cx="580608" cy="492507"/>
              </a:xfrm>
              <a:prstGeom prst="rect">
                <a:avLst/>
              </a:prstGeom>
              <a:blipFill rotWithShape="0">
                <a:blip r:embed="rId5"/>
                <a:stretch>
                  <a:fillRect r="-7368" b="-75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/>
              <p:cNvSpPr txBox="1"/>
              <p:nvPr/>
            </p:nvSpPr>
            <p:spPr>
              <a:xfrm>
                <a:off x="5712613" y="4031777"/>
                <a:ext cx="580608" cy="4925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box>
                      <m:boxPr>
                        <m:ctrlPr>
                          <a:rPr lang="en-US" altLang="zh-TW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oxPr>
                      <m:e>
                        <m:f>
                          <m:fPr>
                            <m:ctrlPr>
                              <a:rPr lang="en-US" altLang="zh-TW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altLang="zh-TW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𝟖</m:t>
                            </m:r>
                          </m:den>
                        </m:f>
                      </m:e>
                    </m:box>
                  </m:oMath>
                </a14:m>
                <a:r>
                  <a:rPr lang="en-US" altLang="zh-TW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/ 3</a:t>
                </a:r>
                <a:endParaRPr lang="zh-TW" alt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6" name="文字方塊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2613" y="4031777"/>
                <a:ext cx="580608" cy="492507"/>
              </a:xfrm>
              <a:prstGeom prst="rect">
                <a:avLst/>
              </a:prstGeom>
              <a:blipFill rotWithShape="0">
                <a:blip r:embed="rId6"/>
                <a:stretch>
                  <a:fillRect r="-8421" b="-61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/>
              <p:cNvSpPr txBox="1"/>
              <p:nvPr/>
            </p:nvSpPr>
            <p:spPr>
              <a:xfrm>
                <a:off x="6754839" y="4414506"/>
                <a:ext cx="580608" cy="4925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box>
                      <m:boxPr>
                        <m:ctrlPr>
                          <a:rPr lang="en-US" altLang="zh-TW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oxPr>
                      <m:e>
                        <m:f>
                          <m:fPr>
                            <m:ctrlPr>
                              <a:rPr lang="en-US" altLang="zh-TW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altLang="zh-TW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𝟖</m:t>
                            </m:r>
                          </m:den>
                        </m:f>
                      </m:e>
                    </m:box>
                  </m:oMath>
                </a14:m>
                <a:r>
                  <a:rPr lang="en-US" altLang="zh-TW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/ 4</a:t>
                </a:r>
                <a:endParaRPr lang="zh-TW" alt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" name="文字方塊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4839" y="4414506"/>
                <a:ext cx="580608" cy="492507"/>
              </a:xfrm>
              <a:prstGeom prst="rect">
                <a:avLst/>
              </a:prstGeom>
              <a:blipFill rotWithShape="0">
                <a:blip r:embed="rId7"/>
                <a:stretch>
                  <a:fillRect r="-8421" b="-61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/>
              <p:cNvSpPr txBox="1"/>
              <p:nvPr/>
            </p:nvSpPr>
            <p:spPr>
              <a:xfrm>
                <a:off x="4689082" y="3223960"/>
                <a:ext cx="580608" cy="4925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box>
                      <m:boxPr>
                        <m:ctrlPr>
                          <a:rPr lang="en-US" altLang="zh-TW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oxPr>
                      <m:e>
                        <m:f>
                          <m:fPr>
                            <m:ctrlPr>
                              <a:rPr lang="en-US" altLang="zh-TW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𝟗</m:t>
                            </m:r>
                          </m:num>
                          <m:den>
                            <m:r>
                              <a:rPr lang="en-US" altLang="zh-TW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𝟖</m:t>
                            </m:r>
                          </m:den>
                        </m:f>
                      </m:e>
                    </m:box>
                  </m:oMath>
                </a14:m>
                <a:r>
                  <a:rPr lang="en-US" altLang="zh-TW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/ 1</a:t>
                </a:r>
                <a:endParaRPr lang="zh-TW" alt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" name="文字方塊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9082" y="3223960"/>
                <a:ext cx="580608" cy="492507"/>
              </a:xfrm>
              <a:prstGeom prst="rect">
                <a:avLst/>
              </a:prstGeom>
              <a:blipFill rotWithShape="0">
                <a:blip r:embed="rId8"/>
                <a:stretch>
                  <a:fillRect r="-8421" b="-61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/>
              <p:cNvSpPr txBox="1"/>
              <p:nvPr/>
            </p:nvSpPr>
            <p:spPr>
              <a:xfrm>
                <a:off x="5706305" y="3631420"/>
                <a:ext cx="580608" cy="4925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box>
                      <m:boxPr>
                        <m:ctrlPr>
                          <a:rPr lang="en-US" altLang="zh-TW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oxPr>
                      <m:e>
                        <m:f>
                          <m:fPr>
                            <m:ctrlPr>
                              <a:rPr lang="en-US" altLang="zh-TW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𝟓</m:t>
                            </m:r>
                          </m:num>
                          <m:den>
                            <m:r>
                              <a:rPr lang="en-US" altLang="zh-TW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𝟖</m:t>
                            </m:r>
                          </m:den>
                        </m:f>
                      </m:e>
                    </m:box>
                  </m:oMath>
                </a14:m>
                <a:r>
                  <a:rPr lang="en-US" altLang="zh-TW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/ 2</a:t>
                </a:r>
                <a:endParaRPr lang="zh-TW" alt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8" name="文字方塊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6305" y="3631420"/>
                <a:ext cx="580608" cy="492507"/>
              </a:xfrm>
              <a:prstGeom prst="rect">
                <a:avLst/>
              </a:prstGeom>
              <a:blipFill rotWithShape="0">
                <a:blip r:embed="rId9"/>
                <a:stretch>
                  <a:fillRect r="-8421" b="-87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/>
              <p:cNvSpPr txBox="1"/>
              <p:nvPr/>
            </p:nvSpPr>
            <p:spPr>
              <a:xfrm>
                <a:off x="6750599" y="4031777"/>
                <a:ext cx="580608" cy="4925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box>
                      <m:boxPr>
                        <m:ctrlPr>
                          <a:rPr lang="en-US" altLang="zh-TW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oxPr>
                      <m:e>
                        <m:f>
                          <m:fPr>
                            <m:ctrlPr>
                              <a:rPr lang="en-US" altLang="zh-TW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𝟑</m:t>
                            </m:r>
                          </m:num>
                          <m:den>
                            <m:r>
                              <a:rPr lang="en-US" altLang="zh-TW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𝟖</m:t>
                            </m:r>
                          </m:den>
                        </m:f>
                      </m:e>
                    </m:box>
                  </m:oMath>
                </a14:m>
                <a:r>
                  <a:rPr lang="en-US" altLang="zh-TW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/ 3</a:t>
                </a:r>
                <a:endParaRPr lang="zh-TW" alt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9" name="文字方塊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0599" y="4031777"/>
                <a:ext cx="580608" cy="492507"/>
              </a:xfrm>
              <a:prstGeom prst="rect">
                <a:avLst/>
              </a:prstGeom>
              <a:blipFill rotWithShape="0">
                <a:blip r:embed="rId10"/>
                <a:stretch>
                  <a:fillRect r="-7292" b="-61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/>
              <p:cNvSpPr txBox="1"/>
              <p:nvPr/>
            </p:nvSpPr>
            <p:spPr>
              <a:xfrm>
                <a:off x="718664" y="5277789"/>
                <a:ext cx="7961090" cy="15192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[2][4] </a:t>
                </a:r>
                <a:r>
                  <a:rPr lang="en-US" altLang="zh-TW" sz="2000" b="1" dirty="0"/>
                  <a:t>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TW" sz="2000" b="1" i="0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lang="en-US" altLang="zh-TW" sz="2000" b="1" i="0" smtClean="0">
                                <a:latin typeface="Cambria Math" panose="02040503050406030204" pitchFamily="18" charset="0"/>
                              </a:rPr>
                              <m:t>𝐦𝐢𝐧</m:t>
                            </m:r>
                          </m:e>
                          <m:lim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𝟒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e>
                                  </m:d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</m:d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e>
                                  </m:d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𝟒</m:t>
                                      </m:r>
                                    </m:e>
                                  </m:d>
                                </m:e>
                              </m:mr>
                              <m:m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e>
                                  </m:d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e>
                                  </m:d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𝟒</m:t>
                                      </m:r>
                                    </m:e>
                                  </m:d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e>
                                  </m:d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e>
                                  </m:d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𝟓</m:t>
                                      </m:r>
                                    </m:e>
                                  </m:d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𝟒</m:t>
                                      </m:r>
                                    </m:e>
                                  </m:d>
                                </m:e>
                              </m:mr>
                            </m:m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  <m:t>+ </m:t>
                        </m:r>
                        <m:d>
                          <m:dPr>
                            <m:ctrlP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num>
                              <m:den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𝟖</m:t>
                                </m:r>
                              </m:den>
                            </m:f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num>
                              <m:den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𝟖</m:t>
                                </m:r>
                              </m:den>
                            </m:f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box>
                              <m:box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boxPr>
                              <m:e>
                                <m:f>
                                  <m:fPr>
                                    <m:ctrlPr>
                                      <a:rPr lang="en-US" altLang="zh-TW" sz="2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20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altLang="zh-TW" sz="2000" b="1" i="1" smtClean="0">
                                        <a:latin typeface="Cambria Math" panose="02040503050406030204" pitchFamily="18" charset="0"/>
                                      </a:rPr>
                                      <m:t>𝟖</m:t>
                                    </m:r>
                                  </m:den>
                                </m:f>
                              </m:e>
                            </m:box>
                          </m:e>
                        </m:d>
                      </m:e>
                    </m:func>
                    <m:r>
                      <a:rPr lang="en-US" altLang="zh-TW" sz="2000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box>
                                <m:boxPr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boxPr>
                                <m:e>
                                  <m:f>
                                    <m:fPr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num>
                                    <m:den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𝟖</m:t>
                                      </m:r>
                                    </m:den>
                                  </m:f>
                                </m:e>
                              </m:box>
                            </m:e>
                          </m:mr>
                          <m:mr>
                            <m:e>
                              <m:box>
                                <m:boxPr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boxPr>
                                <m:e>
                                  <m:f>
                                    <m:fPr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num>
                                    <m:den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𝟖</m:t>
                                      </m:r>
                                    </m:den>
                                  </m:f>
                                </m:e>
                              </m:box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𝟖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box>
                                <m:boxPr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boxPr>
                                <m:e>
                                  <m:f>
                                    <m:fPr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𝟓</m:t>
                                      </m:r>
                                    </m:num>
                                    <m:den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𝟖</m:t>
                                      </m:r>
                                    </m:den>
                                  </m:f>
                                </m:e>
                              </m:box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TW" sz="2000" b="1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</m:num>
                      <m:den>
                        <m:r>
                          <a:rPr lang="en-US" altLang="zh-TW" sz="2000" b="1" i="1" smtClean="0">
                            <a:latin typeface="Cambria Math" panose="02040503050406030204" pitchFamily="18" charset="0"/>
                          </a:rPr>
                          <m:t>𝟖</m:t>
                        </m:r>
                      </m:den>
                    </m:f>
                  </m:oMath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13" name="文字方塊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664" y="5277789"/>
                <a:ext cx="7961090" cy="1519262"/>
              </a:xfrm>
              <a:prstGeom prst="rect">
                <a:avLst/>
              </a:prstGeom>
              <a:blipFill rotWithShape="0">
                <a:blip r:embed="rId11"/>
                <a:stretch>
                  <a:fillRect l="-84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/>
              <p:cNvSpPr txBox="1"/>
              <p:nvPr/>
            </p:nvSpPr>
            <p:spPr>
              <a:xfrm>
                <a:off x="5650703" y="3226231"/>
                <a:ext cx="681597" cy="4925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box>
                      <m:boxPr>
                        <m:ctrlPr>
                          <a:rPr lang="en-US" altLang="zh-TW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oxPr>
                      <m:e>
                        <m:f>
                          <m:fPr>
                            <m:ctrlPr>
                              <a:rPr lang="en-US" altLang="zh-TW" b="1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1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𝟏𝟏</m:t>
                            </m:r>
                          </m:num>
                          <m:den>
                            <m:r>
                              <a:rPr lang="en-US" altLang="zh-TW" b="1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𝟖</m:t>
                            </m:r>
                          </m:den>
                        </m:f>
                      </m:e>
                    </m:box>
                  </m:oMath>
                </a14:m>
                <a:r>
                  <a:rPr lang="en-US" altLang="zh-TW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/ 2</a:t>
                </a:r>
                <a:endParaRPr lang="zh-TW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" name="文字方塊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0703" y="3226231"/>
                <a:ext cx="681597" cy="492507"/>
              </a:xfrm>
              <a:prstGeom prst="rect">
                <a:avLst/>
              </a:prstGeom>
              <a:blipFill>
                <a:blip r:embed="rId12"/>
                <a:stretch>
                  <a:fillRect r="-6250" b="-61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/>
              <p:cNvSpPr txBox="1"/>
              <p:nvPr/>
            </p:nvSpPr>
            <p:spPr>
              <a:xfrm>
                <a:off x="6748240" y="3627513"/>
                <a:ext cx="580608" cy="4925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box>
                      <m:boxPr>
                        <m:ctrlPr>
                          <a:rPr lang="en-US" altLang="zh-TW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oxPr>
                      <m:e>
                        <m:f>
                          <m:fPr>
                            <m:ctrlPr>
                              <a:rPr lang="en-US" altLang="zh-TW" b="1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1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𝟖</m:t>
                            </m:r>
                          </m:num>
                          <m:den>
                            <m:r>
                              <a:rPr lang="en-US" altLang="zh-TW" b="1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𝟖</m:t>
                            </m:r>
                          </m:den>
                        </m:f>
                      </m:e>
                    </m:box>
                  </m:oMath>
                </a14:m>
                <a:r>
                  <a:rPr lang="en-US" altLang="zh-TW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/ 2</a:t>
                </a:r>
                <a:endParaRPr lang="zh-TW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1" name="文字方塊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8240" y="3627513"/>
                <a:ext cx="580608" cy="492507"/>
              </a:xfrm>
              <a:prstGeom prst="rect">
                <a:avLst/>
              </a:prstGeom>
              <a:blipFill rotWithShape="0">
                <a:blip r:embed="rId13"/>
                <a:stretch>
                  <a:fillRect r="-7368" b="-61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圓角矩形圖說文字 31"/>
          <p:cNvSpPr/>
          <p:nvPr/>
        </p:nvSpPr>
        <p:spPr>
          <a:xfrm>
            <a:off x="8107191" y="4548331"/>
            <a:ext cx="825732" cy="445119"/>
          </a:xfrm>
          <a:prstGeom prst="wedgeRoundRectCallout">
            <a:avLst>
              <a:gd name="adj1" fmla="val -123056"/>
              <a:gd name="adj2" fmla="val 17622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= 2</a:t>
            </a:r>
            <a:endParaRPr lang="zh-TW" altLang="en-US" sz="2000" b="1" i="1" baseline="-25000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9820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13" grpId="0"/>
      <p:bldP spid="30" grpId="0"/>
      <p:bldP spid="31" grpId="0"/>
      <p:bldP spid="32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最佳二元搜尋樹 </a:t>
            </a:r>
            <a:r>
              <a:rPr lang="en-US" altLang="zh-TW" dirty="0"/>
              <a:t>(11/13)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內容版面配置區 6"/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1439412" y="1335768"/>
              <a:ext cx="6291648" cy="434594"/>
            </p:xfrm>
            <a:graphic>
              <a:graphicData uri="http://schemas.openxmlformats.org/drawingml/2006/table">
                <a:tbl>
                  <a:tblPr firstRow="1" bandRow="1">
                    <a:tableStyleId>{69CF1AB2-1976-4502-BF36-3FF5EA218861}</a:tableStyleId>
                  </a:tblPr>
                  <a:tblGrid>
                    <a:gridCol w="157291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7291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7291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7291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Key[1] / </a:t>
                          </a:r>
                          <a14:m>
                            <m:oMath xmlns:m="http://schemas.openxmlformats.org/officeDocument/2006/math">
                              <m:box>
                                <m:boxPr>
                                  <m:ctrlPr>
                                    <a:rPr lang="en-US" altLang="zh-TW" sz="2000" i="1" smtClean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boxPr>
                                <m:e>
                                  <m:f>
                                    <m:fPr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𝟑</m:t>
                                      </m:r>
                                    </m:num>
                                    <m:den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𝟖</m:t>
                                      </m:r>
                                    </m:den>
                                  </m:f>
                                </m:e>
                              </m:box>
                            </m:oMath>
                          </a14:m>
                          <a:endParaRPr lang="zh-TW" altLang="en-US" sz="200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Key[2] / </a:t>
                          </a:r>
                          <a14:m>
                            <m:oMath xmlns:m="http://schemas.openxmlformats.org/officeDocument/2006/math">
                              <m:box>
                                <m:boxPr>
                                  <m:ctrlPr>
                                    <a:rPr lang="en-US" altLang="zh-TW" sz="2000" i="1" smtClean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boxPr>
                                <m:e>
                                  <m:f>
                                    <m:fPr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𝟑</m:t>
                                      </m:r>
                                    </m:num>
                                    <m:den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𝟖</m:t>
                                      </m:r>
                                    </m:den>
                                  </m:f>
                                </m:e>
                              </m:box>
                            </m:oMath>
                          </a14:m>
                          <a:endParaRPr lang="zh-TW" altLang="en-US" sz="200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Key[3] / </a:t>
                          </a:r>
                          <a14:m>
                            <m:oMath xmlns:m="http://schemas.openxmlformats.org/officeDocument/2006/math">
                              <m:box>
                                <m:boxPr>
                                  <m:ctrlPr>
                                    <a:rPr lang="en-US" altLang="zh-TW" sz="2000" i="1" smtClean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boxPr>
                                <m:e>
                                  <m:f>
                                    <m:fPr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𝟏</m:t>
                                      </m:r>
                                    </m:num>
                                    <m:den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𝟖</m:t>
                                      </m:r>
                                    </m:den>
                                  </m:f>
                                </m:e>
                              </m:box>
                            </m:oMath>
                          </a14:m>
                          <a:endParaRPr lang="zh-TW" altLang="en-US" sz="200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Key[4] / </a:t>
                          </a:r>
                          <a14:m>
                            <m:oMath xmlns:m="http://schemas.openxmlformats.org/officeDocument/2006/math">
                              <m:box>
                                <m:boxPr>
                                  <m:ctrlPr>
                                    <a:rPr lang="en-US" altLang="zh-TW" sz="2000" i="1" smtClean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boxPr>
                                <m:e>
                                  <m:f>
                                    <m:fPr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𝟏</m:t>
                                      </m:r>
                                    </m:num>
                                    <m:den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𝟖</m:t>
                                      </m:r>
                                    </m:den>
                                  </m:f>
                                </m:e>
                              </m:box>
                            </m:oMath>
                          </a14:m>
                          <a:endParaRPr lang="zh-TW" altLang="en-US" sz="200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內容版面配置區 6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605963138"/>
                  </p:ext>
                </p:extLst>
              </p:nvPr>
            </p:nvGraphicFramePr>
            <p:xfrm>
              <a:off x="1439412" y="1335768"/>
              <a:ext cx="6291648" cy="434594"/>
            </p:xfrm>
            <a:graphic>
              <a:graphicData uri="http://schemas.openxmlformats.org/drawingml/2006/table">
                <a:tbl>
                  <a:tblPr firstRow="1" bandRow="1">
                    <a:tableStyleId>{69CF1AB2-1976-4502-BF36-3FF5EA218861}</a:tableStyleId>
                  </a:tblPr>
                  <a:tblGrid>
                    <a:gridCol w="1572912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1572912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1572912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  <a:gridCol w="1572912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3"/>
                        </a:ext>
                      </a:extLst>
                    </a:gridCol>
                  </a:tblGrid>
                  <a:tr h="434594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388" t="-5556" r="-301163" b="-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100000" t="-5556" r="-200000" b="-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200775" t="-5556" r="-100775" b="-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300775" t="-5556" r="-775" b="-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72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1439412" y="1770362"/>
                <a:ext cx="5983882" cy="6383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𝑨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</m:e>
                      </m:d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2000" b="1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altLang="zh-TW" sz="2000" b="1" i="0" smtClean="0">
                                  <a:latin typeface="Cambria Math" panose="02040503050406030204" pitchFamily="18" charset="0"/>
                                </a:rPr>
                                <m:t>𝐦𝐢𝐧</m:t>
                              </m:r>
                            </m:e>
                            <m:lim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𝒌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𝒋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e>
                              </m:d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d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d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d>
                        </m:e>
                      </m:func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  <m:sup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TW" alt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9412" y="1770362"/>
                <a:ext cx="5983882" cy="63838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字方塊 8"/>
          <p:cNvSpPr txBox="1"/>
          <p:nvPr/>
        </p:nvSpPr>
        <p:spPr>
          <a:xfrm>
            <a:off x="1439412" y="2452053"/>
            <a:ext cx="16882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zh-TW" sz="20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1] = 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3764338" y="2446648"/>
            <a:ext cx="16417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+ 1][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= 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6042777" y="2452826"/>
            <a:ext cx="13244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zh-TW" sz="20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000" b="1" i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zh-TW" altLang="en-US" sz="2000" b="1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1439412" y="2885696"/>
          <a:ext cx="6096000" cy="23774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文字方塊 14"/>
          <p:cNvSpPr txBox="1"/>
          <p:nvPr/>
        </p:nvSpPr>
        <p:spPr>
          <a:xfrm>
            <a:off x="2802433" y="328691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3815837" y="367466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4833060" y="407797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5846464" y="446573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6888690" y="486584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圓角矩形圖說文字 19"/>
          <p:cNvSpPr/>
          <p:nvPr/>
        </p:nvSpPr>
        <p:spPr>
          <a:xfrm>
            <a:off x="7755410" y="2399474"/>
            <a:ext cx="1131612" cy="445119"/>
          </a:xfrm>
          <a:prstGeom prst="wedgeRoundRectCallout">
            <a:avLst>
              <a:gd name="adj1" fmla="val -90143"/>
              <a:gd name="adj2" fmla="val 17950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[1][4]</a:t>
            </a:r>
            <a:endParaRPr lang="zh-TW" altLang="en-US" sz="2000" b="1" i="1" baseline="-25000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/>
              <p:cNvSpPr txBox="1"/>
              <p:nvPr/>
            </p:nvSpPr>
            <p:spPr>
              <a:xfrm>
                <a:off x="3681986" y="3223960"/>
                <a:ext cx="580608" cy="4925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box>
                      <m:boxPr>
                        <m:ctrlPr>
                          <a:rPr lang="en-US" altLang="zh-TW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oxPr>
                      <m:e>
                        <m:f>
                          <m:fPr>
                            <m:ctrlPr>
                              <a:rPr lang="en-US" altLang="zh-TW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𝟑</m:t>
                            </m:r>
                          </m:num>
                          <m:den>
                            <m:r>
                              <a:rPr lang="en-US" altLang="zh-TW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𝟖</m:t>
                            </m:r>
                          </m:den>
                        </m:f>
                      </m:e>
                    </m:box>
                  </m:oMath>
                </a14:m>
                <a:r>
                  <a:rPr lang="en-US" altLang="zh-TW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/ 1</a:t>
                </a:r>
                <a:endParaRPr lang="zh-TW" alt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文字方塊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1986" y="3223960"/>
                <a:ext cx="580608" cy="492507"/>
              </a:xfrm>
              <a:prstGeom prst="rect">
                <a:avLst/>
              </a:prstGeom>
              <a:blipFill rotWithShape="0">
                <a:blip r:embed="rId4"/>
                <a:stretch>
                  <a:fillRect r="-7368" b="-61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/>
              <p:cNvSpPr txBox="1"/>
              <p:nvPr/>
            </p:nvSpPr>
            <p:spPr>
              <a:xfrm>
                <a:off x="4699209" y="3631420"/>
                <a:ext cx="580608" cy="4925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box>
                      <m:boxPr>
                        <m:ctrlPr>
                          <a:rPr lang="en-US" altLang="zh-TW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oxPr>
                      <m:e>
                        <m:f>
                          <m:fPr>
                            <m:ctrlPr>
                              <a:rPr lang="en-US" altLang="zh-TW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𝟑</m:t>
                            </m:r>
                          </m:num>
                          <m:den>
                            <m:r>
                              <a:rPr lang="en-US" altLang="zh-TW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𝟖</m:t>
                            </m:r>
                          </m:den>
                        </m:f>
                      </m:e>
                    </m:box>
                  </m:oMath>
                </a14:m>
                <a:r>
                  <a:rPr lang="en-US" altLang="zh-TW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/ 2</a:t>
                </a:r>
                <a:endParaRPr lang="zh-TW" alt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" name="文字方塊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9209" y="3631420"/>
                <a:ext cx="580608" cy="492507"/>
              </a:xfrm>
              <a:prstGeom prst="rect">
                <a:avLst/>
              </a:prstGeom>
              <a:blipFill rotWithShape="0">
                <a:blip r:embed="rId5"/>
                <a:stretch>
                  <a:fillRect r="-7368" b="-75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/>
              <p:cNvSpPr txBox="1"/>
              <p:nvPr/>
            </p:nvSpPr>
            <p:spPr>
              <a:xfrm>
                <a:off x="5712613" y="4031777"/>
                <a:ext cx="580608" cy="4925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box>
                      <m:boxPr>
                        <m:ctrlPr>
                          <a:rPr lang="en-US" altLang="zh-TW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oxPr>
                      <m:e>
                        <m:f>
                          <m:fPr>
                            <m:ctrlPr>
                              <a:rPr lang="en-US" altLang="zh-TW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altLang="zh-TW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𝟖</m:t>
                            </m:r>
                          </m:den>
                        </m:f>
                      </m:e>
                    </m:box>
                  </m:oMath>
                </a14:m>
                <a:r>
                  <a:rPr lang="en-US" altLang="zh-TW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/ 3</a:t>
                </a:r>
                <a:endParaRPr lang="zh-TW" alt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6" name="文字方塊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2613" y="4031777"/>
                <a:ext cx="580608" cy="492507"/>
              </a:xfrm>
              <a:prstGeom prst="rect">
                <a:avLst/>
              </a:prstGeom>
              <a:blipFill rotWithShape="0">
                <a:blip r:embed="rId6"/>
                <a:stretch>
                  <a:fillRect r="-8421" b="-61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/>
              <p:cNvSpPr txBox="1"/>
              <p:nvPr/>
            </p:nvSpPr>
            <p:spPr>
              <a:xfrm>
                <a:off x="6754839" y="4414506"/>
                <a:ext cx="580608" cy="4925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box>
                      <m:boxPr>
                        <m:ctrlPr>
                          <a:rPr lang="en-US" altLang="zh-TW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oxPr>
                      <m:e>
                        <m:f>
                          <m:fPr>
                            <m:ctrlPr>
                              <a:rPr lang="en-US" altLang="zh-TW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altLang="zh-TW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𝟖</m:t>
                            </m:r>
                          </m:den>
                        </m:f>
                      </m:e>
                    </m:box>
                  </m:oMath>
                </a14:m>
                <a:r>
                  <a:rPr lang="en-US" altLang="zh-TW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/ 4</a:t>
                </a:r>
                <a:endParaRPr lang="zh-TW" alt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" name="文字方塊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4839" y="4414506"/>
                <a:ext cx="580608" cy="492507"/>
              </a:xfrm>
              <a:prstGeom prst="rect">
                <a:avLst/>
              </a:prstGeom>
              <a:blipFill rotWithShape="0">
                <a:blip r:embed="rId7"/>
                <a:stretch>
                  <a:fillRect r="-8421" b="-61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/>
              <p:cNvSpPr txBox="1"/>
              <p:nvPr/>
            </p:nvSpPr>
            <p:spPr>
              <a:xfrm>
                <a:off x="4689082" y="3223960"/>
                <a:ext cx="580608" cy="4925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box>
                      <m:boxPr>
                        <m:ctrlPr>
                          <a:rPr lang="en-US" altLang="zh-TW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oxPr>
                      <m:e>
                        <m:f>
                          <m:fPr>
                            <m:ctrlPr>
                              <a:rPr lang="en-US" altLang="zh-TW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𝟗</m:t>
                            </m:r>
                          </m:num>
                          <m:den>
                            <m:r>
                              <a:rPr lang="en-US" altLang="zh-TW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𝟖</m:t>
                            </m:r>
                          </m:den>
                        </m:f>
                      </m:e>
                    </m:box>
                  </m:oMath>
                </a14:m>
                <a:r>
                  <a:rPr lang="en-US" altLang="zh-TW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/ 1</a:t>
                </a:r>
                <a:endParaRPr lang="zh-TW" alt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" name="文字方塊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9082" y="3223960"/>
                <a:ext cx="580608" cy="492507"/>
              </a:xfrm>
              <a:prstGeom prst="rect">
                <a:avLst/>
              </a:prstGeom>
              <a:blipFill rotWithShape="0">
                <a:blip r:embed="rId8"/>
                <a:stretch>
                  <a:fillRect r="-8421" b="-61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/>
              <p:cNvSpPr txBox="1"/>
              <p:nvPr/>
            </p:nvSpPr>
            <p:spPr>
              <a:xfrm>
                <a:off x="5706305" y="3631420"/>
                <a:ext cx="580608" cy="4925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box>
                      <m:boxPr>
                        <m:ctrlPr>
                          <a:rPr lang="en-US" altLang="zh-TW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oxPr>
                      <m:e>
                        <m:f>
                          <m:fPr>
                            <m:ctrlPr>
                              <a:rPr lang="en-US" altLang="zh-TW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𝟓</m:t>
                            </m:r>
                          </m:num>
                          <m:den>
                            <m:r>
                              <a:rPr lang="en-US" altLang="zh-TW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𝟖</m:t>
                            </m:r>
                          </m:den>
                        </m:f>
                      </m:e>
                    </m:box>
                  </m:oMath>
                </a14:m>
                <a:r>
                  <a:rPr lang="en-US" altLang="zh-TW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/ 2</a:t>
                </a:r>
                <a:endParaRPr lang="zh-TW" alt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8" name="文字方塊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6305" y="3631420"/>
                <a:ext cx="580608" cy="492507"/>
              </a:xfrm>
              <a:prstGeom prst="rect">
                <a:avLst/>
              </a:prstGeom>
              <a:blipFill rotWithShape="0">
                <a:blip r:embed="rId9"/>
                <a:stretch>
                  <a:fillRect r="-8421" b="-87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/>
              <p:cNvSpPr txBox="1"/>
              <p:nvPr/>
            </p:nvSpPr>
            <p:spPr>
              <a:xfrm>
                <a:off x="6750599" y="4031777"/>
                <a:ext cx="580608" cy="4925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box>
                      <m:boxPr>
                        <m:ctrlPr>
                          <a:rPr lang="en-US" altLang="zh-TW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oxPr>
                      <m:e>
                        <m:f>
                          <m:fPr>
                            <m:ctrlPr>
                              <a:rPr lang="en-US" altLang="zh-TW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𝟑</m:t>
                            </m:r>
                          </m:num>
                          <m:den>
                            <m:r>
                              <a:rPr lang="en-US" altLang="zh-TW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𝟖</m:t>
                            </m:r>
                          </m:den>
                        </m:f>
                      </m:e>
                    </m:box>
                  </m:oMath>
                </a14:m>
                <a:r>
                  <a:rPr lang="en-US" altLang="zh-TW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/ 3</a:t>
                </a:r>
                <a:endParaRPr lang="zh-TW" alt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9" name="文字方塊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0599" y="4031777"/>
                <a:ext cx="580608" cy="492507"/>
              </a:xfrm>
              <a:prstGeom prst="rect">
                <a:avLst/>
              </a:prstGeom>
              <a:blipFill rotWithShape="0">
                <a:blip r:embed="rId10"/>
                <a:stretch>
                  <a:fillRect r="-7292" b="-61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/>
              <p:cNvSpPr txBox="1"/>
              <p:nvPr/>
            </p:nvSpPr>
            <p:spPr>
              <a:xfrm>
                <a:off x="675212" y="5080384"/>
                <a:ext cx="7646004" cy="18124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[1][4] </a:t>
                </a:r>
                <a:r>
                  <a:rPr lang="en-US" altLang="zh-TW" b="1" dirty="0"/>
                  <a:t>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TW" b="1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TW" b="1" i="0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lang="en-US" altLang="zh-TW" b="1" i="0" smtClean="0">
                                <a:latin typeface="Cambria Math" panose="02040503050406030204" pitchFamily="18" charset="0"/>
                              </a:rPr>
                              <m:t>𝐦𝐢𝐧</m:t>
                            </m:r>
                          </m:e>
                          <m:lim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𝟒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altLang="zh-TW" b="1" i="1"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</m:d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b="1" i="1" smtClean="0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e>
                                  </m:d>
                                  <m:r>
                                    <a:rPr lang="en-US" altLang="zh-TW" b="1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e>
                                  </m:d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b="1" i="1" smtClean="0">
                                          <a:latin typeface="Cambria Math" panose="02040503050406030204" pitchFamily="18" charset="0"/>
                                        </a:rPr>
                                        <m:t>𝟒</m:t>
                                      </m:r>
                                    </m:e>
                                  </m:d>
                                </m:e>
                              </m:mr>
                              <m:mr>
                                <m:e>
                                  <m: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</m:d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</m:d>
                                  <m: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b="1" i="1" smtClean="0"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e>
                                  </m:d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b="1" i="1" smtClean="0">
                                          <a:latin typeface="Cambria Math" panose="02040503050406030204" pitchFamily="18" charset="0"/>
                                        </a:rPr>
                                        <m:t>𝟒</m:t>
                                      </m:r>
                                    </m:e>
                                  </m:d>
                                </m:e>
                              </m:mr>
                              <m:mr>
                                <m:e>
                                  <m:r>
                                    <a:rPr lang="en-US" altLang="zh-TW" b="1" i="1"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</m:d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e>
                                  </m:d>
                                  <m:r>
                                    <a:rPr lang="en-US" altLang="zh-TW" b="1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b="1" i="1"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b="1" i="1" smtClean="0">
                                          <a:latin typeface="Cambria Math" panose="02040503050406030204" pitchFamily="18" charset="0"/>
                                        </a:rPr>
                                        <m:t>𝟒</m:t>
                                      </m:r>
                                    </m:e>
                                  </m:d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b="1" i="1" smtClean="0">
                                          <a:latin typeface="Cambria Math" panose="02040503050406030204" pitchFamily="18" charset="0"/>
                                        </a:rPr>
                                        <m:t>𝟒</m:t>
                                      </m:r>
                                    </m:e>
                                  </m:d>
                                </m:e>
                              </m:mr>
                              <m:mr>
                                <m:e>
                                  <m: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</m:d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b="1" i="1" smtClean="0"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e>
                                  </m:d>
                                  <m: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b="1" i="1" smtClean="0">
                                          <a:latin typeface="Cambria Math" panose="02040503050406030204" pitchFamily="18" charset="0"/>
                                        </a:rPr>
                                        <m:t>𝟓</m:t>
                                      </m:r>
                                    </m:e>
                                  </m:d>
                                  <m: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  <m: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e>
                              </m:mr>
                            </m:m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+ </m:t>
                        </m:r>
                        <m:d>
                          <m:dPr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box>
                              <m:boxPr>
                                <m:ctrlP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</m:ctrlPr>
                              </m:boxPr>
                              <m:e>
                                <m:f>
                                  <m:fPr>
                                    <m:ctrlPr>
                                      <a:rPr lang="en-US" altLang="zh-TW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num>
                                  <m:den>
                                    <m:r>
                                      <a:rPr lang="en-US" altLang="zh-TW" b="1" i="1" smtClean="0">
                                        <a:latin typeface="Cambria Math" panose="02040503050406030204" pitchFamily="18" charset="0"/>
                                      </a:rPr>
                                      <m:t>𝟖</m:t>
                                    </m:r>
                                  </m:den>
                                </m:f>
                              </m:e>
                            </m:box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num>
                              <m:den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𝟖</m:t>
                                </m:r>
                              </m:den>
                            </m:f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num>
                              <m:den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𝟖</m:t>
                                </m:r>
                              </m:den>
                            </m:f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box>
                              <m:boxPr>
                                <m:ctrlP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</m:ctrlPr>
                              </m:boxPr>
                              <m:e>
                                <m:f>
                                  <m:fPr>
                                    <m:ctrlPr>
                                      <a:rPr lang="en-US" altLang="zh-TW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altLang="zh-TW" b="1" i="1" smtClean="0">
                                        <a:latin typeface="Cambria Math" panose="02040503050406030204" pitchFamily="18" charset="0"/>
                                      </a:rPr>
                                      <m:t>𝟖</m:t>
                                    </m:r>
                                  </m:den>
                                </m:f>
                              </m:e>
                            </m:box>
                          </m:e>
                        </m:d>
                      </m:e>
                    </m:func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box>
                                <m:boxPr>
                                  <m:ctrlP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boxPr>
                                <m:e>
                                  <m:f>
                                    <m:fPr>
                                      <m:ctrlPr>
                                        <a:rPr lang="en-US" altLang="zh-TW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b="1" i="1" smtClean="0">
                                          <a:latin typeface="Cambria Math" panose="02040503050406030204" pitchFamily="18" charset="0"/>
                                        </a:rPr>
                                        <m:t>𝟖</m:t>
                                      </m:r>
                                    </m:num>
                                    <m:den>
                                      <m:r>
                                        <a:rPr lang="en-US" altLang="zh-TW" b="1" i="1" smtClean="0">
                                          <a:latin typeface="Cambria Math" panose="02040503050406030204" pitchFamily="18" charset="0"/>
                                        </a:rPr>
                                        <m:t>𝟖</m:t>
                                      </m:r>
                                    </m:den>
                                  </m:f>
                                </m:e>
                              </m:box>
                            </m:e>
                          </m:mr>
                          <m:mr>
                            <m:e>
                              <m:box>
                                <m:boxPr>
                                  <m:ctrlP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boxPr>
                                <m:e>
                                  <m:f>
                                    <m:fPr>
                                      <m:ctrlPr>
                                        <a:rPr lang="en-US" altLang="zh-TW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b="1" i="1" smtClean="0"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num>
                                    <m:den>
                                      <m:r>
                                        <a:rPr lang="en-US" altLang="zh-TW" b="1" i="1" smtClean="0">
                                          <a:latin typeface="Cambria Math" panose="02040503050406030204" pitchFamily="18" charset="0"/>
                                        </a:rPr>
                                        <m:t>𝟖</m:t>
                                      </m:r>
                                    </m:den>
                                  </m:f>
                                </m:e>
                              </m:box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num>
                                <m:den>
                                  <m: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  <m:t>𝟖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box>
                                <m:boxPr>
                                  <m:ctrlP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boxPr>
                                <m:e>
                                  <m:f>
                                    <m:fPr>
                                      <m:ctrlPr>
                                        <a:rPr lang="en-US" altLang="zh-TW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b="1" i="1" smtClean="0">
                                          <a:latin typeface="Cambria Math" panose="02040503050406030204" pitchFamily="18" charset="0"/>
                                        </a:rPr>
                                        <m:t>𝟗</m:t>
                                      </m:r>
                                    </m:num>
                                    <m:den>
                                      <m:r>
                                        <a:rPr lang="en-US" altLang="zh-TW" b="1" i="1" smtClean="0">
                                          <a:latin typeface="Cambria Math" panose="02040503050406030204" pitchFamily="18" charset="0"/>
                                        </a:rPr>
                                        <m:t>𝟖</m:t>
                                      </m:r>
                                    </m:den>
                                  </m:f>
                                </m:e>
                              </m:box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  <m:t>𝟖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box>
                                <m:boxPr>
                                  <m:ctrlP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boxPr>
                                <m:e>
                                  <m:f>
                                    <m:fPr>
                                      <m:ctrlPr>
                                        <a:rPr lang="en-US" altLang="zh-TW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b="1" i="1" smtClean="0">
                                          <a:latin typeface="Cambria Math" panose="02040503050406030204" pitchFamily="18" charset="0"/>
                                        </a:rPr>
                                        <m:t>𝟏𝟏</m:t>
                                      </m:r>
                                    </m:num>
                                    <m:den>
                                      <m:r>
                                        <a:rPr lang="en-US" altLang="zh-TW" b="1" i="1" smtClean="0">
                                          <a:latin typeface="Cambria Math" panose="02040503050406030204" pitchFamily="18" charset="0"/>
                                        </a:rPr>
                                        <m:t>𝟖</m:t>
                                      </m:r>
                                    </m:den>
                                  </m:f>
                                </m:e>
                              </m:box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TW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𝟖</m:t>
                        </m:r>
                      </m:num>
                      <m:den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𝟖</m:t>
                        </m:r>
                      </m:den>
                    </m:f>
                  </m:oMath>
                </a14:m>
                <a:endParaRPr lang="zh-TW" altLang="en-US" b="1" dirty="0"/>
              </a:p>
            </p:txBody>
          </p:sp>
        </mc:Choice>
        <mc:Fallback xmlns="">
          <p:sp>
            <p:nvSpPr>
              <p:cNvPr id="13" name="文字方塊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212" y="5080384"/>
                <a:ext cx="7646004" cy="1812484"/>
              </a:xfrm>
              <a:prstGeom prst="rect">
                <a:avLst/>
              </a:prstGeom>
              <a:blipFill rotWithShape="0">
                <a:blip r:embed="rId11"/>
                <a:stretch>
                  <a:fillRect l="-71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/>
              <p:cNvSpPr txBox="1"/>
              <p:nvPr/>
            </p:nvSpPr>
            <p:spPr>
              <a:xfrm>
                <a:off x="5650703" y="3226231"/>
                <a:ext cx="681597" cy="4925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box>
                      <m:boxPr>
                        <m:ctrlPr>
                          <a:rPr lang="en-US" altLang="zh-TW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oxPr>
                      <m:e>
                        <m:f>
                          <m:fPr>
                            <m:ctrlPr>
                              <a:rPr lang="en-US" altLang="zh-TW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𝟏𝟏</m:t>
                            </m:r>
                          </m:num>
                          <m:den>
                            <m:r>
                              <a:rPr lang="en-US" altLang="zh-TW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𝟖</m:t>
                            </m:r>
                          </m:den>
                        </m:f>
                      </m:e>
                    </m:box>
                  </m:oMath>
                </a14:m>
                <a:r>
                  <a:rPr lang="en-US" altLang="zh-TW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/ 2</a:t>
                </a:r>
                <a:endParaRPr lang="zh-TW" alt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" name="文字方塊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0703" y="3226231"/>
                <a:ext cx="681597" cy="492507"/>
              </a:xfrm>
              <a:prstGeom prst="rect">
                <a:avLst/>
              </a:prstGeom>
              <a:blipFill>
                <a:blip r:embed="rId12"/>
                <a:stretch>
                  <a:fillRect r="-6250" b="-61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/>
              <p:cNvSpPr txBox="1"/>
              <p:nvPr/>
            </p:nvSpPr>
            <p:spPr>
              <a:xfrm>
                <a:off x="6748240" y="3627513"/>
                <a:ext cx="580608" cy="4925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box>
                      <m:boxPr>
                        <m:ctrlPr>
                          <a:rPr lang="en-US" altLang="zh-TW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oxPr>
                      <m:e>
                        <m:f>
                          <m:fPr>
                            <m:ctrlPr>
                              <a:rPr lang="en-US" altLang="zh-TW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𝟖</m:t>
                            </m:r>
                          </m:num>
                          <m:den>
                            <m:r>
                              <a:rPr lang="en-US" altLang="zh-TW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𝟖</m:t>
                            </m:r>
                          </m:den>
                        </m:f>
                      </m:e>
                    </m:box>
                  </m:oMath>
                </a14:m>
                <a:r>
                  <a:rPr lang="en-US" altLang="zh-TW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/ 2</a:t>
                </a:r>
                <a:endParaRPr lang="zh-TW" alt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1" name="文字方塊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8240" y="3627513"/>
                <a:ext cx="580608" cy="492507"/>
              </a:xfrm>
              <a:prstGeom prst="rect">
                <a:avLst/>
              </a:prstGeom>
              <a:blipFill rotWithShape="0">
                <a:blip r:embed="rId13"/>
                <a:stretch>
                  <a:fillRect r="-7368" b="-61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圓角矩形圖說文字 31"/>
          <p:cNvSpPr/>
          <p:nvPr/>
        </p:nvSpPr>
        <p:spPr>
          <a:xfrm>
            <a:off x="7886746" y="4697846"/>
            <a:ext cx="825732" cy="445119"/>
          </a:xfrm>
          <a:prstGeom prst="wedgeRoundRectCallout">
            <a:avLst>
              <a:gd name="adj1" fmla="val -117783"/>
              <a:gd name="adj2" fmla="val 17818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= 2</a:t>
            </a:r>
            <a:endParaRPr lang="zh-TW" altLang="en-US" sz="2000" b="1" i="1" baseline="-25000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/>
              <p:cNvSpPr txBox="1"/>
              <p:nvPr/>
            </p:nvSpPr>
            <p:spPr>
              <a:xfrm>
                <a:off x="6692638" y="3212694"/>
                <a:ext cx="681597" cy="4925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box>
                      <m:boxPr>
                        <m:ctrlPr>
                          <a:rPr lang="en-US" altLang="zh-TW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oxPr>
                      <m:e>
                        <m:f>
                          <m:fPr>
                            <m:ctrlPr>
                              <a:rPr lang="en-US" altLang="zh-TW" b="1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1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𝟏𝟒</m:t>
                            </m:r>
                          </m:num>
                          <m:den>
                            <m:r>
                              <a:rPr lang="en-US" altLang="zh-TW" b="1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𝟖</m:t>
                            </m:r>
                          </m:den>
                        </m:f>
                      </m:e>
                    </m:box>
                  </m:oMath>
                </a14:m>
                <a:r>
                  <a:rPr lang="en-US" altLang="zh-TW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/ 2</a:t>
                </a:r>
                <a:endParaRPr lang="zh-TW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3" name="文字方塊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2638" y="3212694"/>
                <a:ext cx="681597" cy="492507"/>
              </a:xfrm>
              <a:prstGeom prst="rect">
                <a:avLst/>
              </a:prstGeom>
              <a:blipFill rotWithShape="0">
                <a:blip r:embed="rId14"/>
                <a:stretch>
                  <a:fillRect r="-6250" b="-61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5740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13" grpId="0"/>
      <p:bldP spid="32" grpId="0" animBg="1"/>
      <p:bldP spid="33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最佳二元搜尋樹 </a:t>
            </a:r>
            <a:r>
              <a:rPr lang="en-US" altLang="zh-TW" dirty="0"/>
              <a:t>(12/13)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內容版面配置區 6"/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1439412" y="1410230"/>
              <a:ext cx="6291648" cy="434594"/>
            </p:xfrm>
            <a:graphic>
              <a:graphicData uri="http://schemas.openxmlformats.org/drawingml/2006/table">
                <a:tbl>
                  <a:tblPr firstRow="1" bandRow="1">
                    <a:tableStyleId>{69CF1AB2-1976-4502-BF36-3FF5EA218861}</a:tableStyleId>
                  </a:tblPr>
                  <a:tblGrid>
                    <a:gridCol w="157291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7291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7291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7291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Key[1] / </a:t>
                          </a:r>
                          <a14:m>
                            <m:oMath xmlns:m="http://schemas.openxmlformats.org/officeDocument/2006/math">
                              <m:box>
                                <m:boxPr>
                                  <m:ctrlPr>
                                    <a:rPr lang="en-US" altLang="zh-TW" sz="2000" i="1" smtClean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boxPr>
                                <m:e>
                                  <m:f>
                                    <m:fPr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𝟑</m:t>
                                      </m:r>
                                    </m:num>
                                    <m:den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𝟖</m:t>
                                      </m:r>
                                    </m:den>
                                  </m:f>
                                </m:e>
                              </m:box>
                            </m:oMath>
                          </a14:m>
                          <a:endParaRPr lang="zh-TW" altLang="en-US" sz="200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Key[2] / </a:t>
                          </a:r>
                          <a14:m>
                            <m:oMath xmlns:m="http://schemas.openxmlformats.org/officeDocument/2006/math">
                              <m:box>
                                <m:boxPr>
                                  <m:ctrlPr>
                                    <a:rPr lang="en-US" altLang="zh-TW" sz="2000" i="1" smtClean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boxPr>
                                <m:e>
                                  <m:f>
                                    <m:fPr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𝟑</m:t>
                                      </m:r>
                                    </m:num>
                                    <m:den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𝟖</m:t>
                                      </m:r>
                                    </m:den>
                                  </m:f>
                                </m:e>
                              </m:box>
                            </m:oMath>
                          </a14:m>
                          <a:endParaRPr lang="zh-TW" altLang="en-US" sz="200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Key[3] / </a:t>
                          </a:r>
                          <a14:m>
                            <m:oMath xmlns:m="http://schemas.openxmlformats.org/officeDocument/2006/math">
                              <m:box>
                                <m:boxPr>
                                  <m:ctrlPr>
                                    <a:rPr lang="en-US" altLang="zh-TW" sz="2000" i="1" smtClean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boxPr>
                                <m:e>
                                  <m:f>
                                    <m:fPr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𝟏</m:t>
                                      </m:r>
                                    </m:num>
                                    <m:den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𝟖</m:t>
                                      </m:r>
                                    </m:den>
                                  </m:f>
                                </m:e>
                              </m:box>
                            </m:oMath>
                          </a14:m>
                          <a:endParaRPr lang="zh-TW" altLang="en-US" sz="200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Key[4] / </a:t>
                          </a:r>
                          <a14:m>
                            <m:oMath xmlns:m="http://schemas.openxmlformats.org/officeDocument/2006/math">
                              <m:box>
                                <m:boxPr>
                                  <m:ctrlPr>
                                    <a:rPr lang="en-US" altLang="zh-TW" sz="2000" i="1" smtClean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boxPr>
                                <m:e>
                                  <m:f>
                                    <m:fPr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𝟏</m:t>
                                      </m:r>
                                    </m:num>
                                    <m:den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𝟖</m:t>
                                      </m:r>
                                    </m:den>
                                  </m:f>
                                </m:e>
                              </m:box>
                            </m:oMath>
                          </a14:m>
                          <a:endParaRPr lang="zh-TW" altLang="en-US" sz="200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內容版面配置區 6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847383629"/>
                  </p:ext>
                </p:extLst>
              </p:nvPr>
            </p:nvGraphicFramePr>
            <p:xfrm>
              <a:off x="1439412" y="1410230"/>
              <a:ext cx="6291648" cy="434594"/>
            </p:xfrm>
            <a:graphic>
              <a:graphicData uri="http://schemas.openxmlformats.org/drawingml/2006/table">
                <a:tbl>
                  <a:tblPr firstRow="1" bandRow="1">
                    <a:tableStyleId>{69CF1AB2-1976-4502-BF36-3FF5EA218861}</a:tableStyleId>
                  </a:tblPr>
                  <a:tblGrid>
                    <a:gridCol w="1572912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1572912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1572912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  <a:gridCol w="1572912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3"/>
                        </a:ext>
                      </a:extLst>
                    </a:gridCol>
                  </a:tblGrid>
                  <a:tr h="434594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388" t="-5556" r="-301163" b="-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100000" t="-5556" r="-200000" b="-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200775" t="-5556" r="-100775" b="-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300775" t="-5556" r="-775" b="-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73</a:t>
            </a:fld>
            <a:endParaRPr lang="en-US" dirty="0"/>
          </a:p>
        </p:txBody>
      </p:sp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1439412" y="1940406"/>
          <a:ext cx="6096000" cy="23774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文字方塊 14"/>
          <p:cNvSpPr txBox="1"/>
          <p:nvPr/>
        </p:nvSpPr>
        <p:spPr>
          <a:xfrm>
            <a:off x="2802433" y="234162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3815837" y="272937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4833060" y="313268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5846464" y="352044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6888690" y="39205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/>
              <p:cNvSpPr txBox="1"/>
              <p:nvPr/>
            </p:nvSpPr>
            <p:spPr>
              <a:xfrm>
                <a:off x="3681986" y="2278670"/>
                <a:ext cx="580608" cy="4925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box>
                      <m:boxPr>
                        <m:ctrlPr>
                          <a:rPr lang="en-US" altLang="zh-TW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oxPr>
                      <m:e>
                        <m:f>
                          <m:fPr>
                            <m:ctrlPr>
                              <a:rPr lang="en-US" altLang="zh-TW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𝟑</m:t>
                            </m:r>
                          </m:num>
                          <m:den>
                            <m:r>
                              <a:rPr lang="en-US" altLang="zh-TW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𝟖</m:t>
                            </m:r>
                          </m:den>
                        </m:f>
                      </m:e>
                    </m:box>
                  </m:oMath>
                </a14:m>
                <a:r>
                  <a:rPr lang="en-US" altLang="zh-TW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/ 1</a:t>
                </a:r>
                <a:endParaRPr lang="zh-TW" alt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文字方塊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1986" y="2278670"/>
                <a:ext cx="580608" cy="492507"/>
              </a:xfrm>
              <a:prstGeom prst="rect">
                <a:avLst/>
              </a:prstGeom>
              <a:blipFill rotWithShape="0">
                <a:blip r:embed="rId3"/>
                <a:stretch>
                  <a:fillRect r="-7368" b="-61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/>
              <p:cNvSpPr txBox="1"/>
              <p:nvPr/>
            </p:nvSpPr>
            <p:spPr>
              <a:xfrm>
                <a:off x="4699209" y="2686130"/>
                <a:ext cx="580608" cy="4925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box>
                      <m:boxPr>
                        <m:ctrlPr>
                          <a:rPr lang="en-US" altLang="zh-TW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oxPr>
                      <m:e>
                        <m:f>
                          <m:fPr>
                            <m:ctrlPr>
                              <a:rPr lang="en-US" altLang="zh-TW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𝟑</m:t>
                            </m:r>
                          </m:num>
                          <m:den>
                            <m:r>
                              <a:rPr lang="en-US" altLang="zh-TW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𝟖</m:t>
                            </m:r>
                          </m:den>
                        </m:f>
                      </m:e>
                    </m:box>
                  </m:oMath>
                </a14:m>
                <a:r>
                  <a:rPr lang="en-US" altLang="zh-TW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/ 2</a:t>
                </a:r>
                <a:endParaRPr lang="zh-TW" alt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" name="文字方塊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9209" y="2686130"/>
                <a:ext cx="580608" cy="492507"/>
              </a:xfrm>
              <a:prstGeom prst="rect">
                <a:avLst/>
              </a:prstGeom>
              <a:blipFill rotWithShape="0">
                <a:blip r:embed="rId4"/>
                <a:stretch>
                  <a:fillRect r="-7368" b="-75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/>
              <p:cNvSpPr txBox="1"/>
              <p:nvPr/>
            </p:nvSpPr>
            <p:spPr>
              <a:xfrm>
                <a:off x="5712613" y="3086487"/>
                <a:ext cx="580608" cy="4925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box>
                      <m:boxPr>
                        <m:ctrlPr>
                          <a:rPr lang="en-US" altLang="zh-TW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oxPr>
                      <m:e>
                        <m:f>
                          <m:fPr>
                            <m:ctrlPr>
                              <a:rPr lang="en-US" altLang="zh-TW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altLang="zh-TW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𝟖</m:t>
                            </m:r>
                          </m:den>
                        </m:f>
                      </m:e>
                    </m:box>
                  </m:oMath>
                </a14:m>
                <a:r>
                  <a:rPr lang="en-US" altLang="zh-TW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/ 3</a:t>
                </a:r>
                <a:endParaRPr lang="zh-TW" alt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6" name="文字方塊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2613" y="3086487"/>
                <a:ext cx="580608" cy="492507"/>
              </a:xfrm>
              <a:prstGeom prst="rect">
                <a:avLst/>
              </a:prstGeom>
              <a:blipFill rotWithShape="0">
                <a:blip r:embed="rId5"/>
                <a:stretch>
                  <a:fillRect r="-8421" b="-61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/>
              <p:cNvSpPr txBox="1"/>
              <p:nvPr/>
            </p:nvSpPr>
            <p:spPr>
              <a:xfrm>
                <a:off x="6754839" y="3469216"/>
                <a:ext cx="580608" cy="4925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box>
                      <m:boxPr>
                        <m:ctrlPr>
                          <a:rPr lang="en-US" altLang="zh-TW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oxPr>
                      <m:e>
                        <m:f>
                          <m:fPr>
                            <m:ctrlPr>
                              <a:rPr lang="en-US" altLang="zh-TW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altLang="zh-TW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𝟖</m:t>
                            </m:r>
                          </m:den>
                        </m:f>
                      </m:e>
                    </m:box>
                  </m:oMath>
                </a14:m>
                <a:r>
                  <a:rPr lang="en-US" altLang="zh-TW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/ 4</a:t>
                </a:r>
                <a:endParaRPr lang="zh-TW" alt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" name="文字方塊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4839" y="3469216"/>
                <a:ext cx="580608" cy="492507"/>
              </a:xfrm>
              <a:prstGeom prst="rect">
                <a:avLst/>
              </a:prstGeom>
              <a:blipFill rotWithShape="0">
                <a:blip r:embed="rId6"/>
                <a:stretch>
                  <a:fillRect r="-8421" b="-61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/>
              <p:cNvSpPr txBox="1"/>
              <p:nvPr/>
            </p:nvSpPr>
            <p:spPr>
              <a:xfrm>
                <a:off x="4689082" y="2278670"/>
                <a:ext cx="580608" cy="4925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box>
                      <m:boxPr>
                        <m:ctrlPr>
                          <a:rPr lang="en-US" altLang="zh-TW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oxPr>
                      <m:e>
                        <m:f>
                          <m:fPr>
                            <m:ctrlPr>
                              <a:rPr lang="en-US" altLang="zh-TW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𝟗</m:t>
                            </m:r>
                          </m:num>
                          <m:den>
                            <m:r>
                              <a:rPr lang="en-US" altLang="zh-TW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𝟖</m:t>
                            </m:r>
                          </m:den>
                        </m:f>
                      </m:e>
                    </m:box>
                  </m:oMath>
                </a14:m>
                <a:r>
                  <a:rPr lang="en-US" altLang="zh-TW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/ 1</a:t>
                </a:r>
                <a:endParaRPr lang="zh-TW" alt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" name="文字方塊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9082" y="2278670"/>
                <a:ext cx="580608" cy="492507"/>
              </a:xfrm>
              <a:prstGeom prst="rect">
                <a:avLst/>
              </a:prstGeom>
              <a:blipFill rotWithShape="0">
                <a:blip r:embed="rId7"/>
                <a:stretch>
                  <a:fillRect r="-8421" b="-61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/>
              <p:cNvSpPr txBox="1"/>
              <p:nvPr/>
            </p:nvSpPr>
            <p:spPr>
              <a:xfrm>
                <a:off x="5706305" y="2686130"/>
                <a:ext cx="580608" cy="4925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box>
                      <m:boxPr>
                        <m:ctrlPr>
                          <a:rPr lang="en-US" altLang="zh-TW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oxPr>
                      <m:e>
                        <m:f>
                          <m:fPr>
                            <m:ctrlPr>
                              <a:rPr lang="en-US" altLang="zh-TW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𝟓</m:t>
                            </m:r>
                          </m:num>
                          <m:den>
                            <m:r>
                              <a:rPr lang="en-US" altLang="zh-TW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𝟖</m:t>
                            </m:r>
                          </m:den>
                        </m:f>
                      </m:e>
                    </m:box>
                  </m:oMath>
                </a14:m>
                <a:r>
                  <a:rPr lang="en-US" altLang="zh-TW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/ 2</a:t>
                </a:r>
                <a:endParaRPr lang="zh-TW" alt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8" name="文字方塊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6305" y="2686130"/>
                <a:ext cx="580608" cy="492507"/>
              </a:xfrm>
              <a:prstGeom prst="rect">
                <a:avLst/>
              </a:prstGeom>
              <a:blipFill rotWithShape="0">
                <a:blip r:embed="rId8"/>
                <a:stretch>
                  <a:fillRect r="-8421" b="-87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/>
              <p:cNvSpPr txBox="1"/>
              <p:nvPr/>
            </p:nvSpPr>
            <p:spPr>
              <a:xfrm>
                <a:off x="6750599" y="3086487"/>
                <a:ext cx="580608" cy="4925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box>
                      <m:boxPr>
                        <m:ctrlPr>
                          <a:rPr lang="en-US" altLang="zh-TW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oxPr>
                      <m:e>
                        <m:f>
                          <m:fPr>
                            <m:ctrlPr>
                              <a:rPr lang="en-US" altLang="zh-TW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𝟑</m:t>
                            </m:r>
                          </m:num>
                          <m:den>
                            <m:r>
                              <a:rPr lang="en-US" altLang="zh-TW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𝟖</m:t>
                            </m:r>
                          </m:den>
                        </m:f>
                      </m:e>
                    </m:box>
                  </m:oMath>
                </a14:m>
                <a:r>
                  <a:rPr lang="en-US" altLang="zh-TW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/ 3</a:t>
                </a:r>
                <a:endParaRPr lang="zh-TW" alt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9" name="文字方塊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0599" y="3086487"/>
                <a:ext cx="580608" cy="492507"/>
              </a:xfrm>
              <a:prstGeom prst="rect">
                <a:avLst/>
              </a:prstGeom>
              <a:blipFill rotWithShape="0">
                <a:blip r:embed="rId9"/>
                <a:stretch>
                  <a:fillRect r="-7292" b="-61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/>
              <p:cNvSpPr txBox="1"/>
              <p:nvPr/>
            </p:nvSpPr>
            <p:spPr>
              <a:xfrm>
                <a:off x="5650703" y="2280941"/>
                <a:ext cx="681597" cy="4925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box>
                      <m:boxPr>
                        <m:ctrlPr>
                          <a:rPr lang="en-US" altLang="zh-TW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oxPr>
                      <m:e>
                        <m:f>
                          <m:fPr>
                            <m:ctrlPr>
                              <a:rPr lang="en-US" altLang="zh-TW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𝟏𝟏</m:t>
                            </m:r>
                          </m:num>
                          <m:den>
                            <m:r>
                              <a:rPr lang="en-US" altLang="zh-TW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𝟖</m:t>
                            </m:r>
                          </m:den>
                        </m:f>
                      </m:e>
                    </m:box>
                  </m:oMath>
                </a14:m>
                <a:r>
                  <a:rPr lang="en-US" altLang="zh-TW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/ 2</a:t>
                </a:r>
                <a:endParaRPr lang="zh-TW" alt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" name="文字方塊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0703" y="2280941"/>
                <a:ext cx="681597" cy="492507"/>
              </a:xfrm>
              <a:prstGeom prst="rect">
                <a:avLst/>
              </a:prstGeom>
              <a:blipFill>
                <a:blip r:embed="rId10"/>
                <a:stretch>
                  <a:fillRect r="-6250" b="-61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/>
              <p:cNvSpPr txBox="1"/>
              <p:nvPr/>
            </p:nvSpPr>
            <p:spPr>
              <a:xfrm>
                <a:off x="6748240" y="2682223"/>
                <a:ext cx="580608" cy="4925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box>
                      <m:boxPr>
                        <m:ctrlPr>
                          <a:rPr lang="en-US" altLang="zh-TW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oxPr>
                      <m:e>
                        <m:f>
                          <m:fPr>
                            <m:ctrlPr>
                              <a:rPr lang="en-US" altLang="zh-TW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𝟖</m:t>
                            </m:r>
                          </m:num>
                          <m:den>
                            <m:r>
                              <a:rPr lang="en-US" altLang="zh-TW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𝟖</m:t>
                            </m:r>
                          </m:den>
                        </m:f>
                      </m:e>
                    </m:box>
                  </m:oMath>
                </a14:m>
                <a:r>
                  <a:rPr lang="en-US" altLang="zh-TW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/ 2</a:t>
                </a:r>
                <a:endParaRPr lang="zh-TW" alt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1" name="文字方塊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8240" y="2682223"/>
                <a:ext cx="580608" cy="492507"/>
              </a:xfrm>
              <a:prstGeom prst="rect">
                <a:avLst/>
              </a:prstGeom>
              <a:blipFill rotWithShape="0">
                <a:blip r:embed="rId11"/>
                <a:stretch>
                  <a:fillRect r="-7368" b="-61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/>
              <p:cNvSpPr txBox="1"/>
              <p:nvPr/>
            </p:nvSpPr>
            <p:spPr>
              <a:xfrm>
                <a:off x="6692638" y="2267404"/>
                <a:ext cx="681597" cy="4925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box>
                      <m:boxPr>
                        <m:ctrlPr>
                          <a:rPr lang="en-US" altLang="zh-TW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oxPr>
                      <m:e>
                        <m:f>
                          <m:fPr>
                            <m:ctrlPr>
                              <a:rPr lang="en-US" altLang="zh-TW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𝟏𝟒</m:t>
                            </m:r>
                          </m:num>
                          <m:den>
                            <m:r>
                              <a:rPr lang="en-US" altLang="zh-TW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𝟖</m:t>
                            </m:r>
                          </m:den>
                        </m:f>
                      </m:e>
                    </m:box>
                  </m:oMath>
                </a14:m>
                <a:r>
                  <a:rPr lang="en-US" altLang="zh-TW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/ 2</a:t>
                </a:r>
                <a:endParaRPr lang="zh-TW" alt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3" name="文字方塊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2638" y="2267404"/>
                <a:ext cx="681597" cy="492507"/>
              </a:xfrm>
              <a:prstGeom prst="rect">
                <a:avLst/>
              </a:prstGeom>
              <a:blipFill rotWithShape="0">
                <a:blip r:embed="rId12"/>
                <a:stretch>
                  <a:fillRect r="-6250" b="-61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圓角矩形 33"/>
          <p:cNvSpPr/>
          <p:nvPr/>
        </p:nvSpPr>
        <p:spPr>
          <a:xfrm>
            <a:off x="7062593" y="2341622"/>
            <a:ext cx="334336" cy="364524"/>
          </a:xfrm>
          <a:prstGeom prst="roundRect">
            <a:avLst>
              <a:gd name="adj" fmla="val 50000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0" name="群組 9"/>
          <p:cNvGrpSpPr/>
          <p:nvPr/>
        </p:nvGrpSpPr>
        <p:grpSpPr>
          <a:xfrm>
            <a:off x="6711591" y="4702258"/>
            <a:ext cx="2028056" cy="1444759"/>
            <a:chOff x="6711591" y="4702258"/>
            <a:chExt cx="2028056" cy="1444759"/>
          </a:xfrm>
        </p:grpSpPr>
        <p:sp>
          <p:nvSpPr>
            <p:cNvPr id="38" name="橢圓 37"/>
            <p:cNvSpPr/>
            <p:nvPr/>
          </p:nvSpPr>
          <p:spPr>
            <a:xfrm>
              <a:off x="8443384" y="5832762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9" name="橢圓 38"/>
            <p:cNvSpPr/>
            <p:nvPr/>
          </p:nvSpPr>
          <p:spPr>
            <a:xfrm>
              <a:off x="6715873" y="5280637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0" name="橢圓 39"/>
            <p:cNvSpPr/>
            <p:nvPr/>
          </p:nvSpPr>
          <p:spPr>
            <a:xfrm>
              <a:off x="8091409" y="5280637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1" name="橢圓 40"/>
            <p:cNvSpPr/>
            <p:nvPr/>
          </p:nvSpPr>
          <p:spPr>
            <a:xfrm>
              <a:off x="7391412" y="4751550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42" name="直線接點 41"/>
            <p:cNvCxnSpPr>
              <a:stCxn id="40" idx="4"/>
              <a:endCxn id="38" idx="0"/>
            </p:cNvCxnSpPr>
            <p:nvPr/>
          </p:nvCxnSpPr>
          <p:spPr>
            <a:xfrm>
              <a:off x="8235409" y="5568637"/>
              <a:ext cx="351975" cy="264125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線接點 45"/>
            <p:cNvCxnSpPr>
              <a:stCxn id="41" idx="4"/>
              <a:endCxn id="40" idx="0"/>
            </p:cNvCxnSpPr>
            <p:nvPr/>
          </p:nvCxnSpPr>
          <p:spPr>
            <a:xfrm>
              <a:off x="7535412" y="5039550"/>
              <a:ext cx="699997" cy="241087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線接點 46"/>
            <p:cNvCxnSpPr>
              <a:stCxn id="41" idx="4"/>
              <a:endCxn id="39" idx="0"/>
            </p:cNvCxnSpPr>
            <p:nvPr/>
          </p:nvCxnSpPr>
          <p:spPr>
            <a:xfrm flipH="1">
              <a:off x="6859873" y="5039550"/>
              <a:ext cx="675539" cy="241087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文字方塊 47"/>
            <p:cNvSpPr txBox="1"/>
            <p:nvPr/>
          </p:nvSpPr>
          <p:spPr>
            <a:xfrm>
              <a:off x="7390061" y="4702258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文字方塊 48"/>
            <p:cNvSpPr txBox="1"/>
            <p:nvPr/>
          </p:nvSpPr>
          <p:spPr>
            <a:xfrm>
              <a:off x="6711591" y="5231345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文字方塊 49"/>
            <p:cNvSpPr txBox="1"/>
            <p:nvPr/>
          </p:nvSpPr>
          <p:spPr>
            <a:xfrm>
              <a:off x="8087292" y="522271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文字方塊 53"/>
            <p:cNvSpPr txBox="1"/>
            <p:nvPr/>
          </p:nvSpPr>
          <p:spPr>
            <a:xfrm>
              <a:off x="8439565" y="5777685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" name="群組 8"/>
          <p:cNvGrpSpPr/>
          <p:nvPr/>
        </p:nvGrpSpPr>
        <p:grpSpPr>
          <a:xfrm>
            <a:off x="3710159" y="4673691"/>
            <a:ext cx="1946492" cy="1517245"/>
            <a:chOff x="3710159" y="4673691"/>
            <a:chExt cx="1946492" cy="1517245"/>
          </a:xfrm>
        </p:grpSpPr>
        <p:sp>
          <p:nvSpPr>
            <p:cNvPr id="56" name="橢圓 55"/>
            <p:cNvSpPr/>
            <p:nvPr/>
          </p:nvSpPr>
          <p:spPr>
            <a:xfrm>
              <a:off x="3714441" y="5252070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8" name="橢圓 57"/>
            <p:cNvSpPr/>
            <p:nvPr/>
          </p:nvSpPr>
          <p:spPr>
            <a:xfrm>
              <a:off x="4389980" y="4722983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60" name="直線接點 59"/>
            <p:cNvCxnSpPr>
              <a:stCxn id="58" idx="4"/>
              <a:endCxn id="3" idx="0"/>
            </p:cNvCxnSpPr>
            <p:nvPr/>
          </p:nvCxnSpPr>
          <p:spPr>
            <a:xfrm>
              <a:off x="4533980" y="5010983"/>
              <a:ext cx="699997" cy="263259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線接點 60"/>
            <p:cNvCxnSpPr>
              <a:stCxn id="58" idx="4"/>
              <a:endCxn id="56" idx="0"/>
            </p:cNvCxnSpPr>
            <p:nvPr/>
          </p:nvCxnSpPr>
          <p:spPr>
            <a:xfrm flipH="1">
              <a:off x="3858441" y="5010983"/>
              <a:ext cx="675539" cy="241087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文字方塊 61"/>
            <p:cNvSpPr txBox="1"/>
            <p:nvPr/>
          </p:nvSpPr>
          <p:spPr>
            <a:xfrm>
              <a:off x="4388629" y="4673691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文字方塊 62"/>
            <p:cNvSpPr txBox="1"/>
            <p:nvPr/>
          </p:nvSpPr>
          <p:spPr>
            <a:xfrm>
              <a:off x="3710159" y="5202778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等腰三角形 2"/>
            <p:cNvSpPr/>
            <p:nvPr/>
          </p:nvSpPr>
          <p:spPr>
            <a:xfrm>
              <a:off x="4811303" y="5274242"/>
              <a:ext cx="845348" cy="894947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6" name="橢圓 65"/>
            <p:cNvSpPr/>
            <p:nvPr/>
          </p:nvSpPr>
          <p:spPr>
            <a:xfrm>
              <a:off x="4938012" y="5879522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7" name="文字方塊 66"/>
            <p:cNvSpPr txBox="1"/>
            <p:nvPr/>
          </p:nvSpPr>
          <p:spPr>
            <a:xfrm>
              <a:off x="4933895" y="582160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" name="橢圓 67"/>
            <p:cNvSpPr/>
            <p:nvPr/>
          </p:nvSpPr>
          <p:spPr>
            <a:xfrm>
              <a:off x="5232053" y="5879522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9" name="文字方塊 68"/>
            <p:cNvSpPr txBox="1"/>
            <p:nvPr/>
          </p:nvSpPr>
          <p:spPr>
            <a:xfrm>
              <a:off x="5227936" y="582160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0" name="圓角矩形 69"/>
          <p:cNvSpPr/>
          <p:nvPr/>
        </p:nvSpPr>
        <p:spPr>
          <a:xfrm>
            <a:off x="7003873" y="3136468"/>
            <a:ext cx="334336" cy="364524"/>
          </a:xfrm>
          <a:prstGeom prst="roundRect">
            <a:avLst>
              <a:gd name="adj" fmla="val 50000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1" name="圓角矩形 70"/>
          <p:cNvSpPr/>
          <p:nvPr/>
        </p:nvSpPr>
        <p:spPr>
          <a:xfrm>
            <a:off x="3940246" y="2340206"/>
            <a:ext cx="334336" cy="364524"/>
          </a:xfrm>
          <a:prstGeom prst="roundRect">
            <a:avLst>
              <a:gd name="adj" fmla="val 50000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8" name="群組 7"/>
          <p:cNvGrpSpPr/>
          <p:nvPr/>
        </p:nvGrpSpPr>
        <p:grpSpPr>
          <a:xfrm>
            <a:off x="470247" y="4673691"/>
            <a:ext cx="2206499" cy="1517245"/>
            <a:chOff x="470247" y="4673691"/>
            <a:chExt cx="2206499" cy="1517245"/>
          </a:xfrm>
        </p:grpSpPr>
        <p:sp>
          <p:nvSpPr>
            <p:cNvPr id="73" name="橢圓 72"/>
            <p:cNvSpPr/>
            <p:nvPr/>
          </p:nvSpPr>
          <p:spPr>
            <a:xfrm>
              <a:off x="1410075" y="4722983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74" name="直線接點 73"/>
            <p:cNvCxnSpPr>
              <a:stCxn id="73" idx="4"/>
              <a:endCxn id="78" idx="0"/>
            </p:cNvCxnSpPr>
            <p:nvPr/>
          </p:nvCxnSpPr>
          <p:spPr>
            <a:xfrm>
              <a:off x="1554075" y="5010983"/>
              <a:ext cx="699997" cy="263259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線接點 74"/>
            <p:cNvCxnSpPr>
              <a:stCxn id="73" idx="4"/>
              <a:endCxn id="83" idx="0"/>
            </p:cNvCxnSpPr>
            <p:nvPr/>
          </p:nvCxnSpPr>
          <p:spPr>
            <a:xfrm flipH="1">
              <a:off x="892921" y="5010983"/>
              <a:ext cx="661154" cy="261592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文字方塊 75"/>
            <p:cNvSpPr txBox="1"/>
            <p:nvPr/>
          </p:nvSpPr>
          <p:spPr>
            <a:xfrm>
              <a:off x="1408724" y="4673691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" name="等腰三角形 77"/>
            <p:cNvSpPr/>
            <p:nvPr/>
          </p:nvSpPr>
          <p:spPr>
            <a:xfrm>
              <a:off x="1831398" y="5274242"/>
              <a:ext cx="845348" cy="894947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9" name="橢圓 78"/>
            <p:cNvSpPr/>
            <p:nvPr/>
          </p:nvSpPr>
          <p:spPr>
            <a:xfrm>
              <a:off x="1958107" y="5879522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0" name="文字方塊 79"/>
            <p:cNvSpPr txBox="1"/>
            <p:nvPr/>
          </p:nvSpPr>
          <p:spPr>
            <a:xfrm>
              <a:off x="1953990" y="582160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" name="橢圓 80"/>
            <p:cNvSpPr/>
            <p:nvPr/>
          </p:nvSpPr>
          <p:spPr>
            <a:xfrm>
              <a:off x="2252148" y="5879522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2" name="文字方塊 81"/>
            <p:cNvSpPr txBox="1"/>
            <p:nvPr/>
          </p:nvSpPr>
          <p:spPr>
            <a:xfrm>
              <a:off x="2248031" y="582160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" name="等腰三角形 82"/>
            <p:cNvSpPr/>
            <p:nvPr/>
          </p:nvSpPr>
          <p:spPr>
            <a:xfrm>
              <a:off x="470247" y="5272575"/>
              <a:ext cx="845348" cy="894947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4" name="橢圓 83"/>
            <p:cNvSpPr/>
            <p:nvPr/>
          </p:nvSpPr>
          <p:spPr>
            <a:xfrm>
              <a:off x="757243" y="5856108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5" name="文字方塊 84"/>
            <p:cNvSpPr txBox="1"/>
            <p:nvPr/>
          </p:nvSpPr>
          <p:spPr>
            <a:xfrm>
              <a:off x="753126" y="579819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3" name="向右箭號 22"/>
          <p:cNvSpPr/>
          <p:nvPr/>
        </p:nvSpPr>
        <p:spPr>
          <a:xfrm>
            <a:off x="2938573" y="5186166"/>
            <a:ext cx="339811" cy="4751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6" name="向右箭號 85"/>
          <p:cNvSpPr/>
          <p:nvPr/>
        </p:nvSpPr>
        <p:spPr>
          <a:xfrm>
            <a:off x="5996853" y="5186166"/>
            <a:ext cx="339811" cy="4751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9098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4" grpId="1" animBg="1"/>
      <p:bldP spid="70" grpId="0" animBg="1"/>
      <p:bldP spid="71" grpId="0" animBg="1"/>
      <p:bldP spid="71" grpId="1" animBg="1"/>
      <p:bldP spid="23" grpId="0" animBg="1"/>
      <p:bldP spid="86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最佳二元搜尋樹 </a:t>
            </a:r>
            <a:r>
              <a:rPr lang="en-US" altLang="zh-TW" dirty="0"/>
              <a:t>(13/13)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所有情況的時間複雜度</a:t>
            </a:r>
            <a:r>
              <a:rPr lang="en-US" altLang="zh-TW" dirty="0"/>
              <a:t>(</a:t>
            </a:r>
            <a:r>
              <a:rPr lang="zh-TW" altLang="en-US" dirty="0"/>
              <a:t>最佳化二元搜尋樹</a:t>
            </a:r>
            <a:r>
              <a:rPr lang="en-US" altLang="zh-TW" dirty="0"/>
              <a:t>)</a:t>
            </a:r>
          </a:p>
          <a:p>
            <a:r>
              <a:rPr lang="zh-TW" altLang="en-US" dirty="0">
                <a:solidFill>
                  <a:srgbClr val="0000FF"/>
                </a:solidFill>
              </a:rPr>
              <a:t>基本運算</a:t>
            </a:r>
            <a:r>
              <a:rPr lang="zh-TW" altLang="en-US" dirty="0"/>
              <a:t>：</a:t>
            </a:r>
            <a:r>
              <a:rPr lang="zh-TW" altLang="zh-TW" dirty="0"/>
              <a:t>每個</a:t>
            </a:r>
            <a:r>
              <a:rPr lang="en-US" altLang="zh-TW" i="1" dirty="0"/>
              <a:t>k</a:t>
            </a:r>
            <a:r>
              <a:rPr lang="zh-TW" altLang="zh-TW" dirty="0"/>
              <a:t>值所執行的指令</a:t>
            </a:r>
            <a:r>
              <a:rPr lang="zh-TW" altLang="en-US" dirty="0"/>
              <a:t>數目</a:t>
            </a:r>
            <a:r>
              <a:rPr lang="en-US" altLang="zh-TW" dirty="0"/>
              <a:t>(</a:t>
            </a:r>
            <a:r>
              <a:rPr lang="zh-TW" altLang="zh-TW" dirty="0"/>
              <a:t>包含檢查是否為最小值的「比較」指令</a:t>
            </a:r>
            <a:r>
              <a:rPr lang="en-US" altLang="zh-TW" dirty="0"/>
              <a:t>)</a:t>
            </a:r>
          </a:p>
          <a:p>
            <a:r>
              <a:rPr lang="zh-TW" altLang="en-US" dirty="0">
                <a:solidFill>
                  <a:srgbClr val="0000FF"/>
                </a:solidFill>
              </a:rPr>
              <a:t>輸入大小</a:t>
            </a:r>
            <a:r>
              <a:rPr lang="zh-TW" altLang="en-US" dirty="0"/>
              <a:t>：</a:t>
            </a:r>
            <a:r>
              <a:rPr lang="en-US" altLang="zh-TW" i="1" dirty="0"/>
              <a:t>n</a:t>
            </a:r>
            <a:r>
              <a:rPr lang="zh-TW" altLang="en-US" dirty="0"/>
              <a:t>個</a:t>
            </a:r>
            <a:r>
              <a:rPr lang="en-US" altLang="zh-TW" dirty="0"/>
              <a:t>key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74</a:t>
            </a:fld>
            <a:endParaRPr lang="en-US" dirty="0"/>
          </a:p>
        </p:txBody>
      </p:sp>
      <p:grpSp>
        <p:nvGrpSpPr>
          <p:cNvPr id="9" name="群組 8"/>
          <p:cNvGrpSpPr/>
          <p:nvPr/>
        </p:nvGrpSpPr>
        <p:grpSpPr>
          <a:xfrm>
            <a:off x="920578" y="3217534"/>
            <a:ext cx="6769211" cy="1578870"/>
            <a:chOff x="970005" y="4349578"/>
            <a:chExt cx="6769211" cy="1578870"/>
          </a:xfrm>
        </p:grpSpPr>
        <p:pic>
          <p:nvPicPr>
            <p:cNvPr id="7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8" t="93245"/>
            <a:stretch/>
          </p:blipFill>
          <p:spPr bwMode="auto">
            <a:xfrm>
              <a:off x="970005" y="4349578"/>
              <a:ext cx="5467580" cy="2827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1597" y="4641305"/>
              <a:ext cx="6767619" cy="12871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10" name="圓角矩形圖說文字 9"/>
          <p:cNvSpPr/>
          <p:nvPr/>
        </p:nvSpPr>
        <p:spPr>
          <a:xfrm>
            <a:off x="3915043" y="5048143"/>
            <a:ext cx="5154818" cy="392159"/>
          </a:xfrm>
          <a:prstGeom prst="wedgeRoundRectCallout">
            <a:avLst>
              <a:gd name="adj1" fmla="val -59894"/>
              <a:gd name="adj2" fmla="val -14221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– </a:t>
            </a:r>
            <a:r>
              <a:rPr lang="en-US" altLang="zh-TW" sz="2000" b="1" i="1" dirty="0" err="1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+ 1 = (</a:t>
            </a:r>
            <a:r>
              <a:rPr lang="en-US" altLang="zh-TW" sz="2000" b="1" i="1" dirty="0" err="1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+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diagonal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 – </a:t>
            </a:r>
            <a:r>
              <a:rPr lang="en-US" altLang="zh-TW" sz="2000" b="1" i="1" dirty="0" err="1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+ 1 =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diagonal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+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endParaRPr lang="zh-TW" altLang="en-US" sz="2000" b="1" i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1" name="圓角矩形圖說文字 10"/>
          <p:cNvSpPr/>
          <p:nvPr/>
        </p:nvSpPr>
        <p:spPr>
          <a:xfrm>
            <a:off x="605481" y="2598970"/>
            <a:ext cx="1615540" cy="392159"/>
          </a:xfrm>
          <a:prstGeom prst="wedgeRoundRectCallout">
            <a:avLst>
              <a:gd name="adj1" fmla="val 99569"/>
              <a:gd name="adj2" fmla="val 20123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–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diagonal</a:t>
            </a:r>
            <a:endParaRPr lang="zh-TW" altLang="en-US" sz="2000" b="1" i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/>
              <p:cNvSpPr txBox="1"/>
              <p:nvPr/>
            </p:nvSpPr>
            <p:spPr>
              <a:xfrm>
                <a:off x="337630" y="5605687"/>
                <a:ext cx="8495211" cy="9124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ctrlP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𝒊𝒂𝒈𝒐𝒏𝒂𝒍</m:t>
                          </m:r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altLang="zh-TW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  <m:r>
                                    <a:rPr lang="en-US" altLang="zh-TW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𝒅𝒊𝒂𝒈𝒐𝒏𝒂𝒍</m:t>
                                  </m:r>
                                </m:e>
                              </m:d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×(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𝒅𝒊𝒂𝒈𝒐𝒏𝒂𝒍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nary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ox>
                        <m:boxPr>
                          <m:ctrlP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f>
                            <m:fPr>
                              <m:ctrlP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)(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</m:den>
                          </m:f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zh-TW" altLang="en-US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𝚯</m:t>
                          </m:r>
                          <m:d>
                            <m:dPr>
                              <m:ctrlP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  <m:sup>
                                  <m:r>
                                    <a:rPr lang="en-US" altLang="zh-TW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𝟑</m:t>
                                  </m:r>
                                </m:sup>
                              </m:sSup>
                            </m:e>
                          </m:d>
                        </m:e>
                      </m:box>
                    </m:oMath>
                  </m:oMathPara>
                </a14:m>
                <a:endParaRPr lang="zh-TW" altLang="en-US" sz="20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630" y="5605687"/>
                <a:ext cx="8495211" cy="912429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1104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售貨員旅行問題 </a:t>
            </a:r>
            <a:r>
              <a:rPr lang="en-US" altLang="zh-TW" dirty="0"/>
              <a:t>(1/12)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</a:rPr>
              <a:t>Travelling salesman problem, TSP</a:t>
            </a:r>
          </a:p>
          <a:p>
            <a:pPr lvl="1"/>
            <a:r>
              <a:rPr lang="zh-TW" altLang="en-US" dirty="0"/>
              <a:t>售貨員</a:t>
            </a:r>
            <a:r>
              <a:rPr lang="en-US" altLang="zh-TW" dirty="0"/>
              <a:t>(salesman)</a:t>
            </a:r>
            <a:r>
              <a:rPr lang="zh-TW" altLang="en-US" dirty="0"/>
              <a:t>計畫在</a:t>
            </a:r>
            <a:r>
              <a:rPr lang="en-US" altLang="zh-TW" dirty="0"/>
              <a:t>20</a:t>
            </a:r>
            <a:r>
              <a:rPr lang="zh-TW" altLang="en-US" dirty="0"/>
              <a:t>座城市間旅行並推銷產品</a:t>
            </a:r>
            <a:endParaRPr lang="en-US" altLang="zh-TW" dirty="0"/>
          </a:p>
          <a:p>
            <a:pPr lvl="1"/>
            <a:r>
              <a:rPr lang="zh-TW" altLang="en-US" dirty="0"/>
              <a:t>從家鄉出發，拜訪每一座城市一次後，</a:t>
            </a:r>
            <a:r>
              <a:rPr lang="zh-TW" altLang="en-US" dirty="0">
                <a:solidFill>
                  <a:srgbClr val="C00000"/>
                </a:solidFill>
              </a:rPr>
              <a:t>再回到家鄉</a:t>
            </a:r>
            <a:endParaRPr lang="en-US" altLang="zh-TW" dirty="0">
              <a:solidFill>
                <a:srgbClr val="C00000"/>
              </a:solidFill>
            </a:endParaRPr>
          </a:p>
          <a:p>
            <a:pPr lvl="1"/>
            <a:r>
              <a:rPr lang="zh-TW" altLang="en-US" dirty="0">
                <a:solidFill>
                  <a:srgbClr val="0000FF"/>
                </a:solidFill>
              </a:rPr>
              <a:t>目標</a:t>
            </a:r>
            <a:r>
              <a:rPr lang="zh-TW" altLang="en-US" dirty="0"/>
              <a:t>：縮短旅行時間</a:t>
            </a:r>
            <a:r>
              <a:rPr lang="en-US" altLang="zh-TW" dirty="0"/>
              <a:t>(</a:t>
            </a:r>
            <a:r>
              <a:rPr lang="zh-TW" altLang="en-US" dirty="0">
                <a:solidFill>
                  <a:srgbClr val="C00000"/>
                </a:solidFill>
              </a:rPr>
              <a:t>最短</a:t>
            </a:r>
            <a:r>
              <a:rPr lang="zh-TW" altLang="en-US" dirty="0"/>
              <a:t>路徑</a:t>
            </a:r>
            <a:r>
              <a:rPr lang="en-US" altLang="zh-TW" dirty="0"/>
              <a:t>)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>
                <a:solidFill>
                  <a:srgbClr val="0000FF"/>
                </a:solidFill>
              </a:rPr>
              <a:t>旅程</a:t>
            </a:r>
            <a:r>
              <a:rPr lang="en-US" altLang="zh-TW" dirty="0">
                <a:solidFill>
                  <a:srgbClr val="0000FF"/>
                </a:solidFill>
              </a:rPr>
              <a:t>(tour)</a:t>
            </a:r>
            <a:r>
              <a:rPr lang="zh-TW" altLang="en-US" dirty="0"/>
              <a:t>：</a:t>
            </a:r>
            <a:endParaRPr lang="en-US" altLang="zh-TW" dirty="0"/>
          </a:p>
          <a:p>
            <a:pPr lvl="1"/>
            <a:r>
              <a:rPr lang="zh-TW" altLang="zh-TW" dirty="0"/>
              <a:t>一條路徑</a:t>
            </a:r>
            <a:endParaRPr lang="en-US" altLang="zh-TW" dirty="0"/>
          </a:p>
          <a:p>
            <a:pPr lvl="1"/>
            <a:r>
              <a:rPr lang="zh-TW" altLang="zh-TW" dirty="0"/>
              <a:t>由某一個頂點出發，經過所有頂點一次之後，再回到該頂點</a:t>
            </a:r>
            <a:endParaRPr lang="en-US" altLang="zh-TW" dirty="0"/>
          </a:p>
          <a:p>
            <a:pPr lvl="1"/>
            <a:r>
              <a:rPr lang="zh-TW" altLang="zh-TW" dirty="0">
                <a:solidFill>
                  <a:srgbClr val="C00000"/>
                </a:solidFill>
              </a:rPr>
              <a:t>漢米爾頓迴路</a:t>
            </a:r>
            <a:r>
              <a:rPr lang="en-US" altLang="zh-TW" dirty="0">
                <a:solidFill>
                  <a:srgbClr val="C00000"/>
                </a:solidFill>
              </a:rPr>
              <a:t> (Hamiltonian circuit)</a:t>
            </a:r>
            <a:endParaRPr lang="zh-TW" altLang="en-US" dirty="0">
              <a:solidFill>
                <a:srgbClr val="C00000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75</a:t>
            </a:fld>
            <a:endParaRPr lang="en-US" dirty="0"/>
          </a:p>
        </p:txBody>
      </p:sp>
      <p:sp>
        <p:nvSpPr>
          <p:cNvPr id="7" name="橢圓 6"/>
          <p:cNvSpPr/>
          <p:nvPr/>
        </p:nvSpPr>
        <p:spPr>
          <a:xfrm>
            <a:off x="3597210" y="3560969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3556841" y="3479055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橢圓 8"/>
          <p:cNvSpPr/>
          <p:nvPr/>
        </p:nvSpPr>
        <p:spPr>
          <a:xfrm>
            <a:off x="5318565" y="3560850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3597210" y="4800763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5318565" y="480064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3" name="直線單箭頭接點 12"/>
          <p:cNvCxnSpPr>
            <a:stCxn id="10" idx="0"/>
            <a:endCxn id="7" idx="4"/>
          </p:cNvCxnSpPr>
          <p:nvPr/>
        </p:nvCxnSpPr>
        <p:spPr>
          <a:xfrm flipV="1">
            <a:off x="3741210" y="3848969"/>
            <a:ext cx="0" cy="95179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>
            <a:stCxn id="7" idx="5"/>
            <a:endCxn id="11" idx="1"/>
          </p:cNvCxnSpPr>
          <p:nvPr/>
        </p:nvCxnSpPr>
        <p:spPr>
          <a:xfrm>
            <a:off x="3843033" y="3806792"/>
            <a:ext cx="1517709" cy="103602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>
            <a:stCxn id="7" idx="7"/>
            <a:endCxn id="9" idx="1"/>
          </p:cNvCxnSpPr>
          <p:nvPr/>
        </p:nvCxnSpPr>
        <p:spPr>
          <a:xfrm flipV="1">
            <a:off x="3843033" y="3603027"/>
            <a:ext cx="1517709" cy="11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>
            <a:stCxn id="9" idx="2"/>
            <a:endCxn id="7" idx="6"/>
          </p:cNvCxnSpPr>
          <p:nvPr/>
        </p:nvCxnSpPr>
        <p:spPr>
          <a:xfrm flipH="1">
            <a:off x="3885210" y="3704850"/>
            <a:ext cx="1433355" cy="11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>
            <a:stCxn id="9" idx="5"/>
            <a:endCxn id="11" idx="7"/>
          </p:cNvCxnSpPr>
          <p:nvPr/>
        </p:nvCxnSpPr>
        <p:spPr>
          <a:xfrm>
            <a:off x="5564388" y="3806673"/>
            <a:ext cx="0" cy="103614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/>
          <p:cNvCxnSpPr>
            <a:stCxn id="11" idx="0"/>
            <a:endCxn id="9" idx="4"/>
          </p:cNvCxnSpPr>
          <p:nvPr/>
        </p:nvCxnSpPr>
        <p:spPr>
          <a:xfrm flipV="1">
            <a:off x="5462565" y="3848850"/>
            <a:ext cx="0" cy="95179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/>
          <p:cNvCxnSpPr>
            <a:stCxn id="11" idx="3"/>
            <a:endCxn id="10" idx="5"/>
          </p:cNvCxnSpPr>
          <p:nvPr/>
        </p:nvCxnSpPr>
        <p:spPr>
          <a:xfrm flipH="1">
            <a:off x="3843033" y="5046467"/>
            <a:ext cx="1517709" cy="11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/>
          <p:cNvCxnSpPr>
            <a:stCxn id="10" idx="7"/>
            <a:endCxn id="9" idx="3"/>
          </p:cNvCxnSpPr>
          <p:nvPr/>
        </p:nvCxnSpPr>
        <p:spPr>
          <a:xfrm flipV="1">
            <a:off x="3843033" y="3806673"/>
            <a:ext cx="1517709" cy="103626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38"/>
          <p:cNvCxnSpPr>
            <a:stCxn id="9" idx="4"/>
            <a:endCxn id="10" idx="6"/>
          </p:cNvCxnSpPr>
          <p:nvPr/>
        </p:nvCxnSpPr>
        <p:spPr>
          <a:xfrm flipH="1">
            <a:off x="3885210" y="3848850"/>
            <a:ext cx="1577355" cy="109591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字方塊 46"/>
          <p:cNvSpPr txBox="1"/>
          <p:nvPr/>
        </p:nvSpPr>
        <p:spPr>
          <a:xfrm>
            <a:off x="5290402" y="3475344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文字方塊 47"/>
          <p:cNvSpPr txBox="1"/>
          <p:nvPr/>
        </p:nvSpPr>
        <p:spPr>
          <a:xfrm>
            <a:off x="5289496" y="4717360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文字方塊 48"/>
          <p:cNvSpPr txBox="1"/>
          <p:nvPr/>
        </p:nvSpPr>
        <p:spPr>
          <a:xfrm>
            <a:off x="3562854" y="4717360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文字方塊 49"/>
          <p:cNvSpPr txBox="1"/>
          <p:nvPr/>
        </p:nvSpPr>
        <p:spPr>
          <a:xfrm>
            <a:off x="3483305" y="414008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文字方塊 50"/>
          <p:cNvSpPr txBox="1"/>
          <p:nvPr/>
        </p:nvSpPr>
        <p:spPr>
          <a:xfrm>
            <a:off x="4472935" y="366532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文字方塊 51"/>
          <p:cNvSpPr txBox="1"/>
          <p:nvPr/>
        </p:nvSpPr>
        <p:spPr>
          <a:xfrm>
            <a:off x="4472935" y="329438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文字方塊 52"/>
          <p:cNvSpPr txBox="1"/>
          <p:nvPr/>
        </p:nvSpPr>
        <p:spPr>
          <a:xfrm>
            <a:off x="4601887" y="389579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文字方塊 53"/>
          <p:cNvSpPr txBox="1"/>
          <p:nvPr/>
        </p:nvSpPr>
        <p:spPr>
          <a:xfrm>
            <a:off x="4751928" y="417503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文字方塊 54"/>
          <p:cNvSpPr txBox="1"/>
          <p:nvPr/>
        </p:nvSpPr>
        <p:spPr>
          <a:xfrm>
            <a:off x="4838619" y="455307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文字方塊 55"/>
          <p:cNvSpPr txBox="1"/>
          <p:nvPr/>
        </p:nvSpPr>
        <p:spPr>
          <a:xfrm>
            <a:off x="4472935" y="500388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文字方塊 56"/>
          <p:cNvSpPr txBox="1"/>
          <p:nvPr/>
        </p:nvSpPr>
        <p:spPr>
          <a:xfrm>
            <a:off x="5516387" y="417503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文字方塊 57"/>
          <p:cNvSpPr txBox="1"/>
          <p:nvPr/>
        </p:nvSpPr>
        <p:spPr>
          <a:xfrm>
            <a:off x="5174129" y="417503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圓角矩形圖說文字 58"/>
          <p:cNvSpPr/>
          <p:nvPr/>
        </p:nvSpPr>
        <p:spPr>
          <a:xfrm>
            <a:off x="2326274" y="2766045"/>
            <a:ext cx="837065" cy="392159"/>
          </a:xfrm>
          <a:prstGeom prst="wedgeRoundRectCallout">
            <a:avLst>
              <a:gd name="adj1" fmla="val 96617"/>
              <a:gd name="adj2" fmla="val 15712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城市</a:t>
            </a:r>
          </a:p>
        </p:txBody>
      </p:sp>
      <p:sp>
        <p:nvSpPr>
          <p:cNvPr id="60" name="圓角矩形圖說文字 59"/>
          <p:cNvSpPr/>
          <p:nvPr/>
        </p:nvSpPr>
        <p:spPr>
          <a:xfrm>
            <a:off x="6035826" y="3463930"/>
            <a:ext cx="1511088" cy="392159"/>
          </a:xfrm>
          <a:prstGeom prst="wedgeRoundRectCallout">
            <a:avLst>
              <a:gd name="adj1" fmla="val -69248"/>
              <a:gd name="adj2" fmla="val 17287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時間或距離</a:t>
            </a:r>
          </a:p>
        </p:txBody>
      </p:sp>
      <p:sp>
        <p:nvSpPr>
          <p:cNvPr id="61" name="圓角矩形圖說文字 60"/>
          <p:cNvSpPr/>
          <p:nvPr/>
        </p:nvSpPr>
        <p:spPr>
          <a:xfrm>
            <a:off x="2106278" y="3564003"/>
            <a:ext cx="1060986" cy="392159"/>
          </a:xfrm>
          <a:prstGeom prst="wedgeRoundRectCallout">
            <a:avLst>
              <a:gd name="adj1" fmla="val 94967"/>
              <a:gd name="adj2" fmla="val 10355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單行道</a:t>
            </a:r>
          </a:p>
        </p:txBody>
      </p:sp>
    </p:spTree>
    <p:extLst>
      <p:ext uri="{BB962C8B-B14F-4D97-AF65-F5344CB8AC3E}">
        <p14:creationId xmlns:p14="http://schemas.microsoft.com/office/powerpoint/2010/main" val="1583538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  <p:bldP spid="60" grpId="0" animBg="1"/>
      <p:bldP spid="61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售貨員旅行問題 </a:t>
            </a:r>
            <a:r>
              <a:rPr lang="en-US" altLang="zh-TW" dirty="0"/>
              <a:t>(2/12)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Travelling salesman problem, TSP</a:t>
            </a:r>
          </a:p>
          <a:p>
            <a:pPr lvl="1"/>
            <a:r>
              <a:rPr lang="zh-TW" altLang="en-US" dirty="0">
                <a:solidFill>
                  <a:srgbClr val="0000FF"/>
                </a:solidFill>
              </a:rPr>
              <a:t>目標</a:t>
            </a:r>
            <a:r>
              <a:rPr lang="zh-TW" altLang="en-US" dirty="0"/>
              <a:t>：縮短旅行時間</a:t>
            </a:r>
            <a:r>
              <a:rPr lang="en-US" altLang="zh-TW" dirty="0"/>
              <a:t>(</a:t>
            </a:r>
            <a:r>
              <a:rPr lang="zh-TW" altLang="en-US" dirty="0">
                <a:solidFill>
                  <a:srgbClr val="C00000"/>
                </a:solidFill>
              </a:rPr>
              <a:t>最短</a:t>
            </a:r>
            <a:r>
              <a:rPr lang="zh-TW" altLang="en-US" dirty="0"/>
              <a:t>路徑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76</a:t>
            </a:fld>
            <a:endParaRPr lang="en-US" dirty="0"/>
          </a:p>
        </p:txBody>
      </p:sp>
      <p:sp>
        <p:nvSpPr>
          <p:cNvPr id="7" name="橢圓 6"/>
          <p:cNvSpPr/>
          <p:nvPr/>
        </p:nvSpPr>
        <p:spPr>
          <a:xfrm>
            <a:off x="3578676" y="2203930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3538307" y="2122016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橢圓 8"/>
          <p:cNvSpPr/>
          <p:nvPr/>
        </p:nvSpPr>
        <p:spPr>
          <a:xfrm>
            <a:off x="5300031" y="2203811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3578676" y="344372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5300031" y="344360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3" name="直線單箭頭接點 12"/>
          <p:cNvCxnSpPr>
            <a:stCxn id="10" idx="0"/>
            <a:endCxn id="7" idx="4"/>
          </p:cNvCxnSpPr>
          <p:nvPr/>
        </p:nvCxnSpPr>
        <p:spPr>
          <a:xfrm flipV="1">
            <a:off x="3722676" y="2491930"/>
            <a:ext cx="0" cy="95179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>
            <a:stCxn id="7" idx="5"/>
            <a:endCxn id="11" idx="1"/>
          </p:cNvCxnSpPr>
          <p:nvPr/>
        </p:nvCxnSpPr>
        <p:spPr>
          <a:xfrm>
            <a:off x="3824499" y="2449753"/>
            <a:ext cx="1517709" cy="103602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>
            <a:stCxn id="7" idx="7"/>
            <a:endCxn id="9" idx="1"/>
          </p:cNvCxnSpPr>
          <p:nvPr/>
        </p:nvCxnSpPr>
        <p:spPr>
          <a:xfrm flipV="1">
            <a:off x="3824499" y="2245988"/>
            <a:ext cx="1517709" cy="11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>
            <a:stCxn id="9" idx="2"/>
            <a:endCxn id="7" idx="6"/>
          </p:cNvCxnSpPr>
          <p:nvPr/>
        </p:nvCxnSpPr>
        <p:spPr>
          <a:xfrm flipH="1">
            <a:off x="3866676" y="2347811"/>
            <a:ext cx="1433355" cy="11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>
            <a:stCxn id="9" idx="5"/>
            <a:endCxn id="11" idx="7"/>
          </p:cNvCxnSpPr>
          <p:nvPr/>
        </p:nvCxnSpPr>
        <p:spPr>
          <a:xfrm>
            <a:off x="5545854" y="2449634"/>
            <a:ext cx="0" cy="103614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/>
          <p:cNvCxnSpPr>
            <a:stCxn id="11" idx="0"/>
            <a:endCxn id="9" idx="4"/>
          </p:cNvCxnSpPr>
          <p:nvPr/>
        </p:nvCxnSpPr>
        <p:spPr>
          <a:xfrm flipV="1">
            <a:off x="5444031" y="2491811"/>
            <a:ext cx="0" cy="95179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/>
          <p:cNvCxnSpPr>
            <a:stCxn id="11" idx="3"/>
            <a:endCxn id="10" idx="5"/>
          </p:cNvCxnSpPr>
          <p:nvPr/>
        </p:nvCxnSpPr>
        <p:spPr>
          <a:xfrm flipH="1">
            <a:off x="3824499" y="3689428"/>
            <a:ext cx="1517709" cy="11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/>
          <p:cNvCxnSpPr>
            <a:stCxn id="10" idx="7"/>
            <a:endCxn id="9" idx="3"/>
          </p:cNvCxnSpPr>
          <p:nvPr/>
        </p:nvCxnSpPr>
        <p:spPr>
          <a:xfrm flipV="1">
            <a:off x="3824499" y="2449634"/>
            <a:ext cx="1517709" cy="103626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38"/>
          <p:cNvCxnSpPr>
            <a:stCxn id="9" idx="4"/>
            <a:endCxn id="10" idx="6"/>
          </p:cNvCxnSpPr>
          <p:nvPr/>
        </p:nvCxnSpPr>
        <p:spPr>
          <a:xfrm flipH="1">
            <a:off x="3866676" y="2491811"/>
            <a:ext cx="1577355" cy="109591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字方塊 46"/>
          <p:cNvSpPr txBox="1"/>
          <p:nvPr/>
        </p:nvSpPr>
        <p:spPr>
          <a:xfrm>
            <a:off x="5271868" y="2118305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文字方塊 47"/>
          <p:cNvSpPr txBox="1"/>
          <p:nvPr/>
        </p:nvSpPr>
        <p:spPr>
          <a:xfrm>
            <a:off x="5270962" y="3360321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文字方塊 48"/>
          <p:cNvSpPr txBox="1"/>
          <p:nvPr/>
        </p:nvSpPr>
        <p:spPr>
          <a:xfrm>
            <a:off x="3544320" y="3360321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文字方塊 49"/>
          <p:cNvSpPr txBox="1"/>
          <p:nvPr/>
        </p:nvSpPr>
        <p:spPr>
          <a:xfrm>
            <a:off x="3464771" y="278304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文字方塊 50"/>
          <p:cNvSpPr txBox="1"/>
          <p:nvPr/>
        </p:nvSpPr>
        <p:spPr>
          <a:xfrm>
            <a:off x="4454401" y="230828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文字方塊 51"/>
          <p:cNvSpPr txBox="1"/>
          <p:nvPr/>
        </p:nvSpPr>
        <p:spPr>
          <a:xfrm>
            <a:off x="4454401" y="193735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文字方塊 52"/>
          <p:cNvSpPr txBox="1"/>
          <p:nvPr/>
        </p:nvSpPr>
        <p:spPr>
          <a:xfrm>
            <a:off x="4583353" y="253875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文字方塊 53"/>
          <p:cNvSpPr txBox="1"/>
          <p:nvPr/>
        </p:nvSpPr>
        <p:spPr>
          <a:xfrm>
            <a:off x="4733394" y="281799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文字方塊 54"/>
          <p:cNvSpPr txBox="1"/>
          <p:nvPr/>
        </p:nvSpPr>
        <p:spPr>
          <a:xfrm>
            <a:off x="4820085" y="319603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文字方塊 55"/>
          <p:cNvSpPr txBox="1"/>
          <p:nvPr/>
        </p:nvSpPr>
        <p:spPr>
          <a:xfrm>
            <a:off x="4454401" y="364684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文字方塊 56"/>
          <p:cNvSpPr txBox="1"/>
          <p:nvPr/>
        </p:nvSpPr>
        <p:spPr>
          <a:xfrm>
            <a:off x="5497853" y="281799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文字方塊 57"/>
          <p:cNvSpPr txBox="1"/>
          <p:nvPr/>
        </p:nvSpPr>
        <p:spPr>
          <a:xfrm>
            <a:off x="5155595" y="281799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文字方塊 61"/>
          <p:cNvSpPr txBox="1"/>
          <p:nvPr/>
        </p:nvSpPr>
        <p:spPr>
          <a:xfrm>
            <a:off x="1134380" y="6181371"/>
            <a:ext cx="13981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 = 22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8" name="群組 27"/>
          <p:cNvGrpSpPr/>
          <p:nvPr/>
        </p:nvGrpSpPr>
        <p:grpSpPr>
          <a:xfrm>
            <a:off x="3538306" y="4358332"/>
            <a:ext cx="364202" cy="369914"/>
            <a:chOff x="3538306" y="4250833"/>
            <a:chExt cx="364202" cy="369914"/>
          </a:xfrm>
        </p:grpSpPr>
        <p:sp>
          <p:nvSpPr>
            <p:cNvPr id="37" name="橢圓 36"/>
            <p:cNvSpPr/>
            <p:nvPr/>
          </p:nvSpPr>
          <p:spPr>
            <a:xfrm>
              <a:off x="3578675" y="4332747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8" name="文字方塊 37"/>
            <p:cNvSpPr txBox="1"/>
            <p:nvPr/>
          </p:nvSpPr>
          <p:spPr>
            <a:xfrm>
              <a:off x="3538306" y="4250833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0" name="群組 29"/>
          <p:cNvGrpSpPr/>
          <p:nvPr/>
        </p:nvGrpSpPr>
        <p:grpSpPr>
          <a:xfrm>
            <a:off x="5271867" y="4354621"/>
            <a:ext cx="364202" cy="373506"/>
            <a:chOff x="5271867" y="4247122"/>
            <a:chExt cx="364202" cy="373506"/>
          </a:xfrm>
        </p:grpSpPr>
        <p:sp>
          <p:nvSpPr>
            <p:cNvPr id="40" name="橢圓 39"/>
            <p:cNvSpPr/>
            <p:nvPr/>
          </p:nvSpPr>
          <p:spPr>
            <a:xfrm>
              <a:off x="5300030" y="4332628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8" name="文字方塊 67"/>
            <p:cNvSpPr txBox="1"/>
            <p:nvPr/>
          </p:nvSpPr>
          <p:spPr>
            <a:xfrm>
              <a:off x="5271867" y="4247122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6" name="群組 45"/>
          <p:cNvGrpSpPr/>
          <p:nvPr/>
        </p:nvGrpSpPr>
        <p:grpSpPr>
          <a:xfrm>
            <a:off x="5270961" y="5596637"/>
            <a:ext cx="364202" cy="371284"/>
            <a:chOff x="5270961" y="5489138"/>
            <a:chExt cx="364202" cy="371284"/>
          </a:xfrm>
        </p:grpSpPr>
        <p:sp>
          <p:nvSpPr>
            <p:cNvPr id="42" name="橢圓 41"/>
            <p:cNvSpPr/>
            <p:nvPr/>
          </p:nvSpPr>
          <p:spPr>
            <a:xfrm>
              <a:off x="5300030" y="5572422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9" name="文字方塊 68"/>
            <p:cNvSpPr txBox="1"/>
            <p:nvPr/>
          </p:nvSpPr>
          <p:spPr>
            <a:xfrm>
              <a:off x="5270961" y="5489138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1" name="群組 30"/>
          <p:cNvGrpSpPr/>
          <p:nvPr/>
        </p:nvGrpSpPr>
        <p:grpSpPr>
          <a:xfrm>
            <a:off x="3544319" y="5596637"/>
            <a:ext cx="364202" cy="371403"/>
            <a:chOff x="3544319" y="5489138"/>
            <a:chExt cx="364202" cy="371403"/>
          </a:xfrm>
        </p:grpSpPr>
        <p:sp>
          <p:nvSpPr>
            <p:cNvPr id="41" name="橢圓 40"/>
            <p:cNvSpPr/>
            <p:nvPr/>
          </p:nvSpPr>
          <p:spPr>
            <a:xfrm>
              <a:off x="3578675" y="5572541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0" name="文字方塊 69"/>
            <p:cNvSpPr txBox="1"/>
            <p:nvPr/>
          </p:nvSpPr>
          <p:spPr>
            <a:xfrm>
              <a:off x="3544319" y="5489138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3" name="群組 32"/>
          <p:cNvGrpSpPr/>
          <p:nvPr/>
        </p:nvGrpSpPr>
        <p:grpSpPr>
          <a:xfrm>
            <a:off x="3464770" y="4800254"/>
            <a:ext cx="300082" cy="951794"/>
            <a:chOff x="3464770" y="4692755"/>
            <a:chExt cx="300082" cy="951794"/>
          </a:xfrm>
        </p:grpSpPr>
        <p:cxnSp>
          <p:nvCxnSpPr>
            <p:cNvPr id="43" name="直線單箭頭接點 42"/>
            <p:cNvCxnSpPr>
              <a:stCxn id="41" idx="0"/>
              <a:endCxn id="37" idx="4"/>
            </p:cNvCxnSpPr>
            <p:nvPr/>
          </p:nvCxnSpPr>
          <p:spPr>
            <a:xfrm flipV="1">
              <a:off x="3722675" y="4692755"/>
              <a:ext cx="0" cy="951794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文字方塊 70"/>
            <p:cNvSpPr txBox="1"/>
            <p:nvPr/>
          </p:nvSpPr>
          <p:spPr>
            <a:xfrm>
              <a:off x="3464770" y="491185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9" name="群組 58"/>
          <p:cNvGrpSpPr/>
          <p:nvPr/>
        </p:nvGrpSpPr>
        <p:grpSpPr>
          <a:xfrm>
            <a:off x="3866675" y="4800135"/>
            <a:ext cx="1577355" cy="1095913"/>
            <a:chOff x="3866675" y="4692636"/>
            <a:chExt cx="1577355" cy="1095913"/>
          </a:xfrm>
        </p:grpSpPr>
        <p:cxnSp>
          <p:nvCxnSpPr>
            <p:cNvPr id="67" name="直線單箭頭接點 66"/>
            <p:cNvCxnSpPr>
              <a:stCxn id="40" idx="4"/>
              <a:endCxn id="41" idx="6"/>
            </p:cNvCxnSpPr>
            <p:nvPr/>
          </p:nvCxnSpPr>
          <p:spPr>
            <a:xfrm flipH="1">
              <a:off x="3866675" y="4692636"/>
              <a:ext cx="1577355" cy="1095913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文字方塊 74"/>
            <p:cNvSpPr txBox="1"/>
            <p:nvPr/>
          </p:nvSpPr>
          <p:spPr>
            <a:xfrm>
              <a:off x="4733393" y="494681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5" name="群組 44"/>
          <p:cNvGrpSpPr/>
          <p:nvPr/>
        </p:nvGrpSpPr>
        <p:grpSpPr>
          <a:xfrm>
            <a:off x="3824498" y="4758077"/>
            <a:ext cx="1517709" cy="1043610"/>
            <a:chOff x="3824498" y="4650578"/>
            <a:chExt cx="1517709" cy="1043610"/>
          </a:xfrm>
        </p:grpSpPr>
        <p:cxnSp>
          <p:nvCxnSpPr>
            <p:cNvPr id="44" name="直線單箭頭接點 43"/>
            <p:cNvCxnSpPr>
              <a:stCxn id="37" idx="5"/>
              <a:endCxn id="42" idx="1"/>
            </p:cNvCxnSpPr>
            <p:nvPr/>
          </p:nvCxnSpPr>
          <p:spPr>
            <a:xfrm>
              <a:off x="3824498" y="4650578"/>
              <a:ext cx="1517709" cy="103602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文字方塊 75"/>
            <p:cNvSpPr txBox="1"/>
            <p:nvPr/>
          </p:nvSpPr>
          <p:spPr>
            <a:xfrm>
              <a:off x="4820084" y="532485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4" name="群組 33"/>
          <p:cNvGrpSpPr/>
          <p:nvPr/>
        </p:nvGrpSpPr>
        <p:grpSpPr>
          <a:xfrm>
            <a:off x="5155594" y="4800135"/>
            <a:ext cx="300082" cy="951794"/>
            <a:chOff x="5155594" y="4692636"/>
            <a:chExt cx="300082" cy="951794"/>
          </a:xfrm>
        </p:grpSpPr>
        <p:cxnSp>
          <p:nvCxnSpPr>
            <p:cNvPr id="64" name="直線單箭頭接點 63"/>
            <p:cNvCxnSpPr>
              <a:stCxn id="42" idx="0"/>
              <a:endCxn id="40" idx="4"/>
            </p:cNvCxnSpPr>
            <p:nvPr/>
          </p:nvCxnSpPr>
          <p:spPr>
            <a:xfrm flipV="1">
              <a:off x="5444030" y="4692636"/>
              <a:ext cx="0" cy="951794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文字方塊 78"/>
            <p:cNvSpPr txBox="1"/>
            <p:nvPr/>
          </p:nvSpPr>
          <p:spPr>
            <a:xfrm>
              <a:off x="5155594" y="494681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0" name="群組 59"/>
          <p:cNvGrpSpPr/>
          <p:nvPr/>
        </p:nvGrpSpPr>
        <p:grpSpPr>
          <a:xfrm>
            <a:off x="6159862" y="4358213"/>
            <a:ext cx="364202" cy="369914"/>
            <a:chOff x="6159862" y="4250714"/>
            <a:chExt cx="364202" cy="369914"/>
          </a:xfrm>
        </p:grpSpPr>
        <p:sp>
          <p:nvSpPr>
            <p:cNvPr id="80" name="橢圓 79"/>
            <p:cNvSpPr/>
            <p:nvPr/>
          </p:nvSpPr>
          <p:spPr>
            <a:xfrm>
              <a:off x="6200231" y="4332628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1" name="文字方塊 80"/>
            <p:cNvSpPr txBox="1"/>
            <p:nvPr/>
          </p:nvSpPr>
          <p:spPr>
            <a:xfrm>
              <a:off x="6159862" y="4250714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1" name="群組 60"/>
          <p:cNvGrpSpPr/>
          <p:nvPr/>
        </p:nvGrpSpPr>
        <p:grpSpPr>
          <a:xfrm>
            <a:off x="7893423" y="4354502"/>
            <a:ext cx="364202" cy="373506"/>
            <a:chOff x="7893423" y="4247003"/>
            <a:chExt cx="364202" cy="373506"/>
          </a:xfrm>
        </p:grpSpPr>
        <p:sp>
          <p:nvSpPr>
            <p:cNvPr id="82" name="橢圓 81"/>
            <p:cNvSpPr/>
            <p:nvPr/>
          </p:nvSpPr>
          <p:spPr>
            <a:xfrm>
              <a:off x="7921586" y="4332509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4" name="文字方塊 93"/>
            <p:cNvSpPr txBox="1"/>
            <p:nvPr/>
          </p:nvSpPr>
          <p:spPr>
            <a:xfrm>
              <a:off x="7893423" y="4247003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3" name="群組 62"/>
          <p:cNvGrpSpPr/>
          <p:nvPr/>
        </p:nvGrpSpPr>
        <p:grpSpPr>
          <a:xfrm>
            <a:off x="7892517" y="5596518"/>
            <a:ext cx="364202" cy="371284"/>
            <a:chOff x="7892517" y="5489019"/>
            <a:chExt cx="364202" cy="371284"/>
          </a:xfrm>
        </p:grpSpPr>
        <p:sp>
          <p:nvSpPr>
            <p:cNvPr id="84" name="橢圓 83"/>
            <p:cNvSpPr/>
            <p:nvPr/>
          </p:nvSpPr>
          <p:spPr>
            <a:xfrm>
              <a:off x="7921586" y="5572303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5" name="文字方塊 94"/>
            <p:cNvSpPr txBox="1"/>
            <p:nvPr/>
          </p:nvSpPr>
          <p:spPr>
            <a:xfrm>
              <a:off x="7892517" y="5489019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5" name="群組 64"/>
          <p:cNvGrpSpPr/>
          <p:nvPr/>
        </p:nvGrpSpPr>
        <p:grpSpPr>
          <a:xfrm>
            <a:off x="6165875" y="5596518"/>
            <a:ext cx="364202" cy="371403"/>
            <a:chOff x="6165875" y="5489019"/>
            <a:chExt cx="364202" cy="371403"/>
          </a:xfrm>
        </p:grpSpPr>
        <p:sp>
          <p:nvSpPr>
            <p:cNvPr id="83" name="橢圓 82"/>
            <p:cNvSpPr/>
            <p:nvPr/>
          </p:nvSpPr>
          <p:spPr>
            <a:xfrm>
              <a:off x="6200231" y="5572422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6" name="文字方塊 95"/>
            <p:cNvSpPr txBox="1"/>
            <p:nvPr/>
          </p:nvSpPr>
          <p:spPr>
            <a:xfrm>
              <a:off x="6165875" y="5489019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6" name="群組 65"/>
          <p:cNvGrpSpPr/>
          <p:nvPr/>
        </p:nvGrpSpPr>
        <p:grpSpPr>
          <a:xfrm>
            <a:off x="6488231" y="4544483"/>
            <a:ext cx="1433355" cy="369332"/>
            <a:chOff x="6488231" y="4436984"/>
            <a:chExt cx="1433355" cy="369332"/>
          </a:xfrm>
        </p:grpSpPr>
        <p:cxnSp>
          <p:nvCxnSpPr>
            <p:cNvPr id="88" name="直線單箭頭接點 87"/>
            <p:cNvCxnSpPr>
              <a:stCxn id="82" idx="2"/>
              <a:endCxn id="80" idx="6"/>
            </p:cNvCxnSpPr>
            <p:nvPr/>
          </p:nvCxnSpPr>
          <p:spPr>
            <a:xfrm flipH="1">
              <a:off x="6488231" y="4548517"/>
              <a:ext cx="1433355" cy="11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文字方塊 97"/>
            <p:cNvSpPr txBox="1"/>
            <p:nvPr/>
          </p:nvSpPr>
          <p:spPr>
            <a:xfrm>
              <a:off x="7075956" y="443698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4" name="群組 73"/>
          <p:cNvGrpSpPr/>
          <p:nvPr/>
        </p:nvGrpSpPr>
        <p:grpSpPr>
          <a:xfrm>
            <a:off x="6446054" y="4757839"/>
            <a:ext cx="1517709" cy="1036267"/>
            <a:chOff x="6446054" y="4650340"/>
            <a:chExt cx="1517709" cy="1036267"/>
          </a:xfrm>
        </p:grpSpPr>
        <p:cxnSp>
          <p:nvCxnSpPr>
            <p:cNvPr id="92" name="直線單箭頭接點 91"/>
            <p:cNvCxnSpPr>
              <a:stCxn id="83" idx="7"/>
              <a:endCxn id="82" idx="3"/>
            </p:cNvCxnSpPr>
            <p:nvPr/>
          </p:nvCxnSpPr>
          <p:spPr>
            <a:xfrm flipV="1">
              <a:off x="6446054" y="4650340"/>
              <a:ext cx="1517709" cy="103626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文字方塊 99"/>
            <p:cNvSpPr txBox="1"/>
            <p:nvPr/>
          </p:nvSpPr>
          <p:spPr>
            <a:xfrm>
              <a:off x="7204908" y="466744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3" name="群組 72"/>
          <p:cNvGrpSpPr/>
          <p:nvPr/>
        </p:nvGrpSpPr>
        <p:grpSpPr>
          <a:xfrm>
            <a:off x="6446054" y="4757958"/>
            <a:ext cx="1517709" cy="1043610"/>
            <a:chOff x="6446054" y="4650459"/>
            <a:chExt cx="1517709" cy="1043610"/>
          </a:xfrm>
        </p:grpSpPr>
        <p:cxnSp>
          <p:nvCxnSpPr>
            <p:cNvPr id="86" name="直線單箭頭接點 85"/>
            <p:cNvCxnSpPr>
              <a:stCxn id="80" idx="5"/>
              <a:endCxn id="84" idx="1"/>
            </p:cNvCxnSpPr>
            <p:nvPr/>
          </p:nvCxnSpPr>
          <p:spPr>
            <a:xfrm>
              <a:off x="6446054" y="4650459"/>
              <a:ext cx="1517709" cy="103602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文字方塊 101"/>
            <p:cNvSpPr txBox="1"/>
            <p:nvPr/>
          </p:nvSpPr>
          <p:spPr>
            <a:xfrm>
              <a:off x="7441640" y="5324737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2" name="群組 71"/>
          <p:cNvGrpSpPr/>
          <p:nvPr/>
        </p:nvGrpSpPr>
        <p:grpSpPr>
          <a:xfrm>
            <a:off x="6446054" y="5883042"/>
            <a:ext cx="1517709" cy="369332"/>
            <a:chOff x="6446054" y="5775543"/>
            <a:chExt cx="1517709" cy="369332"/>
          </a:xfrm>
        </p:grpSpPr>
        <p:cxnSp>
          <p:nvCxnSpPr>
            <p:cNvPr id="91" name="直線單箭頭接點 90"/>
            <p:cNvCxnSpPr>
              <a:stCxn id="84" idx="3"/>
              <a:endCxn id="83" idx="5"/>
            </p:cNvCxnSpPr>
            <p:nvPr/>
          </p:nvCxnSpPr>
          <p:spPr>
            <a:xfrm flipH="1">
              <a:off x="6446054" y="5890134"/>
              <a:ext cx="1517709" cy="11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文字方塊 102"/>
            <p:cNvSpPr txBox="1"/>
            <p:nvPr/>
          </p:nvSpPr>
          <p:spPr>
            <a:xfrm>
              <a:off x="7075956" y="577554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792604" y="4358213"/>
            <a:ext cx="364202" cy="369914"/>
            <a:chOff x="792604" y="4250714"/>
            <a:chExt cx="364202" cy="369914"/>
          </a:xfrm>
        </p:grpSpPr>
        <p:sp>
          <p:nvSpPr>
            <p:cNvPr id="106" name="橢圓 105"/>
            <p:cNvSpPr/>
            <p:nvPr/>
          </p:nvSpPr>
          <p:spPr>
            <a:xfrm>
              <a:off x="832973" y="4332628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7" name="文字方塊 106"/>
            <p:cNvSpPr txBox="1"/>
            <p:nvPr/>
          </p:nvSpPr>
          <p:spPr>
            <a:xfrm>
              <a:off x="792604" y="4250714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9" name="群組 18"/>
          <p:cNvGrpSpPr/>
          <p:nvPr/>
        </p:nvGrpSpPr>
        <p:grpSpPr>
          <a:xfrm>
            <a:off x="2526165" y="4354502"/>
            <a:ext cx="364202" cy="373506"/>
            <a:chOff x="2526165" y="4247003"/>
            <a:chExt cx="364202" cy="373506"/>
          </a:xfrm>
        </p:grpSpPr>
        <p:sp>
          <p:nvSpPr>
            <p:cNvPr id="108" name="橢圓 107"/>
            <p:cNvSpPr/>
            <p:nvPr/>
          </p:nvSpPr>
          <p:spPr>
            <a:xfrm>
              <a:off x="2554328" y="4332509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0" name="文字方塊 119"/>
            <p:cNvSpPr txBox="1"/>
            <p:nvPr/>
          </p:nvSpPr>
          <p:spPr>
            <a:xfrm>
              <a:off x="2526165" y="4247003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1" name="群組 20"/>
          <p:cNvGrpSpPr/>
          <p:nvPr/>
        </p:nvGrpSpPr>
        <p:grpSpPr>
          <a:xfrm>
            <a:off x="2525259" y="5596518"/>
            <a:ext cx="364202" cy="371284"/>
            <a:chOff x="2525259" y="5489019"/>
            <a:chExt cx="364202" cy="371284"/>
          </a:xfrm>
        </p:grpSpPr>
        <p:sp>
          <p:nvSpPr>
            <p:cNvPr id="110" name="橢圓 109"/>
            <p:cNvSpPr/>
            <p:nvPr/>
          </p:nvSpPr>
          <p:spPr>
            <a:xfrm>
              <a:off x="2554328" y="5572303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1" name="文字方塊 120"/>
            <p:cNvSpPr txBox="1"/>
            <p:nvPr/>
          </p:nvSpPr>
          <p:spPr>
            <a:xfrm>
              <a:off x="2525259" y="5489019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2" name="群組 21"/>
          <p:cNvGrpSpPr/>
          <p:nvPr/>
        </p:nvGrpSpPr>
        <p:grpSpPr>
          <a:xfrm>
            <a:off x="798617" y="5596518"/>
            <a:ext cx="364202" cy="371403"/>
            <a:chOff x="798617" y="5489019"/>
            <a:chExt cx="364202" cy="371403"/>
          </a:xfrm>
        </p:grpSpPr>
        <p:sp>
          <p:nvSpPr>
            <p:cNvPr id="109" name="橢圓 108"/>
            <p:cNvSpPr/>
            <p:nvPr/>
          </p:nvSpPr>
          <p:spPr>
            <a:xfrm>
              <a:off x="832973" y="5572422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2" name="文字方塊 121"/>
            <p:cNvSpPr txBox="1"/>
            <p:nvPr/>
          </p:nvSpPr>
          <p:spPr>
            <a:xfrm>
              <a:off x="798617" y="5489019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3" name="群組 22"/>
          <p:cNvGrpSpPr/>
          <p:nvPr/>
        </p:nvGrpSpPr>
        <p:grpSpPr>
          <a:xfrm>
            <a:off x="719068" y="4800135"/>
            <a:ext cx="300082" cy="951794"/>
            <a:chOff x="719068" y="4692636"/>
            <a:chExt cx="300082" cy="951794"/>
          </a:xfrm>
        </p:grpSpPr>
        <p:cxnSp>
          <p:nvCxnSpPr>
            <p:cNvPr id="111" name="直線單箭頭接點 110"/>
            <p:cNvCxnSpPr>
              <a:stCxn id="109" idx="0"/>
              <a:endCxn id="106" idx="4"/>
            </p:cNvCxnSpPr>
            <p:nvPr/>
          </p:nvCxnSpPr>
          <p:spPr>
            <a:xfrm flipV="1">
              <a:off x="976973" y="4692636"/>
              <a:ext cx="0" cy="951794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文字方塊 122"/>
            <p:cNvSpPr txBox="1"/>
            <p:nvPr/>
          </p:nvSpPr>
          <p:spPr>
            <a:xfrm>
              <a:off x="719068" y="491174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4" name="群組 23"/>
          <p:cNvGrpSpPr/>
          <p:nvPr/>
        </p:nvGrpSpPr>
        <p:grpSpPr>
          <a:xfrm>
            <a:off x="1078796" y="4173547"/>
            <a:ext cx="1517709" cy="380765"/>
            <a:chOff x="1078796" y="4066048"/>
            <a:chExt cx="1517709" cy="380765"/>
          </a:xfrm>
        </p:grpSpPr>
        <p:cxnSp>
          <p:nvCxnSpPr>
            <p:cNvPr id="113" name="直線單箭頭接點 112"/>
            <p:cNvCxnSpPr>
              <a:stCxn id="106" idx="7"/>
              <a:endCxn id="108" idx="1"/>
            </p:cNvCxnSpPr>
            <p:nvPr/>
          </p:nvCxnSpPr>
          <p:spPr>
            <a:xfrm flipV="1">
              <a:off x="1078796" y="4446694"/>
              <a:ext cx="1517709" cy="11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文字方塊 124"/>
            <p:cNvSpPr txBox="1"/>
            <p:nvPr/>
          </p:nvSpPr>
          <p:spPr>
            <a:xfrm>
              <a:off x="1708698" y="4066048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7" name="群組 26"/>
          <p:cNvGrpSpPr/>
          <p:nvPr/>
        </p:nvGrpSpPr>
        <p:grpSpPr>
          <a:xfrm>
            <a:off x="1078796" y="5883042"/>
            <a:ext cx="1517709" cy="369332"/>
            <a:chOff x="1078796" y="5775543"/>
            <a:chExt cx="1517709" cy="369332"/>
          </a:xfrm>
        </p:grpSpPr>
        <p:cxnSp>
          <p:nvCxnSpPr>
            <p:cNvPr id="117" name="直線單箭頭接點 116"/>
            <p:cNvCxnSpPr>
              <a:stCxn id="110" idx="3"/>
              <a:endCxn id="109" idx="5"/>
            </p:cNvCxnSpPr>
            <p:nvPr/>
          </p:nvCxnSpPr>
          <p:spPr>
            <a:xfrm flipH="1">
              <a:off x="1078796" y="5890134"/>
              <a:ext cx="1517709" cy="11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文字方塊 128"/>
            <p:cNvSpPr txBox="1"/>
            <p:nvPr/>
          </p:nvSpPr>
          <p:spPr>
            <a:xfrm>
              <a:off x="1708698" y="577554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6" name="群組 25"/>
          <p:cNvGrpSpPr/>
          <p:nvPr/>
        </p:nvGrpSpPr>
        <p:grpSpPr>
          <a:xfrm>
            <a:off x="2752150" y="4757839"/>
            <a:ext cx="300082" cy="1036148"/>
            <a:chOff x="2752150" y="4650340"/>
            <a:chExt cx="300082" cy="1036148"/>
          </a:xfrm>
        </p:grpSpPr>
        <p:cxnSp>
          <p:nvCxnSpPr>
            <p:cNvPr id="115" name="直線單箭頭接點 114"/>
            <p:cNvCxnSpPr>
              <a:stCxn id="108" idx="5"/>
              <a:endCxn id="110" idx="7"/>
            </p:cNvCxnSpPr>
            <p:nvPr/>
          </p:nvCxnSpPr>
          <p:spPr>
            <a:xfrm>
              <a:off x="2800151" y="4650340"/>
              <a:ext cx="0" cy="103614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0" name="文字方塊 129"/>
            <p:cNvSpPr txBox="1"/>
            <p:nvPr/>
          </p:nvSpPr>
          <p:spPr>
            <a:xfrm>
              <a:off x="2752150" y="494669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2" name="文字方塊 131"/>
          <p:cNvSpPr txBox="1"/>
          <p:nvPr/>
        </p:nvSpPr>
        <p:spPr>
          <a:xfrm>
            <a:off x="3956282" y="6182767"/>
            <a:ext cx="13981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 = 26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" name="文字方塊 132"/>
          <p:cNvSpPr txBox="1"/>
          <p:nvPr/>
        </p:nvSpPr>
        <p:spPr>
          <a:xfrm>
            <a:off x="6491389" y="6181371"/>
            <a:ext cx="13981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 = 21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4" name="圓角矩形 133"/>
          <p:cNvSpPr/>
          <p:nvPr/>
        </p:nvSpPr>
        <p:spPr>
          <a:xfrm>
            <a:off x="6043939" y="4253223"/>
            <a:ext cx="2333944" cy="2344129"/>
          </a:xfrm>
          <a:prstGeom prst="roundRect">
            <a:avLst>
              <a:gd name="adj" fmla="val 14792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5" name="圓角矩形圖說文字 134"/>
          <p:cNvSpPr/>
          <p:nvPr/>
        </p:nvSpPr>
        <p:spPr>
          <a:xfrm>
            <a:off x="7344998" y="2937199"/>
            <a:ext cx="1682218" cy="744216"/>
          </a:xfrm>
          <a:prstGeom prst="wedgeRoundRectCallout">
            <a:avLst>
              <a:gd name="adj1" fmla="val -64106"/>
              <a:gd name="adj2" fmla="val 12227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最佳旅程</a:t>
            </a:r>
            <a:endParaRPr lang="en-US" altLang="zh-TW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optimal tour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9" name="圓角矩形圖說文字 88"/>
          <p:cNvSpPr/>
          <p:nvPr/>
        </p:nvSpPr>
        <p:spPr>
          <a:xfrm>
            <a:off x="1254294" y="2700424"/>
            <a:ext cx="1452682" cy="600439"/>
          </a:xfrm>
          <a:prstGeom prst="wedgeRoundRectCallout">
            <a:avLst>
              <a:gd name="adj1" fmla="val 106647"/>
              <a:gd name="adj2" fmla="val -9350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從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出發</a:t>
            </a:r>
          </a:p>
        </p:txBody>
      </p:sp>
    </p:spTree>
    <p:extLst>
      <p:ext uri="{BB962C8B-B14F-4D97-AF65-F5344CB8AC3E}">
        <p14:creationId xmlns:p14="http://schemas.microsoft.com/office/powerpoint/2010/main" val="2726567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500"/>
                            </p:stCondLst>
                            <p:childTnLst>
                              <p:par>
                                <p:cTn id="5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000"/>
                            </p:stCondLst>
                            <p:childTnLst>
                              <p:par>
                                <p:cTn id="5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500"/>
                            </p:stCondLst>
                            <p:childTnLst>
                              <p:par>
                                <p:cTn id="6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3000"/>
                            </p:stCondLst>
                            <p:childTnLst>
                              <p:par>
                                <p:cTn id="6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500"/>
                            </p:stCondLst>
                            <p:childTnLst>
                              <p:par>
                                <p:cTn id="7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000"/>
                            </p:stCondLst>
                            <p:childTnLst>
                              <p:par>
                                <p:cTn id="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500"/>
                            </p:stCondLst>
                            <p:childTnLst>
                              <p:par>
                                <p:cTn id="8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2000"/>
                            </p:stCondLst>
                            <p:childTnLst>
                              <p:par>
                                <p:cTn id="9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2500"/>
                            </p:stCondLst>
                            <p:childTnLst>
                              <p:par>
                                <p:cTn id="9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3000"/>
                            </p:stCondLst>
                            <p:childTnLst>
                              <p:par>
                                <p:cTn id="10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3500"/>
                            </p:stCondLst>
                            <p:childTnLst>
                              <p:par>
                                <p:cTn id="10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500"/>
                            </p:stCondLst>
                            <p:childTnLst>
                              <p:par>
                                <p:cTn id="1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132" grpId="0"/>
      <p:bldP spid="133" grpId="0"/>
      <p:bldP spid="134" grpId="0" animBg="1"/>
      <p:bldP spid="135" grpId="0" animBg="1"/>
      <p:bldP spid="89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售貨員旅行問題 </a:t>
            </a:r>
            <a:r>
              <a:rPr lang="en-US" altLang="zh-TW" dirty="0"/>
              <a:t>(3/12)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0000FF"/>
                </a:solidFill>
              </a:rPr>
              <a:t>暴力法</a:t>
            </a:r>
            <a:r>
              <a:rPr lang="zh-TW" altLang="en-US" dirty="0"/>
              <a:t>解售貨員旅行問題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77</a:t>
            </a:fld>
            <a:endParaRPr lang="en-US" dirty="0"/>
          </a:p>
        </p:txBody>
      </p:sp>
      <p:sp>
        <p:nvSpPr>
          <p:cNvPr id="8" name="橢圓 7"/>
          <p:cNvSpPr/>
          <p:nvPr/>
        </p:nvSpPr>
        <p:spPr>
          <a:xfrm>
            <a:off x="1861055" y="3393220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/>
              <p:cNvSpPr txBox="1"/>
              <p:nvPr/>
            </p:nvSpPr>
            <p:spPr>
              <a:xfrm>
                <a:off x="1950807" y="5472726"/>
                <a:ext cx="523713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altLang="zh-TW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altLang="zh-TW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TW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US" altLang="zh-TW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altLang="zh-TW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TW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  <m:r>
                        <a:rPr lang="en-US" altLang="zh-TW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×…×</m:t>
                      </m:r>
                      <m:r>
                        <a:rPr lang="en-US" altLang="zh-TW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n-US" altLang="zh-TW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TW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altLang="zh-TW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TW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altLang="zh-TW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!</m:t>
                      </m:r>
                    </m:oMath>
                  </m:oMathPara>
                </a14:m>
                <a:endParaRPr lang="zh-TW" altLang="en-US" b="1" dirty="0"/>
              </a:p>
            </p:txBody>
          </p:sp>
        </mc:Choice>
        <mc:Fallback xmlns="">
          <p:sp>
            <p:nvSpPr>
              <p:cNvPr id="19" name="文字方塊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0807" y="5472726"/>
                <a:ext cx="5237139" cy="276999"/>
              </a:xfrm>
              <a:prstGeom prst="rect">
                <a:avLst/>
              </a:prstGeom>
              <a:blipFill rotWithShape="0">
                <a:blip r:embed="rId2"/>
                <a:stretch>
                  <a:fillRect r="-698" b="-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文字方塊 25"/>
          <p:cNvSpPr txBox="1"/>
          <p:nvPr/>
        </p:nvSpPr>
        <p:spPr>
          <a:xfrm>
            <a:off x="1822954" y="3304580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群組 6"/>
          <p:cNvGrpSpPr/>
          <p:nvPr/>
        </p:nvGrpSpPr>
        <p:grpSpPr>
          <a:xfrm>
            <a:off x="2149055" y="2361060"/>
            <a:ext cx="1061733" cy="2728130"/>
            <a:chOff x="2149055" y="2361060"/>
            <a:chExt cx="1061733" cy="2728130"/>
          </a:xfrm>
        </p:grpSpPr>
        <p:cxnSp>
          <p:nvCxnSpPr>
            <p:cNvPr id="15" name="直線接點 14"/>
            <p:cNvCxnSpPr>
              <a:stCxn id="8" idx="6"/>
              <a:endCxn id="25" idx="2"/>
            </p:cNvCxnSpPr>
            <p:nvPr/>
          </p:nvCxnSpPr>
          <p:spPr>
            <a:xfrm flipV="1">
              <a:off x="2149055" y="2591539"/>
              <a:ext cx="732976" cy="94568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接點 15"/>
            <p:cNvCxnSpPr>
              <a:stCxn id="8" idx="6"/>
              <a:endCxn id="27" idx="2"/>
            </p:cNvCxnSpPr>
            <p:nvPr/>
          </p:nvCxnSpPr>
          <p:spPr>
            <a:xfrm flipV="1">
              <a:off x="2149055" y="3141400"/>
              <a:ext cx="732976" cy="39582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橢圓 24"/>
            <p:cNvSpPr/>
            <p:nvPr/>
          </p:nvSpPr>
          <p:spPr>
            <a:xfrm>
              <a:off x="2882031" y="2447539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橢圓 26"/>
            <p:cNvSpPr/>
            <p:nvPr/>
          </p:nvSpPr>
          <p:spPr>
            <a:xfrm>
              <a:off x="2882031" y="2997400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8" name="橢圓 27"/>
            <p:cNvSpPr/>
            <p:nvPr/>
          </p:nvSpPr>
          <p:spPr>
            <a:xfrm>
              <a:off x="2882031" y="3529458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9" name="橢圓 28"/>
            <p:cNvSpPr/>
            <p:nvPr/>
          </p:nvSpPr>
          <p:spPr>
            <a:xfrm>
              <a:off x="2882031" y="4801190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34" name="直線接點 33"/>
            <p:cNvCxnSpPr>
              <a:stCxn id="8" idx="6"/>
              <a:endCxn id="28" idx="2"/>
            </p:cNvCxnSpPr>
            <p:nvPr/>
          </p:nvCxnSpPr>
          <p:spPr>
            <a:xfrm>
              <a:off x="2149055" y="3537220"/>
              <a:ext cx="732976" cy="13623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接點 36"/>
            <p:cNvCxnSpPr>
              <a:stCxn id="8" idx="6"/>
              <a:endCxn id="29" idx="2"/>
            </p:cNvCxnSpPr>
            <p:nvPr/>
          </p:nvCxnSpPr>
          <p:spPr>
            <a:xfrm>
              <a:off x="2149055" y="3537220"/>
              <a:ext cx="732976" cy="140797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文字方塊 52"/>
            <p:cNvSpPr txBox="1"/>
            <p:nvPr/>
          </p:nvSpPr>
          <p:spPr>
            <a:xfrm>
              <a:off x="2843930" y="2361060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文字方塊 53"/>
            <p:cNvSpPr txBox="1"/>
            <p:nvPr/>
          </p:nvSpPr>
          <p:spPr>
            <a:xfrm>
              <a:off x="2846586" y="291092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文字方塊 54"/>
            <p:cNvSpPr txBox="1"/>
            <p:nvPr/>
          </p:nvSpPr>
          <p:spPr>
            <a:xfrm>
              <a:off x="2843930" y="344812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文字方塊 55"/>
            <p:cNvSpPr txBox="1"/>
            <p:nvPr/>
          </p:nvSpPr>
          <p:spPr>
            <a:xfrm>
              <a:off x="2835914" y="4719858"/>
              <a:ext cx="3722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i="1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zh-TW" altLang="en-US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64" name="群組 63"/>
            <p:cNvGrpSpPr/>
            <p:nvPr/>
          </p:nvGrpSpPr>
          <p:grpSpPr>
            <a:xfrm>
              <a:off x="3004023" y="4212705"/>
              <a:ext cx="36000" cy="247233"/>
              <a:chOff x="6835781" y="3827014"/>
              <a:chExt cx="36000" cy="247233"/>
            </a:xfrm>
          </p:grpSpPr>
          <p:sp>
            <p:nvSpPr>
              <p:cNvPr id="60" name="橢圓 59"/>
              <p:cNvSpPr/>
              <p:nvPr/>
            </p:nvSpPr>
            <p:spPr>
              <a:xfrm>
                <a:off x="6835781" y="3827014"/>
                <a:ext cx="36000" cy="36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2" name="橢圓 61"/>
              <p:cNvSpPr/>
              <p:nvPr/>
            </p:nvSpPr>
            <p:spPr>
              <a:xfrm>
                <a:off x="6835781" y="3930117"/>
                <a:ext cx="36000" cy="36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3" name="橢圓 62"/>
              <p:cNvSpPr/>
              <p:nvPr/>
            </p:nvSpPr>
            <p:spPr>
              <a:xfrm>
                <a:off x="6835781" y="4038247"/>
                <a:ext cx="36000" cy="36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  <p:grpSp>
        <p:nvGrpSpPr>
          <p:cNvPr id="10" name="群組 9"/>
          <p:cNvGrpSpPr/>
          <p:nvPr/>
        </p:nvGrpSpPr>
        <p:grpSpPr>
          <a:xfrm>
            <a:off x="3170031" y="2007215"/>
            <a:ext cx="1067146" cy="990185"/>
            <a:chOff x="3170031" y="2007215"/>
            <a:chExt cx="1067146" cy="990185"/>
          </a:xfrm>
        </p:grpSpPr>
        <p:cxnSp>
          <p:nvCxnSpPr>
            <p:cNvPr id="17" name="直線接點 16"/>
            <p:cNvCxnSpPr>
              <a:stCxn id="25" idx="6"/>
              <a:endCxn id="30" idx="2"/>
            </p:cNvCxnSpPr>
            <p:nvPr/>
          </p:nvCxnSpPr>
          <p:spPr>
            <a:xfrm flipV="1">
              <a:off x="3170031" y="2236024"/>
              <a:ext cx="737037" cy="35551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接點 17"/>
            <p:cNvCxnSpPr>
              <a:stCxn id="25" idx="6"/>
              <a:endCxn id="31" idx="2"/>
            </p:cNvCxnSpPr>
            <p:nvPr/>
          </p:nvCxnSpPr>
          <p:spPr>
            <a:xfrm>
              <a:off x="3170031" y="2591539"/>
              <a:ext cx="737037" cy="26186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橢圓 29"/>
            <p:cNvSpPr/>
            <p:nvPr/>
          </p:nvSpPr>
          <p:spPr>
            <a:xfrm>
              <a:off x="3907068" y="2092024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1" name="橢圓 30"/>
            <p:cNvSpPr/>
            <p:nvPr/>
          </p:nvSpPr>
          <p:spPr>
            <a:xfrm>
              <a:off x="3907068" y="2709400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7" name="文字方塊 56"/>
            <p:cNvSpPr txBox="1"/>
            <p:nvPr/>
          </p:nvSpPr>
          <p:spPr>
            <a:xfrm>
              <a:off x="3864959" y="2628068"/>
              <a:ext cx="3722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i="1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zh-TW" altLang="en-US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文字方塊 58"/>
            <p:cNvSpPr txBox="1"/>
            <p:nvPr/>
          </p:nvSpPr>
          <p:spPr>
            <a:xfrm>
              <a:off x="3864959" y="2007215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65" name="群組 64"/>
            <p:cNvGrpSpPr/>
            <p:nvPr/>
          </p:nvGrpSpPr>
          <p:grpSpPr>
            <a:xfrm>
              <a:off x="4029060" y="2421501"/>
              <a:ext cx="36000" cy="247233"/>
              <a:chOff x="6835781" y="3827014"/>
              <a:chExt cx="36000" cy="247233"/>
            </a:xfrm>
          </p:grpSpPr>
          <p:sp>
            <p:nvSpPr>
              <p:cNvPr id="66" name="橢圓 65"/>
              <p:cNvSpPr/>
              <p:nvPr/>
            </p:nvSpPr>
            <p:spPr>
              <a:xfrm>
                <a:off x="6835781" y="3827014"/>
                <a:ext cx="36000" cy="36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7" name="橢圓 66"/>
              <p:cNvSpPr/>
              <p:nvPr/>
            </p:nvSpPr>
            <p:spPr>
              <a:xfrm>
                <a:off x="6835781" y="3930117"/>
                <a:ext cx="36000" cy="36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8" name="橢圓 67"/>
              <p:cNvSpPr/>
              <p:nvPr/>
            </p:nvSpPr>
            <p:spPr>
              <a:xfrm>
                <a:off x="6835781" y="4038247"/>
                <a:ext cx="36000" cy="36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  <p:grpSp>
        <p:nvGrpSpPr>
          <p:cNvPr id="11" name="群組 10"/>
          <p:cNvGrpSpPr/>
          <p:nvPr/>
        </p:nvGrpSpPr>
        <p:grpSpPr>
          <a:xfrm>
            <a:off x="5141739" y="2010692"/>
            <a:ext cx="2164143" cy="374095"/>
            <a:chOff x="5141739" y="2010692"/>
            <a:chExt cx="2164143" cy="374095"/>
          </a:xfrm>
        </p:grpSpPr>
        <p:sp>
          <p:nvSpPr>
            <p:cNvPr id="9" name="文字方塊 8"/>
            <p:cNvSpPr txBox="1"/>
            <p:nvPr/>
          </p:nvSpPr>
          <p:spPr>
            <a:xfrm>
              <a:off x="6941680" y="2010692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橢圓 44"/>
            <p:cNvSpPr/>
            <p:nvPr/>
          </p:nvSpPr>
          <p:spPr>
            <a:xfrm>
              <a:off x="6098333" y="2096787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6" name="橢圓 45"/>
            <p:cNvSpPr/>
            <p:nvPr/>
          </p:nvSpPr>
          <p:spPr>
            <a:xfrm>
              <a:off x="6979781" y="2092024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47" name="直線接點 46"/>
            <p:cNvCxnSpPr>
              <a:stCxn id="45" idx="6"/>
              <a:endCxn id="46" idx="2"/>
            </p:cNvCxnSpPr>
            <p:nvPr/>
          </p:nvCxnSpPr>
          <p:spPr>
            <a:xfrm flipV="1">
              <a:off x="6386333" y="2236024"/>
              <a:ext cx="593448" cy="476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文字方塊 57"/>
            <p:cNvSpPr txBox="1"/>
            <p:nvPr/>
          </p:nvSpPr>
          <p:spPr>
            <a:xfrm>
              <a:off x="6056224" y="2010692"/>
              <a:ext cx="3722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i="1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zh-TW" altLang="en-US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69" name="群組 68"/>
            <p:cNvGrpSpPr/>
            <p:nvPr/>
          </p:nvGrpSpPr>
          <p:grpSpPr>
            <a:xfrm>
              <a:off x="5141739" y="2106552"/>
              <a:ext cx="36000" cy="247233"/>
              <a:chOff x="6835781" y="3827014"/>
              <a:chExt cx="36000" cy="247233"/>
            </a:xfrm>
            <a:scene3d>
              <a:camera prst="orthographicFront">
                <a:rot lat="0" lon="0" rev="5400000"/>
              </a:camera>
              <a:lightRig rig="threePt" dir="t"/>
            </a:scene3d>
          </p:grpSpPr>
          <p:sp>
            <p:nvSpPr>
              <p:cNvPr id="70" name="橢圓 69"/>
              <p:cNvSpPr/>
              <p:nvPr/>
            </p:nvSpPr>
            <p:spPr>
              <a:xfrm>
                <a:off x="6835781" y="3827014"/>
                <a:ext cx="36000" cy="36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71" name="橢圓 70"/>
              <p:cNvSpPr/>
              <p:nvPr/>
            </p:nvSpPr>
            <p:spPr>
              <a:xfrm>
                <a:off x="6835781" y="3930117"/>
                <a:ext cx="36000" cy="36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72" name="橢圓 71"/>
              <p:cNvSpPr/>
              <p:nvPr/>
            </p:nvSpPr>
            <p:spPr>
              <a:xfrm>
                <a:off x="6835781" y="4038247"/>
                <a:ext cx="36000" cy="36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10082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售貨員旅行問題 </a:t>
            </a:r>
            <a:r>
              <a:rPr lang="en-US" altLang="zh-TW" dirty="0"/>
              <a:t>(4/12)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符合最佳化原則？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78</a:t>
            </a:fld>
            <a:endParaRPr lang="en-US" dirty="0"/>
          </a:p>
        </p:txBody>
      </p:sp>
      <p:sp>
        <p:nvSpPr>
          <p:cNvPr id="7" name="橢圓 6"/>
          <p:cNvSpPr/>
          <p:nvPr/>
        </p:nvSpPr>
        <p:spPr>
          <a:xfrm>
            <a:off x="2066201" y="195481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2025832" y="1872898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橢圓 8"/>
          <p:cNvSpPr/>
          <p:nvPr/>
        </p:nvSpPr>
        <p:spPr>
          <a:xfrm>
            <a:off x="3787556" y="1954693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2066201" y="319460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3787556" y="319448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單箭頭接點 11"/>
          <p:cNvCxnSpPr>
            <a:stCxn id="10" idx="0"/>
            <a:endCxn id="7" idx="4"/>
          </p:cNvCxnSpPr>
          <p:nvPr/>
        </p:nvCxnSpPr>
        <p:spPr>
          <a:xfrm flipV="1">
            <a:off x="2210201" y="2242812"/>
            <a:ext cx="0" cy="95179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>
            <a:stCxn id="7" idx="5"/>
            <a:endCxn id="11" idx="1"/>
          </p:cNvCxnSpPr>
          <p:nvPr/>
        </p:nvCxnSpPr>
        <p:spPr>
          <a:xfrm>
            <a:off x="2312024" y="2200635"/>
            <a:ext cx="1517709" cy="103602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>
            <a:stCxn id="7" idx="7"/>
            <a:endCxn id="9" idx="1"/>
          </p:cNvCxnSpPr>
          <p:nvPr/>
        </p:nvCxnSpPr>
        <p:spPr>
          <a:xfrm flipV="1">
            <a:off x="2312024" y="1996870"/>
            <a:ext cx="1517709" cy="11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>
            <a:stCxn id="9" idx="2"/>
            <a:endCxn id="7" idx="6"/>
          </p:cNvCxnSpPr>
          <p:nvPr/>
        </p:nvCxnSpPr>
        <p:spPr>
          <a:xfrm flipH="1">
            <a:off x="2354201" y="2098693"/>
            <a:ext cx="1433355" cy="11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>
            <a:stCxn id="9" idx="5"/>
            <a:endCxn id="11" idx="7"/>
          </p:cNvCxnSpPr>
          <p:nvPr/>
        </p:nvCxnSpPr>
        <p:spPr>
          <a:xfrm>
            <a:off x="4033379" y="2200516"/>
            <a:ext cx="0" cy="103614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>
            <a:stCxn id="11" idx="0"/>
            <a:endCxn id="9" idx="4"/>
          </p:cNvCxnSpPr>
          <p:nvPr/>
        </p:nvCxnSpPr>
        <p:spPr>
          <a:xfrm flipV="1">
            <a:off x="3931556" y="2242693"/>
            <a:ext cx="0" cy="95179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>
            <a:stCxn id="11" idx="3"/>
            <a:endCxn id="10" idx="5"/>
          </p:cNvCxnSpPr>
          <p:nvPr/>
        </p:nvCxnSpPr>
        <p:spPr>
          <a:xfrm flipH="1">
            <a:off x="2312024" y="3440310"/>
            <a:ext cx="1517709" cy="11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>
            <a:stCxn id="10" idx="7"/>
            <a:endCxn id="9" idx="3"/>
          </p:cNvCxnSpPr>
          <p:nvPr/>
        </p:nvCxnSpPr>
        <p:spPr>
          <a:xfrm flipV="1">
            <a:off x="2312024" y="2200516"/>
            <a:ext cx="1517709" cy="103626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>
            <a:stCxn id="9" idx="4"/>
            <a:endCxn id="10" idx="6"/>
          </p:cNvCxnSpPr>
          <p:nvPr/>
        </p:nvCxnSpPr>
        <p:spPr>
          <a:xfrm flipH="1">
            <a:off x="2354201" y="2242693"/>
            <a:ext cx="1577355" cy="109591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字方塊 20"/>
          <p:cNvSpPr txBox="1"/>
          <p:nvPr/>
        </p:nvSpPr>
        <p:spPr>
          <a:xfrm>
            <a:off x="3759393" y="1869187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3758487" y="311120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2031845" y="311120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1952296" y="253392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2941926" y="20591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2941926" y="168823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3070878" y="228963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3220919" y="256887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3307610" y="294692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2941926" y="339772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3985378" y="256887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3643120" y="256887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橢圓 48"/>
          <p:cNvSpPr/>
          <p:nvPr/>
        </p:nvSpPr>
        <p:spPr>
          <a:xfrm>
            <a:off x="5041290" y="195481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0" name="文字方塊 49"/>
          <p:cNvSpPr txBox="1"/>
          <p:nvPr/>
        </p:nvSpPr>
        <p:spPr>
          <a:xfrm>
            <a:off x="5000921" y="1872898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橢圓 50"/>
          <p:cNvSpPr/>
          <p:nvPr/>
        </p:nvSpPr>
        <p:spPr>
          <a:xfrm>
            <a:off x="6762645" y="1954693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2" name="橢圓 51"/>
          <p:cNvSpPr/>
          <p:nvPr/>
        </p:nvSpPr>
        <p:spPr>
          <a:xfrm>
            <a:off x="5041290" y="319460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3" name="橢圓 52"/>
          <p:cNvSpPr/>
          <p:nvPr/>
        </p:nvSpPr>
        <p:spPr>
          <a:xfrm>
            <a:off x="6762645" y="319448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4" name="直線單箭頭接點 53"/>
          <p:cNvCxnSpPr>
            <a:stCxn id="49" idx="5"/>
            <a:endCxn id="53" idx="1"/>
          </p:cNvCxnSpPr>
          <p:nvPr/>
        </p:nvCxnSpPr>
        <p:spPr>
          <a:xfrm>
            <a:off x="5287113" y="2200635"/>
            <a:ext cx="1517709" cy="103602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單箭頭接點 54"/>
          <p:cNvCxnSpPr>
            <a:stCxn id="51" idx="2"/>
            <a:endCxn id="49" idx="6"/>
          </p:cNvCxnSpPr>
          <p:nvPr/>
        </p:nvCxnSpPr>
        <p:spPr>
          <a:xfrm flipH="1">
            <a:off x="5329290" y="2098693"/>
            <a:ext cx="1433355" cy="11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單箭頭接點 55"/>
          <p:cNvCxnSpPr>
            <a:stCxn id="53" idx="3"/>
            <a:endCxn id="52" idx="5"/>
          </p:cNvCxnSpPr>
          <p:nvPr/>
        </p:nvCxnSpPr>
        <p:spPr>
          <a:xfrm flipH="1">
            <a:off x="5287113" y="3440310"/>
            <a:ext cx="1517709" cy="11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單箭頭接點 56"/>
          <p:cNvCxnSpPr>
            <a:stCxn id="52" idx="7"/>
            <a:endCxn id="51" idx="3"/>
          </p:cNvCxnSpPr>
          <p:nvPr/>
        </p:nvCxnSpPr>
        <p:spPr>
          <a:xfrm flipV="1">
            <a:off x="5287113" y="2200516"/>
            <a:ext cx="1517709" cy="103626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字方塊 57"/>
          <p:cNvSpPr txBox="1"/>
          <p:nvPr/>
        </p:nvSpPr>
        <p:spPr>
          <a:xfrm>
            <a:off x="6734482" y="1869187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文字方塊 58"/>
          <p:cNvSpPr txBox="1"/>
          <p:nvPr/>
        </p:nvSpPr>
        <p:spPr>
          <a:xfrm>
            <a:off x="6733576" y="311120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文字方塊 59"/>
          <p:cNvSpPr txBox="1"/>
          <p:nvPr/>
        </p:nvSpPr>
        <p:spPr>
          <a:xfrm>
            <a:off x="5006934" y="311120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文字方塊 60"/>
          <p:cNvSpPr txBox="1"/>
          <p:nvPr/>
        </p:nvSpPr>
        <p:spPr>
          <a:xfrm>
            <a:off x="5917015" y="20591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文字方塊 61"/>
          <p:cNvSpPr txBox="1"/>
          <p:nvPr/>
        </p:nvSpPr>
        <p:spPr>
          <a:xfrm>
            <a:off x="6045967" y="228963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文字方塊 62"/>
          <p:cNvSpPr txBox="1"/>
          <p:nvPr/>
        </p:nvSpPr>
        <p:spPr>
          <a:xfrm>
            <a:off x="6282699" y="294692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5917015" y="339772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5364505" y="1453026"/>
            <a:ext cx="13981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 = 21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3" name="群組 42"/>
          <p:cNvGrpSpPr/>
          <p:nvPr/>
        </p:nvGrpSpPr>
        <p:grpSpPr>
          <a:xfrm>
            <a:off x="5043098" y="4394814"/>
            <a:ext cx="364202" cy="369914"/>
            <a:chOff x="5043098" y="4258412"/>
            <a:chExt cx="364202" cy="369914"/>
          </a:xfrm>
        </p:grpSpPr>
        <p:sp>
          <p:nvSpPr>
            <p:cNvPr id="69" name="橢圓 68"/>
            <p:cNvSpPr/>
            <p:nvPr/>
          </p:nvSpPr>
          <p:spPr>
            <a:xfrm>
              <a:off x="5083467" y="4340326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0" name="文字方塊 69"/>
            <p:cNvSpPr txBox="1"/>
            <p:nvPr/>
          </p:nvSpPr>
          <p:spPr>
            <a:xfrm>
              <a:off x="5043098" y="4258412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2" name="群組 41"/>
          <p:cNvGrpSpPr/>
          <p:nvPr/>
        </p:nvGrpSpPr>
        <p:grpSpPr>
          <a:xfrm>
            <a:off x="6776659" y="4391103"/>
            <a:ext cx="364202" cy="373506"/>
            <a:chOff x="6776659" y="4254701"/>
            <a:chExt cx="364202" cy="373506"/>
          </a:xfrm>
        </p:grpSpPr>
        <p:sp>
          <p:nvSpPr>
            <p:cNvPr id="71" name="橢圓 70"/>
            <p:cNvSpPr/>
            <p:nvPr/>
          </p:nvSpPr>
          <p:spPr>
            <a:xfrm>
              <a:off x="6804822" y="4340207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8" name="文字方塊 77"/>
            <p:cNvSpPr txBox="1"/>
            <p:nvPr/>
          </p:nvSpPr>
          <p:spPr>
            <a:xfrm>
              <a:off x="6776659" y="425470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0" name="群組 39"/>
          <p:cNvGrpSpPr/>
          <p:nvPr/>
        </p:nvGrpSpPr>
        <p:grpSpPr>
          <a:xfrm>
            <a:off x="6775753" y="5633119"/>
            <a:ext cx="364202" cy="371284"/>
            <a:chOff x="6775753" y="5496717"/>
            <a:chExt cx="364202" cy="371284"/>
          </a:xfrm>
        </p:grpSpPr>
        <p:sp>
          <p:nvSpPr>
            <p:cNvPr id="73" name="橢圓 72"/>
            <p:cNvSpPr/>
            <p:nvPr/>
          </p:nvSpPr>
          <p:spPr>
            <a:xfrm>
              <a:off x="6804822" y="5580001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9" name="文字方塊 78"/>
            <p:cNvSpPr txBox="1"/>
            <p:nvPr/>
          </p:nvSpPr>
          <p:spPr>
            <a:xfrm>
              <a:off x="6775753" y="549671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1" name="群組 40"/>
          <p:cNvGrpSpPr/>
          <p:nvPr/>
        </p:nvGrpSpPr>
        <p:grpSpPr>
          <a:xfrm>
            <a:off x="5049111" y="5633119"/>
            <a:ext cx="364202" cy="371403"/>
            <a:chOff x="5049111" y="5496717"/>
            <a:chExt cx="364202" cy="371403"/>
          </a:xfrm>
        </p:grpSpPr>
        <p:sp>
          <p:nvSpPr>
            <p:cNvPr id="72" name="橢圓 71"/>
            <p:cNvSpPr/>
            <p:nvPr/>
          </p:nvSpPr>
          <p:spPr>
            <a:xfrm>
              <a:off x="5083467" y="5580120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0" name="文字方塊 79"/>
            <p:cNvSpPr txBox="1"/>
            <p:nvPr/>
          </p:nvSpPr>
          <p:spPr>
            <a:xfrm>
              <a:off x="5049111" y="549671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6" name="群組 45"/>
          <p:cNvGrpSpPr/>
          <p:nvPr/>
        </p:nvGrpSpPr>
        <p:grpSpPr>
          <a:xfrm>
            <a:off x="5371467" y="4581084"/>
            <a:ext cx="1433355" cy="369332"/>
            <a:chOff x="5371467" y="4444682"/>
            <a:chExt cx="1433355" cy="369332"/>
          </a:xfrm>
        </p:grpSpPr>
        <p:cxnSp>
          <p:nvCxnSpPr>
            <p:cNvPr id="75" name="直線單箭頭接點 74"/>
            <p:cNvCxnSpPr>
              <a:stCxn id="71" idx="2"/>
              <a:endCxn id="69" idx="6"/>
            </p:cNvCxnSpPr>
            <p:nvPr/>
          </p:nvCxnSpPr>
          <p:spPr>
            <a:xfrm flipH="1">
              <a:off x="5371467" y="4556215"/>
              <a:ext cx="1433355" cy="11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文字方塊 80"/>
            <p:cNvSpPr txBox="1"/>
            <p:nvPr/>
          </p:nvSpPr>
          <p:spPr>
            <a:xfrm>
              <a:off x="5959192" y="444468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5" name="群組 44"/>
          <p:cNvGrpSpPr/>
          <p:nvPr/>
        </p:nvGrpSpPr>
        <p:grpSpPr>
          <a:xfrm>
            <a:off x="5329290" y="4794440"/>
            <a:ext cx="1517709" cy="1036267"/>
            <a:chOff x="5329290" y="4658038"/>
            <a:chExt cx="1517709" cy="1036267"/>
          </a:xfrm>
        </p:grpSpPr>
        <p:cxnSp>
          <p:nvCxnSpPr>
            <p:cNvPr id="77" name="直線單箭頭接點 76"/>
            <p:cNvCxnSpPr>
              <a:stCxn id="72" idx="7"/>
              <a:endCxn id="71" idx="3"/>
            </p:cNvCxnSpPr>
            <p:nvPr/>
          </p:nvCxnSpPr>
          <p:spPr>
            <a:xfrm flipV="1">
              <a:off x="5329290" y="4658038"/>
              <a:ext cx="1517709" cy="103626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文字方塊 81"/>
            <p:cNvSpPr txBox="1"/>
            <p:nvPr/>
          </p:nvSpPr>
          <p:spPr>
            <a:xfrm>
              <a:off x="6088144" y="4675147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4" name="群組 43"/>
          <p:cNvGrpSpPr/>
          <p:nvPr/>
        </p:nvGrpSpPr>
        <p:grpSpPr>
          <a:xfrm>
            <a:off x="5329290" y="5919643"/>
            <a:ext cx="1517709" cy="369332"/>
            <a:chOff x="5329290" y="5783241"/>
            <a:chExt cx="1517709" cy="369332"/>
          </a:xfrm>
        </p:grpSpPr>
        <p:cxnSp>
          <p:nvCxnSpPr>
            <p:cNvPr id="76" name="直線單箭頭接點 75"/>
            <p:cNvCxnSpPr>
              <a:stCxn id="73" idx="3"/>
              <a:endCxn id="72" idx="5"/>
            </p:cNvCxnSpPr>
            <p:nvPr/>
          </p:nvCxnSpPr>
          <p:spPr>
            <a:xfrm flipH="1">
              <a:off x="5329290" y="5897832"/>
              <a:ext cx="1517709" cy="11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文字方塊 83"/>
            <p:cNvSpPr txBox="1"/>
            <p:nvPr/>
          </p:nvSpPr>
          <p:spPr>
            <a:xfrm>
              <a:off x="5959192" y="5783241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5" name="文字方塊 84"/>
          <p:cNvSpPr txBox="1"/>
          <p:nvPr/>
        </p:nvSpPr>
        <p:spPr>
          <a:xfrm>
            <a:off x="5406682" y="6192932"/>
            <a:ext cx="13981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 = 12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5" name="群組 34"/>
          <p:cNvGrpSpPr/>
          <p:nvPr/>
        </p:nvGrpSpPr>
        <p:grpSpPr>
          <a:xfrm>
            <a:off x="2096135" y="4387918"/>
            <a:ext cx="364202" cy="369914"/>
            <a:chOff x="2096135" y="4251516"/>
            <a:chExt cx="364202" cy="369914"/>
          </a:xfrm>
        </p:grpSpPr>
        <p:sp>
          <p:nvSpPr>
            <p:cNvPr id="86" name="橢圓 85"/>
            <p:cNvSpPr/>
            <p:nvPr/>
          </p:nvSpPr>
          <p:spPr>
            <a:xfrm>
              <a:off x="2136504" y="4333430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7" name="文字方塊 86"/>
            <p:cNvSpPr txBox="1"/>
            <p:nvPr/>
          </p:nvSpPr>
          <p:spPr>
            <a:xfrm>
              <a:off x="2096135" y="4251516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4" name="群組 33"/>
          <p:cNvGrpSpPr/>
          <p:nvPr/>
        </p:nvGrpSpPr>
        <p:grpSpPr>
          <a:xfrm>
            <a:off x="3829696" y="4384207"/>
            <a:ext cx="364202" cy="373506"/>
            <a:chOff x="3829696" y="4247805"/>
            <a:chExt cx="364202" cy="373506"/>
          </a:xfrm>
        </p:grpSpPr>
        <p:sp>
          <p:nvSpPr>
            <p:cNvPr id="88" name="橢圓 87"/>
            <p:cNvSpPr/>
            <p:nvPr/>
          </p:nvSpPr>
          <p:spPr>
            <a:xfrm>
              <a:off x="3857859" y="4333311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0" name="文字方塊 99"/>
            <p:cNvSpPr txBox="1"/>
            <p:nvPr/>
          </p:nvSpPr>
          <p:spPr>
            <a:xfrm>
              <a:off x="3829696" y="4247805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3" name="群組 32"/>
          <p:cNvGrpSpPr/>
          <p:nvPr/>
        </p:nvGrpSpPr>
        <p:grpSpPr>
          <a:xfrm>
            <a:off x="3828790" y="5626223"/>
            <a:ext cx="364202" cy="371284"/>
            <a:chOff x="3828790" y="5489821"/>
            <a:chExt cx="364202" cy="371284"/>
          </a:xfrm>
        </p:grpSpPr>
        <p:sp>
          <p:nvSpPr>
            <p:cNvPr id="90" name="橢圓 89"/>
            <p:cNvSpPr/>
            <p:nvPr/>
          </p:nvSpPr>
          <p:spPr>
            <a:xfrm>
              <a:off x="3857859" y="5573105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1" name="文字方塊 100"/>
            <p:cNvSpPr txBox="1"/>
            <p:nvPr/>
          </p:nvSpPr>
          <p:spPr>
            <a:xfrm>
              <a:off x="3828790" y="548982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6" name="群組 35"/>
          <p:cNvGrpSpPr/>
          <p:nvPr/>
        </p:nvGrpSpPr>
        <p:grpSpPr>
          <a:xfrm>
            <a:off x="2102148" y="5626223"/>
            <a:ext cx="364202" cy="371403"/>
            <a:chOff x="2102148" y="5489821"/>
            <a:chExt cx="364202" cy="371403"/>
          </a:xfrm>
        </p:grpSpPr>
        <p:sp>
          <p:nvSpPr>
            <p:cNvPr id="89" name="橢圓 88"/>
            <p:cNvSpPr/>
            <p:nvPr/>
          </p:nvSpPr>
          <p:spPr>
            <a:xfrm>
              <a:off x="2136504" y="5573224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2" name="文字方塊 101"/>
            <p:cNvSpPr txBox="1"/>
            <p:nvPr/>
          </p:nvSpPr>
          <p:spPr>
            <a:xfrm>
              <a:off x="2102148" y="5489821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7" name="群組 36"/>
          <p:cNvGrpSpPr/>
          <p:nvPr/>
        </p:nvGrpSpPr>
        <p:grpSpPr>
          <a:xfrm>
            <a:off x="2022599" y="4829840"/>
            <a:ext cx="300082" cy="951794"/>
            <a:chOff x="2022599" y="4693438"/>
            <a:chExt cx="300082" cy="951794"/>
          </a:xfrm>
        </p:grpSpPr>
        <p:cxnSp>
          <p:nvCxnSpPr>
            <p:cNvPr id="91" name="直線單箭頭接點 90"/>
            <p:cNvCxnSpPr>
              <a:stCxn id="89" idx="0"/>
              <a:endCxn id="86" idx="4"/>
            </p:cNvCxnSpPr>
            <p:nvPr/>
          </p:nvCxnSpPr>
          <p:spPr>
            <a:xfrm flipV="1">
              <a:off x="2280504" y="4693438"/>
              <a:ext cx="0" cy="951794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文字方塊 102"/>
            <p:cNvSpPr txBox="1"/>
            <p:nvPr/>
          </p:nvSpPr>
          <p:spPr>
            <a:xfrm>
              <a:off x="2022599" y="491254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8" name="群組 37"/>
          <p:cNvGrpSpPr/>
          <p:nvPr/>
        </p:nvGrpSpPr>
        <p:grpSpPr>
          <a:xfrm>
            <a:off x="2424504" y="4829721"/>
            <a:ext cx="1577355" cy="1095913"/>
            <a:chOff x="2424504" y="4693319"/>
            <a:chExt cx="1577355" cy="1095913"/>
          </a:xfrm>
        </p:grpSpPr>
        <p:cxnSp>
          <p:nvCxnSpPr>
            <p:cNvPr id="99" name="直線單箭頭接點 98"/>
            <p:cNvCxnSpPr>
              <a:stCxn id="88" idx="4"/>
              <a:endCxn id="89" idx="6"/>
            </p:cNvCxnSpPr>
            <p:nvPr/>
          </p:nvCxnSpPr>
          <p:spPr>
            <a:xfrm flipH="1">
              <a:off x="2424504" y="4693319"/>
              <a:ext cx="1577355" cy="1095913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文字方塊 105"/>
            <p:cNvSpPr txBox="1"/>
            <p:nvPr/>
          </p:nvSpPr>
          <p:spPr>
            <a:xfrm>
              <a:off x="3291222" y="494749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9" name="群組 38"/>
          <p:cNvGrpSpPr/>
          <p:nvPr/>
        </p:nvGrpSpPr>
        <p:grpSpPr>
          <a:xfrm>
            <a:off x="3713423" y="4829721"/>
            <a:ext cx="300082" cy="951794"/>
            <a:chOff x="3713423" y="4693319"/>
            <a:chExt cx="300082" cy="951794"/>
          </a:xfrm>
        </p:grpSpPr>
        <p:cxnSp>
          <p:nvCxnSpPr>
            <p:cNvPr id="96" name="直線單箭頭接點 95"/>
            <p:cNvCxnSpPr>
              <a:stCxn id="90" idx="0"/>
              <a:endCxn id="88" idx="4"/>
            </p:cNvCxnSpPr>
            <p:nvPr/>
          </p:nvCxnSpPr>
          <p:spPr>
            <a:xfrm flipV="1">
              <a:off x="4001859" y="4693319"/>
              <a:ext cx="0" cy="951794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文字方塊 109"/>
            <p:cNvSpPr txBox="1"/>
            <p:nvPr/>
          </p:nvSpPr>
          <p:spPr>
            <a:xfrm>
              <a:off x="3713423" y="494749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zh-TW" alt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1" name="文字方塊 110"/>
          <p:cNvSpPr txBox="1"/>
          <p:nvPr/>
        </p:nvSpPr>
        <p:spPr>
          <a:xfrm>
            <a:off x="2430650" y="6197242"/>
            <a:ext cx="13981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 = 17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" name="文字方塊 111"/>
          <p:cNvSpPr txBox="1"/>
          <p:nvPr/>
        </p:nvSpPr>
        <p:spPr>
          <a:xfrm>
            <a:off x="482947" y="3855384"/>
            <a:ext cx="35189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由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出發，經過所有點回到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endParaRPr lang="zh-TW" altLang="en-US" sz="2000" b="1" baseline="-25000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pSp>
        <p:nvGrpSpPr>
          <p:cNvPr id="47" name="群組 46"/>
          <p:cNvGrpSpPr/>
          <p:nvPr/>
        </p:nvGrpSpPr>
        <p:grpSpPr>
          <a:xfrm>
            <a:off x="5959809" y="3858804"/>
            <a:ext cx="2170160" cy="445245"/>
            <a:chOff x="5959809" y="3722402"/>
            <a:chExt cx="2170160" cy="445245"/>
          </a:xfrm>
        </p:grpSpPr>
        <p:sp>
          <p:nvSpPr>
            <p:cNvPr id="113" name="上-下雙向箭號 112"/>
            <p:cNvSpPr/>
            <p:nvPr/>
          </p:nvSpPr>
          <p:spPr>
            <a:xfrm>
              <a:off x="5959809" y="3722402"/>
              <a:ext cx="236199" cy="445245"/>
            </a:xfrm>
            <a:prstGeom prst="up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4" name="文字方塊 113"/>
            <p:cNvSpPr txBox="1"/>
            <p:nvPr/>
          </p:nvSpPr>
          <p:spPr>
            <a:xfrm>
              <a:off x="6149940" y="3723395"/>
              <a:ext cx="198002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符合最佳化原則</a:t>
              </a:r>
              <a:endParaRPr lang="zh-TW" altLang="en-US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64556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500"/>
                            </p:stCondLst>
                            <p:childTnLst>
                              <p:par>
                                <p:cTn id="5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000"/>
                            </p:stCondLst>
                            <p:childTnLst>
                              <p:par>
                                <p:cTn id="5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500"/>
                            </p:stCondLst>
                            <p:childTnLst>
                              <p:par>
                                <p:cTn id="5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000"/>
                            </p:stCondLst>
                            <p:childTnLst>
                              <p:par>
                                <p:cTn id="6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/>
      <p:bldP spid="111" grpId="0"/>
      <p:bldP spid="112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售貨員旅行問題 </a:t>
            </a:r>
            <a:r>
              <a:rPr lang="en-US" altLang="zh-TW" dirty="0"/>
              <a:t>(5/12)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採用</a:t>
            </a:r>
            <a:r>
              <a:rPr lang="zh-TW" altLang="en-US" dirty="0">
                <a:solidFill>
                  <a:srgbClr val="0000FF"/>
                </a:solidFill>
              </a:rPr>
              <a:t>動態規劃演算法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79</a:t>
            </a:fld>
            <a:endParaRPr 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652776" y="3549091"/>
            <a:ext cx="805701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所有頂點的集合</a:t>
            </a:r>
            <a:endParaRPr lang="en-US" altLang="zh-TW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的一個子集合</a:t>
            </a:r>
            <a:endParaRPr lang="en-US" altLang="zh-TW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</a:t>
            </a:r>
            <a:r>
              <a:rPr lang="en-US" altLang="zh-TW" sz="2000" b="1" i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][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]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= 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從</a:t>
            </a:r>
            <a:r>
              <a:rPr lang="en-US" altLang="zh-TW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</a:t>
            </a:r>
            <a:r>
              <a:rPr lang="en-US" altLang="zh-TW" sz="2000" b="1" i="1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出發，</a:t>
            </a:r>
            <a:r>
              <a: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經過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r>
              <a: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中的所有頂點一次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，回到</a:t>
            </a:r>
            <a:r>
              <a:rPr lang="en-US" altLang="zh-TW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的最短路徑長度</a:t>
            </a:r>
          </a:p>
        </p:txBody>
      </p:sp>
      <p:sp>
        <p:nvSpPr>
          <p:cNvPr id="8" name="橢圓 7"/>
          <p:cNvSpPr/>
          <p:nvPr/>
        </p:nvSpPr>
        <p:spPr>
          <a:xfrm>
            <a:off x="1624713" y="178136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1584344" y="1699452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橢圓 9"/>
          <p:cNvSpPr/>
          <p:nvPr/>
        </p:nvSpPr>
        <p:spPr>
          <a:xfrm>
            <a:off x="3346068" y="178124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1624713" y="3021160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/>
          <p:cNvSpPr/>
          <p:nvPr/>
        </p:nvSpPr>
        <p:spPr>
          <a:xfrm>
            <a:off x="3346068" y="3021041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3" name="直線單箭頭接點 12"/>
          <p:cNvCxnSpPr>
            <a:stCxn id="11" idx="0"/>
            <a:endCxn id="8" idx="4"/>
          </p:cNvCxnSpPr>
          <p:nvPr/>
        </p:nvCxnSpPr>
        <p:spPr>
          <a:xfrm flipV="1">
            <a:off x="1768713" y="2069366"/>
            <a:ext cx="0" cy="95179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>
            <a:stCxn id="8" idx="5"/>
            <a:endCxn id="12" idx="1"/>
          </p:cNvCxnSpPr>
          <p:nvPr/>
        </p:nvCxnSpPr>
        <p:spPr>
          <a:xfrm>
            <a:off x="1870536" y="2027189"/>
            <a:ext cx="1517709" cy="103602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>
            <a:stCxn id="8" idx="7"/>
            <a:endCxn id="10" idx="1"/>
          </p:cNvCxnSpPr>
          <p:nvPr/>
        </p:nvCxnSpPr>
        <p:spPr>
          <a:xfrm flipV="1">
            <a:off x="1870536" y="1823424"/>
            <a:ext cx="1517709" cy="11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>
            <a:stCxn id="10" idx="2"/>
            <a:endCxn id="8" idx="6"/>
          </p:cNvCxnSpPr>
          <p:nvPr/>
        </p:nvCxnSpPr>
        <p:spPr>
          <a:xfrm flipH="1">
            <a:off x="1912713" y="1925247"/>
            <a:ext cx="1433355" cy="11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>
            <a:stCxn id="10" idx="5"/>
            <a:endCxn id="12" idx="7"/>
          </p:cNvCxnSpPr>
          <p:nvPr/>
        </p:nvCxnSpPr>
        <p:spPr>
          <a:xfrm>
            <a:off x="3591891" y="2027070"/>
            <a:ext cx="0" cy="103614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>
            <a:stCxn id="12" idx="0"/>
            <a:endCxn id="10" idx="4"/>
          </p:cNvCxnSpPr>
          <p:nvPr/>
        </p:nvCxnSpPr>
        <p:spPr>
          <a:xfrm flipV="1">
            <a:off x="3490068" y="2069247"/>
            <a:ext cx="0" cy="95179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>
            <a:stCxn id="12" idx="3"/>
            <a:endCxn id="11" idx="5"/>
          </p:cNvCxnSpPr>
          <p:nvPr/>
        </p:nvCxnSpPr>
        <p:spPr>
          <a:xfrm flipH="1">
            <a:off x="1870536" y="3266864"/>
            <a:ext cx="1517709" cy="11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>
            <a:stCxn id="11" idx="7"/>
            <a:endCxn id="10" idx="3"/>
          </p:cNvCxnSpPr>
          <p:nvPr/>
        </p:nvCxnSpPr>
        <p:spPr>
          <a:xfrm flipV="1">
            <a:off x="1870536" y="2027070"/>
            <a:ext cx="1517709" cy="103626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>
            <a:stCxn id="10" idx="4"/>
            <a:endCxn id="11" idx="6"/>
          </p:cNvCxnSpPr>
          <p:nvPr/>
        </p:nvCxnSpPr>
        <p:spPr>
          <a:xfrm flipH="1">
            <a:off x="1912713" y="2069247"/>
            <a:ext cx="1577355" cy="109591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/>
          <p:cNvSpPr txBox="1"/>
          <p:nvPr/>
        </p:nvSpPr>
        <p:spPr>
          <a:xfrm>
            <a:off x="3317905" y="1695741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3316999" y="2937757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1590357" y="2937757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1510808" y="236047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2500438" y="188572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2500438" y="151478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2629390" y="211618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2779431" y="239543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2866122" y="277347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2500438" y="322428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3543890" y="239543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3201632" y="239543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4" name="表格 33"/>
          <p:cNvGraphicFramePr>
            <a:graphicFrameLocks noGrp="1"/>
          </p:cNvGraphicFramePr>
          <p:nvPr/>
        </p:nvGraphicFramePr>
        <p:xfrm>
          <a:off x="4366995" y="1695741"/>
          <a:ext cx="2869635" cy="1680485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739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3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39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39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39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6097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09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09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09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09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5" name="文字方塊 34"/>
          <p:cNvSpPr txBox="1"/>
          <p:nvPr/>
        </p:nvSpPr>
        <p:spPr>
          <a:xfrm>
            <a:off x="458897" y="4743595"/>
            <a:ext cx="10310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{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2125936" y="4745474"/>
            <a:ext cx="43620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6 +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 = </a:t>
            </a:r>
          </a:p>
        </p:txBody>
      </p:sp>
      <p:sp>
        <p:nvSpPr>
          <p:cNvPr id="37" name="文字方塊 36"/>
          <p:cNvSpPr txBox="1"/>
          <p:nvPr/>
        </p:nvSpPr>
        <p:spPr>
          <a:xfrm>
            <a:off x="2132450" y="5142181"/>
            <a:ext cx="43620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8 +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 = </a:t>
            </a:r>
          </a:p>
        </p:txBody>
      </p:sp>
      <p:sp>
        <p:nvSpPr>
          <p:cNvPr id="38" name="文字方塊 37"/>
          <p:cNvSpPr txBox="1"/>
          <p:nvPr/>
        </p:nvSpPr>
        <p:spPr>
          <a:xfrm>
            <a:off x="458897" y="5765802"/>
            <a:ext cx="13580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{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2125936" y="5765802"/>
            <a:ext cx="51106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6 +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8 + 6 = 20</a:t>
            </a:r>
          </a:p>
        </p:txBody>
      </p:sp>
      <p:sp>
        <p:nvSpPr>
          <p:cNvPr id="41" name="文字方塊 40"/>
          <p:cNvSpPr txBox="1"/>
          <p:nvPr/>
        </p:nvSpPr>
        <p:spPr>
          <a:xfrm>
            <a:off x="2132450" y="6197242"/>
            <a:ext cx="52196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4 +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 +  = </a:t>
            </a:r>
          </a:p>
        </p:txBody>
      </p:sp>
      <p:grpSp>
        <p:nvGrpSpPr>
          <p:cNvPr id="42" name="群組 41"/>
          <p:cNvGrpSpPr/>
          <p:nvPr/>
        </p:nvGrpSpPr>
        <p:grpSpPr>
          <a:xfrm>
            <a:off x="7298558" y="5772984"/>
            <a:ext cx="1510339" cy="798696"/>
            <a:chOff x="7213150" y="3122978"/>
            <a:chExt cx="1510339" cy="798696"/>
          </a:xfrm>
        </p:grpSpPr>
        <p:sp>
          <p:nvSpPr>
            <p:cNvPr id="43" name="右大括弧 42"/>
            <p:cNvSpPr/>
            <p:nvPr/>
          </p:nvSpPr>
          <p:spPr>
            <a:xfrm>
              <a:off x="7213150" y="3122978"/>
              <a:ext cx="262688" cy="798696"/>
            </a:xfrm>
            <a:prstGeom prst="rightBrace">
              <a:avLst>
                <a:gd name="adj1" fmla="val 34205"/>
                <a:gd name="adj2" fmla="val 50000"/>
              </a:avLst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4" name="文字方塊 43"/>
            <p:cNvSpPr txBox="1"/>
            <p:nvPr/>
          </p:nvSpPr>
          <p:spPr>
            <a:xfrm>
              <a:off x="7472826" y="3171023"/>
              <a:ext cx="1250663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20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minimum</a:t>
              </a:r>
            </a:p>
            <a:p>
              <a:pPr algn="ctr"/>
              <a:r>
                <a:rPr lang="zh-TW" altLang="en-US" sz="20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最小值</a:t>
              </a:r>
            </a:p>
          </p:txBody>
        </p:sp>
      </p:grpSp>
      <p:grpSp>
        <p:nvGrpSpPr>
          <p:cNvPr id="45" name="群組 44"/>
          <p:cNvGrpSpPr/>
          <p:nvPr/>
        </p:nvGrpSpPr>
        <p:grpSpPr>
          <a:xfrm>
            <a:off x="6619541" y="4808906"/>
            <a:ext cx="1510339" cy="798696"/>
            <a:chOff x="7213150" y="3122978"/>
            <a:chExt cx="1510339" cy="798696"/>
          </a:xfrm>
        </p:grpSpPr>
        <p:sp>
          <p:nvSpPr>
            <p:cNvPr id="46" name="右大括弧 45"/>
            <p:cNvSpPr/>
            <p:nvPr/>
          </p:nvSpPr>
          <p:spPr>
            <a:xfrm>
              <a:off x="7213150" y="3122978"/>
              <a:ext cx="262688" cy="798696"/>
            </a:xfrm>
            <a:prstGeom prst="rightBrace">
              <a:avLst>
                <a:gd name="adj1" fmla="val 34205"/>
                <a:gd name="adj2" fmla="val 50000"/>
              </a:avLst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7" name="文字方塊 46"/>
            <p:cNvSpPr txBox="1"/>
            <p:nvPr/>
          </p:nvSpPr>
          <p:spPr>
            <a:xfrm>
              <a:off x="7472826" y="3171023"/>
              <a:ext cx="1250663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20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minimum</a:t>
              </a:r>
            </a:p>
            <a:p>
              <a:pPr algn="ctr"/>
              <a:r>
                <a:rPr lang="zh-TW" altLang="en-US" sz="20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最小值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61198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5" grpId="0"/>
      <p:bldP spid="36" grpId="0"/>
      <p:bldP spid="37" grpId="0"/>
      <p:bldP spid="38" grpId="0"/>
      <p:bldP spid="39" grpId="0"/>
      <p:bldP spid="41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售貨員旅行問題 </a:t>
            </a:r>
            <a:r>
              <a:rPr lang="en-US" altLang="zh-TW" dirty="0"/>
              <a:t>(6/12)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80</a:t>
            </a:fld>
            <a:endParaRPr lang="en-US" dirty="0"/>
          </a:p>
        </p:txBody>
      </p:sp>
      <p:sp>
        <p:nvSpPr>
          <p:cNvPr id="9" name="文字方塊 8"/>
          <p:cNvSpPr txBox="1"/>
          <p:nvPr/>
        </p:nvSpPr>
        <p:spPr>
          <a:xfrm>
            <a:off x="618971" y="1596362"/>
            <a:ext cx="13580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{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2286010" y="1596362"/>
            <a:ext cx="51106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6 +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8 + 6 = 20</a:t>
            </a:r>
          </a:p>
        </p:txBody>
      </p:sp>
      <p:sp>
        <p:nvSpPr>
          <p:cNvPr id="11" name="文字方塊 10"/>
          <p:cNvSpPr txBox="1"/>
          <p:nvPr/>
        </p:nvSpPr>
        <p:spPr>
          <a:xfrm>
            <a:off x="2292524" y="2027802"/>
            <a:ext cx="52196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4 +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 +  = </a:t>
            </a:r>
          </a:p>
        </p:txBody>
      </p:sp>
      <p:grpSp>
        <p:nvGrpSpPr>
          <p:cNvPr id="12" name="群組 11"/>
          <p:cNvGrpSpPr/>
          <p:nvPr/>
        </p:nvGrpSpPr>
        <p:grpSpPr>
          <a:xfrm>
            <a:off x="7458632" y="1594835"/>
            <a:ext cx="1510339" cy="798696"/>
            <a:chOff x="7213150" y="3122978"/>
            <a:chExt cx="1510339" cy="798696"/>
          </a:xfrm>
        </p:grpSpPr>
        <p:sp>
          <p:nvSpPr>
            <p:cNvPr id="13" name="右大括弧 12"/>
            <p:cNvSpPr/>
            <p:nvPr/>
          </p:nvSpPr>
          <p:spPr>
            <a:xfrm>
              <a:off x="7213150" y="3122978"/>
              <a:ext cx="262688" cy="798696"/>
            </a:xfrm>
            <a:prstGeom prst="rightBrace">
              <a:avLst>
                <a:gd name="adj1" fmla="val 34205"/>
                <a:gd name="adj2" fmla="val 50000"/>
              </a:avLst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文字方塊 13"/>
            <p:cNvSpPr txBox="1"/>
            <p:nvPr/>
          </p:nvSpPr>
          <p:spPr>
            <a:xfrm>
              <a:off x="7472826" y="3171023"/>
              <a:ext cx="1250663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20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minimum</a:t>
              </a:r>
            </a:p>
            <a:p>
              <a:pPr algn="ctr"/>
              <a:r>
                <a:rPr lang="zh-TW" altLang="en-US" sz="20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最小值</a:t>
              </a:r>
            </a:p>
          </p:txBody>
        </p:sp>
      </p:grpSp>
      <p:grpSp>
        <p:nvGrpSpPr>
          <p:cNvPr id="7" name="群組 6"/>
          <p:cNvGrpSpPr/>
          <p:nvPr/>
        </p:nvGrpSpPr>
        <p:grpSpPr>
          <a:xfrm>
            <a:off x="618971" y="3098185"/>
            <a:ext cx="7664899" cy="400110"/>
            <a:chOff x="618971" y="3098185"/>
            <a:chExt cx="7664899" cy="400110"/>
          </a:xfrm>
        </p:grpSpPr>
        <p:sp>
          <p:nvSpPr>
            <p:cNvPr id="15" name="文字方塊 14"/>
            <p:cNvSpPr txBox="1"/>
            <p:nvPr/>
          </p:nvSpPr>
          <p:spPr>
            <a:xfrm>
              <a:off x="618971" y="3098185"/>
              <a:ext cx="135806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TW" sz="20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= {</a:t>
              </a:r>
              <a:r>
                <a:rPr lang="en-US" altLang="zh-TW" sz="2000" b="1" i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sz="2000" b="1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TW" sz="20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zh-TW" sz="2000" b="1" i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sz="2000" b="1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TW" sz="20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  <a:endPara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文字方塊 15"/>
            <p:cNvSpPr txBox="1"/>
            <p:nvPr/>
          </p:nvSpPr>
          <p:spPr>
            <a:xfrm>
              <a:off x="2286010" y="3098185"/>
              <a:ext cx="59978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Tour</a:t>
              </a:r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= minimum{</a:t>
              </a:r>
              <a:r>
                <a:rPr lang="en-US" altLang="zh-TW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</a:t>
              </a:r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altLang="zh-TW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][</a:t>
              </a:r>
              <a:r>
                <a:rPr lang="en-US" altLang="zh-TW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] + </a:t>
              </a:r>
              <a:r>
                <a:rPr lang="en-US" altLang="zh-TW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altLang="zh-TW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][</a:t>
              </a:r>
              <a:r>
                <a:rPr lang="en-US" altLang="zh-TW" sz="2000" b="1" i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]} = 2 + 20 = 22</a:t>
              </a:r>
              <a:endPara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/>
              <p:cNvSpPr txBox="1"/>
              <p:nvPr/>
            </p:nvSpPr>
            <p:spPr>
              <a:xfrm>
                <a:off x="2286010" y="4202949"/>
                <a:ext cx="5207195" cy="5543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Tour</a:t>
                </a:r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TW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TW" sz="2000" b="1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a:rPr lang="en-US" altLang="zh-TW" sz="2000" b="1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𝐦𝐢𝐧</m:t>
                            </m:r>
                          </m:e>
                          <m:lim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≤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𝒋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≤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𝒏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zh-TW" sz="20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𝑾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sz="20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0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altLang="zh-TW" sz="20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</m:d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sz="20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0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altLang="zh-TW" sz="20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𝒋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𝑫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sz="20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0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altLang="zh-TW" sz="20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𝒋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[</m:t>
                            </m:r>
                            <m:r>
                              <a:rPr lang="en-US" altLang="zh-TW" sz="20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𝑽</m:t>
                            </m:r>
                            <m:r>
                              <a:rPr lang="en-US" altLang="zh-TW" sz="20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−{</m:t>
                            </m:r>
                            <m:sSub>
                              <m:sSubPr>
                                <m:ctrlPr>
                                  <a:rPr lang="en-US" altLang="zh-TW" sz="2000" b="1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altLang="zh-TW" sz="20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TW" sz="2000" b="1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𝒋</m:t>
                                </m:r>
                              </m:sub>
                            </m:sSub>
                            <m:r>
                              <a:rPr lang="en-US" altLang="zh-TW" sz="20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}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]</m:t>
                            </m:r>
                          </m:e>
                        </m:d>
                      </m:e>
                    </m:func>
                  </m:oMath>
                </a14:m>
                <a:endPara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21" name="文字方塊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10" y="4202949"/>
                <a:ext cx="5207195" cy="554319"/>
              </a:xfrm>
              <a:prstGeom prst="rect">
                <a:avLst/>
              </a:prstGeom>
              <a:blipFill>
                <a:blip r:embed="rId2"/>
                <a:stretch>
                  <a:fillRect l="-1171" t="-2198" b="-659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群組 7"/>
          <p:cNvGrpSpPr/>
          <p:nvPr/>
        </p:nvGrpSpPr>
        <p:grpSpPr>
          <a:xfrm>
            <a:off x="2286009" y="5358945"/>
            <a:ext cx="5082738" cy="831550"/>
            <a:chOff x="2286009" y="5358945"/>
            <a:chExt cx="5082738" cy="83155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字方塊 21"/>
                <p:cNvSpPr txBox="1"/>
                <p:nvPr/>
              </p:nvSpPr>
              <p:spPr>
                <a:xfrm>
                  <a:off x="2286009" y="5358945"/>
                  <a:ext cx="5082738" cy="58522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sz="2000" b="1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  <a:r>
                    <a:rPr lang="en-US" altLang="zh-TW" sz="20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[</a:t>
                  </a:r>
                  <a:r>
                    <a:rPr lang="en-US" altLang="zh-TW" sz="2000" b="1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v</a:t>
                  </a:r>
                  <a:r>
                    <a:rPr lang="en-US" altLang="zh-TW" sz="2000" b="1" i="1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</a:t>
                  </a:r>
                  <a:r>
                    <a:rPr lang="en-US" altLang="zh-TW" sz="20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][</a:t>
                  </a:r>
                  <a:r>
                    <a:rPr lang="en-US" altLang="zh-TW" sz="2000" b="1" i="1" dirty="0">
                      <a:solidFill>
                        <a:srgbClr val="0000FF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  <a:r>
                    <a:rPr lang="en-US" altLang="zh-TW" sz="20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] = </a:t>
                  </a:r>
                  <a14:m>
                    <m:oMath xmlns:m="http://schemas.openxmlformats.org/officeDocument/2006/math">
                      <m:func>
                        <m:func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2000" b="1" i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altLang="zh-TW" sz="2000" b="1" i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𝐦𝐢𝐧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∈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𝑨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𝑾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𝒗</m:t>
                                      </m:r>
                                    </m:e>
                                    <m:sub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𝒗</m:t>
                                      </m:r>
                                    </m:e>
                                    <m:sub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𝒋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𝑫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𝒗</m:t>
                                      </m:r>
                                    </m:e>
                                    <m:sub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𝒋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[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𝑨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−{</m:t>
                              </m:r>
                              <m:sSub>
                                <m:sSubPr>
                                  <m:ctrlPr>
                                    <a:rPr lang="en-US" altLang="zh-TW" sz="2000" b="1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1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lang="en-US" altLang="zh-TW" sz="2000" b="1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altLang="zh-TW" sz="20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}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</m:e>
                          </m:d>
                        </m:e>
                      </m:func>
                    </m:oMath>
                  </a14:m>
                  <a:endPara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endParaRPr>
                </a:p>
              </p:txBody>
            </p:sp>
          </mc:Choice>
          <mc:Fallback xmlns="">
            <p:sp>
              <p:nvSpPr>
                <p:cNvPr id="22" name="文字方塊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6009" y="5358945"/>
                  <a:ext cx="5082738" cy="585225"/>
                </a:xfrm>
                <a:prstGeom prst="rect">
                  <a:avLst/>
                </a:prstGeom>
                <a:blipFill>
                  <a:blip r:embed="rId3"/>
                  <a:stretch>
                    <a:fillRect l="-1199" t="-2083" b="-208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文字方塊 23"/>
            <p:cNvSpPr txBox="1"/>
            <p:nvPr/>
          </p:nvSpPr>
          <p:spPr>
            <a:xfrm>
              <a:off x="2292524" y="5790385"/>
              <a:ext cx="231044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altLang="zh-TW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sz="2000" b="1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][</a:t>
              </a:r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</a:t>
              </a:r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] = </a:t>
              </a:r>
              <a:r>
                <a:rPr lang="en-US" altLang="zh-TW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</a:t>
              </a:r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altLang="zh-TW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sz="2000" b="1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][</a:t>
              </a:r>
              <a:r>
                <a:rPr lang="en-US" altLang="zh-TW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]</a:t>
              </a:r>
              <a:endPara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</p:grpSp>
      <p:sp>
        <p:nvSpPr>
          <p:cNvPr id="25" name="向下箭號 24"/>
          <p:cNvSpPr/>
          <p:nvPr/>
        </p:nvSpPr>
        <p:spPr>
          <a:xfrm>
            <a:off x="4127157" y="2666745"/>
            <a:ext cx="521033" cy="32409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向下箭號 25"/>
          <p:cNvSpPr/>
          <p:nvPr/>
        </p:nvSpPr>
        <p:spPr>
          <a:xfrm>
            <a:off x="4127156" y="3686484"/>
            <a:ext cx="521033" cy="32409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向下箭號 26"/>
          <p:cNvSpPr/>
          <p:nvPr/>
        </p:nvSpPr>
        <p:spPr>
          <a:xfrm>
            <a:off x="4127156" y="4842480"/>
            <a:ext cx="521033" cy="32409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9413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5" grpId="0" animBg="1"/>
      <p:bldP spid="26" grpId="0" animBg="1"/>
      <p:bldP spid="27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售貨員旅行問題 </a:t>
            </a:r>
            <a:r>
              <a:rPr lang="en-US" altLang="zh-TW" dirty="0"/>
              <a:t>(7/12)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81</a:t>
            </a:fld>
            <a:endParaRPr lang="en-US" dirty="0"/>
          </a:p>
        </p:txBody>
      </p:sp>
      <p:sp>
        <p:nvSpPr>
          <p:cNvPr id="9" name="橢圓 8"/>
          <p:cNvSpPr/>
          <p:nvPr/>
        </p:nvSpPr>
        <p:spPr>
          <a:xfrm>
            <a:off x="802181" y="1498401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/>
        </p:nvSpPr>
        <p:spPr>
          <a:xfrm>
            <a:off x="761812" y="1416487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橢圓 10"/>
          <p:cNvSpPr/>
          <p:nvPr/>
        </p:nvSpPr>
        <p:spPr>
          <a:xfrm>
            <a:off x="2523536" y="149828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/>
          <p:cNvSpPr/>
          <p:nvPr/>
        </p:nvSpPr>
        <p:spPr>
          <a:xfrm>
            <a:off x="802181" y="273819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/>
          <p:cNvSpPr/>
          <p:nvPr/>
        </p:nvSpPr>
        <p:spPr>
          <a:xfrm>
            <a:off x="2523536" y="273807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4" name="直線單箭頭接點 13"/>
          <p:cNvCxnSpPr>
            <a:stCxn id="12" idx="0"/>
            <a:endCxn id="9" idx="4"/>
          </p:cNvCxnSpPr>
          <p:nvPr/>
        </p:nvCxnSpPr>
        <p:spPr>
          <a:xfrm flipV="1">
            <a:off x="946181" y="1786401"/>
            <a:ext cx="0" cy="95179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>
            <a:stCxn id="9" idx="5"/>
            <a:endCxn id="13" idx="1"/>
          </p:cNvCxnSpPr>
          <p:nvPr/>
        </p:nvCxnSpPr>
        <p:spPr>
          <a:xfrm>
            <a:off x="1048004" y="1744224"/>
            <a:ext cx="1517709" cy="103602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>
            <a:stCxn id="9" idx="7"/>
            <a:endCxn id="11" idx="1"/>
          </p:cNvCxnSpPr>
          <p:nvPr/>
        </p:nvCxnSpPr>
        <p:spPr>
          <a:xfrm flipV="1">
            <a:off x="1048004" y="1540459"/>
            <a:ext cx="1517709" cy="11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>
            <a:stCxn id="11" idx="2"/>
            <a:endCxn id="9" idx="6"/>
          </p:cNvCxnSpPr>
          <p:nvPr/>
        </p:nvCxnSpPr>
        <p:spPr>
          <a:xfrm flipH="1">
            <a:off x="1090181" y="1642282"/>
            <a:ext cx="1433355" cy="11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>
            <a:stCxn id="11" idx="5"/>
            <a:endCxn id="13" idx="7"/>
          </p:cNvCxnSpPr>
          <p:nvPr/>
        </p:nvCxnSpPr>
        <p:spPr>
          <a:xfrm>
            <a:off x="2769359" y="1744105"/>
            <a:ext cx="0" cy="103614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>
            <a:stCxn id="13" idx="0"/>
            <a:endCxn id="11" idx="4"/>
          </p:cNvCxnSpPr>
          <p:nvPr/>
        </p:nvCxnSpPr>
        <p:spPr>
          <a:xfrm flipV="1">
            <a:off x="2667536" y="1786282"/>
            <a:ext cx="0" cy="95179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>
            <a:stCxn id="13" idx="3"/>
            <a:endCxn id="12" idx="5"/>
          </p:cNvCxnSpPr>
          <p:nvPr/>
        </p:nvCxnSpPr>
        <p:spPr>
          <a:xfrm flipH="1">
            <a:off x="1048004" y="2983899"/>
            <a:ext cx="1517709" cy="11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>
            <a:stCxn id="12" idx="7"/>
            <a:endCxn id="11" idx="3"/>
          </p:cNvCxnSpPr>
          <p:nvPr/>
        </p:nvCxnSpPr>
        <p:spPr>
          <a:xfrm flipV="1">
            <a:off x="1048004" y="1744105"/>
            <a:ext cx="1517709" cy="103626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>
            <a:stCxn id="11" idx="4"/>
            <a:endCxn id="12" idx="6"/>
          </p:cNvCxnSpPr>
          <p:nvPr/>
        </p:nvCxnSpPr>
        <p:spPr>
          <a:xfrm flipH="1">
            <a:off x="1090181" y="1786282"/>
            <a:ext cx="1577355" cy="109591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字方塊 22"/>
          <p:cNvSpPr txBox="1"/>
          <p:nvPr/>
        </p:nvSpPr>
        <p:spPr>
          <a:xfrm>
            <a:off x="2495373" y="1412776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2494467" y="2654792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767825" y="2654792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688276" y="207751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1677906" y="160275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1677906" y="122146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1806858" y="183322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1956899" y="211246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2043590" y="249051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1677906" y="294131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2721358" y="211246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2379100" y="211246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2379102" y="4528630"/>
            <a:ext cx="27622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1</a:t>
            </a:r>
            <a:endParaRPr lang="en-US" altLang="zh-TW" sz="2000" b="1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2379102" y="4928740"/>
            <a:ext cx="28905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38" name="文字方塊 37"/>
          <p:cNvSpPr txBox="1"/>
          <p:nvPr/>
        </p:nvSpPr>
        <p:spPr>
          <a:xfrm>
            <a:off x="2379101" y="5328850"/>
            <a:ext cx="27622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6</a:t>
            </a:r>
            <a:endParaRPr lang="en-US" altLang="zh-TW" sz="2000" b="1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844808" y="4530900"/>
            <a:ext cx="8418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</a:t>
            </a:r>
          </a:p>
        </p:txBody>
      </p:sp>
      <p:grpSp>
        <p:nvGrpSpPr>
          <p:cNvPr id="40" name="群組 39"/>
          <p:cNvGrpSpPr/>
          <p:nvPr/>
        </p:nvGrpSpPr>
        <p:grpSpPr>
          <a:xfrm>
            <a:off x="802181" y="3329649"/>
            <a:ext cx="5082738" cy="831550"/>
            <a:chOff x="3248720" y="1631171"/>
            <a:chExt cx="5082738" cy="83155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字方塊 40"/>
                <p:cNvSpPr txBox="1"/>
                <p:nvPr/>
              </p:nvSpPr>
              <p:spPr>
                <a:xfrm>
                  <a:off x="3248720" y="1631171"/>
                  <a:ext cx="5082738" cy="58522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sz="2000" b="1" i="1" dirty="0">
                      <a:solidFill>
                        <a:srgbClr val="0000FF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  <a:r>
                    <a:rPr lang="en-US" altLang="zh-TW" sz="2000" b="1" dirty="0">
                      <a:solidFill>
                        <a:srgbClr val="0000FF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[</a:t>
                  </a:r>
                  <a:r>
                    <a:rPr lang="en-US" altLang="zh-TW" sz="2000" b="1" i="1" dirty="0">
                      <a:solidFill>
                        <a:srgbClr val="0000FF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v</a:t>
                  </a:r>
                  <a:r>
                    <a:rPr lang="en-US" altLang="zh-TW" sz="2000" b="1" i="1" baseline="-25000" dirty="0">
                      <a:solidFill>
                        <a:srgbClr val="0000FF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</a:t>
                  </a:r>
                  <a:r>
                    <a:rPr lang="en-US" altLang="zh-TW" sz="2000" b="1" dirty="0">
                      <a:solidFill>
                        <a:srgbClr val="0000FF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][</a:t>
                  </a:r>
                  <a:r>
                    <a:rPr lang="en-US" altLang="zh-TW" sz="2000" b="1" i="1" dirty="0">
                      <a:solidFill>
                        <a:srgbClr val="0000FF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  <a:r>
                    <a:rPr lang="en-US" altLang="zh-TW" sz="2000" b="1" dirty="0">
                      <a:solidFill>
                        <a:srgbClr val="0000FF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] = </a:t>
                  </a:r>
                  <a14:m>
                    <m:oMath xmlns:m="http://schemas.openxmlformats.org/officeDocument/2006/math">
                      <m:func>
                        <m:funcPr>
                          <m:ctrlPr>
                            <a:rPr lang="en-US" altLang="zh-TW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2000" b="1" i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altLang="zh-TW" sz="2000" b="1" i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𝐦𝐢𝐧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altLang="zh-TW" sz="2000" b="1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1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lang="en-US" altLang="zh-TW" sz="2000" b="1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  <m:r>
                                <a:rPr lang="en-US" altLang="zh-TW" sz="20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∈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𝑨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altLang="zh-TW" sz="20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0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𝑾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000" b="1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000" b="1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𝒗</m:t>
                                      </m:r>
                                    </m:e>
                                    <m:sub>
                                      <m:r>
                                        <a:rPr lang="en-US" altLang="zh-TW" sz="2000" b="1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000" b="1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000" b="1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𝒗</m:t>
                                      </m:r>
                                    </m:e>
                                    <m:sub>
                                      <m:r>
                                        <a:rPr lang="en-US" altLang="zh-TW" sz="2000" b="1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𝒋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TW" sz="20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𝑫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000" b="1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000" b="1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𝒗</m:t>
                                      </m:r>
                                    </m:e>
                                    <m:sub>
                                      <m:r>
                                        <a:rPr lang="en-US" altLang="zh-TW" sz="2000" b="1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𝒋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TW" sz="20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[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𝑨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−{</m:t>
                              </m:r>
                              <m:sSub>
                                <m:sSubPr>
                                  <m:ctrlPr>
                                    <a:rPr lang="en-US" altLang="zh-TW" sz="2000" b="1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1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lang="en-US" altLang="zh-TW" sz="2000" b="1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altLang="zh-TW" sz="20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}]</m:t>
                              </m:r>
                            </m:e>
                          </m:d>
                        </m:e>
                      </m:func>
                    </m:oMath>
                  </a14:m>
                  <a:endParaRPr lang="en-US" altLang="zh-TW" sz="2000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endParaRPr>
                </a:p>
              </p:txBody>
            </p:sp>
          </mc:Choice>
          <mc:Fallback xmlns="">
            <p:sp>
              <p:nvSpPr>
                <p:cNvPr id="41" name="文字方塊 4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48720" y="1631171"/>
                  <a:ext cx="5082738" cy="585225"/>
                </a:xfrm>
                <a:prstGeom prst="rect">
                  <a:avLst/>
                </a:prstGeom>
                <a:blipFill>
                  <a:blip r:embed="rId2"/>
                  <a:stretch>
                    <a:fillRect l="-1321" t="-3125" b="-208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2" name="文字方塊 41"/>
            <p:cNvSpPr txBox="1"/>
            <p:nvPr/>
          </p:nvSpPr>
          <p:spPr>
            <a:xfrm>
              <a:off x="3255235" y="2062611"/>
              <a:ext cx="231044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TW" sz="20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altLang="zh-TW" sz="2000" b="1" i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sz="2000" b="1" i="1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TW" sz="20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][</a:t>
              </a:r>
              <a:r>
                <a:rPr lang="en-US" altLang="zh-TW" sz="20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</a:t>
              </a:r>
              <a:r>
                <a:rPr lang="en-US" altLang="zh-TW" sz="20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] = </a:t>
              </a:r>
              <a:r>
                <a:rPr lang="en-US" altLang="zh-TW" sz="2000" b="1" i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</a:t>
              </a:r>
              <a:r>
                <a:rPr lang="en-US" altLang="zh-TW" sz="20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altLang="zh-TW" sz="2000" b="1" i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sz="2000" b="1" i="1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TW" sz="20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][</a:t>
              </a:r>
              <a:r>
                <a:rPr lang="en-US" altLang="zh-TW" sz="2000" b="1" i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sz="2000" b="1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TW" sz="20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]</a:t>
              </a:r>
              <a:endPara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</p:grpSp>
      <p:graphicFrame>
        <p:nvGraphicFramePr>
          <p:cNvPr id="43" name="表格 42"/>
          <p:cNvGraphicFramePr>
            <a:graphicFrameLocks noGrp="1"/>
          </p:cNvGraphicFramePr>
          <p:nvPr/>
        </p:nvGraphicFramePr>
        <p:xfrm>
          <a:off x="3303421" y="1458612"/>
          <a:ext cx="2869635" cy="1680485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739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3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39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39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39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6097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09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09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09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09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438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7" grpId="0"/>
      <p:bldP spid="38" grpId="0"/>
      <p:bldP spid="39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售貨員旅行問題 </a:t>
            </a:r>
            <a:r>
              <a:rPr lang="en-US" altLang="zh-TW" dirty="0"/>
              <a:t>(8/12)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82</a:t>
            </a:fld>
            <a:endParaRPr lang="en-US" dirty="0"/>
          </a:p>
        </p:txBody>
      </p:sp>
      <p:grpSp>
        <p:nvGrpSpPr>
          <p:cNvPr id="41" name="群組 40"/>
          <p:cNvGrpSpPr/>
          <p:nvPr/>
        </p:nvGrpSpPr>
        <p:grpSpPr>
          <a:xfrm>
            <a:off x="802181" y="3284984"/>
            <a:ext cx="5082738" cy="831550"/>
            <a:chOff x="3248720" y="1631171"/>
            <a:chExt cx="5082738" cy="83155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字方塊 6"/>
                <p:cNvSpPr txBox="1"/>
                <p:nvPr/>
              </p:nvSpPr>
              <p:spPr>
                <a:xfrm>
                  <a:off x="3248720" y="1631171"/>
                  <a:ext cx="5082738" cy="58522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sz="2000" b="1" i="1" dirty="0">
                      <a:solidFill>
                        <a:srgbClr val="0000FF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  <a:r>
                    <a:rPr lang="en-US" altLang="zh-TW" sz="2000" b="1" dirty="0">
                      <a:solidFill>
                        <a:srgbClr val="0000FF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[</a:t>
                  </a:r>
                  <a:r>
                    <a:rPr lang="en-US" altLang="zh-TW" sz="2000" b="1" i="1" dirty="0">
                      <a:solidFill>
                        <a:srgbClr val="0000FF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v</a:t>
                  </a:r>
                  <a:r>
                    <a:rPr lang="en-US" altLang="zh-TW" sz="2000" b="1" i="1" baseline="-25000" dirty="0">
                      <a:solidFill>
                        <a:srgbClr val="0000FF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</a:t>
                  </a:r>
                  <a:r>
                    <a:rPr lang="en-US" altLang="zh-TW" sz="2000" b="1" dirty="0">
                      <a:solidFill>
                        <a:srgbClr val="0000FF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][</a:t>
                  </a:r>
                  <a:r>
                    <a:rPr lang="en-US" altLang="zh-TW" sz="2000" b="1" i="1" dirty="0">
                      <a:solidFill>
                        <a:srgbClr val="0000FF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  <a:r>
                    <a:rPr lang="en-US" altLang="zh-TW" sz="2000" b="1" dirty="0">
                      <a:solidFill>
                        <a:srgbClr val="0000FF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] = </a:t>
                  </a:r>
                  <a14:m>
                    <m:oMath xmlns:m="http://schemas.openxmlformats.org/officeDocument/2006/math">
                      <m:func>
                        <m:funcPr>
                          <m:ctrlPr>
                            <a:rPr lang="en-US" altLang="zh-TW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2000" b="1" i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altLang="zh-TW" sz="2000" b="1" i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𝐦𝐢𝐧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altLang="zh-TW" sz="2000" b="1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1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lang="en-US" altLang="zh-TW" sz="2000" b="1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  <m:r>
                                <a:rPr lang="en-US" altLang="zh-TW" sz="20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∈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𝑨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altLang="zh-TW" sz="20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0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𝑾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000" b="1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000" b="1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𝒗</m:t>
                                      </m:r>
                                    </m:e>
                                    <m:sub>
                                      <m:r>
                                        <a:rPr lang="en-US" altLang="zh-TW" sz="2000" b="1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000" b="1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000" b="1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𝒗</m:t>
                                      </m:r>
                                    </m:e>
                                    <m:sub>
                                      <m:r>
                                        <a:rPr lang="en-US" altLang="zh-TW" sz="2000" b="1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𝒋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TW" sz="20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𝑫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000" b="1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000" b="1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𝒗</m:t>
                                      </m:r>
                                    </m:e>
                                    <m:sub>
                                      <m:r>
                                        <a:rPr lang="en-US" altLang="zh-TW" sz="2000" b="1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𝒋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TW" sz="20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[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𝑨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−{</m:t>
                              </m:r>
                              <m:sSub>
                                <m:sSubPr>
                                  <m:ctrlPr>
                                    <a:rPr lang="en-US" altLang="zh-TW" sz="2000" b="1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1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lang="en-US" altLang="zh-TW" sz="2000" b="1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altLang="zh-TW" sz="20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}]</m:t>
                              </m:r>
                            </m:e>
                          </m:d>
                        </m:e>
                      </m:func>
                    </m:oMath>
                  </a14:m>
                  <a:endParaRPr lang="en-US" altLang="zh-TW" sz="2000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endParaRPr>
                </a:p>
              </p:txBody>
            </p:sp>
          </mc:Choice>
          <mc:Fallback xmlns="">
            <p:sp>
              <p:nvSpPr>
                <p:cNvPr id="7" name="文字方塊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48720" y="1631171"/>
                  <a:ext cx="5082738" cy="585225"/>
                </a:xfrm>
                <a:prstGeom prst="rect">
                  <a:avLst/>
                </a:prstGeom>
                <a:blipFill>
                  <a:blip r:embed="rId2"/>
                  <a:stretch>
                    <a:fillRect l="-1321" t="-3125" b="-208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文字方塊 7"/>
            <p:cNvSpPr txBox="1"/>
            <p:nvPr/>
          </p:nvSpPr>
          <p:spPr>
            <a:xfrm>
              <a:off x="3255235" y="2062611"/>
              <a:ext cx="231044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TW" sz="20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altLang="zh-TW" sz="2000" b="1" i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sz="2000" b="1" i="1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TW" sz="20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][</a:t>
              </a:r>
              <a:r>
                <a:rPr lang="en-US" altLang="zh-TW" sz="20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</a:t>
              </a:r>
              <a:r>
                <a:rPr lang="en-US" altLang="zh-TW" sz="20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] = </a:t>
              </a:r>
              <a:r>
                <a:rPr lang="en-US" altLang="zh-TW" sz="2000" b="1" i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</a:t>
              </a:r>
              <a:r>
                <a:rPr lang="en-US" altLang="zh-TW" sz="20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altLang="zh-TW" sz="2000" b="1" i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sz="2000" b="1" i="1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TW" sz="20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][</a:t>
              </a:r>
              <a:r>
                <a:rPr lang="en-US" altLang="zh-TW" sz="2000" b="1" i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sz="2000" b="1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TW" sz="20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]</a:t>
              </a:r>
              <a:endPara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</p:grpSp>
      <p:sp>
        <p:nvSpPr>
          <p:cNvPr id="9" name="橢圓 8"/>
          <p:cNvSpPr/>
          <p:nvPr/>
        </p:nvSpPr>
        <p:spPr>
          <a:xfrm>
            <a:off x="802181" y="148628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/>
        </p:nvSpPr>
        <p:spPr>
          <a:xfrm>
            <a:off x="761812" y="1404368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橢圓 10"/>
          <p:cNvSpPr/>
          <p:nvPr/>
        </p:nvSpPr>
        <p:spPr>
          <a:xfrm>
            <a:off x="2523536" y="1486163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/>
          <p:cNvSpPr/>
          <p:nvPr/>
        </p:nvSpPr>
        <p:spPr>
          <a:xfrm>
            <a:off x="802181" y="272607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/>
          <p:cNvSpPr/>
          <p:nvPr/>
        </p:nvSpPr>
        <p:spPr>
          <a:xfrm>
            <a:off x="2523536" y="272595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4" name="直線單箭頭接點 13"/>
          <p:cNvCxnSpPr>
            <a:stCxn id="12" idx="0"/>
            <a:endCxn id="9" idx="4"/>
          </p:cNvCxnSpPr>
          <p:nvPr/>
        </p:nvCxnSpPr>
        <p:spPr>
          <a:xfrm flipV="1">
            <a:off x="946181" y="1774282"/>
            <a:ext cx="0" cy="95179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>
            <a:stCxn id="9" idx="5"/>
            <a:endCxn id="13" idx="1"/>
          </p:cNvCxnSpPr>
          <p:nvPr/>
        </p:nvCxnSpPr>
        <p:spPr>
          <a:xfrm>
            <a:off x="1048004" y="1732105"/>
            <a:ext cx="1517709" cy="103602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>
            <a:stCxn id="9" idx="7"/>
            <a:endCxn id="11" idx="1"/>
          </p:cNvCxnSpPr>
          <p:nvPr/>
        </p:nvCxnSpPr>
        <p:spPr>
          <a:xfrm flipV="1">
            <a:off x="1048004" y="1528340"/>
            <a:ext cx="1517709" cy="11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>
            <a:stCxn id="11" idx="2"/>
            <a:endCxn id="9" idx="6"/>
          </p:cNvCxnSpPr>
          <p:nvPr/>
        </p:nvCxnSpPr>
        <p:spPr>
          <a:xfrm flipH="1">
            <a:off x="1090181" y="1630163"/>
            <a:ext cx="1433355" cy="11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>
            <a:stCxn id="11" idx="5"/>
            <a:endCxn id="13" idx="7"/>
          </p:cNvCxnSpPr>
          <p:nvPr/>
        </p:nvCxnSpPr>
        <p:spPr>
          <a:xfrm>
            <a:off x="2769359" y="1731986"/>
            <a:ext cx="0" cy="103614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>
            <a:stCxn id="13" idx="0"/>
            <a:endCxn id="11" idx="4"/>
          </p:cNvCxnSpPr>
          <p:nvPr/>
        </p:nvCxnSpPr>
        <p:spPr>
          <a:xfrm flipV="1">
            <a:off x="2667536" y="1774163"/>
            <a:ext cx="0" cy="95179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>
            <a:stCxn id="13" idx="3"/>
            <a:endCxn id="12" idx="5"/>
          </p:cNvCxnSpPr>
          <p:nvPr/>
        </p:nvCxnSpPr>
        <p:spPr>
          <a:xfrm flipH="1">
            <a:off x="1048004" y="2971780"/>
            <a:ext cx="1517709" cy="11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>
            <a:stCxn id="12" idx="7"/>
            <a:endCxn id="11" idx="3"/>
          </p:cNvCxnSpPr>
          <p:nvPr/>
        </p:nvCxnSpPr>
        <p:spPr>
          <a:xfrm flipV="1">
            <a:off x="1048004" y="1731986"/>
            <a:ext cx="1517709" cy="103626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>
            <a:stCxn id="11" idx="4"/>
            <a:endCxn id="12" idx="6"/>
          </p:cNvCxnSpPr>
          <p:nvPr/>
        </p:nvCxnSpPr>
        <p:spPr>
          <a:xfrm flipH="1">
            <a:off x="1090181" y="1774163"/>
            <a:ext cx="1577355" cy="109591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字方塊 22"/>
          <p:cNvSpPr txBox="1"/>
          <p:nvPr/>
        </p:nvSpPr>
        <p:spPr>
          <a:xfrm>
            <a:off x="2495373" y="1400657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2494467" y="264267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767825" y="264267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688276" y="206539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1677906" y="159063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1677906" y="121970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1806858" y="182110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1956899" y="210034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2043590" y="247839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1677906" y="292919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2721358" y="210034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2379100" y="210034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528615" y="4081311"/>
            <a:ext cx="10454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{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TW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}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字方塊 39"/>
              <p:cNvSpPr txBox="1"/>
              <p:nvPr/>
            </p:nvSpPr>
            <p:spPr>
              <a:xfrm>
                <a:off x="1956899" y="4081311"/>
                <a:ext cx="5961632" cy="5631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</a:t>
                </a:r>
                <a:r>
                  <a:rPr lang="en-US" altLang="zh-TW" sz="20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TW" sz="2000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][</a:t>
                </a:r>
                <a:r>
                  <a:rPr lang="en-US" altLang="zh-TW" sz="2000" b="1" i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TW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TW" sz="2000" b="1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a:rPr lang="en-US" altLang="zh-TW" sz="2000" b="1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𝐦𝐢𝐧</m:t>
                            </m:r>
                          </m:e>
                          <m:lim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𝒋</m:t>
                                </m:r>
                              </m:sub>
                            </m:sSub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∈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𝑨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zh-TW" sz="20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𝑾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sz="20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0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altLang="zh-TW" sz="20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e>
                            </m:d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sz="20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0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altLang="zh-TW" sz="20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𝑫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sz="20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0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altLang="zh-TW" sz="20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[</m:t>
                            </m:r>
                            <m:r>
                              <a:rPr lang="zh-TW" altLang="en-US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𝝓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]</m:t>
                            </m:r>
                          </m:e>
                        </m:d>
                        <m:r>
                          <a:rPr lang="en-US" altLang="zh-TW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𝟕</m:t>
                        </m:r>
                        <m:r>
                          <a:rPr lang="en-US" altLang="zh-TW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altLang="zh-TW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  <m:r>
                          <a:rPr lang="en-US" altLang="zh-TW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𝟖</m:t>
                        </m:r>
                      </m:e>
                    </m:func>
                  </m:oMath>
                </a14:m>
                <a:endPara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40" name="文字方塊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6899" y="4081311"/>
                <a:ext cx="5961632" cy="563103"/>
              </a:xfrm>
              <a:prstGeom prst="rect">
                <a:avLst/>
              </a:prstGeom>
              <a:blipFill>
                <a:blip r:embed="rId3"/>
                <a:stretch>
                  <a:fillRect l="-1022" t="-6522" b="-32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文字方塊 41"/>
          <p:cNvSpPr txBox="1"/>
          <p:nvPr/>
        </p:nvSpPr>
        <p:spPr>
          <a:xfrm>
            <a:off x="528615" y="4867207"/>
            <a:ext cx="10454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{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TW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}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字方塊 42"/>
              <p:cNvSpPr txBox="1"/>
              <p:nvPr/>
            </p:nvSpPr>
            <p:spPr>
              <a:xfrm>
                <a:off x="1956899" y="4867207"/>
                <a:ext cx="6089872" cy="5631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</a:t>
                </a:r>
                <a:r>
                  <a:rPr lang="en-US" altLang="zh-TW" sz="20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TW" sz="2000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][</a:t>
                </a:r>
                <a:r>
                  <a:rPr lang="en-US" altLang="zh-TW" sz="2000" b="1" i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TW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TW" sz="2000" b="1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a:rPr lang="en-US" altLang="zh-TW" sz="2000" b="1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𝐦𝐢𝐧</m:t>
                            </m:r>
                          </m:e>
                          <m:lim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𝒋</m:t>
                                </m:r>
                              </m:sub>
                            </m:sSub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∈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𝑨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zh-TW" sz="20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𝑾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sz="20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0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altLang="zh-TW" sz="20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</m:d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sz="20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0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altLang="zh-TW" sz="20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𝑫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sz="20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0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altLang="zh-TW" sz="20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[</m:t>
                            </m:r>
                            <m:r>
                              <a:rPr lang="zh-TW" altLang="en-US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𝝓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]</m:t>
                            </m:r>
                          </m:e>
                        </m:d>
                        <m:r>
                          <a:rPr lang="en-US" altLang="zh-TW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𝟔</m:t>
                        </m:r>
                        <m:r>
                          <a:rPr lang="en-US" altLang="zh-TW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altLang="zh-TW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∞</m:t>
                        </m:r>
                        <m:r>
                          <a:rPr lang="en-US" altLang="zh-TW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∞</m:t>
                        </m:r>
                      </m:e>
                    </m:func>
                  </m:oMath>
                </a14:m>
                <a:endPara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43" name="文字方塊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6899" y="4867207"/>
                <a:ext cx="6089872" cy="563103"/>
              </a:xfrm>
              <a:prstGeom prst="rect">
                <a:avLst/>
              </a:prstGeom>
              <a:blipFill>
                <a:blip r:embed="rId4"/>
                <a:stretch>
                  <a:fillRect l="-1001" t="-5376" b="-2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字方塊 43"/>
              <p:cNvSpPr txBox="1"/>
              <p:nvPr/>
            </p:nvSpPr>
            <p:spPr>
              <a:xfrm>
                <a:off x="1956899" y="4472264"/>
                <a:ext cx="5961632" cy="5631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</a:t>
                </a:r>
                <a:r>
                  <a:rPr lang="en-US" altLang="zh-TW" sz="20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TW" sz="2000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][</a:t>
                </a:r>
                <a:r>
                  <a:rPr lang="en-US" altLang="zh-TW" sz="2000" b="1" i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TW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TW" sz="2000" b="1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a:rPr lang="en-US" altLang="zh-TW" sz="2000" b="1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𝐦𝐢𝐧</m:t>
                            </m:r>
                          </m:e>
                          <m:lim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𝒋</m:t>
                                </m:r>
                              </m:sub>
                            </m:sSub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∈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𝑨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zh-TW" sz="20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𝑾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sz="20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0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altLang="zh-TW" sz="20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e>
                            </m:d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sz="20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0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altLang="zh-TW" sz="20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𝑫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sz="20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0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altLang="zh-TW" sz="20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[</m:t>
                            </m:r>
                            <m:r>
                              <a:rPr lang="zh-TW" altLang="en-US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𝝓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]</m:t>
                            </m:r>
                          </m:e>
                        </m:d>
                        <m:r>
                          <a:rPr lang="en-US" altLang="zh-TW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𝟑</m:t>
                        </m:r>
                        <m:r>
                          <a:rPr lang="en-US" altLang="zh-TW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altLang="zh-TW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  <m:r>
                          <a:rPr lang="en-US" altLang="zh-TW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𝟒</m:t>
                        </m:r>
                      </m:e>
                    </m:func>
                  </m:oMath>
                </a14:m>
                <a:endPara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44" name="文字方塊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6899" y="4472264"/>
                <a:ext cx="5961632" cy="563103"/>
              </a:xfrm>
              <a:prstGeom prst="rect">
                <a:avLst/>
              </a:prstGeom>
              <a:blipFill>
                <a:blip r:embed="rId5"/>
                <a:stretch>
                  <a:fillRect l="-1022" t="-6522" b="-32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字方塊 44"/>
              <p:cNvSpPr txBox="1"/>
              <p:nvPr/>
            </p:nvSpPr>
            <p:spPr>
              <a:xfrm>
                <a:off x="1956898" y="5256420"/>
                <a:ext cx="6153992" cy="5631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</a:t>
                </a:r>
                <a:r>
                  <a:rPr lang="en-US" altLang="zh-TW" sz="20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TW" sz="2000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][</a:t>
                </a:r>
                <a:r>
                  <a:rPr lang="en-US" altLang="zh-TW" sz="2000" b="1" i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TW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TW" sz="2000" b="1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a:rPr lang="en-US" altLang="zh-TW" sz="2000" b="1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𝐦𝐢𝐧</m:t>
                            </m:r>
                          </m:e>
                          <m:lim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𝒋</m:t>
                                </m:r>
                              </m:sub>
                            </m:sSub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∈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𝑨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zh-TW" sz="20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𝑾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sz="20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0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altLang="zh-TW" sz="20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e>
                            </m:d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sz="20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0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altLang="zh-TW" sz="20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𝑫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sz="20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0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altLang="zh-TW" sz="20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[</m:t>
                            </m:r>
                            <m:r>
                              <a:rPr lang="zh-TW" altLang="en-US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𝝓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]</m:t>
                            </m:r>
                          </m:e>
                        </m:d>
                        <m:r>
                          <a:rPr lang="en-US" altLang="zh-TW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∞</m:t>
                        </m:r>
                        <m:r>
                          <a:rPr lang="en-US" altLang="zh-TW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altLang="zh-TW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∞</m:t>
                        </m:r>
                        <m:r>
                          <a:rPr lang="en-US" altLang="zh-TW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∞</m:t>
                        </m:r>
                      </m:e>
                    </m:func>
                  </m:oMath>
                </a14:m>
                <a:endPara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45" name="文字方塊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6898" y="5256420"/>
                <a:ext cx="6153992" cy="563103"/>
              </a:xfrm>
              <a:prstGeom prst="rect">
                <a:avLst/>
              </a:prstGeom>
              <a:blipFill>
                <a:blip r:embed="rId6"/>
                <a:stretch>
                  <a:fillRect l="-990" t="-5376" b="-2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文字方塊 45"/>
          <p:cNvSpPr txBox="1"/>
          <p:nvPr/>
        </p:nvSpPr>
        <p:spPr>
          <a:xfrm>
            <a:off x="528615" y="5758109"/>
            <a:ext cx="10454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{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TW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4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}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字方塊 46"/>
              <p:cNvSpPr txBox="1"/>
              <p:nvPr/>
            </p:nvSpPr>
            <p:spPr>
              <a:xfrm>
                <a:off x="1956899" y="5758109"/>
                <a:ext cx="6115520" cy="5631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</a:t>
                </a:r>
                <a:r>
                  <a:rPr lang="en-US" altLang="zh-TW" sz="20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TW" sz="2000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][</a:t>
                </a:r>
                <a:r>
                  <a:rPr lang="en-US" altLang="zh-TW" sz="2000" b="1" i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TW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TW" sz="2000" b="1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a:rPr lang="en-US" altLang="zh-TW" sz="2000" b="1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𝐦𝐢𝐧</m:t>
                            </m:r>
                          </m:e>
                          <m:lim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𝒋</m:t>
                                </m:r>
                              </m:sub>
                            </m:sSub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∈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𝑨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zh-TW" sz="20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𝑾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sz="20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0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altLang="zh-TW" sz="20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</m:d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sz="20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0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altLang="zh-TW" sz="20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𝑫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sz="20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0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altLang="zh-TW" sz="20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[</m:t>
                            </m:r>
                            <m:r>
                              <a:rPr lang="zh-TW" altLang="en-US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𝝓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]</m:t>
                            </m:r>
                          </m:e>
                        </m:d>
                        <m:r>
                          <a:rPr lang="en-US" altLang="zh-TW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𝟒</m:t>
                        </m:r>
                        <m:r>
                          <a:rPr lang="en-US" altLang="zh-TW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altLang="zh-TW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𝟔</m:t>
                        </m:r>
                        <m:r>
                          <a:rPr lang="en-US" altLang="zh-TW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𝟏𝟎</m:t>
                        </m:r>
                      </m:e>
                    </m:func>
                  </m:oMath>
                </a14:m>
                <a:endPara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47" name="文字方塊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6899" y="5758109"/>
                <a:ext cx="6115520" cy="563103"/>
              </a:xfrm>
              <a:prstGeom prst="rect">
                <a:avLst/>
              </a:prstGeom>
              <a:blipFill>
                <a:blip r:embed="rId7"/>
                <a:stretch>
                  <a:fillRect l="-997" t="-6522" b="-32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字方塊 47"/>
              <p:cNvSpPr txBox="1"/>
              <p:nvPr/>
            </p:nvSpPr>
            <p:spPr>
              <a:xfrm>
                <a:off x="1956898" y="6164740"/>
                <a:ext cx="6115520" cy="5631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</a:t>
                </a:r>
                <a:r>
                  <a:rPr lang="en-US" altLang="zh-TW" sz="20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TW" sz="2000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][</a:t>
                </a:r>
                <a:r>
                  <a:rPr lang="en-US" altLang="zh-TW" sz="2000" b="1" i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TW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TW" sz="2000" b="1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a:rPr lang="en-US" altLang="zh-TW" sz="2000" b="1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𝐦𝐢𝐧</m:t>
                            </m:r>
                          </m:e>
                          <m:lim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𝒋</m:t>
                                </m:r>
                              </m:sub>
                            </m:sSub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∈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𝑨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zh-TW" sz="20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𝑾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sz="20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0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altLang="zh-TW" sz="20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e>
                            </m:d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sz="20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0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altLang="zh-TW" sz="20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𝑫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sz="20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0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altLang="zh-TW" sz="20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[</m:t>
                            </m:r>
                            <m:r>
                              <a:rPr lang="zh-TW" altLang="en-US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𝝓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]</m:t>
                            </m:r>
                          </m:e>
                        </m:d>
                        <m:r>
                          <a:rPr lang="en-US" altLang="zh-TW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𝟖</m:t>
                        </m:r>
                        <m:r>
                          <a:rPr lang="en-US" altLang="zh-TW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altLang="zh-TW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𝟔</m:t>
                        </m:r>
                        <m:r>
                          <a:rPr lang="en-US" altLang="zh-TW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𝟏𝟒</m:t>
                        </m:r>
                      </m:e>
                    </m:func>
                  </m:oMath>
                </a14:m>
                <a:endPara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48" name="文字方塊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6898" y="6164740"/>
                <a:ext cx="6115520" cy="563103"/>
              </a:xfrm>
              <a:prstGeom prst="rect">
                <a:avLst/>
              </a:prstGeom>
              <a:blipFill>
                <a:blip r:embed="rId8"/>
                <a:stretch>
                  <a:fillRect l="-997" t="-5376" b="-2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9" name="表格 48"/>
          <p:cNvGraphicFramePr>
            <a:graphicFrameLocks noGrp="1"/>
          </p:cNvGraphicFramePr>
          <p:nvPr/>
        </p:nvGraphicFramePr>
        <p:xfrm>
          <a:off x="3303421" y="1446493"/>
          <a:ext cx="2869635" cy="1680485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739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3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39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39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39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6097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09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09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09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09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0" name="表格 49"/>
          <p:cNvGraphicFramePr>
            <a:graphicFrameLocks noGrp="1"/>
          </p:cNvGraphicFramePr>
          <p:nvPr/>
        </p:nvGraphicFramePr>
        <p:xfrm>
          <a:off x="6277209" y="1442771"/>
          <a:ext cx="1147854" cy="1344388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739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3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6097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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09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09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09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2961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42" grpId="0"/>
      <p:bldP spid="43" grpId="0"/>
      <p:bldP spid="44" grpId="0"/>
      <p:bldP spid="45" grpId="0"/>
      <p:bldP spid="46" grpId="0"/>
      <p:bldP spid="47" grpId="0"/>
      <p:bldP spid="48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售貨員旅行問題 </a:t>
            </a:r>
            <a:r>
              <a:rPr lang="en-US" altLang="zh-TW" dirty="0"/>
              <a:t>(9/12)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83</a:t>
            </a:fld>
            <a:endParaRPr lang="en-US" dirty="0"/>
          </a:p>
        </p:txBody>
      </p:sp>
      <p:grpSp>
        <p:nvGrpSpPr>
          <p:cNvPr id="41" name="群組 40"/>
          <p:cNvGrpSpPr/>
          <p:nvPr/>
        </p:nvGrpSpPr>
        <p:grpSpPr>
          <a:xfrm>
            <a:off x="802181" y="3245522"/>
            <a:ext cx="5082738" cy="831550"/>
            <a:chOff x="3248720" y="1631171"/>
            <a:chExt cx="5082738" cy="83155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字方塊 6"/>
                <p:cNvSpPr txBox="1"/>
                <p:nvPr/>
              </p:nvSpPr>
              <p:spPr>
                <a:xfrm>
                  <a:off x="3248720" y="1631171"/>
                  <a:ext cx="5082738" cy="58522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sz="2000" b="1" i="1" dirty="0">
                      <a:solidFill>
                        <a:srgbClr val="0000FF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  <a:r>
                    <a:rPr lang="en-US" altLang="zh-TW" sz="2000" b="1" dirty="0">
                      <a:solidFill>
                        <a:srgbClr val="0000FF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[</a:t>
                  </a:r>
                  <a:r>
                    <a:rPr lang="en-US" altLang="zh-TW" sz="2000" b="1" i="1" dirty="0">
                      <a:solidFill>
                        <a:srgbClr val="0000FF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v</a:t>
                  </a:r>
                  <a:r>
                    <a:rPr lang="en-US" altLang="zh-TW" sz="2000" b="1" i="1" baseline="-25000" dirty="0">
                      <a:solidFill>
                        <a:srgbClr val="0000FF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</a:t>
                  </a:r>
                  <a:r>
                    <a:rPr lang="en-US" altLang="zh-TW" sz="2000" b="1" dirty="0">
                      <a:solidFill>
                        <a:srgbClr val="0000FF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][</a:t>
                  </a:r>
                  <a:r>
                    <a:rPr lang="en-US" altLang="zh-TW" sz="2000" b="1" i="1" dirty="0">
                      <a:solidFill>
                        <a:srgbClr val="0000FF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  <a:r>
                    <a:rPr lang="en-US" altLang="zh-TW" sz="2000" b="1" dirty="0">
                      <a:solidFill>
                        <a:srgbClr val="0000FF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] = </a:t>
                  </a:r>
                  <a14:m>
                    <m:oMath xmlns:m="http://schemas.openxmlformats.org/officeDocument/2006/math">
                      <m:func>
                        <m:funcPr>
                          <m:ctrlPr>
                            <a:rPr lang="en-US" altLang="zh-TW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2000" b="1" i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altLang="zh-TW" sz="2000" b="1" i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𝐦𝐢𝐧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altLang="zh-TW" sz="2000" b="1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1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lang="en-US" altLang="zh-TW" sz="2000" b="1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  <m:r>
                                <a:rPr lang="en-US" altLang="zh-TW" sz="20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∈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𝑨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altLang="zh-TW" sz="20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0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𝑾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000" b="1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000" b="1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𝒗</m:t>
                                      </m:r>
                                    </m:e>
                                    <m:sub>
                                      <m:r>
                                        <a:rPr lang="en-US" altLang="zh-TW" sz="2000" b="1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000" b="1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000" b="1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𝒗</m:t>
                                      </m:r>
                                    </m:e>
                                    <m:sub>
                                      <m:r>
                                        <a:rPr lang="en-US" altLang="zh-TW" sz="2000" b="1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𝒋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TW" sz="20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𝑫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000" b="1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000" b="1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𝒗</m:t>
                                      </m:r>
                                    </m:e>
                                    <m:sub>
                                      <m:r>
                                        <a:rPr lang="en-US" altLang="zh-TW" sz="2000" b="1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𝒋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TW" sz="20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[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𝑨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−{</m:t>
                              </m:r>
                              <m:sSub>
                                <m:sSubPr>
                                  <m:ctrlPr>
                                    <a:rPr lang="en-US" altLang="zh-TW" sz="2000" b="1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1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lang="en-US" altLang="zh-TW" sz="2000" b="1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altLang="zh-TW" sz="20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}]</m:t>
                              </m:r>
                            </m:e>
                          </m:d>
                        </m:e>
                      </m:func>
                    </m:oMath>
                  </a14:m>
                  <a:endParaRPr lang="en-US" altLang="zh-TW" sz="2000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endParaRPr>
                </a:p>
              </p:txBody>
            </p:sp>
          </mc:Choice>
          <mc:Fallback xmlns="">
            <p:sp>
              <p:nvSpPr>
                <p:cNvPr id="7" name="文字方塊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48720" y="1631171"/>
                  <a:ext cx="5082738" cy="585225"/>
                </a:xfrm>
                <a:prstGeom prst="rect">
                  <a:avLst/>
                </a:prstGeom>
                <a:blipFill>
                  <a:blip r:embed="rId2"/>
                  <a:stretch>
                    <a:fillRect l="-1321" t="-3125" b="-208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文字方塊 7"/>
            <p:cNvSpPr txBox="1"/>
            <p:nvPr/>
          </p:nvSpPr>
          <p:spPr>
            <a:xfrm>
              <a:off x="3255235" y="2062611"/>
              <a:ext cx="231044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TW" sz="20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altLang="zh-TW" sz="2000" b="1" i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sz="2000" b="1" i="1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TW" sz="20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][</a:t>
              </a:r>
              <a:r>
                <a:rPr lang="en-US" altLang="zh-TW" sz="20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</a:t>
              </a:r>
              <a:r>
                <a:rPr lang="en-US" altLang="zh-TW" sz="20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] = </a:t>
              </a:r>
              <a:r>
                <a:rPr lang="en-US" altLang="zh-TW" sz="2000" b="1" i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</a:t>
              </a:r>
              <a:r>
                <a:rPr lang="en-US" altLang="zh-TW" sz="20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altLang="zh-TW" sz="2000" b="1" i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sz="2000" b="1" i="1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TW" sz="20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][</a:t>
              </a:r>
              <a:r>
                <a:rPr lang="en-US" altLang="zh-TW" sz="2000" b="1" i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sz="2000" b="1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TW" sz="20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]</a:t>
              </a:r>
              <a:endPara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</p:grpSp>
      <p:sp>
        <p:nvSpPr>
          <p:cNvPr id="9" name="橢圓 8"/>
          <p:cNvSpPr/>
          <p:nvPr/>
        </p:nvSpPr>
        <p:spPr>
          <a:xfrm>
            <a:off x="802181" y="141427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/>
        </p:nvSpPr>
        <p:spPr>
          <a:xfrm>
            <a:off x="761812" y="1332360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橢圓 10"/>
          <p:cNvSpPr/>
          <p:nvPr/>
        </p:nvSpPr>
        <p:spPr>
          <a:xfrm>
            <a:off x="2523536" y="141415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/>
          <p:cNvSpPr/>
          <p:nvPr/>
        </p:nvSpPr>
        <p:spPr>
          <a:xfrm>
            <a:off x="802181" y="265406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/>
          <p:cNvSpPr/>
          <p:nvPr/>
        </p:nvSpPr>
        <p:spPr>
          <a:xfrm>
            <a:off x="2523536" y="2653949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4" name="直線單箭頭接點 13"/>
          <p:cNvCxnSpPr>
            <a:stCxn id="12" idx="0"/>
            <a:endCxn id="9" idx="4"/>
          </p:cNvCxnSpPr>
          <p:nvPr/>
        </p:nvCxnSpPr>
        <p:spPr>
          <a:xfrm flipV="1">
            <a:off x="946181" y="1702274"/>
            <a:ext cx="0" cy="95179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>
            <a:stCxn id="9" idx="5"/>
            <a:endCxn id="13" idx="1"/>
          </p:cNvCxnSpPr>
          <p:nvPr/>
        </p:nvCxnSpPr>
        <p:spPr>
          <a:xfrm>
            <a:off x="1048004" y="1660097"/>
            <a:ext cx="1517709" cy="103602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>
            <a:stCxn id="9" idx="7"/>
            <a:endCxn id="11" idx="1"/>
          </p:cNvCxnSpPr>
          <p:nvPr/>
        </p:nvCxnSpPr>
        <p:spPr>
          <a:xfrm flipV="1">
            <a:off x="1048004" y="1456332"/>
            <a:ext cx="1517709" cy="11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>
            <a:stCxn id="11" idx="2"/>
            <a:endCxn id="9" idx="6"/>
          </p:cNvCxnSpPr>
          <p:nvPr/>
        </p:nvCxnSpPr>
        <p:spPr>
          <a:xfrm flipH="1">
            <a:off x="1090181" y="1558155"/>
            <a:ext cx="1433355" cy="11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>
            <a:stCxn id="11" idx="5"/>
            <a:endCxn id="13" idx="7"/>
          </p:cNvCxnSpPr>
          <p:nvPr/>
        </p:nvCxnSpPr>
        <p:spPr>
          <a:xfrm>
            <a:off x="2769359" y="1659978"/>
            <a:ext cx="0" cy="103614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>
            <a:stCxn id="13" idx="0"/>
            <a:endCxn id="11" idx="4"/>
          </p:cNvCxnSpPr>
          <p:nvPr/>
        </p:nvCxnSpPr>
        <p:spPr>
          <a:xfrm flipV="1">
            <a:off x="2667536" y="1702155"/>
            <a:ext cx="0" cy="95179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>
            <a:stCxn id="13" idx="3"/>
            <a:endCxn id="12" idx="5"/>
          </p:cNvCxnSpPr>
          <p:nvPr/>
        </p:nvCxnSpPr>
        <p:spPr>
          <a:xfrm flipH="1">
            <a:off x="1048004" y="2899772"/>
            <a:ext cx="1517709" cy="11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>
            <a:stCxn id="12" idx="7"/>
            <a:endCxn id="11" idx="3"/>
          </p:cNvCxnSpPr>
          <p:nvPr/>
        </p:nvCxnSpPr>
        <p:spPr>
          <a:xfrm flipV="1">
            <a:off x="1048004" y="1659978"/>
            <a:ext cx="1517709" cy="103626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>
            <a:stCxn id="11" idx="4"/>
            <a:endCxn id="12" idx="6"/>
          </p:cNvCxnSpPr>
          <p:nvPr/>
        </p:nvCxnSpPr>
        <p:spPr>
          <a:xfrm flipH="1">
            <a:off x="1090181" y="1702155"/>
            <a:ext cx="1577355" cy="109591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字方塊 22"/>
          <p:cNvSpPr txBox="1"/>
          <p:nvPr/>
        </p:nvSpPr>
        <p:spPr>
          <a:xfrm>
            <a:off x="2495373" y="1328649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2494467" y="2570665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767825" y="2570665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688276" y="199338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1677906" y="151863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1677906" y="114769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1806858" y="174909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1956899" y="202834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2043590" y="240638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1677906" y="285718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2721358" y="202834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2379100" y="202834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5" name="表格 34"/>
          <p:cNvGraphicFramePr>
            <a:graphicFrameLocks noGrp="1"/>
          </p:cNvGraphicFramePr>
          <p:nvPr/>
        </p:nvGraphicFramePr>
        <p:xfrm>
          <a:off x="3303421" y="1374485"/>
          <a:ext cx="2869635" cy="1680485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739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3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39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39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39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6097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09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09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09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09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9" name="文字方塊 38"/>
          <p:cNvSpPr txBox="1"/>
          <p:nvPr/>
        </p:nvSpPr>
        <p:spPr>
          <a:xfrm>
            <a:off x="528615" y="4157594"/>
            <a:ext cx="13580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{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TW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TW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}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字方塊 39"/>
              <p:cNvSpPr txBox="1"/>
              <p:nvPr/>
            </p:nvSpPr>
            <p:spPr>
              <a:xfrm>
                <a:off x="1956899" y="3953597"/>
                <a:ext cx="6487995" cy="7788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</a:t>
                </a:r>
                <a:r>
                  <a:rPr lang="en-US" altLang="zh-TW" sz="20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TW" sz="2000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][</a:t>
                </a:r>
                <a:r>
                  <a:rPr lang="en-US" altLang="zh-TW" sz="2000" b="1" i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TW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TW" sz="2000" b="1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a:rPr lang="en-US" altLang="zh-TW" sz="2000" b="1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𝐦𝐢𝐧</m:t>
                            </m:r>
                          </m:e>
                          <m:lim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𝒋</m:t>
                                </m:r>
                              </m:sub>
                            </m:sSub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∈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𝑨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zh-TW" sz="20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𝑾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𝒗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</m:sSub>
                                    </m:e>
                                  </m:d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𝒗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m:rPr>
                                      <m:brk m:alnAt="7"/>
                                    </m:r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𝑫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𝒗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m:rPr>
                                      <m:brk m:alnAt="7"/>
                                    </m:r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[</m:t>
                                  </m:r>
                                  <m:sSub>
                                    <m:sSubPr>
                                      <m:ctrlPr>
                                        <a:rPr lang="en-US" altLang="zh-TW" sz="2000" b="1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𝒗</m:t>
                                      </m:r>
                                    </m:e>
                                    <m:sub>
                                      <m:r>
                                        <a:rPr lang="en-US" altLang="zh-TW" sz="2000" b="1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  <m:r>
                                    <m:rPr>
                                      <m:brk m:alnAt="7"/>
                                    </m:r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]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𝑾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𝒗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</m:sSub>
                                    </m:e>
                                  </m:d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𝒗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𝑫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𝒗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[</m:t>
                                  </m:r>
                                  <m:sSub>
                                    <m:sSubPr>
                                      <m:ctrlPr>
                                        <a:rPr lang="en-US" altLang="zh-TW" sz="2000" b="1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𝒗</m:t>
                                      </m:r>
                                    </m:e>
                                    <m:sub>
                                      <m:r>
                                        <a:rPr lang="en-US" altLang="zh-TW" sz="2000" b="1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]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a:rPr lang="en-US" altLang="zh-TW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zh-TW" sz="20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𝟑</m:t>
                                  </m:r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+∞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∞+</m:t>
                                  </m:r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𝟖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a:rPr lang="en-US" altLang="zh-TW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∞</m:t>
                        </m:r>
                      </m:e>
                    </m:func>
                  </m:oMath>
                </a14:m>
                <a:endPara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40" name="文字方塊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6899" y="3953597"/>
                <a:ext cx="6487995" cy="778868"/>
              </a:xfrm>
              <a:prstGeom prst="rect">
                <a:avLst/>
              </a:prstGeom>
              <a:blipFill>
                <a:blip r:embed="rId3"/>
                <a:stretch>
                  <a:fillRect l="-94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文字方塊 41"/>
          <p:cNvSpPr txBox="1"/>
          <p:nvPr/>
        </p:nvSpPr>
        <p:spPr>
          <a:xfrm>
            <a:off x="528615" y="4838982"/>
            <a:ext cx="13580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{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TW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TW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4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}</a:t>
            </a:r>
          </a:p>
        </p:txBody>
      </p:sp>
      <p:sp>
        <p:nvSpPr>
          <p:cNvPr id="46" name="文字方塊 45"/>
          <p:cNvSpPr txBox="1"/>
          <p:nvPr/>
        </p:nvSpPr>
        <p:spPr>
          <a:xfrm>
            <a:off x="528615" y="5505560"/>
            <a:ext cx="13580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{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TW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TW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4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}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字方塊 48"/>
              <p:cNvSpPr txBox="1"/>
              <p:nvPr/>
            </p:nvSpPr>
            <p:spPr>
              <a:xfrm>
                <a:off x="1956899" y="4639512"/>
                <a:ext cx="6667531" cy="7788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</a:t>
                </a:r>
                <a:r>
                  <a:rPr lang="en-US" altLang="zh-TW" sz="20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TW" sz="2000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][</a:t>
                </a:r>
                <a:r>
                  <a:rPr lang="en-US" altLang="zh-TW" sz="2000" b="1" i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TW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TW" sz="2000" b="1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a:rPr lang="en-US" altLang="zh-TW" sz="2000" b="1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𝐦𝐢𝐧</m:t>
                            </m:r>
                          </m:e>
                          <m:lim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𝒋</m:t>
                                </m:r>
                              </m:sub>
                            </m:sSub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∈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𝑨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zh-TW" sz="20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𝑾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𝒗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</m:d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𝒗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m:rPr>
                                      <m:brk m:alnAt="7"/>
                                    </m:r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𝑫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𝒗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m:rPr>
                                      <m:brk m:alnAt="7"/>
                                    </m:r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[</m:t>
                                  </m:r>
                                  <m:sSub>
                                    <m:sSubPr>
                                      <m:ctrlPr>
                                        <a:rPr lang="en-US" altLang="zh-TW" sz="2000" b="1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𝒗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n-US" altLang="zh-TW" sz="2000" b="1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𝟒</m:t>
                                      </m:r>
                                    </m:sub>
                                  </m:sSub>
                                  <m:r>
                                    <m:rPr>
                                      <m:brk m:alnAt="7"/>
                                    </m:r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]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𝑾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𝒗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</m:d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𝒗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𝑫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𝒗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[</m:t>
                                  </m:r>
                                  <m:sSub>
                                    <m:sSubPr>
                                      <m:ctrlPr>
                                        <a:rPr lang="en-US" altLang="zh-TW" sz="2000" b="1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𝒗</m:t>
                                      </m:r>
                                    </m:e>
                                    <m:sub>
                                      <m:r>
                                        <a:rPr lang="en-US" altLang="zh-TW" sz="2000" b="1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]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a:rPr lang="en-US" altLang="zh-TW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zh-TW" sz="20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𝟕</m:t>
                                  </m:r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𝟏𝟎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𝟖</m:t>
                                  </m:r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𝟒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a:rPr lang="en-US" altLang="zh-TW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𝟏𝟐</m:t>
                        </m:r>
                      </m:e>
                    </m:func>
                  </m:oMath>
                </a14:m>
                <a:endPara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49" name="文字方塊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6899" y="4639512"/>
                <a:ext cx="6667531" cy="778868"/>
              </a:xfrm>
              <a:prstGeom prst="rect">
                <a:avLst/>
              </a:prstGeom>
              <a:blipFill>
                <a:blip r:embed="rId4"/>
                <a:stretch>
                  <a:fillRect l="-9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字方塊 49"/>
              <p:cNvSpPr txBox="1"/>
              <p:nvPr/>
            </p:nvSpPr>
            <p:spPr>
              <a:xfrm>
                <a:off x="1956899" y="5326677"/>
                <a:ext cx="6667531" cy="7788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</a:t>
                </a:r>
                <a:r>
                  <a:rPr lang="en-US" altLang="zh-TW" sz="20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TW" sz="2000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][</a:t>
                </a:r>
                <a:r>
                  <a:rPr lang="en-US" altLang="zh-TW" sz="2000" b="1" i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TW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TW" sz="2000" b="1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a:rPr lang="en-US" altLang="zh-TW" sz="2000" b="1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𝐦𝐢𝐧</m:t>
                            </m:r>
                          </m:e>
                          <m:lim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𝒋</m:t>
                                </m:r>
                              </m:sub>
                            </m:sSub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∈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𝑨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zh-TW" sz="20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𝑾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𝒗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</m:e>
                                  </m:d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𝒗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m:rPr>
                                      <m:brk m:alnAt="7"/>
                                    </m:r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𝑫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𝒗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m:rPr>
                                      <m:brk m:alnAt="7"/>
                                    </m:r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[</m:t>
                                  </m:r>
                                  <m:sSub>
                                    <m:sSubPr>
                                      <m:ctrlPr>
                                        <a:rPr lang="en-US" altLang="zh-TW" sz="2000" b="1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𝒗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n-US" altLang="zh-TW" sz="2000" b="1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𝟒</m:t>
                                      </m:r>
                                    </m:sub>
                                  </m:sSub>
                                  <m:r>
                                    <m:rPr>
                                      <m:brk m:alnAt="7"/>
                                    </m:r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]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𝑾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𝒗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</m:e>
                                  </m:d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𝒗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𝑫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𝒗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[</m:t>
                                  </m:r>
                                  <m:sSub>
                                    <m:sSubPr>
                                      <m:ctrlPr>
                                        <a:rPr lang="en-US" altLang="zh-TW" sz="2000" b="1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𝒗</m:t>
                                      </m:r>
                                    </m:e>
                                    <m:sub>
                                      <m:r>
                                        <a:rPr lang="en-US" altLang="zh-TW" sz="2000" b="1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]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a:rPr lang="en-US" altLang="zh-TW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zh-TW" sz="20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𝟔</m:t>
                                  </m:r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𝟏𝟒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𝟒</m:t>
                                  </m:r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+∞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a:rPr lang="en-US" altLang="zh-TW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𝟐𝟎</m:t>
                        </m:r>
                      </m:e>
                    </m:func>
                  </m:oMath>
                </a14:m>
                <a:endPara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50" name="文字方塊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6899" y="5326677"/>
                <a:ext cx="6667531" cy="778868"/>
              </a:xfrm>
              <a:prstGeom prst="rect">
                <a:avLst/>
              </a:prstGeom>
              <a:blipFill>
                <a:blip r:embed="rId5"/>
                <a:stretch>
                  <a:fillRect l="-9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1" name="表格 50"/>
          <p:cNvGraphicFramePr>
            <a:graphicFrameLocks noGrp="1"/>
          </p:cNvGraphicFramePr>
          <p:nvPr/>
        </p:nvGraphicFramePr>
        <p:xfrm>
          <a:off x="6277209" y="1370763"/>
          <a:ext cx="2295708" cy="1344388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739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3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39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39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6097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09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09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09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2" name="表格 51"/>
          <p:cNvGraphicFramePr>
            <a:graphicFrameLocks noGrp="1"/>
          </p:cNvGraphicFramePr>
          <p:nvPr/>
        </p:nvGraphicFramePr>
        <p:xfrm>
          <a:off x="5161175" y="2650187"/>
          <a:ext cx="3411742" cy="1344388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739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71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71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36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6097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altLang="zh-TW" sz="2000" b="1" i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altLang="zh-TW" sz="2000" b="1" i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i="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altLang="zh-TW" sz="20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09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-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 / 3</a:t>
                      </a:r>
                      <a:endParaRPr lang="zh-TW" altLang="en-US" sz="20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09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 / 4</a:t>
                      </a:r>
                      <a:endParaRPr lang="zh-TW" altLang="en-US" sz="20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09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-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3" name="圓角矩形 52"/>
          <p:cNvSpPr/>
          <p:nvPr/>
        </p:nvSpPr>
        <p:spPr>
          <a:xfrm>
            <a:off x="6928384" y="4991792"/>
            <a:ext cx="789118" cy="364524"/>
          </a:xfrm>
          <a:prstGeom prst="roundRect">
            <a:avLst>
              <a:gd name="adj" fmla="val 22881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4" name="圓角矩形 53"/>
          <p:cNvSpPr/>
          <p:nvPr/>
        </p:nvSpPr>
        <p:spPr>
          <a:xfrm>
            <a:off x="6928385" y="5388741"/>
            <a:ext cx="789118" cy="364524"/>
          </a:xfrm>
          <a:prstGeom prst="roundRect">
            <a:avLst>
              <a:gd name="adj" fmla="val 22881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5" name="圓角矩形 54"/>
          <p:cNvSpPr/>
          <p:nvPr/>
        </p:nvSpPr>
        <p:spPr>
          <a:xfrm>
            <a:off x="4586779" y="5039037"/>
            <a:ext cx="334336" cy="364524"/>
          </a:xfrm>
          <a:prstGeom prst="roundRect">
            <a:avLst>
              <a:gd name="adj" fmla="val 50000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6" name="圓角矩形 55"/>
          <p:cNvSpPr/>
          <p:nvPr/>
        </p:nvSpPr>
        <p:spPr>
          <a:xfrm>
            <a:off x="4592958" y="5373922"/>
            <a:ext cx="334336" cy="364524"/>
          </a:xfrm>
          <a:prstGeom prst="roundRect">
            <a:avLst>
              <a:gd name="adj" fmla="val 50000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4812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42" grpId="0"/>
      <p:bldP spid="46" grpId="0"/>
      <p:bldP spid="49" grpId="0"/>
      <p:bldP spid="50" grpId="0"/>
      <p:bldP spid="53" grpId="0" animBg="1"/>
      <p:bldP spid="54" grpId="0" animBg="1"/>
      <p:bldP spid="55" grpId="0" animBg="1"/>
      <p:bldP spid="56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售貨員旅行問題 </a:t>
            </a:r>
            <a:r>
              <a:rPr lang="en-US" altLang="zh-TW" dirty="0"/>
              <a:t>(10/12)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84</a:t>
            </a:fld>
            <a:endParaRPr lang="en-US" dirty="0"/>
          </a:p>
        </p:txBody>
      </p:sp>
      <p:grpSp>
        <p:nvGrpSpPr>
          <p:cNvPr id="41" name="群組 40"/>
          <p:cNvGrpSpPr/>
          <p:nvPr/>
        </p:nvGrpSpPr>
        <p:grpSpPr>
          <a:xfrm>
            <a:off x="802181" y="3251688"/>
            <a:ext cx="5082738" cy="831550"/>
            <a:chOff x="3248720" y="1631171"/>
            <a:chExt cx="5082738" cy="83155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字方塊 6"/>
                <p:cNvSpPr txBox="1"/>
                <p:nvPr/>
              </p:nvSpPr>
              <p:spPr>
                <a:xfrm>
                  <a:off x="3248720" y="1631171"/>
                  <a:ext cx="5082738" cy="58522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sz="2000" b="1" i="1" dirty="0">
                      <a:solidFill>
                        <a:srgbClr val="0000FF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  <a:r>
                    <a:rPr lang="en-US" altLang="zh-TW" sz="2000" b="1" dirty="0">
                      <a:solidFill>
                        <a:srgbClr val="0000FF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[</a:t>
                  </a:r>
                  <a:r>
                    <a:rPr lang="en-US" altLang="zh-TW" sz="2000" b="1" i="1" dirty="0">
                      <a:solidFill>
                        <a:srgbClr val="0000FF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v</a:t>
                  </a:r>
                  <a:r>
                    <a:rPr lang="en-US" altLang="zh-TW" sz="2000" b="1" i="1" baseline="-25000" dirty="0">
                      <a:solidFill>
                        <a:srgbClr val="0000FF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</a:t>
                  </a:r>
                  <a:r>
                    <a:rPr lang="en-US" altLang="zh-TW" sz="2000" b="1" dirty="0">
                      <a:solidFill>
                        <a:srgbClr val="0000FF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][</a:t>
                  </a:r>
                  <a:r>
                    <a:rPr lang="en-US" altLang="zh-TW" sz="2000" b="1" i="1" dirty="0">
                      <a:solidFill>
                        <a:srgbClr val="0000FF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  <a:r>
                    <a:rPr lang="en-US" altLang="zh-TW" sz="2000" b="1" dirty="0">
                      <a:solidFill>
                        <a:srgbClr val="0000FF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] = </a:t>
                  </a:r>
                  <a14:m>
                    <m:oMath xmlns:m="http://schemas.openxmlformats.org/officeDocument/2006/math">
                      <m:func>
                        <m:funcPr>
                          <m:ctrlPr>
                            <a:rPr lang="en-US" altLang="zh-TW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2000" b="1" i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altLang="zh-TW" sz="2000" b="1" i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𝐦𝐢𝐧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altLang="zh-TW" sz="2000" b="1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1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lang="en-US" altLang="zh-TW" sz="2000" b="1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  <m:r>
                                <a:rPr lang="en-US" altLang="zh-TW" sz="20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∈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𝑨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altLang="zh-TW" sz="20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0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𝑾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000" b="1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000" b="1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𝒗</m:t>
                                      </m:r>
                                    </m:e>
                                    <m:sub>
                                      <m:r>
                                        <a:rPr lang="en-US" altLang="zh-TW" sz="2000" b="1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000" b="1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000" b="1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𝒗</m:t>
                                      </m:r>
                                    </m:e>
                                    <m:sub>
                                      <m:r>
                                        <a:rPr lang="en-US" altLang="zh-TW" sz="2000" b="1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𝒋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TW" sz="20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𝑫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000" b="1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000" b="1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𝒗</m:t>
                                      </m:r>
                                    </m:e>
                                    <m:sub>
                                      <m:r>
                                        <a:rPr lang="en-US" altLang="zh-TW" sz="2000" b="1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𝒋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TW" sz="20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[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𝑨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−{</m:t>
                              </m:r>
                              <m:sSub>
                                <m:sSubPr>
                                  <m:ctrlPr>
                                    <a:rPr lang="en-US" altLang="zh-TW" sz="2000" b="1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1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lang="en-US" altLang="zh-TW" sz="2000" b="1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altLang="zh-TW" sz="20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}]</m:t>
                              </m:r>
                            </m:e>
                          </m:d>
                        </m:e>
                      </m:func>
                    </m:oMath>
                  </a14:m>
                  <a:endParaRPr lang="en-US" altLang="zh-TW" sz="2000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endParaRPr>
                </a:p>
              </p:txBody>
            </p:sp>
          </mc:Choice>
          <mc:Fallback xmlns="">
            <p:sp>
              <p:nvSpPr>
                <p:cNvPr id="7" name="文字方塊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48720" y="1631171"/>
                  <a:ext cx="5082738" cy="585225"/>
                </a:xfrm>
                <a:prstGeom prst="rect">
                  <a:avLst/>
                </a:prstGeom>
                <a:blipFill>
                  <a:blip r:embed="rId2"/>
                  <a:stretch>
                    <a:fillRect l="-1321" t="-3125" b="-208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文字方塊 7"/>
            <p:cNvSpPr txBox="1"/>
            <p:nvPr/>
          </p:nvSpPr>
          <p:spPr>
            <a:xfrm>
              <a:off x="3255235" y="2062611"/>
              <a:ext cx="231044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TW" sz="20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altLang="zh-TW" sz="2000" b="1" i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sz="2000" b="1" i="1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TW" sz="20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][</a:t>
              </a:r>
              <a:r>
                <a:rPr lang="en-US" altLang="zh-TW" sz="20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</a:t>
              </a:r>
              <a:r>
                <a:rPr lang="en-US" altLang="zh-TW" sz="20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] = </a:t>
              </a:r>
              <a:r>
                <a:rPr lang="en-US" altLang="zh-TW" sz="2000" b="1" i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</a:t>
              </a:r>
              <a:r>
                <a:rPr lang="en-US" altLang="zh-TW" sz="20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altLang="zh-TW" sz="2000" b="1" i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sz="2000" b="1" i="1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TW" sz="20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][</a:t>
              </a:r>
              <a:r>
                <a:rPr lang="en-US" altLang="zh-TW" sz="2000" b="1" i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TW" sz="2000" b="1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TW" sz="20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]</a:t>
              </a:r>
              <a:endPara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</p:grpSp>
      <p:sp>
        <p:nvSpPr>
          <p:cNvPr id="9" name="橢圓 8"/>
          <p:cNvSpPr/>
          <p:nvPr/>
        </p:nvSpPr>
        <p:spPr>
          <a:xfrm>
            <a:off x="802181" y="1420440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/>
        </p:nvSpPr>
        <p:spPr>
          <a:xfrm>
            <a:off x="761812" y="1338526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橢圓 10"/>
          <p:cNvSpPr/>
          <p:nvPr/>
        </p:nvSpPr>
        <p:spPr>
          <a:xfrm>
            <a:off x="2523536" y="1420321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/>
          <p:cNvSpPr/>
          <p:nvPr/>
        </p:nvSpPr>
        <p:spPr>
          <a:xfrm>
            <a:off x="802181" y="266023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/>
          <p:cNvSpPr/>
          <p:nvPr/>
        </p:nvSpPr>
        <p:spPr>
          <a:xfrm>
            <a:off x="2523536" y="266011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4" name="直線單箭頭接點 13"/>
          <p:cNvCxnSpPr>
            <a:stCxn id="12" idx="0"/>
            <a:endCxn id="9" idx="4"/>
          </p:cNvCxnSpPr>
          <p:nvPr/>
        </p:nvCxnSpPr>
        <p:spPr>
          <a:xfrm flipV="1">
            <a:off x="946181" y="1708440"/>
            <a:ext cx="0" cy="95179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>
            <a:stCxn id="9" idx="5"/>
            <a:endCxn id="13" idx="1"/>
          </p:cNvCxnSpPr>
          <p:nvPr/>
        </p:nvCxnSpPr>
        <p:spPr>
          <a:xfrm>
            <a:off x="1048004" y="1666263"/>
            <a:ext cx="1517709" cy="103602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>
            <a:stCxn id="9" idx="7"/>
            <a:endCxn id="11" idx="1"/>
          </p:cNvCxnSpPr>
          <p:nvPr/>
        </p:nvCxnSpPr>
        <p:spPr>
          <a:xfrm flipV="1">
            <a:off x="1048004" y="1462498"/>
            <a:ext cx="1517709" cy="11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>
            <a:stCxn id="11" idx="2"/>
            <a:endCxn id="9" idx="6"/>
          </p:cNvCxnSpPr>
          <p:nvPr/>
        </p:nvCxnSpPr>
        <p:spPr>
          <a:xfrm flipH="1">
            <a:off x="1090181" y="1564321"/>
            <a:ext cx="1433355" cy="11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>
            <a:stCxn id="11" idx="5"/>
            <a:endCxn id="13" idx="7"/>
          </p:cNvCxnSpPr>
          <p:nvPr/>
        </p:nvCxnSpPr>
        <p:spPr>
          <a:xfrm>
            <a:off x="2769359" y="1666144"/>
            <a:ext cx="0" cy="103614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>
            <a:stCxn id="13" idx="0"/>
            <a:endCxn id="11" idx="4"/>
          </p:cNvCxnSpPr>
          <p:nvPr/>
        </p:nvCxnSpPr>
        <p:spPr>
          <a:xfrm flipV="1">
            <a:off x="2667536" y="1708321"/>
            <a:ext cx="0" cy="95179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>
            <a:stCxn id="13" idx="3"/>
            <a:endCxn id="12" idx="5"/>
          </p:cNvCxnSpPr>
          <p:nvPr/>
        </p:nvCxnSpPr>
        <p:spPr>
          <a:xfrm flipH="1">
            <a:off x="1048004" y="2905938"/>
            <a:ext cx="1517709" cy="11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>
            <a:stCxn id="12" idx="7"/>
            <a:endCxn id="11" idx="3"/>
          </p:cNvCxnSpPr>
          <p:nvPr/>
        </p:nvCxnSpPr>
        <p:spPr>
          <a:xfrm flipV="1">
            <a:off x="1048004" y="1666144"/>
            <a:ext cx="1517709" cy="103626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>
            <a:stCxn id="11" idx="4"/>
            <a:endCxn id="12" idx="6"/>
          </p:cNvCxnSpPr>
          <p:nvPr/>
        </p:nvCxnSpPr>
        <p:spPr>
          <a:xfrm flipH="1">
            <a:off x="1090181" y="1708321"/>
            <a:ext cx="1577355" cy="109591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字方塊 22"/>
          <p:cNvSpPr txBox="1"/>
          <p:nvPr/>
        </p:nvSpPr>
        <p:spPr>
          <a:xfrm>
            <a:off x="2495373" y="1334815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2494467" y="2576831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767825" y="2576831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688276" y="199955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1677906" y="152479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1677906" y="115386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1806858" y="175526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1956899" y="203450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2043590" y="241254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1677906" y="286335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2721358" y="203450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2379100" y="203450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5" name="表格 34"/>
          <p:cNvGraphicFramePr>
            <a:graphicFrameLocks noGrp="1"/>
          </p:cNvGraphicFramePr>
          <p:nvPr/>
        </p:nvGraphicFramePr>
        <p:xfrm>
          <a:off x="3303421" y="1380651"/>
          <a:ext cx="2869635" cy="1680485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739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3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39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39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39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6097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09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09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09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09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6" name="文字方塊 45"/>
          <p:cNvSpPr txBox="1"/>
          <p:nvPr/>
        </p:nvSpPr>
        <p:spPr>
          <a:xfrm>
            <a:off x="173141" y="5552295"/>
            <a:ext cx="17427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{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TW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TW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TW" sz="2000" b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4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}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字方塊 49"/>
              <p:cNvSpPr txBox="1"/>
              <p:nvPr/>
            </p:nvSpPr>
            <p:spPr>
              <a:xfrm>
                <a:off x="1843926" y="5214895"/>
                <a:ext cx="7062126" cy="10749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</a:t>
                </a:r>
                <a:r>
                  <a:rPr lang="en-US" altLang="zh-TW" sz="20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TW" sz="2000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][</a:t>
                </a:r>
                <a:r>
                  <a:rPr lang="en-US" altLang="zh-TW" sz="20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TW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TW" sz="2000" b="1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a:rPr lang="en-US" altLang="zh-TW" sz="2000" b="1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𝐦𝐢𝐧</m:t>
                            </m:r>
                          </m:e>
                          <m:lim>
                            <m:sSub>
                              <m:sSub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𝒋</m:t>
                                </m:r>
                              </m:sub>
                            </m:sSub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∈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𝑨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zh-TW" sz="20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𝑾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𝒗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</m:e>
                                  </m:d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𝒗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m:rPr>
                                      <m:brk m:alnAt="7"/>
                                    </m:r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𝑫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𝒗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m:rPr>
                                      <m:brk m:alnAt="7"/>
                                    </m:r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[</m:t>
                                  </m:r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{</m:t>
                                  </m:r>
                                  <m:sSub>
                                    <m:sSubPr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𝒗</m:t>
                                      </m:r>
                                    </m:e>
                                    <m:sub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  <m:r>
                                    <m:rPr>
                                      <m:brk m:alnAt="7"/>
                                    </m:r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𝒗</m:t>
                                      </m:r>
                                    </m:e>
                                    <m:sub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𝟒</m:t>
                                      </m:r>
                                    </m:sub>
                                  </m:sSub>
                                  <m:r>
                                    <m:rPr>
                                      <m:brk m:alnAt="7"/>
                                    </m:r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}</m:t>
                                  </m:r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]</m:t>
                                  </m:r>
                                </m:e>
                              </m:m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𝑾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𝒗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</m:e>
                                  </m:d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𝒗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m:rPr>
                                      <m:brk m:alnAt="7"/>
                                    </m:r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𝑫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𝒗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m:rPr>
                                      <m:brk m:alnAt="7"/>
                                    </m:rPr>
                                    <a:rPr lang="en-US" altLang="zh-TW" sz="2000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[</m:t>
                                  </m:r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𝒗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brk m:alnAt="7"/>
                                        </m:rPr>
                                        <a:rPr lang="en-US" altLang="zh-TW" sz="2000" b="1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𝒗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m:rPr>
                                      <m:brk m:alnAt="7"/>
                                    </m:r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]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𝑾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𝒗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</m:e>
                                  </m:d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𝒗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𝑫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𝒗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m:rPr>
                                      <m:brk m:alnAt="7"/>
                                    </m:rPr>
                                    <a:rPr lang="en-US" altLang="zh-TW" sz="2000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[</m:t>
                                  </m:r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𝒗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brk m:alnAt="7"/>
                                        </m:rPr>
                                        <a:rPr lang="en-US" altLang="zh-TW" sz="2000" b="1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𝒗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m:rPr>
                                      <m:brk m:alnAt="7"/>
                                    </m:r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]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a:rPr lang="en-US" altLang="zh-TW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zh-TW" sz="20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𝟐</m:t>
                                  </m:r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𝟐𝟎</m:t>
                                  </m:r>
                                </m:e>
                              </m:m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𝟗</m:t>
                                  </m:r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𝟏𝟐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𝟔</m:t>
                                  </m:r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+∞</m:t>
                                  </m:r>
                                </m:e>
                              </m:mr>
                            </m:m>
                          </m:e>
                        </m:d>
                      </m:e>
                    </m:func>
                  </m:oMath>
                </a14:m>
                <a:endPara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50" name="文字方塊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3926" y="5214895"/>
                <a:ext cx="7062126" cy="1074910"/>
              </a:xfrm>
              <a:prstGeom prst="rect">
                <a:avLst/>
              </a:prstGeom>
              <a:blipFill rotWithShape="0">
                <a:blip r:embed="rId3"/>
                <a:stretch>
                  <a:fillRect l="-8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1" name="表格 50"/>
          <p:cNvGraphicFramePr>
            <a:graphicFrameLocks noGrp="1"/>
          </p:cNvGraphicFramePr>
          <p:nvPr/>
        </p:nvGraphicFramePr>
        <p:xfrm>
          <a:off x="6277209" y="1376929"/>
          <a:ext cx="2295708" cy="1344388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739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3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39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39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6097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09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09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09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4" name="表格 43"/>
          <p:cNvGraphicFramePr>
            <a:graphicFrameLocks noGrp="1"/>
          </p:cNvGraphicFramePr>
          <p:nvPr/>
        </p:nvGraphicFramePr>
        <p:xfrm>
          <a:off x="5298249" y="3668788"/>
          <a:ext cx="3411742" cy="1344388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739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71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71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36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6097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altLang="zh-TW" sz="2000" b="1" i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altLang="zh-TW" sz="2000" b="1" i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i="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altLang="zh-TW" sz="20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09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-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 / 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09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 / 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09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-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7" name="圓角矩形 46"/>
          <p:cNvSpPr/>
          <p:nvPr/>
        </p:nvSpPr>
        <p:spPr>
          <a:xfrm>
            <a:off x="7424306" y="5582392"/>
            <a:ext cx="789118" cy="364524"/>
          </a:xfrm>
          <a:prstGeom prst="roundRect">
            <a:avLst>
              <a:gd name="adj" fmla="val 22881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圓角矩形 47"/>
          <p:cNvSpPr/>
          <p:nvPr/>
        </p:nvSpPr>
        <p:spPr>
          <a:xfrm>
            <a:off x="4509942" y="5582392"/>
            <a:ext cx="334336" cy="364524"/>
          </a:xfrm>
          <a:prstGeom prst="roundRect">
            <a:avLst>
              <a:gd name="adj" fmla="val 50000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3549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50" grpId="0"/>
      <p:bldP spid="47" grpId="0" animBg="1"/>
      <p:bldP spid="48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售貨員旅行問題 </a:t>
            </a:r>
            <a:r>
              <a:rPr lang="en-US" altLang="zh-TW" dirty="0"/>
              <a:t>(11/12)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85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160732" y="3308543"/>
          <a:ext cx="7293539" cy="1680485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0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7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72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32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42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17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417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645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9095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36097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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altLang="zh-TW" sz="2000" b="1" i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altLang="zh-TW" sz="2000" b="1" i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altLang="zh-TW" sz="2000" b="1" i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i="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altLang="zh-TW" sz="20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altLang="zh-TW" sz="2000" b="1" i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altLang="zh-TW" sz="2000" b="1" i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altLang="zh-TW" sz="2000" b="1" i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09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-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 / 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09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/ 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 / 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-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09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 / 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 / 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 / 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09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altLang="zh-TW" sz="20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 / 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 / 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-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橢圓 7"/>
          <p:cNvSpPr/>
          <p:nvPr/>
        </p:nvSpPr>
        <p:spPr>
          <a:xfrm>
            <a:off x="802181" y="143717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761812" y="1355261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橢圓 9"/>
          <p:cNvSpPr/>
          <p:nvPr/>
        </p:nvSpPr>
        <p:spPr>
          <a:xfrm>
            <a:off x="2523536" y="143705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802181" y="2676969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/>
          <p:cNvSpPr/>
          <p:nvPr/>
        </p:nvSpPr>
        <p:spPr>
          <a:xfrm>
            <a:off x="2523536" y="2676850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3" name="直線單箭頭接點 12"/>
          <p:cNvCxnSpPr>
            <a:stCxn id="11" idx="0"/>
            <a:endCxn id="8" idx="4"/>
          </p:cNvCxnSpPr>
          <p:nvPr/>
        </p:nvCxnSpPr>
        <p:spPr>
          <a:xfrm flipV="1">
            <a:off x="946181" y="1725175"/>
            <a:ext cx="0" cy="95179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>
            <a:stCxn id="8" idx="5"/>
            <a:endCxn id="12" idx="1"/>
          </p:cNvCxnSpPr>
          <p:nvPr/>
        </p:nvCxnSpPr>
        <p:spPr>
          <a:xfrm>
            <a:off x="1048004" y="1682998"/>
            <a:ext cx="1517709" cy="103602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>
            <a:stCxn id="8" idx="7"/>
            <a:endCxn id="10" idx="1"/>
          </p:cNvCxnSpPr>
          <p:nvPr/>
        </p:nvCxnSpPr>
        <p:spPr>
          <a:xfrm flipV="1">
            <a:off x="1048004" y="1479233"/>
            <a:ext cx="1517709" cy="11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>
            <a:stCxn id="10" idx="2"/>
            <a:endCxn id="8" idx="6"/>
          </p:cNvCxnSpPr>
          <p:nvPr/>
        </p:nvCxnSpPr>
        <p:spPr>
          <a:xfrm flipH="1">
            <a:off x="1090181" y="1581056"/>
            <a:ext cx="1433355" cy="11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>
            <a:stCxn id="10" idx="5"/>
            <a:endCxn id="12" idx="7"/>
          </p:cNvCxnSpPr>
          <p:nvPr/>
        </p:nvCxnSpPr>
        <p:spPr>
          <a:xfrm>
            <a:off x="2769359" y="1682879"/>
            <a:ext cx="0" cy="103614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>
            <a:stCxn id="12" idx="0"/>
            <a:endCxn id="10" idx="4"/>
          </p:cNvCxnSpPr>
          <p:nvPr/>
        </p:nvCxnSpPr>
        <p:spPr>
          <a:xfrm flipV="1">
            <a:off x="2667536" y="1725056"/>
            <a:ext cx="0" cy="95179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>
            <a:stCxn id="12" idx="3"/>
            <a:endCxn id="11" idx="5"/>
          </p:cNvCxnSpPr>
          <p:nvPr/>
        </p:nvCxnSpPr>
        <p:spPr>
          <a:xfrm flipH="1">
            <a:off x="1048004" y="2922673"/>
            <a:ext cx="1517709" cy="11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>
            <a:stCxn id="11" idx="7"/>
            <a:endCxn id="10" idx="3"/>
          </p:cNvCxnSpPr>
          <p:nvPr/>
        </p:nvCxnSpPr>
        <p:spPr>
          <a:xfrm flipV="1">
            <a:off x="1048004" y="1682879"/>
            <a:ext cx="1517709" cy="103626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>
            <a:stCxn id="10" idx="4"/>
            <a:endCxn id="11" idx="6"/>
          </p:cNvCxnSpPr>
          <p:nvPr/>
        </p:nvCxnSpPr>
        <p:spPr>
          <a:xfrm flipH="1">
            <a:off x="1090181" y="1725056"/>
            <a:ext cx="1577355" cy="109591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/>
          <p:cNvSpPr txBox="1"/>
          <p:nvPr/>
        </p:nvSpPr>
        <p:spPr>
          <a:xfrm>
            <a:off x="2495373" y="1351550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2494467" y="2593566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767825" y="2593566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688276" y="201628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1677906" y="154153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1677906" y="117059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1806858" y="177199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1956899" y="205124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2043590" y="242928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1677906" y="288009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2721358" y="205124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2379100" y="205124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圓角矩形 33"/>
          <p:cNvSpPr/>
          <p:nvPr/>
        </p:nvSpPr>
        <p:spPr>
          <a:xfrm>
            <a:off x="7870542" y="3632705"/>
            <a:ext cx="334336" cy="364524"/>
          </a:xfrm>
          <a:prstGeom prst="roundRect">
            <a:avLst>
              <a:gd name="adj" fmla="val 50000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圓角矩形 34"/>
          <p:cNvSpPr/>
          <p:nvPr/>
        </p:nvSpPr>
        <p:spPr>
          <a:xfrm>
            <a:off x="6021144" y="4310267"/>
            <a:ext cx="334336" cy="364524"/>
          </a:xfrm>
          <a:prstGeom prst="roundRect">
            <a:avLst>
              <a:gd name="adj" fmla="val 50000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圓角矩形 35"/>
          <p:cNvSpPr/>
          <p:nvPr/>
        </p:nvSpPr>
        <p:spPr>
          <a:xfrm>
            <a:off x="2871399" y="4648652"/>
            <a:ext cx="334336" cy="364524"/>
          </a:xfrm>
          <a:prstGeom prst="roundRect">
            <a:avLst>
              <a:gd name="adj" fmla="val 50000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圓角矩形 36"/>
          <p:cNvSpPr/>
          <p:nvPr/>
        </p:nvSpPr>
        <p:spPr>
          <a:xfrm>
            <a:off x="2176504" y="3966523"/>
            <a:ext cx="334336" cy="364524"/>
          </a:xfrm>
          <a:prstGeom prst="roundRect">
            <a:avLst>
              <a:gd name="adj" fmla="val 50000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文字方塊 37"/>
          <p:cNvSpPr txBox="1"/>
          <p:nvPr/>
        </p:nvSpPr>
        <p:spPr>
          <a:xfrm>
            <a:off x="693530" y="5213058"/>
            <a:ext cx="22012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{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4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}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3361156" y="5213058"/>
            <a:ext cx="22685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{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4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}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6096108" y="5213058"/>
            <a:ext cx="23936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4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{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}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3399628" y="5809939"/>
            <a:ext cx="21916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4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endParaRPr lang="zh-TW" altLang="en-US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338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5" grpId="0" animBg="1"/>
      <p:bldP spid="36" grpId="0" animBg="1"/>
      <p:bldP spid="37" grpId="0" animBg="1"/>
      <p:bldP spid="38" grpId="0"/>
      <p:bldP spid="39" grpId="0"/>
      <p:bldP spid="40" grpId="0"/>
      <p:bldP spid="41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售貨員旅行問題 </a:t>
            </a:r>
            <a:r>
              <a:rPr lang="en-US" altLang="zh-TW" dirty="0"/>
              <a:t>(12/12)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所有情況的時間複雜度</a:t>
            </a:r>
            <a:r>
              <a:rPr lang="en-US" altLang="zh-TW" dirty="0"/>
              <a:t>(</a:t>
            </a:r>
            <a:r>
              <a:rPr lang="zh-TW" altLang="en-US" dirty="0"/>
              <a:t>最佳化二元搜尋樹</a:t>
            </a:r>
            <a:r>
              <a:rPr lang="en-US" altLang="zh-TW" dirty="0"/>
              <a:t>)</a:t>
            </a:r>
          </a:p>
          <a:p>
            <a:r>
              <a:rPr lang="zh-TW" altLang="en-US" dirty="0">
                <a:solidFill>
                  <a:srgbClr val="0000FF"/>
                </a:solidFill>
              </a:rPr>
              <a:t>基本運算</a:t>
            </a:r>
            <a:r>
              <a:rPr lang="zh-TW" altLang="en-US" dirty="0"/>
              <a:t>：</a:t>
            </a:r>
            <a:r>
              <a:rPr lang="zh-TW" altLang="zh-TW" dirty="0"/>
              <a:t>每個</a:t>
            </a:r>
            <a:r>
              <a:rPr lang="en-US" altLang="zh-TW" i="1" dirty="0" err="1"/>
              <a:t>v</a:t>
            </a:r>
            <a:r>
              <a:rPr lang="en-US" altLang="zh-TW" i="1" baseline="-25000" dirty="0" err="1"/>
              <a:t>j</a:t>
            </a:r>
            <a:r>
              <a:rPr lang="zh-TW" altLang="en-US" dirty="0"/>
              <a:t>需要</a:t>
            </a:r>
            <a:r>
              <a:rPr lang="zh-TW" altLang="zh-TW" dirty="0"/>
              <a:t>執行</a:t>
            </a:r>
            <a:r>
              <a:rPr lang="zh-TW" altLang="en-US" dirty="0"/>
              <a:t>多少指令完成計算</a:t>
            </a:r>
            <a:endParaRPr lang="en-US" altLang="zh-TW" dirty="0"/>
          </a:p>
          <a:p>
            <a:r>
              <a:rPr lang="zh-TW" altLang="en-US" dirty="0">
                <a:solidFill>
                  <a:srgbClr val="0000FF"/>
                </a:solidFill>
              </a:rPr>
              <a:t>輸入大小</a:t>
            </a:r>
            <a:r>
              <a:rPr lang="zh-TW" altLang="en-US" dirty="0"/>
              <a:t>：</a:t>
            </a:r>
            <a:r>
              <a:rPr lang="en-US" altLang="zh-TW" i="1" dirty="0"/>
              <a:t>n</a:t>
            </a:r>
            <a:r>
              <a:rPr lang="zh-TW" altLang="en-US" dirty="0"/>
              <a:t>個頂點數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86</a:t>
            </a:fld>
            <a:endParaRPr lang="en-US" dirty="0"/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722"/>
          <a:stretch/>
        </p:blipFill>
        <p:spPr bwMode="auto">
          <a:xfrm>
            <a:off x="1119880" y="2489888"/>
            <a:ext cx="6761163" cy="27237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圓角矩形圖說文字 7"/>
              <p:cNvSpPr/>
              <p:nvPr/>
            </p:nvSpPr>
            <p:spPr>
              <a:xfrm>
                <a:off x="6592330" y="2066660"/>
                <a:ext cx="1118286" cy="630195"/>
              </a:xfrm>
              <a:prstGeom prst="wedgeRoundRectCallout">
                <a:avLst>
                  <a:gd name="adj1" fmla="val -119745"/>
                  <a:gd name="adj2" fmla="val 165095"/>
                  <a:gd name="adj3" fmla="val 16667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altLang="zh-TW" sz="2000" b="1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000" b="1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2000" b="1" i="1" dirty="0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𝒏</m:t>
                                </m:r>
                                <m:r>
                                  <a:rPr lang="en-US" altLang="zh-TW" sz="2000" b="1" i="1" dirty="0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altLang="zh-TW" sz="2000" b="1" i="1" dirty="0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000" b="1" i="1" dirty="0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𝒌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000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圓角矩形圖說文字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2330" y="2066660"/>
                <a:ext cx="1118286" cy="630195"/>
              </a:xfrm>
              <a:prstGeom prst="wedgeRoundRectCallout">
                <a:avLst>
                  <a:gd name="adj1" fmla="val -119745"/>
                  <a:gd name="adj2" fmla="val 165095"/>
                  <a:gd name="adj3" fmla="val 16667"/>
                </a:avLst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圓角矩形圖說文字 8"/>
              <p:cNvSpPr/>
              <p:nvPr/>
            </p:nvSpPr>
            <p:spPr>
              <a:xfrm>
                <a:off x="516341" y="4130267"/>
                <a:ext cx="1602259" cy="459045"/>
              </a:xfrm>
              <a:prstGeom prst="wedgeRoundRectCallout">
                <a:avLst>
                  <a:gd name="adj1" fmla="val 88481"/>
                  <a:gd name="adj2" fmla="val -108127"/>
                  <a:gd name="adj3" fmla="val 16667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altLang="zh-TW" sz="2000" b="1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𝒏</m:t>
                      </m:r>
                      <m:r>
                        <a:rPr lang="en-US" altLang="zh-TW" sz="2000" b="1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 −</m:t>
                      </m:r>
                      <m:r>
                        <a:rPr lang="en-US" altLang="zh-TW" sz="2000" b="1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𝟏</m:t>
                      </m:r>
                      <m:r>
                        <a:rPr lang="en-US" altLang="zh-TW" sz="2000" b="1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 −</m:t>
                      </m:r>
                      <m:r>
                        <a:rPr lang="en-US" altLang="zh-TW" sz="2000" b="1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𝒌</m:t>
                      </m:r>
                    </m:oMath>
                  </m:oMathPara>
                </a14:m>
                <a:endParaRPr lang="zh-TW" altLang="en-US" sz="2000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圓角矩形圖說文字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341" y="4130267"/>
                <a:ext cx="1602259" cy="459045"/>
              </a:xfrm>
              <a:prstGeom prst="wedgeRoundRectCallout">
                <a:avLst>
                  <a:gd name="adj1" fmla="val 88481"/>
                  <a:gd name="adj2" fmla="val -108127"/>
                  <a:gd name="adj3" fmla="val 16667"/>
                </a:avLst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圓角矩形圖說文字 9"/>
              <p:cNvSpPr/>
              <p:nvPr/>
            </p:nvSpPr>
            <p:spPr>
              <a:xfrm>
                <a:off x="2190788" y="4494790"/>
                <a:ext cx="531351" cy="459045"/>
              </a:xfrm>
              <a:prstGeom prst="wedgeRoundRectCallout">
                <a:avLst>
                  <a:gd name="adj1" fmla="val 127527"/>
                  <a:gd name="adj2" fmla="val -101397"/>
                  <a:gd name="adj3" fmla="val 16667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altLang="zh-TW" sz="2000" b="1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𝒌</m:t>
                      </m:r>
                    </m:oMath>
                  </m:oMathPara>
                </a14:m>
                <a:endParaRPr lang="zh-TW" altLang="en-US" sz="2000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圓角矩形圖說文字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0788" y="4494790"/>
                <a:ext cx="531351" cy="459045"/>
              </a:xfrm>
              <a:prstGeom prst="wedgeRoundRectCallout">
                <a:avLst>
                  <a:gd name="adj1" fmla="val 127527"/>
                  <a:gd name="adj2" fmla="val -101397"/>
                  <a:gd name="adj3" fmla="val 16667"/>
                </a:avLst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/>
              <p:cNvSpPr txBox="1"/>
              <p:nvPr/>
            </p:nvSpPr>
            <p:spPr>
              <a:xfrm>
                <a:off x="1224015" y="5382470"/>
                <a:ext cx="6848350" cy="872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ctrlP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  <m:e>
                          <m:d>
                            <m:dPr>
                              <m:ctrlP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</m:d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d>
                            <m:dPr>
                              <m:ctrlP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TW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  <m:r>
                                      <a:rPr lang="en-US" altLang="zh-TW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TW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TW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nary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ox>
                        <m:boxPr>
                          <m:ctrlP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)(</m:t>
                          </m:r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zh-TW" altLang="en-US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𝚯</m:t>
                          </m:r>
                          <m:d>
                            <m:dPr>
                              <m:ctrlP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  <m:sup>
                                  <m:r>
                                    <a:rPr lang="en-US" altLang="zh-TW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zh-TW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e>
                                <m:sup>
                                  <m:r>
                                    <a:rPr lang="en-US" altLang="zh-TW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𝒏</m:t>
                                  </m:r>
                                </m:sup>
                              </m:sSup>
                            </m:e>
                          </m:d>
                        </m:e>
                      </m:box>
                    </m:oMath>
                  </m:oMathPara>
                </a14:m>
                <a:endParaRPr lang="zh-TW" altLang="en-US" sz="20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4015" y="5382470"/>
                <a:ext cx="6848350" cy="872996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1723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序列對齊 </a:t>
            </a:r>
            <a:r>
              <a:rPr lang="en-US" altLang="zh-TW" dirty="0"/>
              <a:t>(1/12)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DNA</a:t>
            </a:r>
            <a:r>
              <a:rPr lang="zh-TW" altLang="en-US" dirty="0"/>
              <a:t>序列</a:t>
            </a:r>
            <a:endParaRPr lang="en-US" altLang="zh-TW" dirty="0"/>
          </a:p>
          <a:p>
            <a:pPr lvl="1"/>
            <a:r>
              <a:rPr lang="zh-TW" altLang="en-US" dirty="0"/>
              <a:t>由</a:t>
            </a:r>
            <a:r>
              <a:rPr lang="en-US" altLang="zh-TW" dirty="0"/>
              <a:t>A</a:t>
            </a:r>
            <a:r>
              <a:rPr lang="zh-TW" altLang="en-US" dirty="0"/>
              <a:t>、</a:t>
            </a:r>
            <a:r>
              <a:rPr lang="en-US" altLang="zh-TW" dirty="0"/>
              <a:t>G</a:t>
            </a:r>
            <a:r>
              <a:rPr lang="zh-TW" altLang="en-US" dirty="0"/>
              <a:t>、</a:t>
            </a:r>
            <a:r>
              <a:rPr lang="en-US" altLang="zh-TW" dirty="0"/>
              <a:t>C</a:t>
            </a:r>
            <a:r>
              <a:rPr lang="zh-TW" altLang="en-US" dirty="0"/>
              <a:t>、</a:t>
            </a:r>
            <a:r>
              <a:rPr lang="en-US" altLang="zh-TW" dirty="0"/>
              <a:t>T</a:t>
            </a:r>
            <a:r>
              <a:rPr lang="zh-TW" altLang="en-US" dirty="0"/>
              <a:t>所組成的一長串序列</a:t>
            </a:r>
            <a:endParaRPr lang="en-US" altLang="zh-TW" dirty="0"/>
          </a:p>
          <a:p>
            <a:endParaRPr lang="en-US" altLang="zh-TW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87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6004" y="3458316"/>
            <a:ext cx="5186746" cy="11422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圓角矩形 7"/>
          <p:cNvSpPr/>
          <p:nvPr/>
        </p:nvSpPr>
        <p:spPr>
          <a:xfrm>
            <a:off x="6024764" y="3512640"/>
            <a:ext cx="369847" cy="1009938"/>
          </a:xfrm>
          <a:prstGeom prst="roundRect">
            <a:avLst>
              <a:gd name="adj" fmla="val 22881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圓角矩形圖說文字 8"/>
          <p:cNvSpPr/>
          <p:nvPr/>
        </p:nvSpPr>
        <p:spPr>
          <a:xfrm>
            <a:off x="6555259" y="2536222"/>
            <a:ext cx="1544595" cy="630195"/>
          </a:xfrm>
          <a:prstGeom prst="wedgeRoundRectCallout">
            <a:avLst>
              <a:gd name="adj1" fmla="val -68364"/>
              <a:gd name="adj2" fmla="val 9744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鹼基對位置</a:t>
            </a:r>
            <a:endParaRPr lang="en-US" altLang="zh-TW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site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3688492" y="4175721"/>
            <a:ext cx="413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solidFill>
                  <a:srgbClr val="C00000"/>
                </a:solidFill>
                <a:sym typeface="Wingdings 2" panose="05020102010507070707" pitchFamily="18" charset="2"/>
              </a:rPr>
              <a:t></a:t>
            </a:r>
            <a:endParaRPr lang="zh-TW" altLang="en-US" sz="2000" b="1" dirty="0">
              <a:solidFill>
                <a:srgbClr val="C0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2570250" y="3486349"/>
            <a:ext cx="343364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sym typeface="Wingdings 2" panose="05020102010507070707" pitchFamily="18" charset="2"/>
              </a:rPr>
              <a:t>T</a:t>
            </a:r>
            <a:endParaRPr lang="zh-TW" altLang="en-US" sz="2000" b="1" dirty="0">
              <a:solidFill>
                <a:srgbClr val="C00000"/>
              </a:solidFill>
            </a:endParaRPr>
          </a:p>
        </p:txBody>
      </p:sp>
      <p:sp>
        <p:nvSpPr>
          <p:cNvPr id="12" name="圓角矩形圖說文字 11"/>
          <p:cNvSpPr/>
          <p:nvPr/>
        </p:nvSpPr>
        <p:spPr>
          <a:xfrm>
            <a:off x="4911800" y="5110547"/>
            <a:ext cx="1482811" cy="630195"/>
          </a:xfrm>
          <a:prstGeom prst="wedgeRoundRectCallout">
            <a:avLst>
              <a:gd name="adj1" fmla="val -111697"/>
              <a:gd name="adj2" fmla="val -14961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刪除突變</a:t>
            </a:r>
          </a:p>
        </p:txBody>
      </p:sp>
      <p:sp>
        <p:nvSpPr>
          <p:cNvPr id="13" name="圓角矩形圖說文字 12"/>
          <p:cNvSpPr/>
          <p:nvPr/>
        </p:nvSpPr>
        <p:spPr>
          <a:xfrm>
            <a:off x="899973" y="2367074"/>
            <a:ext cx="1482811" cy="630195"/>
          </a:xfrm>
          <a:prstGeom prst="wedgeRoundRectCallout">
            <a:avLst>
              <a:gd name="adj1" fmla="val 65803"/>
              <a:gd name="adj2" fmla="val 13176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替代突變</a:t>
            </a:r>
          </a:p>
        </p:txBody>
      </p:sp>
      <p:sp>
        <p:nvSpPr>
          <p:cNvPr id="14" name="文字方塊 13"/>
          <p:cNvSpPr txBox="1"/>
          <p:nvPr/>
        </p:nvSpPr>
        <p:spPr>
          <a:xfrm>
            <a:off x="4029487" y="3486349"/>
            <a:ext cx="354584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sym typeface="Wingdings 2" panose="05020102010507070707" pitchFamily="18" charset="2"/>
              </a:rPr>
              <a:t>C</a:t>
            </a:r>
            <a:endParaRPr lang="zh-TW" altLang="en-US" sz="2000" b="1" dirty="0">
              <a:solidFill>
                <a:srgbClr val="C00000"/>
              </a:solidFill>
            </a:endParaRPr>
          </a:p>
        </p:txBody>
      </p:sp>
      <p:sp>
        <p:nvSpPr>
          <p:cNvPr id="15" name="圓角矩形圖說文字 14"/>
          <p:cNvSpPr/>
          <p:nvPr/>
        </p:nvSpPr>
        <p:spPr>
          <a:xfrm>
            <a:off x="2498113" y="2343586"/>
            <a:ext cx="1482811" cy="630195"/>
          </a:xfrm>
          <a:prstGeom prst="wedgeRoundRectCallout">
            <a:avLst>
              <a:gd name="adj1" fmla="val 61220"/>
              <a:gd name="adj2" fmla="val 14058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插入突變</a:t>
            </a:r>
          </a:p>
        </p:txBody>
      </p:sp>
    </p:spTree>
    <p:extLst>
      <p:ext uri="{BB962C8B-B14F-4D97-AF65-F5344CB8AC3E}">
        <p14:creationId xmlns:p14="http://schemas.microsoft.com/office/powerpoint/2010/main" val="668249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序列對齊 </a:t>
            </a:r>
            <a:r>
              <a:rPr lang="en-US" altLang="zh-TW" dirty="0"/>
              <a:t>(2/12)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0000FF"/>
                </a:solidFill>
              </a:rPr>
              <a:t>同源序列</a:t>
            </a:r>
            <a:r>
              <a:rPr lang="zh-TW" altLang="en-US" dirty="0"/>
              <a:t>：兩個相對應的序列</a:t>
            </a:r>
            <a:endParaRPr lang="en-US" altLang="zh-TW" dirty="0"/>
          </a:p>
          <a:p>
            <a:r>
              <a:rPr lang="zh-TW" altLang="en-US" dirty="0"/>
              <a:t>比較不同物種的同源序列</a:t>
            </a:r>
            <a:endParaRPr lang="en-US" altLang="zh-TW" dirty="0"/>
          </a:p>
          <a:p>
            <a:pPr lvl="1"/>
            <a:r>
              <a:rPr lang="zh-TW" altLang="en-US" dirty="0">
                <a:solidFill>
                  <a:srgbClr val="C00000"/>
                </a:solidFill>
              </a:rPr>
              <a:t>演化距離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88</a:t>
            </a:fld>
            <a:endParaRPr lang="en-US" dirty="0"/>
          </a:p>
        </p:txBody>
      </p:sp>
      <p:grpSp>
        <p:nvGrpSpPr>
          <p:cNvPr id="11" name="群組 10"/>
          <p:cNvGrpSpPr/>
          <p:nvPr/>
        </p:nvGrpSpPr>
        <p:grpSpPr>
          <a:xfrm>
            <a:off x="2776428" y="2080476"/>
            <a:ext cx="3739692" cy="947767"/>
            <a:chOff x="2776428" y="2080476"/>
            <a:chExt cx="3739692" cy="947767"/>
          </a:xfrm>
        </p:grpSpPr>
        <p:sp>
          <p:nvSpPr>
            <p:cNvPr id="7" name="文字方塊 6"/>
            <p:cNvSpPr txBox="1"/>
            <p:nvPr/>
          </p:nvSpPr>
          <p:spPr>
            <a:xfrm>
              <a:off x="2776428" y="2080476"/>
              <a:ext cx="82586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序列</a:t>
              </a:r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1</a:t>
              </a:r>
              <a:endPara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8" name="文字方塊 7"/>
            <p:cNvSpPr txBox="1"/>
            <p:nvPr/>
          </p:nvSpPr>
          <p:spPr>
            <a:xfrm>
              <a:off x="2776428" y="2628133"/>
              <a:ext cx="82586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序列</a:t>
              </a:r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2</a:t>
              </a:r>
              <a:endPara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9" name="文字方塊 8"/>
            <p:cNvSpPr txBox="1"/>
            <p:nvPr/>
          </p:nvSpPr>
          <p:spPr>
            <a:xfrm>
              <a:off x="4028580" y="2080476"/>
              <a:ext cx="248754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A </a:t>
              </a:r>
              <a:r>
                <a:rPr lang="en-US" altLang="zh-TW" sz="2000" b="1" dirty="0" err="1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A</a:t>
              </a:r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 C A G T </a:t>
              </a:r>
              <a:r>
                <a:rPr lang="en-US" altLang="zh-TW" sz="2000" b="1" dirty="0" err="1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T</a:t>
              </a:r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 A C </a:t>
              </a:r>
              <a:r>
                <a:rPr lang="en-US" altLang="zh-TW" sz="2000" b="1" dirty="0" err="1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C</a:t>
              </a:r>
              <a:endPara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10" name="文字方塊 9"/>
            <p:cNvSpPr txBox="1"/>
            <p:nvPr/>
          </p:nvSpPr>
          <p:spPr>
            <a:xfrm>
              <a:off x="4028580" y="2628133"/>
              <a:ext cx="203318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T A </a:t>
              </a:r>
              <a:r>
                <a:rPr lang="en-US" altLang="zh-TW" sz="2000" b="1" dirty="0" err="1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A</a:t>
              </a:r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 G </a:t>
              </a:r>
              <a:r>
                <a:rPr lang="en-US" altLang="zh-TW" sz="2000" b="1" dirty="0" err="1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G</a:t>
              </a:r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 T C A</a:t>
              </a:r>
              <a:endPara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2222157" y="3325810"/>
          <a:ext cx="4718369" cy="7924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162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5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32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32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624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624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053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053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3053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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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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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/>
        </p:nvGraphicFramePr>
        <p:xfrm>
          <a:off x="2477540" y="4930990"/>
          <a:ext cx="4287839" cy="7924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162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5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32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32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624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624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053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053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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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文字方塊 16"/>
          <p:cNvSpPr txBox="1"/>
          <p:nvPr/>
        </p:nvSpPr>
        <p:spPr>
          <a:xfrm>
            <a:off x="581575" y="3325810"/>
            <a:ext cx="140294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不匹配：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</a:p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gap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2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18" name="表格 17"/>
          <p:cNvGraphicFramePr>
            <a:graphicFrameLocks noGrp="1"/>
          </p:cNvGraphicFramePr>
          <p:nvPr/>
        </p:nvGraphicFramePr>
        <p:xfrm>
          <a:off x="2222157" y="4261651"/>
          <a:ext cx="4718369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162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5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32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32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624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624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053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053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3053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/>
        </p:nvGraphicFramePr>
        <p:xfrm>
          <a:off x="2477539" y="5884865"/>
          <a:ext cx="4287839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162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5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32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32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624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624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053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053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" name="文字方塊 19"/>
          <p:cNvSpPr txBox="1"/>
          <p:nvPr/>
        </p:nvSpPr>
        <p:spPr>
          <a:xfrm>
            <a:off x="7011207" y="4257781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7011207" y="588099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7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8176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0" grpId="0"/>
      <p:bldP spid="21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序列對齊 </a:t>
            </a:r>
            <a:r>
              <a:rPr lang="en-US" altLang="zh-TW" dirty="0"/>
              <a:t>(3/12)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符合最佳化原則？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89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2372508" y="1903585"/>
          <a:ext cx="4287839" cy="7924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162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5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32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32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624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624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053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053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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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2372507" y="2857460"/>
          <a:ext cx="4287839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162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5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32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32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624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624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053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053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6906175" y="285359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7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2788750" y="4428236"/>
          <a:ext cx="3871596" cy="7924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3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32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32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62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624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53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053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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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2788749" y="5382111"/>
          <a:ext cx="3871596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3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32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32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62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624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53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053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文字方塊 11"/>
          <p:cNvSpPr txBox="1"/>
          <p:nvPr/>
        </p:nvSpPr>
        <p:spPr>
          <a:xfrm>
            <a:off x="6906175" y="537437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3" name="上-下雙向箭號 12"/>
          <p:cNvSpPr/>
          <p:nvPr/>
        </p:nvSpPr>
        <p:spPr>
          <a:xfrm>
            <a:off x="4355757" y="3562150"/>
            <a:ext cx="333632" cy="557635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51534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序列對齊 </a:t>
            </a:r>
            <a:r>
              <a:rPr lang="en-US" altLang="zh-TW" dirty="0"/>
              <a:t>(4/12)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i="1" dirty="0">
                <a:solidFill>
                  <a:srgbClr val="0000FF"/>
                </a:solidFill>
              </a:rPr>
              <a:t>opt</a:t>
            </a:r>
            <a:r>
              <a:rPr lang="en-US" altLang="zh-TW" dirty="0">
                <a:solidFill>
                  <a:srgbClr val="0000FF"/>
                </a:solidFill>
              </a:rPr>
              <a:t>(0, 0)</a:t>
            </a:r>
            <a:r>
              <a:rPr lang="zh-TW" altLang="en-US" dirty="0"/>
              <a:t>：從第</a:t>
            </a:r>
            <a:r>
              <a:rPr lang="en-US" altLang="zh-TW" dirty="0"/>
              <a:t>0</a:t>
            </a:r>
            <a:r>
              <a:rPr lang="zh-TW" altLang="en-US" dirty="0"/>
              <a:t>個位置對齊的最佳值 </a:t>
            </a:r>
            <a:r>
              <a:rPr lang="en-US" altLang="zh-TW" i="1" dirty="0"/>
              <a:t>x</a:t>
            </a:r>
            <a:r>
              <a:rPr lang="en-US" altLang="zh-TW" dirty="0"/>
              <a:t>[0] </a:t>
            </a:r>
            <a:r>
              <a:rPr lang="en-US" altLang="zh-TW" dirty="0">
                <a:sym typeface="Symbol" panose="05050102010706020507" pitchFamily="18" charset="2"/>
              </a:rPr>
              <a:t> </a:t>
            </a:r>
            <a:r>
              <a:rPr lang="en-US" altLang="zh-TW" i="1" dirty="0">
                <a:sym typeface="Symbol" panose="05050102010706020507" pitchFamily="18" charset="2"/>
              </a:rPr>
              <a:t>y</a:t>
            </a:r>
            <a:r>
              <a:rPr lang="en-US" altLang="zh-TW" dirty="0">
                <a:sym typeface="Symbol" panose="05050102010706020507" pitchFamily="18" charset="2"/>
              </a:rPr>
              <a:t>[0]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90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571853" y="2132464"/>
          <a:ext cx="4287839" cy="7924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162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5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32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32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624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624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053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053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1571852" y="3562294"/>
          <a:ext cx="4289564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164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7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7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7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34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34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641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641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070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070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文字方塊 10"/>
          <p:cNvSpPr txBox="1"/>
          <p:nvPr/>
        </p:nvSpPr>
        <p:spPr>
          <a:xfrm>
            <a:off x="1620017" y="435477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1620017" y="576332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6576329" y="3758479"/>
            <a:ext cx="10663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(1, 0)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6576329" y="5167025"/>
            <a:ext cx="10663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(0, 1)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6576329" y="2036694"/>
            <a:ext cx="10663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(1, 1)</a:t>
            </a:r>
            <a:endParaRPr lang="zh-TW" altLang="en-US" sz="2000" b="1" i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群組 7"/>
          <p:cNvGrpSpPr/>
          <p:nvPr/>
        </p:nvGrpSpPr>
        <p:grpSpPr>
          <a:xfrm>
            <a:off x="7635806" y="2482533"/>
            <a:ext cx="1184666" cy="678792"/>
            <a:chOff x="1259137" y="2411145"/>
            <a:chExt cx="1184666" cy="678792"/>
          </a:xfrm>
        </p:grpSpPr>
        <p:sp>
          <p:nvSpPr>
            <p:cNvPr id="16" name="文字方塊 15"/>
            <p:cNvSpPr txBox="1"/>
            <p:nvPr/>
          </p:nvSpPr>
          <p:spPr>
            <a:xfrm>
              <a:off x="1259137" y="2419322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0</a:t>
              </a:r>
              <a:endPara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1259137" y="2688778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1</a:t>
              </a:r>
              <a:endPara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18" name="文字方塊 17"/>
            <p:cNvSpPr txBox="1"/>
            <p:nvPr/>
          </p:nvSpPr>
          <p:spPr>
            <a:xfrm>
              <a:off x="1477440" y="2411145"/>
              <a:ext cx="69762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匹配</a:t>
              </a:r>
            </a:p>
          </p:txBody>
        </p:sp>
        <p:sp>
          <p:nvSpPr>
            <p:cNvPr id="19" name="文字方塊 18"/>
            <p:cNvSpPr txBox="1"/>
            <p:nvPr/>
          </p:nvSpPr>
          <p:spPr>
            <a:xfrm>
              <a:off x="1489696" y="2689827"/>
              <a:ext cx="95410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不匹配</a:t>
              </a:r>
            </a:p>
          </p:txBody>
        </p:sp>
      </p:grpSp>
      <p:sp>
        <p:nvSpPr>
          <p:cNvPr id="20" name="文字方塊 19"/>
          <p:cNvSpPr txBox="1"/>
          <p:nvPr/>
        </p:nvSpPr>
        <p:spPr>
          <a:xfrm>
            <a:off x="1516502" y="6109303"/>
            <a:ext cx="6827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(0, 0) = min(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 1) + 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penalty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(0, 1) + 2, 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 0) + 2)</a:t>
            </a:r>
            <a:endParaRPr lang="zh-TW" altLang="en-US" sz="2000" b="1" i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2" name="表格 21"/>
          <p:cNvGraphicFramePr>
            <a:graphicFrameLocks noGrp="1"/>
          </p:cNvGraphicFramePr>
          <p:nvPr/>
        </p:nvGraphicFramePr>
        <p:xfrm>
          <a:off x="1571851" y="3960469"/>
          <a:ext cx="472026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164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7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7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7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34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34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641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641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070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070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3070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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" name="表格 22"/>
          <p:cNvGraphicFramePr>
            <a:graphicFrameLocks noGrp="1"/>
          </p:cNvGraphicFramePr>
          <p:nvPr/>
        </p:nvGraphicFramePr>
        <p:xfrm>
          <a:off x="1571851" y="4970840"/>
          <a:ext cx="472026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164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7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7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7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34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34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641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641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070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070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3070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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" name="表格 23"/>
          <p:cNvGraphicFramePr>
            <a:graphicFrameLocks noGrp="1"/>
          </p:cNvGraphicFramePr>
          <p:nvPr/>
        </p:nvGraphicFramePr>
        <p:xfrm>
          <a:off x="1570128" y="5364487"/>
          <a:ext cx="4289564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164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7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7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7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34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34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641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641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070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070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矩形 9"/>
          <p:cNvSpPr/>
          <p:nvPr/>
        </p:nvSpPr>
        <p:spPr>
          <a:xfrm>
            <a:off x="7506994" y="2071530"/>
            <a:ext cx="116249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penalty</a:t>
            </a:r>
            <a:endParaRPr lang="zh-TW" altLang="en-US" sz="2000" dirty="0"/>
          </a:p>
        </p:txBody>
      </p:sp>
      <p:sp>
        <p:nvSpPr>
          <p:cNvPr id="21" name="矩形 20"/>
          <p:cNvSpPr/>
          <p:nvPr/>
        </p:nvSpPr>
        <p:spPr>
          <a:xfrm>
            <a:off x="7506994" y="3780016"/>
            <a:ext cx="52290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000" dirty="0"/>
          </a:p>
        </p:txBody>
      </p:sp>
      <p:sp>
        <p:nvSpPr>
          <p:cNvPr id="25" name="矩形 24"/>
          <p:cNvSpPr/>
          <p:nvPr/>
        </p:nvSpPr>
        <p:spPr>
          <a:xfrm>
            <a:off x="7503564" y="5193677"/>
            <a:ext cx="52290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000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1540173" y="1786834"/>
            <a:ext cx="5277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b="1" i="1" dirty="0">
                <a:latin typeface="+mj-lt"/>
              </a:rPr>
              <a:t>x</a:t>
            </a:r>
            <a:r>
              <a:rPr lang="en-US" altLang="zh-TW" sz="1600" b="1" dirty="0">
                <a:latin typeface="+mj-lt"/>
              </a:rPr>
              <a:t>[0]</a:t>
            </a:r>
            <a:endParaRPr lang="zh-TW" altLang="en-US" sz="1600" b="1" dirty="0">
              <a:latin typeface="+mj-lt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1956899" y="1791788"/>
            <a:ext cx="5277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b="1" i="1" dirty="0">
                <a:latin typeface="+mj-lt"/>
              </a:rPr>
              <a:t>x</a:t>
            </a:r>
            <a:r>
              <a:rPr lang="en-US" altLang="zh-TW" sz="1600" b="1" dirty="0">
                <a:latin typeface="+mj-lt"/>
              </a:rPr>
              <a:t>[1]</a:t>
            </a:r>
            <a:endParaRPr lang="zh-TW" altLang="en-US" sz="1600" b="1" dirty="0">
              <a:latin typeface="+mj-lt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2388947" y="1790372"/>
            <a:ext cx="5277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b="1" i="1" dirty="0">
                <a:latin typeface="+mj-lt"/>
              </a:rPr>
              <a:t>x</a:t>
            </a:r>
            <a:r>
              <a:rPr lang="en-US" altLang="zh-TW" sz="1600" b="1" dirty="0">
                <a:latin typeface="+mj-lt"/>
              </a:rPr>
              <a:t>[2]</a:t>
            </a:r>
            <a:endParaRPr lang="zh-TW" altLang="en-US" sz="1600" b="1" dirty="0">
              <a:latin typeface="+mj-lt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2820995" y="1795326"/>
            <a:ext cx="5277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b="1" i="1" dirty="0">
                <a:latin typeface="+mj-lt"/>
              </a:rPr>
              <a:t>x</a:t>
            </a:r>
            <a:r>
              <a:rPr lang="en-US" altLang="zh-TW" sz="1600" b="1" dirty="0">
                <a:latin typeface="+mj-lt"/>
              </a:rPr>
              <a:t>[3]</a:t>
            </a:r>
            <a:endParaRPr lang="zh-TW" altLang="en-US" sz="1600" b="1" dirty="0">
              <a:latin typeface="+mj-lt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3252324" y="1786044"/>
            <a:ext cx="5277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b="1" i="1" dirty="0">
                <a:latin typeface="+mj-lt"/>
              </a:rPr>
              <a:t>x</a:t>
            </a:r>
            <a:r>
              <a:rPr lang="en-US" altLang="zh-TW" sz="1600" b="1" dirty="0">
                <a:latin typeface="+mj-lt"/>
              </a:rPr>
              <a:t>[4]</a:t>
            </a:r>
            <a:endParaRPr lang="zh-TW" altLang="en-US" sz="1600" b="1" dirty="0">
              <a:latin typeface="+mj-lt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3669050" y="1790998"/>
            <a:ext cx="5277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b="1" i="1" dirty="0">
                <a:latin typeface="+mj-lt"/>
              </a:rPr>
              <a:t>x</a:t>
            </a:r>
            <a:r>
              <a:rPr lang="en-US" altLang="zh-TW" sz="1600" b="1" dirty="0">
                <a:latin typeface="+mj-lt"/>
              </a:rPr>
              <a:t>[5]</a:t>
            </a:r>
            <a:endParaRPr lang="zh-TW" altLang="en-US" sz="1600" b="1" dirty="0">
              <a:latin typeface="+mj-lt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4115779" y="1789582"/>
            <a:ext cx="5277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b="1" i="1" dirty="0">
                <a:latin typeface="+mj-lt"/>
              </a:rPr>
              <a:t>x</a:t>
            </a:r>
            <a:r>
              <a:rPr lang="en-US" altLang="zh-TW" sz="1600" b="1" dirty="0">
                <a:latin typeface="+mj-lt"/>
              </a:rPr>
              <a:t>[6]</a:t>
            </a:r>
            <a:endParaRPr lang="zh-TW" altLang="en-US" sz="1600" b="1" dirty="0">
              <a:latin typeface="+mj-lt"/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4532505" y="1794536"/>
            <a:ext cx="5277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b="1" i="1" dirty="0">
                <a:latin typeface="+mj-lt"/>
              </a:rPr>
              <a:t>x</a:t>
            </a:r>
            <a:r>
              <a:rPr lang="en-US" altLang="zh-TW" sz="1600" b="1" dirty="0">
                <a:latin typeface="+mj-lt"/>
              </a:rPr>
              <a:t>[7]</a:t>
            </a:r>
            <a:endParaRPr lang="zh-TW" altLang="en-US" sz="1600" b="1" dirty="0">
              <a:latin typeface="+mj-lt"/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4962701" y="1785500"/>
            <a:ext cx="5277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b="1" i="1" dirty="0">
                <a:latin typeface="+mj-lt"/>
              </a:rPr>
              <a:t>x</a:t>
            </a:r>
            <a:r>
              <a:rPr lang="en-US" altLang="zh-TW" sz="1600" b="1" dirty="0">
                <a:latin typeface="+mj-lt"/>
              </a:rPr>
              <a:t>[8]</a:t>
            </a:r>
            <a:endParaRPr lang="zh-TW" altLang="en-US" sz="1600" b="1" dirty="0">
              <a:latin typeface="+mj-lt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5383462" y="1790454"/>
            <a:ext cx="5277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b="1" i="1" dirty="0">
                <a:latin typeface="+mj-lt"/>
              </a:rPr>
              <a:t>x</a:t>
            </a:r>
            <a:r>
              <a:rPr lang="en-US" altLang="zh-TW" sz="1600" b="1" dirty="0">
                <a:latin typeface="+mj-lt"/>
              </a:rPr>
              <a:t>[9]</a:t>
            </a:r>
            <a:endParaRPr lang="zh-TW" altLang="en-US" sz="1600" b="1" dirty="0">
              <a:latin typeface="+mj-lt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1516502" y="2872565"/>
            <a:ext cx="5277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b="1" i="1" dirty="0">
                <a:latin typeface="+mj-lt"/>
              </a:rPr>
              <a:t>y</a:t>
            </a:r>
            <a:r>
              <a:rPr lang="en-US" altLang="zh-TW" sz="1600" b="1" dirty="0">
                <a:latin typeface="+mj-lt"/>
              </a:rPr>
              <a:t>[0]</a:t>
            </a:r>
            <a:endParaRPr lang="zh-TW" altLang="en-US" sz="1600" b="1" dirty="0">
              <a:latin typeface="+mj-lt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1957940" y="2877519"/>
            <a:ext cx="5277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b="1" i="1" dirty="0">
                <a:latin typeface="+mj-lt"/>
              </a:rPr>
              <a:t>y</a:t>
            </a:r>
            <a:r>
              <a:rPr lang="en-US" altLang="zh-TW" sz="1600" b="1" dirty="0">
                <a:latin typeface="+mj-lt"/>
              </a:rPr>
              <a:t>[1]</a:t>
            </a:r>
            <a:endParaRPr lang="zh-TW" altLang="en-US" sz="1600" b="1" dirty="0">
              <a:latin typeface="+mj-lt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2408522" y="2876103"/>
            <a:ext cx="5277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b="1" i="1" dirty="0">
                <a:latin typeface="+mj-lt"/>
              </a:rPr>
              <a:t>y</a:t>
            </a:r>
            <a:r>
              <a:rPr lang="en-US" altLang="zh-TW" sz="1600" b="1" dirty="0">
                <a:latin typeface="+mj-lt"/>
              </a:rPr>
              <a:t>[2]</a:t>
            </a:r>
            <a:endParaRPr lang="zh-TW" altLang="en-US" sz="1600" b="1" dirty="0">
              <a:latin typeface="+mj-lt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2834392" y="2881057"/>
            <a:ext cx="5277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b="1" i="1" dirty="0">
                <a:latin typeface="+mj-lt"/>
              </a:rPr>
              <a:t>y</a:t>
            </a:r>
            <a:r>
              <a:rPr lang="en-US" altLang="zh-TW" sz="1600" b="1" dirty="0">
                <a:latin typeface="+mj-lt"/>
              </a:rPr>
              <a:t>[3]</a:t>
            </a:r>
            <a:endParaRPr lang="zh-TW" altLang="en-US" sz="1600" b="1" dirty="0">
              <a:latin typeface="+mj-lt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3271577" y="2871775"/>
            <a:ext cx="5277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b="1" i="1" dirty="0">
                <a:latin typeface="+mj-lt"/>
              </a:rPr>
              <a:t>y</a:t>
            </a:r>
            <a:r>
              <a:rPr lang="en-US" altLang="zh-TW" sz="1600" b="1" dirty="0">
                <a:latin typeface="+mj-lt"/>
              </a:rPr>
              <a:t>[4]</a:t>
            </a:r>
            <a:endParaRPr lang="zh-TW" altLang="en-US" sz="1600" b="1" dirty="0">
              <a:latin typeface="+mj-lt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3700981" y="2876729"/>
            <a:ext cx="5277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b="1" i="1" dirty="0">
                <a:latin typeface="+mj-lt"/>
              </a:rPr>
              <a:t>y</a:t>
            </a:r>
            <a:r>
              <a:rPr lang="en-US" altLang="zh-TW" sz="1600" b="1" dirty="0">
                <a:latin typeface="+mj-lt"/>
              </a:rPr>
              <a:t>[5]</a:t>
            </a:r>
            <a:endParaRPr lang="zh-TW" altLang="en-US" sz="1600" b="1" dirty="0">
              <a:latin typeface="+mj-lt"/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4135354" y="2875313"/>
            <a:ext cx="5277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b="1" i="1" dirty="0">
                <a:latin typeface="+mj-lt"/>
              </a:rPr>
              <a:t>y</a:t>
            </a:r>
            <a:r>
              <a:rPr lang="en-US" altLang="zh-TW" sz="1600" b="1" dirty="0">
                <a:latin typeface="+mj-lt"/>
              </a:rPr>
              <a:t>[6]</a:t>
            </a:r>
            <a:endParaRPr lang="zh-TW" altLang="en-US" sz="1600" b="1" dirty="0">
              <a:latin typeface="+mj-lt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4545902" y="2880267"/>
            <a:ext cx="5277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b="1" i="1" dirty="0">
                <a:latin typeface="+mj-lt"/>
              </a:rPr>
              <a:t>y</a:t>
            </a:r>
            <a:r>
              <a:rPr lang="en-US" altLang="zh-TW" sz="1600" b="1" dirty="0">
                <a:latin typeface="+mj-lt"/>
              </a:rPr>
              <a:t>[7]</a:t>
            </a:r>
            <a:endParaRPr lang="zh-TW" altLang="en-US" sz="1600" b="1" dirty="0">
              <a:latin typeface="+mj-lt"/>
            </a:endParaRPr>
          </a:p>
        </p:txBody>
      </p:sp>
      <p:sp>
        <p:nvSpPr>
          <p:cNvPr id="44" name="文字方塊 43"/>
          <p:cNvSpPr txBox="1"/>
          <p:nvPr/>
        </p:nvSpPr>
        <p:spPr>
          <a:xfrm>
            <a:off x="4976098" y="2871231"/>
            <a:ext cx="5277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b="1" i="1" dirty="0">
                <a:latin typeface="+mj-lt"/>
              </a:rPr>
              <a:t>y</a:t>
            </a:r>
            <a:r>
              <a:rPr lang="en-US" altLang="zh-TW" sz="1600" b="1" dirty="0">
                <a:latin typeface="+mj-lt"/>
              </a:rPr>
              <a:t>[8]</a:t>
            </a:r>
            <a:endParaRPr lang="zh-TW" altLang="en-US" sz="1600" b="1" dirty="0">
              <a:latin typeface="+mj-lt"/>
            </a:endParaRPr>
          </a:p>
        </p:txBody>
      </p:sp>
      <p:sp>
        <p:nvSpPr>
          <p:cNvPr id="45" name="文字方塊 44"/>
          <p:cNvSpPr txBox="1"/>
          <p:nvPr/>
        </p:nvSpPr>
        <p:spPr>
          <a:xfrm>
            <a:off x="5403037" y="2876185"/>
            <a:ext cx="5277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b="1" i="1" dirty="0">
                <a:latin typeface="+mj-lt"/>
              </a:rPr>
              <a:t>y</a:t>
            </a:r>
            <a:r>
              <a:rPr lang="en-US" altLang="zh-TW" sz="1600" b="1" dirty="0">
                <a:latin typeface="+mj-lt"/>
              </a:rPr>
              <a:t>[9]</a:t>
            </a:r>
            <a:endParaRPr lang="zh-TW" altLang="en-US" sz="1600" b="1" dirty="0">
              <a:latin typeface="+mj-lt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102481" y="2298921"/>
            <a:ext cx="1418978" cy="400110"/>
          </a:xfrm>
          <a:prstGeom prst="rect">
            <a:avLst/>
          </a:prstGeom>
          <a:solidFill>
            <a:srgbClr val="FFFFCC"/>
          </a:solidFill>
        </p:spPr>
        <p:txBody>
          <a:bodyPr wrap="none">
            <a:spAutoFit/>
          </a:bodyPr>
          <a:lstStyle/>
          <a:p>
            <a:r>
              <a:rPr lang="en-US" altLang="zh-TW" sz="2000" b="1" i="1" dirty="0">
                <a:solidFill>
                  <a:srgbClr val="C00000"/>
                </a:solidFill>
                <a:latin typeface="+mj-lt"/>
              </a:rPr>
              <a:t>x</a:t>
            </a:r>
            <a:r>
              <a:rPr lang="en-US" altLang="zh-TW" sz="2000" b="1" dirty="0">
                <a:solidFill>
                  <a:srgbClr val="C00000"/>
                </a:solidFill>
                <a:latin typeface="+mj-lt"/>
              </a:rPr>
              <a:t>[1] </a:t>
            </a:r>
            <a:r>
              <a:rPr lang="en-US" altLang="zh-TW" sz="2000" b="1" dirty="0">
                <a:solidFill>
                  <a:srgbClr val="C00000"/>
                </a:solidFill>
                <a:latin typeface="+mj-lt"/>
                <a:sym typeface="Symbol" panose="05050102010706020507" pitchFamily="18" charset="2"/>
              </a:rPr>
              <a:t> </a:t>
            </a:r>
            <a:r>
              <a:rPr lang="en-US" altLang="zh-TW" sz="2000" b="1" i="1" dirty="0">
                <a:solidFill>
                  <a:srgbClr val="C00000"/>
                </a:solidFill>
                <a:latin typeface="+mj-lt"/>
                <a:sym typeface="Symbol" panose="05050102010706020507" pitchFamily="18" charset="2"/>
              </a:rPr>
              <a:t>y</a:t>
            </a:r>
            <a:r>
              <a:rPr lang="en-US" altLang="zh-TW" sz="2000" b="1" dirty="0">
                <a:solidFill>
                  <a:srgbClr val="C00000"/>
                </a:solidFill>
                <a:latin typeface="+mj-lt"/>
                <a:sym typeface="Symbol" panose="05050102010706020507" pitchFamily="18" charset="2"/>
              </a:rPr>
              <a:t>[1]</a:t>
            </a:r>
            <a:endParaRPr lang="zh-TW" altLang="en-US" sz="2000" b="1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102481" y="3732356"/>
            <a:ext cx="1418978" cy="400110"/>
          </a:xfrm>
          <a:prstGeom prst="rect">
            <a:avLst/>
          </a:prstGeom>
          <a:solidFill>
            <a:srgbClr val="FFFFCC"/>
          </a:solidFill>
        </p:spPr>
        <p:txBody>
          <a:bodyPr wrap="none">
            <a:spAutoFit/>
          </a:bodyPr>
          <a:lstStyle/>
          <a:p>
            <a:r>
              <a:rPr lang="en-US" altLang="zh-TW" sz="2000" b="1" i="1" dirty="0">
                <a:solidFill>
                  <a:srgbClr val="C00000"/>
                </a:solidFill>
                <a:latin typeface="+mj-lt"/>
              </a:rPr>
              <a:t>x</a:t>
            </a:r>
            <a:r>
              <a:rPr lang="en-US" altLang="zh-TW" sz="2000" b="1" dirty="0">
                <a:solidFill>
                  <a:srgbClr val="C00000"/>
                </a:solidFill>
                <a:latin typeface="+mj-lt"/>
              </a:rPr>
              <a:t>[1] </a:t>
            </a:r>
            <a:r>
              <a:rPr lang="en-US" altLang="zh-TW" sz="2000" b="1" dirty="0">
                <a:solidFill>
                  <a:srgbClr val="C00000"/>
                </a:solidFill>
                <a:latin typeface="+mj-lt"/>
                <a:sym typeface="Symbol" panose="05050102010706020507" pitchFamily="18" charset="2"/>
              </a:rPr>
              <a:t> </a:t>
            </a:r>
            <a:r>
              <a:rPr lang="en-US" altLang="zh-TW" sz="2000" b="1" i="1" dirty="0">
                <a:solidFill>
                  <a:srgbClr val="C00000"/>
                </a:solidFill>
                <a:latin typeface="+mj-lt"/>
                <a:sym typeface="Symbol" panose="05050102010706020507" pitchFamily="18" charset="2"/>
              </a:rPr>
              <a:t>y</a:t>
            </a:r>
            <a:r>
              <a:rPr lang="en-US" altLang="zh-TW" sz="2000" b="1" dirty="0">
                <a:solidFill>
                  <a:srgbClr val="C00000"/>
                </a:solidFill>
                <a:latin typeface="+mj-lt"/>
                <a:sym typeface="Symbol" panose="05050102010706020507" pitchFamily="18" charset="2"/>
              </a:rPr>
              <a:t>[0]</a:t>
            </a:r>
            <a:endParaRPr lang="zh-TW" altLang="en-US" sz="2000" b="1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102481" y="5162497"/>
            <a:ext cx="1418978" cy="400110"/>
          </a:xfrm>
          <a:prstGeom prst="rect">
            <a:avLst/>
          </a:prstGeom>
          <a:solidFill>
            <a:srgbClr val="FFFFCC"/>
          </a:solidFill>
        </p:spPr>
        <p:txBody>
          <a:bodyPr wrap="none">
            <a:spAutoFit/>
          </a:bodyPr>
          <a:lstStyle/>
          <a:p>
            <a:r>
              <a:rPr lang="en-US" altLang="zh-TW" sz="2000" b="1" i="1" dirty="0">
                <a:solidFill>
                  <a:srgbClr val="C00000"/>
                </a:solidFill>
                <a:latin typeface="+mj-lt"/>
              </a:rPr>
              <a:t>x</a:t>
            </a:r>
            <a:r>
              <a:rPr lang="en-US" altLang="zh-TW" sz="2000" b="1" dirty="0">
                <a:solidFill>
                  <a:srgbClr val="C00000"/>
                </a:solidFill>
                <a:latin typeface="+mj-lt"/>
              </a:rPr>
              <a:t>[0] </a:t>
            </a:r>
            <a:r>
              <a:rPr lang="en-US" altLang="zh-TW" sz="2000" b="1" dirty="0">
                <a:solidFill>
                  <a:srgbClr val="C00000"/>
                </a:solidFill>
                <a:latin typeface="+mj-lt"/>
                <a:sym typeface="Symbol" panose="05050102010706020507" pitchFamily="18" charset="2"/>
              </a:rPr>
              <a:t> </a:t>
            </a:r>
            <a:r>
              <a:rPr lang="en-US" altLang="zh-TW" sz="2000" b="1" i="1" dirty="0">
                <a:solidFill>
                  <a:srgbClr val="C00000"/>
                </a:solidFill>
                <a:latin typeface="+mj-lt"/>
                <a:sym typeface="Symbol" panose="05050102010706020507" pitchFamily="18" charset="2"/>
              </a:rPr>
              <a:t>y</a:t>
            </a:r>
            <a:r>
              <a:rPr lang="en-US" altLang="zh-TW" sz="2000" b="1" dirty="0">
                <a:solidFill>
                  <a:srgbClr val="C00000"/>
                </a:solidFill>
                <a:latin typeface="+mj-lt"/>
                <a:sym typeface="Symbol" panose="05050102010706020507" pitchFamily="18" charset="2"/>
              </a:rPr>
              <a:t>[1]</a:t>
            </a:r>
            <a:endParaRPr lang="zh-TW" altLang="en-US" sz="2000" b="1" dirty="0">
              <a:solidFill>
                <a:srgbClr val="C0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14578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20" grpId="0"/>
      <p:bldP spid="10" grpId="0"/>
      <p:bldP spid="21" grpId="0"/>
      <p:bldP spid="25" grpId="0"/>
      <p:bldP spid="47" grpId="0" animBg="1"/>
      <p:bldP spid="48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序列對齊 </a:t>
            </a:r>
            <a:r>
              <a:rPr lang="en-US" altLang="zh-TW" dirty="0"/>
              <a:t>(5/12)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91</a:t>
            </a:fld>
            <a:endParaRPr 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1402080" y="1966431"/>
            <a:ext cx="6827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(0, 0) = min(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(1, 1) +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penalty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(0, 1) + 2,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(1, 0) + 2)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860265" y="3069780"/>
            <a:ext cx="79111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min(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+ 1,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+ 1) +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penalty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+ 1) + 2,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+ 1,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+ 2)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1223328" y="4089036"/>
          <a:ext cx="170852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164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7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7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7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…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zh-TW" altLang="en-US" sz="20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1223328" y="4485276"/>
          <a:ext cx="472026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164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7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7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7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34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34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641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641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070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070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3070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…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  <a:endParaRPr lang="zh-TW" altLang="en-US" sz="20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20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文字方塊 11"/>
          <p:cNvSpPr txBox="1"/>
          <p:nvPr/>
        </p:nvSpPr>
        <p:spPr>
          <a:xfrm>
            <a:off x="6166022" y="4218710"/>
            <a:ext cx="21355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2(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1219210" y="5142926"/>
          <a:ext cx="4720267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164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7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7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7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34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34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641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641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070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070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3070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…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zh-TW" altLang="en-US" sz="20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zh-TW" altLang="en-US" sz="20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1219210" y="5539166"/>
          <a:ext cx="170852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164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7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7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7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…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20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文字方塊 14"/>
          <p:cNvSpPr txBox="1"/>
          <p:nvPr/>
        </p:nvSpPr>
        <p:spPr>
          <a:xfrm>
            <a:off x="6166021" y="5341046"/>
            <a:ext cx="21210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2(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altLang="zh-TW" sz="20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2" name="群組 21"/>
          <p:cNvGrpSpPr/>
          <p:nvPr/>
        </p:nvGrpSpPr>
        <p:grpSpPr>
          <a:xfrm>
            <a:off x="2940086" y="5578018"/>
            <a:ext cx="2988000" cy="559378"/>
            <a:chOff x="2940086" y="5578018"/>
            <a:chExt cx="2988000" cy="559378"/>
          </a:xfrm>
        </p:grpSpPr>
        <p:sp>
          <p:nvSpPr>
            <p:cNvPr id="16" name="左大括弧 15"/>
            <p:cNvSpPr/>
            <p:nvPr/>
          </p:nvSpPr>
          <p:spPr>
            <a:xfrm rot="16200000">
              <a:off x="4322807" y="4195297"/>
              <a:ext cx="222558" cy="2988000"/>
            </a:xfrm>
            <a:prstGeom prst="leftBrace">
              <a:avLst>
                <a:gd name="adj1" fmla="val 32948"/>
                <a:gd name="adj2" fmla="val 50000"/>
              </a:avLst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4078378" y="5737286"/>
              <a:ext cx="71045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– </a:t>
              </a:r>
              <a:r>
                <a:rPr lang="en-US" altLang="zh-TW" sz="2000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" name="群組 9"/>
          <p:cNvGrpSpPr/>
          <p:nvPr/>
        </p:nvGrpSpPr>
        <p:grpSpPr>
          <a:xfrm>
            <a:off x="2939603" y="3858079"/>
            <a:ext cx="2988000" cy="573132"/>
            <a:chOff x="2939603" y="3858079"/>
            <a:chExt cx="2988000" cy="573132"/>
          </a:xfrm>
        </p:grpSpPr>
        <p:sp>
          <p:nvSpPr>
            <p:cNvPr id="18" name="文字方塊 17"/>
            <p:cNvSpPr txBox="1"/>
            <p:nvPr/>
          </p:nvSpPr>
          <p:spPr>
            <a:xfrm>
              <a:off x="4078378" y="3858079"/>
              <a:ext cx="6543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– </a:t>
              </a:r>
              <a:r>
                <a:rPr lang="en-US" altLang="zh-TW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左大括弧 18"/>
            <p:cNvSpPr/>
            <p:nvPr/>
          </p:nvSpPr>
          <p:spPr>
            <a:xfrm rot="5400000">
              <a:off x="4322324" y="2825932"/>
              <a:ext cx="222558" cy="2988000"/>
            </a:xfrm>
            <a:prstGeom prst="leftBrace">
              <a:avLst>
                <a:gd name="adj1" fmla="val 32948"/>
                <a:gd name="adj2" fmla="val 50000"/>
              </a:avLst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20" name="向下箭號 19"/>
          <p:cNvSpPr/>
          <p:nvPr/>
        </p:nvSpPr>
        <p:spPr>
          <a:xfrm>
            <a:off x="4173086" y="2614680"/>
            <a:ext cx="521033" cy="32409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379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5" grpId="0"/>
      <p:bldP spid="20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序列對齊 </a:t>
            </a:r>
            <a:r>
              <a:rPr lang="en-US" altLang="zh-TW" dirty="0"/>
              <a:t>(6/12)</a:t>
            </a:r>
            <a:endParaRPr lang="zh-TW" altLang="en-US" dirty="0"/>
          </a:p>
        </p:txBody>
      </p:sp>
      <p:graphicFrame>
        <p:nvGraphicFramePr>
          <p:cNvPr id="10" name="內容版面配置區 9"/>
          <p:cNvGraphicFramePr>
            <a:graphicFrameLocks noGrp="1"/>
          </p:cNvGraphicFramePr>
          <p:nvPr>
            <p:ph idx="1"/>
          </p:nvPr>
        </p:nvGraphicFramePr>
        <p:xfrm>
          <a:off x="2926184" y="1751590"/>
          <a:ext cx="5386864" cy="46888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41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7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85420">
                <a:tc rowSpan="2" gridSpan="2">
                  <a:txBody>
                    <a:bodyPr/>
                    <a:lstStyle/>
                    <a:p>
                      <a:pPr algn="l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</a:t>
                      </a:r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</a:p>
                    <a:p>
                      <a:pPr algn="l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altLang="zh-TW" sz="2000" b="1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</a:t>
                      </a:r>
                    </a:p>
                  </a:txBody>
                  <a:tcPr marT="0" marB="0"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 rowSpan="2"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5420">
                <a:tc gridSpan="2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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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92</a:t>
            </a:fld>
            <a:endParaRPr 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183938" y="1218217"/>
            <a:ext cx="82157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min(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+ 1,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+ 1) +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penalty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+ 1) + 2,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+ 1,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+ 2)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183938" y="1620668"/>
            <a:ext cx="24833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2(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183938" y="2020778"/>
            <a:ext cx="24833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2(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8" name="群組 17"/>
          <p:cNvGrpSpPr/>
          <p:nvPr/>
        </p:nvGrpSpPr>
        <p:grpSpPr>
          <a:xfrm>
            <a:off x="3818238" y="6068995"/>
            <a:ext cx="4494810" cy="369332"/>
            <a:chOff x="3818238" y="6068995"/>
            <a:chExt cx="4494810" cy="369332"/>
          </a:xfrm>
        </p:grpSpPr>
        <p:cxnSp>
          <p:nvCxnSpPr>
            <p:cNvPr id="14" name="直線接點 13"/>
            <p:cNvCxnSpPr/>
            <p:nvPr/>
          </p:nvCxnSpPr>
          <p:spPr>
            <a:xfrm flipV="1">
              <a:off x="3818238" y="6268626"/>
              <a:ext cx="4494810" cy="1"/>
            </a:xfrm>
            <a:prstGeom prst="line">
              <a:avLst/>
            </a:prstGeom>
            <a:ln w="762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矩形 16"/>
            <p:cNvSpPr/>
            <p:nvPr/>
          </p:nvSpPr>
          <p:spPr>
            <a:xfrm>
              <a:off x="5838658" y="6068995"/>
              <a:ext cx="45397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endParaRPr lang="zh-TW" altLang="en-US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25" name="群組 24"/>
          <p:cNvGrpSpPr/>
          <p:nvPr/>
        </p:nvGrpSpPr>
        <p:grpSpPr>
          <a:xfrm>
            <a:off x="7848736" y="2360141"/>
            <a:ext cx="453970" cy="4078186"/>
            <a:chOff x="7848736" y="2360141"/>
            <a:chExt cx="453970" cy="4078186"/>
          </a:xfrm>
        </p:grpSpPr>
        <p:cxnSp>
          <p:nvCxnSpPr>
            <p:cNvPr id="20" name="直線接點 19"/>
            <p:cNvCxnSpPr/>
            <p:nvPr/>
          </p:nvCxnSpPr>
          <p:spPr>
            <a:xfrm>
              <a:off x="8062784" y="2360141"/>
              <a:ext cx="19115" cy="4078186"/>
            </a:xfrm>
            <a:prstGeom prst="line">
              <a:avLst/>
            </a:prstGeom>
            <a:ln w="762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矩形 20"/>
            <p:cNvSpPr/>
            <p:nvPr/>
          </p:nvSpPr>
          <p:spPr>
            <a:xfrm>
              <a:off x="7848736" y="4017546"/>
              <a:ext cx="45397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(3)</a:t>
              </a:r>
              <a:endParaRPr lang="zh-TW" altLang="en-US" dirty="0">
                <a:solidFill>
                  <a:srgbClr val="C00000"/>
                </a:solidFill>
              </a:endParaRPr>
            </a:p>
          </p:txBody>
        </p:sp>
      </p:grpSp>
      <p:sp>
        <p:nvSpPr>
          <p:cNvPr id="26" name="矩形 25"/>
          <p:cNvSpPr/>
          <p:nvPr/>
        </p:nvSpPr>
        <p:spPr>
          <a:xfrm>
            <a:off x="5899718" y="4111760"/>
            <a:ext cx="1499128" cy="14465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8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endParaRPr lang="zh-TW" altLang="en-US" sz="88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2332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序列對齊 </a:t>
            </a:r>
            <a:r>
              <a:rPr lang="en-US" altLang="zh-TW" dirty="0"/>
              <a:t>(7/12)</a:t>
            </a:r>
            <a:endParaRPr lang="zh-TW" altLang="en-US" dirty="0"/>
          </a:p>
        </p:txBody>
      </p:sp>
      <p:graphicFrame>
        <p:nvGraphicFramePr>
          <p:cNvPr id="10" name="內容版面配置區 9"/>
          <p:cNvGraphicFramePr>
            <a:graphicFrameLocks noGrp="1"/>
          </p:cNvGraphicFramePr>
          <p:nvPr>
            <p:ph idx="1"/>
          </p:nvPr>
        </p:nvGraphicFramePr>
        <p:xfrm>
          <a:off x="2926184" y="1751590"/>
          <a:ext cx="5386864" cy="46888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41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7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85420">
                <a:tc rowSpan="2" gridSpan="2">
                  <a:txBody>
                    <a:bodyPr/>
                    <a:lstStyle/>
                    <a:p>
                      <a:pPr algn="l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</a:t>
                      </a:r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</a:p>
                    <a:p>
                      <a:pPr algn="l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altLang="zh-TW" sz="2000" b="1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</a:t>
                      </a:r>
                    </a:p>
                  </a:txBody>
                  <a:tcPr marT="0" marB="0"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 rowSpan="2"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5420">
                <a:tc gridSpan="2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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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93</a:t>
            </a:fld>
            <a:endParaRPr 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183938" y="1218217"/>
            <a:ext cx="82157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min(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+ 1, 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+ 1) + 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penalty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+ 1) + 2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</a:t>
            </a:r>
            <a:r>
              <a:rPr lang="en-US" altLang="zh-TW" sz="2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+ 1, </a:t>
            </a:r>
            <a:r>
              <a:rPr lang="en-US" altLang="zh-TW" sz="2000" b="1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+ 2)</a:t>
            </a:r>
            <a:endParaRPr lang="zh-TW" altLang="en-US" sz="2000" b="1" i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183938" y="1620668"/>
            <a:ext cx="24833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2(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183938" y="2020778"/>
            <a:ext cx="24833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2(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8" name="群組 17"/>
          <p:cNvGrpSpPr/>
          <p:nvPr/>
        </p:nvGrpSpPr>
        <p:grpSpPr>
          <a:xfrm>
            <a:off x="3818238" y="6068995"/>
            <a:ext cx="4494810" cy="369332"/>
            <a:chOff x="3818238" y="6068995"/>
            <a:chExt cx="4494810" cy="369332"/>
          </a:xfrm>
        </p:grpSpPr>
        <p:cxnSp>
          <p:nvCxnSpPr>
            <p:cNvPr id="14" name="直線接點 13"/>
            <p:cNvCxnSpPr/>
            <p:nvPr/>
          </p:nvCxnSpPr>
          <p:spPr>
            <a:xfrm flipV="1">
              <a:off x="3818238" y="6268626"/>
              <a:ext cx="4494810" cy="1"/>
            </a:xfrm>
            <a:prstGeom prst="line">
              <a:avLst/>
            </a:prstGeom>
            <a:ln w="762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矩形 16"/>
            <p:cNvSpPr/>
            <p:nvPr/>
          </p:nvSpPr>
          <p:spPr>
            <a:xfrm>
              <a:off x="5838658" y="6068995"/>
              <a:ext cx="45397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endParaRPr lang="zh-TW" altLang="en-US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25" name="群組 24"/>
          <p:cNvGrpSpPr/>
          <p:nvPr/>
        </p:nvGrpSpPr>
        <p:grpSpPr>
          <a:xfrm>
            <a:off x="7848736" y="2360141"/>
            <a:ext cx="453970" cy="4078186"/>
            <a:chOff x="7848736" y="2360141"/>
            <a:chExt cx="453970" cy="4078186"/>
          </a:xfrm>
        </p:grpSpPr>
        <p:cxnSp>
          <p:nvCxnSpPr>
            <p:cNvPr id="20" name="直線接點 19"/>
            <p:cNvCxnSpPr/>
            <p:nvPr/>
          </p:nvCxnSpPr>
          <p:spPr>
            <a:xfrm>
              <a:off x="8062784" y="2360141"/>
              <a:ext cx="19115" cy="4078186"/>
            </a:xfrm>
            <a:prstGeom prst="line">
              <a:avLst/>
            </a:prstGeom>
            <a:ln w="762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矩形 20"/>
            <p:cNvSpPr/>
            <p:nvPr/>
          </p:nvSpPr>
          <p:spPr>
            <a:xfrm>
              <a:off x="7848736" y="4017546"/>
              <a:ext cx="45397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(3)</a:t>
              </a:r>
              <a:endParaRPr lang="zh-TW" altLang="en-US" dirty="0">
                <a:solidFill>
                  <a:srgbClr val="C00000"/>
                </a:solidFill>
              </a:endParaRPr>
            </a:p>
          </p:txBody>
        </p:sp>
      </p:grpSp>
      <p:sp>
        <p:nvSpPr>
          <p:cNvPr id="24" name="矩形 23"/>
          <p:cNvSpPr/>
          <p:nvPr/>
        </p:nvSpPr>
        <p:spPr>
          <a:xfrm>
            <a:off x="5899718" y="4111760"/>
            <a:ext cx="1499128" cy="14465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8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endParaRPr lang="zh-TW" altLang="en-US" sz="8800" dirty="0">
              <a:solidFill>
                <a:srgbClr val="C00000"/>
              </a:solidFill>
            </a:endParaRPr>
          </a:p>
        </p:txBody>
      </p:sp>
      <p:cxnSp>
        <p:nvCxnSpPr>
          <p:cNvPr id="11" name="直線單箭頭接點 10"/>
          <p:cNvCxnSpPr/>
          <p:nvPr/>
        </p:nvCxnSpPr>
        <p:spPr>
          <a:xfrm flipV="1">
            <a:off x="7818778" y="6086159"/>
            <a:ext cx="494270" cy="352168"/>
          </a:xfrm>
          <a:prstGeom prst="straightConnector1">
            <a:avLst/>
          </a:prstGeom>
          <a:ln w="76200">
            <a:solidFill>
              <a:srgbClr val="00B05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/>
          <p:nvPr/>
        </p:nvCxnSpPr>
        <p:spPr>
          <a:xfrm flipV="1">
            <a:off x="7303913" y="5708822"/>
            <a:ext cx="998793" cy="729505"/>
          </a:xfrm>
          <a:prstGeom prst="straightConnector1">
            <a:avLst/>
          </a:prstGeom>
          <a:ln w="76200">
            <a:solidFill>
              <a:srgbClr val="00B05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/>
          <p:nvPr/>
        </p:nvCxnSpPr>
        <p:spPr>
          <a:xfrm flipV="1">
            <a:off x="6803441" y="5307227"/>
            <a:ext cx="1522464" cy="1143685"/>
          </a:xfrm>
          <a:prstGeom prst="straightConnector1">
            <a:avLst/>
          </a:prstGeom>
          <a:ln w="76200">
            <a:solidFill>
              <a:srgbClr val="00B05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圓角矩形 22"/>
          <p:cNvSpPr/>
          <p:nvPr/>
        </p:nvSpPr>
        <p:spPr>
          <a:xfrm>
            <a:off x="4865125" y="3103754"/>
            <a:ext cx="411210" cy="364524"/>
          </a:xfrm>
          <a:prstGeom prst="roundRect">
            <a:avLst>
              <a:gd name="adj" fmla="val 50000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2" name="群組 11"/>
          <p:cNvGrpSpPr/>
          <p:nvPr/>
        </p:nvGrpSpPr>
        <p:grpSpPr>
          <a:xfrm>
            <a:off x="5124622" y="3054592"/>
            <a:ext cx="1598733" cy="400110"/>
            <a:chOff x="5124622" y="3054592"/>
            <a:chExt cx="1598733" cy="400110"/>
          </a:xfrm>
        </p:grpSpPr>
        <p:cxnSp>
          <p:nvCxnSpPr>
            <p:cNvPr id="28" name="直線單箭頭接點 27"/>
            <p:cNvCxnSpPr/>
            <p:nvPr/>
          </p:nvCxnSpPr>
          <p:spPr>
            <a:xfrm flipH="1">
              <a:off x="5124622" y="3286016"/>
              <a:ext cx="411210" cy="0"/>
            </a:xfrm>
            <a:prstGeom prst="straightConnector1">
              <a:avLst/>
            </a:prstGeom>
            <a:ln w="3810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字方塊 34"/>
            <p:cNvSpPr txBox="1"/>
            <p:nvPr/>
          </p:nvSpPr>
          <p:spPr>
            <a:xfrm>
              <a:off x="5535209" y="3054592"/>
              <a:ext cx="1188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penalty 2</a:t>
              </a:r>
              <a:endPara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3" name="群組 12"/>
          <p:cNvGrpSpPr/>
          <p:nvPr/>
        </p:nvGrpSpPr>
        <p:grpSpPr>
          <a:xfrm>
            <a:off x="4490765" y="3319999"/>
            <a:ext cx="1188146" cy="845019"/>
            <a:chOff x="4490765" y="3319999"/>
            <a:chExt cx="1188146" cy="845019"/>
          </a:xfrm>
        </p:grpSpPr>
        <p:cxnSp>
          <p:nvCxnSpPr>
            <p:cNvPr id="16" name="直線單箭頭接點 15"/>
            <p:cNvCxnSpPr/>
            <p:nvPr/>
          </p:nvCxnSpPr>
          <p:spPr>
            <a:xfrm flipV="1">
              <a:off x="5070730" y="3319999"/>
              <a:ext cx="0" cy="364524"/>
            </a:xfrm>
            <a:prstGeom prst="straightConnector1">
              <a:avLst/>
            </a:prstGeom>
            <a:ln w="3810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文字方塊 35"/>
            <p:cNvSpPr txBox="1"/>
            <p:nvPr/>
          </p:nvSpPr>
          <p:spPr>
            <a:xfrm>
              <a:off x="4490765" y="3764908"/>
              <a:ext cx="1188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penalty 2</a:t>
              </a:r>
              <a:endParaRPr lang="zh-TW" altLang="en-US" sz="2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" name="群組 2"/>
          <p:cNvGrpSpPr/>
          <p:nvPr/>
        </p:nvGrpSpPr>
        <p:grpSpPr>
          <a:xfrm>
            <a:off x="5095442" y="3310728"/>
            <a:ext cx="2047758" cy="524920"/>
            <a:chOff x="5095442" y="3310728"/>
            <a:chExt cx="2047758" cy="524920"/>
          </a:xfrm>
        </p:grpSpPr>
        <p:cxnSp>
          <p:nvCxnSpPr>
            <p:cNvPr id="31" name="直線單箭頭接點 30"/>
            <p:cNvCxnSpPr/>
            <p:nvPr/>
          </p:nvCxnSpPr>
          <p:spPr>
            <a:xfrm flipH="1" flipV="1">
              <a:off x="5095442" y="3310728"/>
              <a:ext cx="374500" cy="302065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文字方塊 36"/>
            <p:cNvSpPr txBox="1"/>
            <p:nvPr/>
          </p:nvSpPr>
          <p:spPr>
            <a:xfrm>
              <a:off x="5461136" y="3435538"/>
              <a:ext cx="168206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penalty 0 or 1</a:t>
              </a:r>
              <a:endPara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42614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序列對齊 </a:t>
            </a:r>
            <a:r>
              <a:rPr lang="en-US" altLang="zh-TW" dirty="0"/>
              <a:t>(8/12)</a:t>
            </a:r>
            <a:endParaRPr lang="zh-TW" altLang="en-US" dirty="0"/>
          </a:p>
        </p:txBody>
      </p:sp>
      <p:graphicFrame>
        <p:nvGraphicFramePr>
          <p:cNvPr id="10" name="內容版面配置區 9"/>
          <p:cNvGraphicFramePr>
            <a:graphicFrameLocks noGrp="1"/>
          </p:cNvGraphicFramePr>
          <p:nvPr>
            <p:ph idx="1"/>
          </p:nvPr>
        </p:nvGraphicFramePr>
        <p:xfrm>
          <a:off x="2926184" y="1751590"/>
          <a:ext cx="5386864" cy="46888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41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7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85420">
                <a:tc rowSpan="2" gridSpan="2">
                  <a:txBody>
                    <a:bodyPr/>
                    <a:lstStyle/>
                    <a:p>
                      <a:pPr algn="l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</a:t>
                      </a:r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</a:p>
                    <a:p>
                      <a:pPr algn="l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altLang="zh-TW" sz="2000" b="1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</a:t>
                      </a:r>
                    </a:p>
                  </a:txBody>
                  <a:tcPr marT="0" marB="0"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 rowSpan="2"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5420">
                <a:tc gridSpan="2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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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94</a:t>
            </a:fld>
            <a:endParaRPr 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183938" y="1218217"/>
            <a:ext cx="82157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min(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+ 1,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+ 1) +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penalty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+ 1) + 2,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+ 1,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+ 2)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183938" y="1620668"/>
            <a:ext cx="24833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2(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183938" y="2020778"/>
            <a:ext cx="24833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2(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183940" y="3254414"/>
            <a:ext cx="21788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(10, 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= 2(8 – 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183939" y="3654524"/>
            <a:ext cx="2164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8) = 2(10 – 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直線接點 13"/>
          <p:cNvCxnSpPr/>
          <p:nvPr/>
        </p:nvCxnSpPr>
        <p:spPr>
          <a:xfrm flipV="1">
            <a:off x="3818238" y="6268626"/>
            <a:ext cx="4494810" cy="1"/>
          </a:xfrm>
          <a:prstGeom prst="line">
            <a:avLst/>
          </a:prstGeom>
          <a:ln w="762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7422610" y="6068571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6915579" y="6068571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6408228" y="6068571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5924131" y="6068571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5343297" y="606857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4846836" y="606857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4326345" y="606857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3851719" y="606857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5899718" y="4111760"/>
            <a:ext cx="1499128" cy="14465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8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endParaRPr lang="zh-TW" altLang="en-US" sz="8800" dirty="0">
              <a:solidFill>
                <a:srgbClr val="C00000"/>
              </a:solidFill>
            </a:endParaRPr>
          </a:p>
        </p:txBody>
      </p:sp>
      <p:grpSp>
        <p:nvGrpSpPr>
          <p:cNvPr id="43" name="群組 42"/>
          <p:cNvGrpSpPr/>
          <p:nvPr/>
        </p:nvGrpSpPr>
        <p:grpSpPr>
          <a:xfrm>
            <a:off x="7848736" y="2360141"/>
            <a:ext cx="453970" cy="4078186"/>
            <a:chOff x="7848736" y="2360141"/>
            <a:chExt cx="453970" cy="4078186"/>
          </a:xfrm>
        </p:grpSpPr>
        <p:cxnSp>
          <p:nvCxnSpPr>
            <p:cNvPr id="44" name="直線接點 43"/>
            <p:cNvCxnSpPr/>
            <p:nvPr/>
          </p:nvCxnSpPr>
          <p:spPr>
            <a:xfrm>
              <a:off x="8062784" y="2360141"/>
              <a:ext cx="19115" cy="4078186"/>
            </a:xfrm>
            <a:prstGeom prst="line">
              <a:avLst/>
            </a:prstGeom>
            <a:ln w="762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矩形 44"/>
            <p:cNvSpPr/>
            <p:nvPr/>
          </p:nvSpPr>
          <p:spPr>
            <a:xfrm>
              <a:off x="7848736" y="4017546"/>
              <a:ext cx="45397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(3)</a:t>
              </a:r>
              <a:endParaRPr lang="zh-TW" altLang="en-US" dirty="0">
                <a:solidFill>
                  <a:srgbClr val="C00000"/>
                </a:solidFill>
              </a:endParaRPr>
            </a:p>
          </p:txBody>
        </p:sp>
      </p:grpSp>
      <p:sp>
        <p:nvSpPr>
          <p:cNvPr id="19" name="矩形 18"/>
          <p:cNvSpPr/>
          <p:nvPr/>
        </p:nvSpPr>
        <p:spPr>
          <a:xfrm>
            <a:off x="7925446" y="6068571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983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6" grpId="0"/>
      <p:bldP spid="27" grpId="0"/>
      <p:bldP spid="28" grpId="0"/>
      <p:bldP spid="29" grpId="0"/>
      <p:bldP spid="30" grpId="0"/>
      <p:bldP spid="31" grpId="0"/>
      <p:bldP spid="19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序列對齊 </a:t>
            </a:r>
            <a:r>
              <a:rPr lang="en-US" altLang="zh-TW" dirty="0"/>
              <a:t>(9/12)</a:t>
            </a:r>
            <a:endParaRPr lang="zh-TW" altLang="en-US" dirty="0"/>
          </a:p>
        </p:txBody>
      </p:sp>
      <p:graphicFrame>
        <p:nvGraphicFramePr>
          <p:cNvPr id="10" name="內容版面配置區 9"/>
          <p:cNvGraphicFramePr>
            <a:graphicFrameLocks noGrp="1"/>
          </p:cNvGraphicFramePr>
          <p:nvPr>
            <p:ph idx="1"/>
          </p:nvPr>
        </p:nvGraphicFramePr>
        <p:xfrm>
          <a:off x="2926184" y="1751590"/>
          <a:ext cx="5386864" cy="46888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41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7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85420">
                <a:tc rowSpan="2" gridSpan="2">
                  <a:txBody>
                    <a:bodyPr/>
                    <a:lstStyle/>
                    <a:p>
                      <a:pPr algn="l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</a:t>
                      </a:r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</a:p>
                    <a:p>
                      <a:pPr algn="l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altLang="zh-TW" sz="2000" b="1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</a:t>
                      </a:r>
                    </a:p>
                  </a:txBody>
                  <a:tcPr marT="0" marB="0"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 rowSpan="2"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5420">
                <a:tc gridSpan="2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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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95</a:t>
            </a:fld>
            <a:endParaRPr 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183938" y="1218217"/>
            <a:ext cx="82157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min(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+ 1,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+ 1) +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penalty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+ 1) + 2,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+ 1,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+ 2)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183938" y="1620668"/>
            <a:ext cx="24833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2(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183938" y="2020778"/>
            <a:ext cx="24833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2(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183940" y="3254414"/>
            <a:ext cx="21788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(10,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2(8 –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183939" y="3654524"/>
            <a:ext cx="2164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8) = 2(10 – </a:t>
            </a:r>
            <a:r>
              <a:rPr lang="en-US" altLang="zh-TW" sz="20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直線接點 13"/>
          <p:cNvCxnSpPr/>
          <p:nvPr/>
        </p:nvCxnSpPr>
        <p:spPr>
          <a:xfrm flipV="1">
            <a:off x="3818238" y="6268626"/>
            <a:ext cx="4494810" cy="1"/>
          </a:xfrm>
          <a:prstGeom prst="line">
            <a:avLst/>
          </a:prstGeom>
          <a:ln w="762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>
            <a:off x="8062784" y="2360141"/>
            <a:ext cx="19115" cy="4078186"/>
          </a:xfrm>
          <a:prstGeom prst="line">
            <a:avLst/>
          </a:prstGeom>
          <a:ln w="762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7925446" y="6068571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2000" dirty="0"/>
          </a:p>
        </p:txBody>
      </p:sp>
      <p:sp>
        <p:nvSpPr>
          <p:cNvPr id="22" name="矩形 21"/>
          <p:cNvSpPr/>
          <p:nvPr/>
        </p:nvSpPr>
        <p:spPr>
          <a:xfrm>
            <a:off x="7422610" y="6068571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000" dirty="0"/>
          </a:p>
        </p:txBody>
      </p:sp>
      <p:sp>
        <p:nvSpPr>
          <p:cNvPr id="23" name="矩形 22"/>
          <p:cNvSpPr/>
          <p:nvPr/>
        </p:nvSpPr>
        <p:spPr>
          <a:xfrm>
            <a:off x="6915579" y="6068571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sz="2000" dirty="0"/>
          </a:p>
        </p:txBody>
      </p:sp>
      <p:sp>
        <p:nvSpPr>
          <p:cNvPr id="26" name="矩形 25"/>
          <p:cNvSpPr/>
          <p:nvPr/>
        </p:nvSpPr>
        <p:spPr>
          <a:xfrm>
            <a:off x="6408228" y="6068571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sz="2000" dirty="0"/>
          </a:p>
        </p:txBody>
      </p:sp>
      <p:sp>
        <p:nvSpPr>
          <p:cNvPr id="27" name="矩形 26"/>
          <p:cNvSpPr/>
          <p:nvPr/>
        </p:nvSpPr>
        <p:spPr>
          <a:xfrm>
            <a:off x="5924131" y="6068571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sz="2000" dirty="0"/>
          </a:p>
        </p:txBody>
      </p:sp>
      <p:sp>
        <p:nvSpPr>
          <p:cNvPr id="28" name="矩形 27"/>
          <p:cNvSpPr/>
          <p:nvPr/>
        </p:nvSpPr>
        <p:spPr>
          <a:xfrm>
            <a:off x="5343297" y="606857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TW" altLang="en-US" sz="2000" dirty="0"/>
          </a:p>
        </p:txBody>
      </p:sp>
      <p:sp>
        <p:nvSpPr>
          <p:cNvPr id="29" name="矩形 28"/>
          <p:cNvSpPr/>
          <p:nvPr/>
        </p:nvSpPr>
        <p:spPr>
          <a:xfrm>
            <a:off x="4846836" y="606857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zh-TW" altLang="en-US" sz="2000" dirty="0"/>
          </a:p>
        </p:txBody>
      </p:sp>
      <p:sp>
        <p:nvSpPr>
          <p:cNvPr id="30" name="矩形 29"/>
          <p:cNvSpPr/>
          <p:nvPr/>
        </p:nvSpPr>
        <p:spPr>
          <a:xfrm>
            <a:off x="4326345" y="606857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zh-TW" altLang="en-US" sz="2000" dirty="0"/>
          </a:p>
        </p:txBody>
      </p:sp>
      <p:sp>
        <p:nvSpPr>
          <p:cNvPr id="31" name="矩形 30"/>
          <p:cNvSpPr/>
          <p:nvPr/>
        </p:nvSpPr>
        <p:spPr>
          <a:xfrm>
            <a:off x="3851719" y="606857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zh-TW" altLang="en-US" sz="2000" dirty="0"/>
          </a:p>
        </p:txBody>
      </p:sp>
      <p:sp>
        <p:nvSpPr>
          <p:cNvPr id="32" name="矩形 31"/>
          <p:cNvSpPr/>
          <p:nvPr/>
        </p:nvSpPr>
        <p:spPr>
          <a:xfrm>
            <a:off x="7918334" y="5682588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7913533" y="5320958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7917948" y="4933750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7925446" y="4568625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7849413" y="4203500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7860658" y="3827334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7860658" y="3474040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7842211" y="3085902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7849413" y="2726427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7849413" y="2349260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5899718" y="4111760"/>
            <a:ext cx="1499128" cy="14465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8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endParaRPr lang="zh-TW" altLang="en-US" sz="88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1437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序列對齊 </a:t>
            </a:r>
            <a:r>
              <a:rPr lang="en-US" altLang="zh-TW" dirty="0"/>
              <a:t>(10/12)</a:t>
            </a:r>
            <a:endParaRPr lang="zh-TW" altLang="en-US" dirty="0"/>
          </a:p>
        </p:txBody>
      </p:sp>
      <p:graphicFrame>
        <p:nvGraphicFramePr>
          <p:cNvPr id="10" name="內容版面配置區 9"/>
          <p:cNvGraphicFramePr>
            <a:graphicFrameLocks noGrp="1"/>
          </p:cNvGraphicFramePr>
          <p:nvPr>
            <p:ph idx="1"/>
          </p:nvPr>
        </p:nvGraphicFramePr>
        <p:xfrm>
          <a:off x="2926184" y="1751590"/>
          <a:ext cx="5386864" cy="46888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41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7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85420">
                <a:tc rowSpan="2" gridSpan="2">
                  <a:txBody>
                    <a:bodyPr/>
                    <a:lstStyle/>
                    <a:p>
                      <a:pPr algn="l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</a:t>
                      </a:r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</a:p>
                    <a:p>
                      <a:pPr algn="l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altLang="zh-TW" sz="2000" b="1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</a:t>
                      </a:r>
                    </a:p>
                  </a:txBody>
                  <a:tcPr marT="0" marB="0"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 rowSpan="2"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5420">
                <a:tc gridSpan="2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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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96</a:t>
            </a:fld>
            <a:endParaRPr 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183938" y="1218217"/>
            <a:ext cx="82157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min(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+ 1, 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+ 1) + 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penalty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+ 1) + 2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</a:t>
            </a:r>
            <a:r>
              <a:rPr lang="en-US" altLang="zh-TW" sz="2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+ 1, </a:t>
            </a:r>
            <a:r>
              <a:rPr lang="en-US" altLang="zh-TW" sz="2000" b="1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+ 2)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183938" y="1620668"/>
            <a:ext cx="24833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2(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183938" y="2020778"/>
            <a:ext cx="24833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2(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183940" y="3254414"/>
            <a:ext cx="21788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(10,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2(8 –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183939" y="3654524"/>
            <a:ext cx="2164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8) = 2(10 – 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直線接點 13"/>
          <p:cNvCxnSpPr/>
          <p:nvPr/>
        </p:nvCxnSpPr>
        <p:spPr>
          <a:xfrm flipV="1">
            <a:off x="3818238" y="6268626"/>
            <a:ext cx="4494810" cy="1"/>
          </a:xfrm>
          <a:prstGeom prst="line">
            <a:avLst/>
          </a:prstGeom>
          <a:ln w="762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>
            <a:off x="8062784" y="2360141"/>
            <a:ext cx="19115" cy="4078186"/>
          </a:xfrm>
          <a:prstGeom prst="line">
            <a:avLst/>
          </a:prstGeom>
          <a:ln w="762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7925446" y="6068571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2000" dirty="0"/>
          </a:p>
        </p:txBody>
      </p:sp>
      <p:sp>
        <p:nvSpPr>
          <p:cNvPr id="22" name="矩形 21"/>
          <p:cNvSpPr/>
          <p:nvPr/>
        </p:nvSpPr>
        <p:spPr>
          <a:xfrm>
            <a:off x="7422610" y="6068571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000" dirty="0"/>
          </a:p>
        </p:txBody>
      </p:sp>
      <p:sp>
        <p:nvSpPr>
          <p:cNvPr id="23" name="矩形 22"/>
          <p:cNvSpPr/>
          <p:nvPr/>
        </p:nvSpPr>
        <p:spPr>
          <a:xfrm>
            <a:off x="6915579" y="6068571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sz="2000" dirty="0"/>
          </a:p>
        </p:txBody>
      </p:sp>
      <p:sp>
        <p:nvSpPr>
          <p:cNvPr id="26" name="矩形 25"/>
          <p:cNvSpPr/>
          <p:nvPr/>
        </p:nvSpPr>
        <p:spPr>
          <a:xfrm>
            <a:off x="6408228" y="6068571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sz="2000" dirty="0"/>
          </a:p>
        </p:txBody>
      </p:sp>
      <p:sp>
        <p:nvSpPr>
          <p:cNvPr id="27" name="矩形 26"/>
          <p:cNvSpPr/>
          <p:nvPr/>
        </p:nvSpPr>
        <p:spPr>
          <a:xfrm>
            <a:off x="5924131" y="6068571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sz="2000" dirty="0"/>
          </a:p>
        </p:txBody>
      </p:sp>
      <p:sp>
        <p:nvSpPr>
          <p:cNvPr id="28" name="矩形 27"/>
          <p:cNvSpPr/>
          <p:nvPr/>
        </p:nvSpPr>
        <p:spPr>
          <a:xfrm>
            <a:off x="5343297" y="606857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TW" altLang="en-US" sz="2000" dirty="0"/>
          </a:p>
        </p:txBody>
      </p:sp>
      <p:sp>
        <p:nvSpPr>
          <p:cNvPr id="29" name="矩形 28"/>
          <p:cNvSpPr/>
          <p:nvPr/>
        </p:nvSpPr>
        <p:spPr>
          <a:xfrm>
            <a:off x="4846836" y="606857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zh-TW" altLang="en-US" sz="2000" dirty="0"/>
          </a:p>
        </p:txBody>
      </p:sp>
      <p:sp>
        <p:nvSpPr>
          <p:cNvPr id="30" name="矩形 29"/>
          <p:cNvSpPr/>
          <p:nvPr/>
        </p:nvSpPr>
        <p:spPr>
          <a:xfrm>
            <a:off x="4326345" y="606857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zh-TW" altLang="en-US" sz="2000" dirty="0"/>
          </a:p>
        </p:txBody>
      </p:sp>
      <p:sp>
        <p:nvSpPr>
          <p:cNvPr id="31" name="矩形 30"/>
          <p:cNvSpPr/>
          <p:nvPr/>
        </p:nvSpPr>
        <p:spPr>
          <a:xfrm>
            <a:off x="3851719" y="606857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zh-TW" altLang="en-US" sz="2000" dirty="0"/>
          </a:p>
        </p:txBody>
      </p:sp>
      <p:sp>
        <p:nvSpPr>
          <p:cNvPr id="32" name="矩形 31"/>
          <p:cNvSpPr/>
          <p:nvPr/>
        </p:nvSpPr>
        <p:spPr>
          <a:xfrm>
            <a:off x="7918334" y="5682588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000" dirty="0"/>
          </a:p>
        </p:txBody>
      </p:sp>
      <p:sp>
        <p:nvSpPr>
          <p:cNvPr id="33" name="矩形 32"/>
          <p:cNvSpPr/>
          <p:nvPr/>
        </p:nvSpPr>
        <p:spPr>
          <a:xfrm>
            <a:off x="7913533" y="5320958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sz="2000" dirty="0"/>
          </a:p>
        </p:txBody>
      </p:sp>
      <p:sp>
        <p:nvSpPr>
          <p:cNvPr id="34" name="矩形 33"/>
          <p:cNvSpPr/>
          <p:nvPr/>
        </p:nvSpPr>
        <p:spPr>
          <a:xfrm>
            <a:off x="7917948" y="4933750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sz="2000" dirty="0"/>
          </a:p>
        </p:txBody>
      </p:sp>
      <p:sp>
        <p:nvSpPr>
          <p:cNvPr id="35" name="矩形 34"/>
          <p:cNvSpPr/>
          <p:nvPr/>
        </p:nvSpPr>
        <p:spPr>
          <a:xfrm>
            <a:off x="7925446" y="4568625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sz="2000" dirty="0"/>
          </a:p>
        </p:txBody>
      </p:sp>
      <p:sp>
        <p:nvSpPr>
          <p:cNvPr id="36" name="矩形 35"/>
          <p:cNvSpPr/>
          <p:nvPr/>
        </p:nvSpPr>
        <p:spPr>
          <a:xfrm>
            <a:off x="7849413" y="4203500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TW" altLang="en-US" sz="2000" dirty="0"/>
          </a:p>
        </p:txBody>
      </p:sp>
      <p:sp>
        <p:nvSpPr>
          <p:cNvPr id="37" name="矩形 36"/>
          <p:cNvSpPr/>
          <p:nvPr/>
        </p:nvSpPr>
        <p:spPr>
          <a:xfrm>
            <a:off x="7860658" y="3827334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zh-TW" altLang="en-US" sz="2000" dirty="0"/>
          </a:p>
        </p:txBody>
      </p:sp>
      <p:sp>
        <p:nvSpPr>
          <p:cNvPr id="38" name="矩形 37"/>
          <p:cNvSpPr/>
          <p:nvPr/>
        </p:nvSpPr>
        <p:spPr>
          <a:xfrm>
            <a:off x="7860658" y="3474040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zh-TW" altLang="en-US" sz="2000" dirty="0"/>
          </a:p>
        </p:txBody>
      </p:sp>
      <p:sp>
        <p:nvSpPr>
          <p:cNvPr id="39" name="矩形 38"/>
          <p:cNvSpPr/>
          <p:nvPr/>
        </p:nvSpPr>
        <p:spPr>
          <a:xfrm>
            <a:off x="7842211" y="3085902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zh-TW" altLang="en-US" sz="2000" dirty="0"/>
          </a:p>
        </p:txBody>
      </p:sp>
      <p:sp>
        <p:nvSpPr>
          <p:cNvPr id="40" name="矩形 39"/>
          <p:cNvSpPr/>
          <p:nvPr/>
        </p:nvSpPr>
        <p:spPr>
          <a:xfrm>
            <a:off x="7849413" y="2726427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zh-TW" altLang="en-US" sz="2000" dirty="0"/>
          </a:p>
        </p:txBody>
      </p:sp>
      <p:sp>
        <p:nvSpPr>
          <p:cNvPr id="41" name="矩形 40"/>
          <p:cNvSpPr/>
          <p:nvPr/>
        </p:nvSpPr>
        <p:spPr>
          <a:xfrm>
            <a:off x="7849413" y="2349260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zh-TW" altLang="en-US" sz="2000" dirty="0"/>
          </a:p>
        </p:txBody>
      </p:sp>
      <p:sp>
        <p:nvSpPr>
          <p:cNvPr id="52" name="矩形 51"/>
          <p:cNvSpPr/>
          <p:nvPr/>
        </p:nvSpPr>
        <p:spPr>
          <a:xfrm>
            <a:off x="7419060" y="5676775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6912029" y="5676775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6404678" y="5676775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7419060" y="5297731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6912029" y="5297731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7421369" y="4932686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grpSp>
        <p:nvGrpSpPr>
          <p:cNvPr id="3" name="群組 2"/>
          <p:cNvGrpSpPr/>
          <p:nvPr/>
        </p:nvGrpSpPr>
        <p:grpSpPr>
          <a:xfrm>
            <a:off x="4490765" y="3054592"/>
            <a:ext cx="2652435" cy="1110426"/>
            <a:chOff x="4490765" y="3054592"/>
            <a:chExt cx="2652435" cy="1110426"/>
          </a:xfrm>
        </p:grpSpPr>
        <p:sp>
          <p:nvSpPr>
            <p:cNvPr id="50" name="圓角矩形 49"/>
            <p:cNvSpPr/>
            <p:nvPr/>
          </p:nvSpPr>
          <p:spPr>
            <a:xfrm>
              <a:off x="4865125" y="3103754"/>
              <a:ext cx="411210" cy="364524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51" name="群組 50"/>
            <p:cNvGrpSpPr/>
            <p:nvPr/>
          </p:nvGrpSpPr>
          <p:grpSpPr>
            <a:xfrm>
              <a:off x="5124622" y="3054592"/>
              <a:ext cx="1598733" cy="400110"/>
              <a:chOff x="5124622" y="3054592"/>
              <a:chExt cx="1598733" cy="400110"/>
            </a:xfrm>
          </p:grpSpPr>
          <p:cxnSp>
            <p:nvCxnSpPr>
              <p:cNvPr id="55" name="直線單箭頭接點 54"/>
              <p:cNvCxnSpPr/>
              <p:nvPr/>
            </p:nvCxnSpPr>
            <p:spPr>
              <a:xfrm flipH="1">
                <a:off x="5124622" y="3286016"/>
                <a:ext cx="411210" cy="0"/>
              </a:xfrm>
              <a:prstGeom prst="straightConnector1">
                <a:avLst/>
              </a:prstGeom>
              <a:ln w="38100">
                <a:solidFill>
                  <a:srgbClr val="0000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" name="文字方塊 55"/>
              <p:cNvSpPr txBox="1"/>
              <p:nvPr/>
            </p:nvSpPr>
            <p:spPr>
              <a:xfrm>
                <a:off x="5535209" y="3054592"/>
                <a:ext cx="118814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penalty 2</a:t>
                </a:r>
                <a:endParaRPr lang="zh-TW" altLang="en-US" sz="20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57" name="群組 56"/>
            <p:cNvGrpSpPr/>
            <p:nvPr/>
          </p:nvGrpSpPr>
          <p:grpSpPr>
            <a:xfrm>
              <a:off x="4490765" y="3319999"/>
              <a:ext cx="1188146" cy="845019"/>
              <a:chOff x="4490765" y="3319999"/>
              <a:chExt cx="1188146" cy="845019"/>
            </a:xfrm>
          </p:grpSpPr>
          <p:cxnSp>
            <p:nvCxnSpPr>
              <p:cNvPr id="58" name="直線單箭頭接點 57"/>
              <p:cNvCxnSpPr/>
              <p:nvPr/>
            </p:nvCxnSpPr>
            <p:spPr>
              <a:xfrm flipV="1">
                <a:off x="5070730" y="3319999"/>
                <a:ext cx="0" cy="364524"/>
              </a:xfrm>
              <a:prstGeom prst="straightConnector1">
                <a:avLst/>
              </a:prstGeom>
              <a:ln w="38100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文字方塊 58"/>
              <p:cNvSpPr txBox="1"/>
              <p:nvPr/>
            </p:nvSpPr>
            <p:spPr>
              <a:xfrm>
                <a:off x="4490765" y="3764908"/>
                <a:ext cx="118814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>
                    <a:solidFill>
                      <a:schemeClr val="accent6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penalty 2</a:t>
                </a:r>
                <a:endParaRPr lang="zh-TW" altLang="en-US" sz="2000" b="1" dirty="0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62" name="群組 61"/>
            <p:cNvGrpSpPr/>
            <p:nvPr/>
          </p:nvGrpSpPr>
          <p:grpSpPr>
            <a:xfrm>
              <a:off x="5095442" y="3310728"/>
              <a:ext cx="2047758" cy="524920"/>
              <a:chOff x="5095442" y="3310728"/>
              <a:chExt cx="2047758" cy="524920"/>
            </a:xfrm>
          </p:grpSpPr>
          <p:cxnSp>
            <p:nvCxnSpPr>
              <p:cNvPr id="63" name="直線單箭頭接點 62"/>
              <p:cNvCxnSpPr/>
              <p:nvPr/>
            </p:nvCxnSpPr>
            <p:spPr>
              <a:xfrm flipH="1" flipV="1">
                <a:off x="5095442" y="3310728"/>
                <a:ext cx="374500" cy="302065"/>
              </a:xfrm>
              <a:prstGeom prst="straightConnector1">
                <a:avLst/>
              </a:prstGeom>
              <a:ln w="3810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" name="文字方塊 63"/>
              <p:cNvSpPr txBox="1"/>
              <p:nvPr/>
            </p:nvSpPr>
            <p:spPr>
              <a:xfrm>
                <a:off x="5461136" y="3435538"/>
                <a:ext cx="168206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penalty 0 or 1</a:t>
                </a:r>
                <a:endParaRPr lang="zh-TW" altLang="en-US" sz="20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13" name="矩形 12"/>
          <p:cNvSpPr/>
          <p:nvPr/>
        </p:nvSpPr>
        <p:spPr>
          <a:xfrm>
            <a:off x="183938" y="4654799"/>
            <a:ext cx="280397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(10, 8) + 1 = 0 + 1 = 1</a:t>
            </a:r>
            <a:endParaRPr lang="zh-TW" altLang="en-US" sz="2000" dirty="0"/>
          </a:p>
        </p:txBody>
      </p:sp>
      <p:sp>
        <p:nvSpPr>
          <p:cNvPr id="15" name="矩形 14"/>
          <p:cNvSpPr/>
          <p:nvPr/>
        </p:nvSpPr>
        <p:spPr>
          <a:xfrm>
            <a:off x="183938" y="4254689"/>
            <a:ext cx="106631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(9, 7)</a:t>
            </a:r>
            <a:endParaRPr lang="zh-TW" altLang="en-US" sz="2000" dirty="0"/>
          </a:p>
        </p:txBody>
      </p:sp>
      <p:sp>
        <p:nvSpPr>
          <p:cNvPr id="16" name="矩形 15"/>
          <p:cNvSpPr/>
          <p:nvPr/>
        </p:nvSpPr>
        <p:spPr>
          <a:xfrm>
            <a:off x="183938" y="5058863"/>
            <a:ext cx="267573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(9, 8) + 2 = 2 + 2 = 4</a:t>
            </a:r>
            <a:endParaRPr lang="zh-TW" altLang="en-US" sz="2000" dirty="0"/>
          </a:p>
        </p:txBody>
      </p:sp>
      <p:sp>
        <p:nvSpPr>
          <p:cNvPr id="17" name="矩形 16"/>
          <p:cNvSpPr/>
          <p:nvPr/>
        </p:nvSpPr>
        <p:spPr>
          <a:xfrm>
            <a:off x="191767" y="5428892"/>
            <a:ext cx="280397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</a:t>
            </a:r>
            <a:r>
              <a:rPr lang="en-US" altLang="zh-TW" sz="2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(10, 7) + 2 = 2 + 2 = 4</a:t>
            </a:r>
            <a:endParaRPr lang="zh-TW" altLang="en-US" sz="2000" dirty="0"/>
          </a:p>
        </p:txBody>
      </p:sp>
      <p:grpSp>
        <p:nvGrpSpPr>
          <p:cNvPr id="18" name="群組 17"/>
          <p:cNvGrpSpPr/>
          <p:nvPr/>
        </p:nvGrpSpPr>
        <p:grpSpPr>
          <a:xfrm>
            <a:off x="7623444" y="5555993"/>
            <a:ext cx="438975" cy="389798"/>
            <a:chOff x="7623444" y="5555993"/>
            <a:chExt cx="438975" cy="389798"/>
          </a:xfrm>
        </p:grpSpPr>
        <p:cxnSp>
          <p:nvCxnSpPr>
            <p:cNvPr id="65" name="直線單箭頭接點 64"/>
            <p:cNvCxnSpPr/>
            <p:nvPr/>
          </p:nvCxnSpPr>
          <p:spPr>
            <a:xfrm flipH="1">
              <a:off x="7651209" y="5555993"/>
              <a:ext cx="411210" cy="0"/>
            </a:xfrm>
            <a:prstGeom prst="straightConnector1">
              <a:avLst/>
            </a:prstGeom>
            <a:ln w="3810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線單箭頭接點 65"/>
            <p:cNvCxnSpPr/>
            <p:nvPr/>
          </p:nvCxnSpPr>
          <p:spPr>
            <a:xfrm flipV="1">
              <a:off x="7623444" y="5581267"/>
              <a:ext cx="0" cy="364524"/>
            </a:xfrm>
            <a:prstGeom prst="straightConnector1">
              <a:avLst/>
            </a:prstGeom>
            <a:ln w="3810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線單箭頭接點 66"/>
            <p:cNvCxnSpPr/>
            <p:nvPr/>
          </p:nvCxnSpPr>
          <p:spPr>
            <a:xfrm flipH="1" flipV="1">
              <a:off x="7630738" y="5571996"/>
              <a:ext cx="374500" cy="302065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0" name="直線單箭頭接點 69"/>
          <p:cNvCxnSpPr/>
          <p:nvPr/>
        </p:nvCxnSpPr>
        <p:spPr>
          <a:xfrm flipH="1">
            <a:off x="7655518" y="5909318"/>
            <a:ext cx="411210" cy="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單箭頭接點 70"/>
          <p:cNvCxnSpPr/>
          <p:nvPr/>
        </p:nvCxnSpPr>
        <p:spPr>
          <a:xfrm flipV="1">
            <a:off x="7627753" y="5934592"/>
            <a:ext cx="0" cy="364524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單箭頭接點 71"/>
          <p:cNvCxnSpPr/>
          <p:nvPr/>
        </p:nvCxnSpPr>
        <p:spPr>
          <a:xfrm flipH="1" flipV="1">
            <a:off x="7635047" y="5925321"/>
            <a:ext cx="374500" cy="30206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3" name="群組 72"/>
          <p:cNvGrpSpPr/>
          <p:nvPr/>
        </p:nvGrpSpPr>
        <p:grpSpPr>
          <a:xfrm>
            <a:off x="7123654" y="5921955"/>
            <a:ext cx="438975" cy="389798"/>
            <a:chOff x="7623444" y="5555993"/>
            <a:chExt cx="438975" cy="389798"/>
          </a:xfrm>
        </p:grpSpPr>
        <p:cxnSp>
          <p:nvCxnSpPr>
            <p:cNvPr id="74" name="直線單箭頭接點 73"/>
            <p:cNvCxnSpPr/>
            <p:nvPr/>
          </p:nvCxnSpPr>
          <p:spPr>
            <a:xfrm flipH="1">
              <a:off x="7651209" y="5555993"/>
              <a:ext cx="411210" cy="0"/>
            </a:xfrm>
            <a:prstGeom prst="straightConnector1">
              <a:avLst/>
            </a:prstGeom>
            <a:ln w="3810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線單箭頭接點 74"/>
            <p:cNvCxnSpPr/>
            <p:nvPr/>
          </p:nvCxnSpPr>
          <p:spPr>
            <a:xfrm flipV="1">
              <a:off x="7623444" y="5581267"/>
              <a:ext cx="0" cy="364524"/>
            </a:xfrm>
            <a:prstGeom prst="straightConnector1">
              <a:avLst/>
            </a:prstGeom>
            <a:ln w="3810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線單箭頭接點 75"/>
            <p:cNvCxnSpPr/>
            <p:nvPr/>
          </p:nvCxnSpPr>
          <p:spPr>
            <a:xfrm flipH="1" flipV="1">
              <a:off x="7630738" y="5571996"/>
              <a:ext cx="374500" cy="302065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群組 76"/>
          <p:cNvGrpSpPr/>
          <p:nvPr/>
        </p:nvGrpSpPr>
        <p:grpSpPr>
          <a:xfrm>
            <a:off x="7637326" y="5152165"/>
            <a:ext cx="438975" cy="389798"/>
            <a:chOff x="7623444" y="5555993"/>
            <a:chExt cx="438975" cy="389798"/>
          </a:xfrm>
        </p:grpSpPr>
        <p:cxnSp>
          <p:nvCxnSpPr>
            <p:cNvPr id="78" name="直線單箭頭接點 77"/>
            <p:cNvCxnSpPr/>
            <p:nvPr/>
          </p:nvCxnSpPr>
          <p:spPr>
            <a:xfrm flipH="1">
              <a:off x="7651209" y="5555993"/>
              <a:ext cx="411210" cy="0"/>
            </a:xfrm>
            <a:prstGeom prst="straightConnector1">
              <a:avLst/>
            </a:prstGeom>
            <a:ln w="3810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線單箭頭接點 78"/>
            <p:cNvCxnSpPr/>
            <p:nvPr/>
          </p:nvCxnSpPr>
          <p:spPr>
            <a:xfrm flipV="1">
              <a:off x="7623444" y="5581267"/>
              <a:ext cx="0" cy="364524"/>
            </a:xfrm>
            <a:prstGeom prst="straightConnector1">
              <a:avLst/>
            </a:prstGeom>
            <a:ln w="3810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線單箭頭接點 79"/>
            <p:cNvCxnSpPr/>
            <p:nvPr/>
          </p:nvCxnSpPr>
          <p:spPr>
            <a:xfrm flipH="1" flipV="1">
              <a:off x="7630738" y="5571996"/>
              <a:ext cx="374500" cy="302065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" name="群組 80"/>
          <p:cNvGrpSpPr/>
          <p:nvPr/>
        </p:nvGrpSpPr>
        <p:grpSpPr>
          <a:xfrm>
            <a:off x="7137536" y="5555993"/>
            <a:ext cx="438975" cy="389798"/>
            <a:chOff x="7623444" y="5555993"/>
            <a:chExt cx="438975" cy="389798"/>
          </a:xfrm>
        </p:grpSpPr>
        <p:cxnSp>
          <p:nvCxnSpPr>
            <p:cNvPr id="82" name="直線單箭頭接點 81"/>
            <p:cNvCxnSpPr/>
            <p:nvPr/>
          </p:nvCxnSpPr>
          <p:spPr>
            <a:xfrm flipH="1">
              <a:off x="7651209" y="5555993"/>
              <a:ext cx="411210" cy="0"/>
            </a:xfrm>
            <a:prstGeom prst="straightConnector1">
              <a:avLst/>
            </a:prstGeom>
            <a:ln w="3810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線單箭頭接點 82"/>
            <p:cNvCxnSpPr/>
            <p:nvPr/>
          </p:nvCxnSpPr>
          <p:spPr>
            <a:xfrm flipV="1">
              <a:off x="7623444" y="5581267"/>
              <a:ext cx="0" cy="364524"/>
            </a:xfrm>
            <a:prstGeom prst="straightConnector1">
              <a:avLst/>
            </a:prstGeom>
            <a:ln w="3810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線單箭頭接點 83"/>
            <p:cNvCxnSpPr/>
            <p:nvPr/>
          </p:nvCxnSpPr>
          <p:spPr>
            <a:xfrm flipH="1" flipV="1">
              <a:off x="7630738" y="5571996"/>
              <a:ext cx="374500" cy="302065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群組 84"/>
          <p:cNvGrpSpPr/>
          <p:nvPr/>
        </p:nvGrpSpPr>
        <p:grpSpPr>
          <a:xfrm>
            <a:off x="6612105" y="5921955"/>
            <a:ext cx="438975" cy="389798"/>
            <a:chOff x="7623444" y="5555993"/>
            <a:chExt cx="438975" cy="389798"/>
          </a:xfrm>
        </p:grpSpPr>
        <p:cxnSp>
          <p:nvCxnSpPr>
            <p:cNvPr id="86" name="直線單箭頭接點 85"/>
            <p:cNvCxnSpPr/>
            <p:nvPr/>
          </p:nvCxnSpPr>
          <p:spPr>
            <a:xfrm flipH="1">
              <a:off x="7651209" y="5555993"/>
              <a:ext cx="411210" cy="0"/>
            </a:xfrm>
            <a:prstGeom prst="straightConnector1">
              <a:avLst/>
            </a:prstGeom>
            <a:ln w="3810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線單箭頭接點 86"/>
            <p:cNvCxnSpPr/>
            <p:nvPr/>
          </p:nvCxnSpPr>
          <p:spPr>
            <a:xfrm flipV="1">
              <a:off x="7623444" y="5581267"/>
              <a:ext cx="0" cy="364524"/>
            </a:xfrm>
            <a:prstGeom prst="straightConnector1">
              <a:avLst/>
            </a:prstGeom>
            <a:ln w="3810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線單箭頭接點 87"/>
            <p:cNvCxnSpPr/>
            <p:nvPr/>
          </p:nvCxnSpPr>
          <p:spPr>
            <a:xfrm flipH="1" flipV="1">
              <a:off x="7630738" y="5571996"/>
              <a:ext cx="374500" cy="302065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88800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5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5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7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8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000"/>
                            </p:stCondLst>
                            <p:childTnLst>
                              <p:par>
                                <p:cTn id="9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500"/>
                            </p:stCondLst>
                            <p:childTnLst>
                              <p:par>
                                <p:cTn id="96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9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2500"/>
                            </p:stCondLst>
                            <p:childTnLst>
                              <p:par>
                                <p:cTn id="10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3000"/>
                            </p:stCondLst>
                            <p:childTnLst>
                              <p:par>
                                <p:cTn id="108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0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3500"/>
                            </p:stCondLst>
                            <p:childTnLst>
                              <p:par>
                                <p:cTn id="11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4000"/>
                            </p:stCondLst>
                            <p:childTnLst>
                              <p:par>
                                <p:cTn id="11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53" grpId="0"/>
      <p:bldP spid="54" grpId="0"/>
      <p:bldP spid="60" grpId="0"/>
      <p:bldP spid="61" grpId="0"/>
      <p:bldP spid="68" grpId="0"/>
      <p:bldP spid="13" grpId="0"/>
      <p:bldP spid="15" grpId="0"/>
      <p:bldP spid="16" grpId="0"/>
      <p:bldP spid="17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序列對齊 </a:t>
            </a:r>
            <a:r>
              <a:rPr lang="en-US" altLang="zh-TW" dirty="0"/>
              <a:t>(11/12)</a:t>
            </a:r>
            <a:endParaRPr lang="zh-TW" altLang="en-US" dirty="0"/>
          </a:p>
        </p:txBody>
      </p:sp>
      <p:graphicFrame>
        <p:nvGraphicFramePr>
          <p:cNvPr id="10" name="內容版面配置區 9"/>
          <p:cNvGraphicFramePr>
            <a:graphicFrameLocks noGrp="1"/>
          </p:cNvGraphicFramePr>
          <p:nvPr>
            <p:ph idx="1"/>
          </p:nvPr>
        </p:nvGraphicFramePr>
        <p:xfrm>
          <a:off x="2926184" y="1751590"/>
          <a:ext cx="5386864" cy="46888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41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7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85420">
                <a:tc rowSpan="2" gridSpan="2">
                  <a:txBody>
                    <a:bodyPr/>
                    <a:lstStyle/>
                    <a:p>
                      <a:pPr algn="l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</a:t>
                      </a:r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</a:p>
                    <a:p>
                      <a:pPr algn="l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altLang="zh-TW" sz="2000" b="1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</a:t>
                      </a:r>
                    </a:p>
                  </a:txBody>
                  <a:tcPr marT="0" marB="0"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 rowSpan="2"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5420">
                <a:tc gridSpan="2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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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97</a:t>
            </a:fld>
            <a:endParaRPr 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183938" y="1218217"/>
            <a:ext cx="82157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min(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+ 1,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+ 1) +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penalty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+ 1) + 2,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+ 1,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+ 2)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183938" y="1620668"/>
            <a:ext cx="24833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2(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183938" y="2020778"/>
            <a:ext cx="24833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2(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183940" y="3254414"/>
            <a:ext cx="21788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(10,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2(8 –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183939" y="3654524"/>
            <a:ext cx="2164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8) = 2(10 – 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直線接點 13"/>
          <p:cNvCxnSpPr/>
          <p:nvPr/>
        </p:nvCxnSpPr>
        <p:spPr>
          <a:xfrm flipV="1">
            <a:off x="3818238" y="6268626"/>
            <a:ext cx="4494810" cy="1"/>
          </a:xfrm>
          <a:prstGeom prst="line">
            <a:avLst/>
          </a:prstGeom>
          <a:ln w="762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>
            <a:off x="8062784" y="2360141"/>
            <a:ext cx="19115" cy="4078186"/>
          </a:xfrm>
          <a:prstGeom prst="line">
            <a:avLst/>
          </a:prstGeom>
          <a:ln w="762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7925446" y="6068571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2000" dirty="0"/>
          </a:p>
        </p:txBody>
      </p:sp>
      <p:sp>
        <p:nvSpPr>
          <p:cNvPr id="22" name="矩形 21"/>
          <p:cNvSpPr/>
          <p:nvPr/>
        </p:nvSpPr>
        <p:spPr>
          <a:xfrm>
            <a:off x="7422610" y="6068571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000" dirty="0"/>
          </a:p>
        </p:txBody>
      </p:sp>
      <p:sp>
        <p:nvSpPr>
          <p:cNvPr id="23" name="矩形 22"/>
          <p:cNvSpPr/>
          <p:nvPr/>
        </p:nvSpPr>
        <p:spPr>
          <a:xfrm>
            <a:off x="6915579" y="6068571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sz="2000" dirty="0"/>
          </a:p>
        </p:txBody>
      </p:sp>
      <p:sp>
        <p:nvSpPr>
          <p:cNvPr id="26" name="矩形 25"/>
          <p:cNvSpPr/>
          <p:nvPr/>
        </p:nvSpPr>
        <p:spPr>
          <a:xfrm>
            <a:off x="6408228" y="6068571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sz="2000" dirty="0"/>
          </a:p>
        </p:txBody>
      </p:sp>
      <p:sp>
        <p:nvSpPr>
          <p:cNvPr id="27" name="矩形 26"/>
          <p:cNvSpPr/>
          <p:nvPr/>
        </p:nvSpPr>
        <p:spPr>
          <a:xfrm>
            <a:off x="5924131" y="6068571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sz="2000" dirty="0"/>
          </a:p>
        </p:txBody>
      </p:sp>
      <p:sp>
        <p:nvSpPr>
          <p:cNvPr id="28" name="矩形 27"/>
          <p:cNvSpPr/>
          <p:nvPr/>
        </p:nvSpPr>
        <p:spPr>
          <a:xfrm>
            <a:off x="5343297" y="606857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TW" altLang="en-US" sz="2000" dirty="0"/>
          </a:p>
        </p:txBody>
      </p:sp>
      <p:sp>
        <p:nvSpPr>
          <p:cNvPr id="29" name="矩形 28"/>
          <p:cNvSpPr/>
          <p:nvPr/>
        </p:nvSpPr>
        <p:spPr>
          <a:xfrm>
            <a:off x="4846836" y="606857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zh-TW" altLang="en-US" sz="2000" dirty="0"/>
          </a:p>
        </p:txBody>
      </p:sp>
      <p:sp>
        <p:nvSpPr>
          <p:cNvPr id="30" name="矩形 29"/>
          <p:cNvSpPr/>
          <p:nvPr/>
        </p:nvSpPr>
        <p:spPr>
          <a:xfrm>
            <a:off x="4326345" y="606857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zh-TW" altLang="en-US" sz="2000" dirty="0"/>
          </a:p>
        </p:txBody>
      </p:sp>
      <p:sp>
        <p:nvSpPr>
          <p:cNvPr id="31" name="矩形 30"/>
          <p:cNvSpPr/>
          <p:nvPr/>
        </p:nvSpPr>
        <p:spPr>
          <a:xfrm>
            <a:off x="3851719" y="606857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zh-TW" altLang="en-US" sz="2000" dirty="0"/>
          </a:p>
        </p:txBody>
      </p:sp>
      <p:sp>
        <p:nvSpPr>
          <p:cNvPr id="32" name="矩形 31"/>
          <p:cNvSpPr/>
          <p:nvPr/>
        </p:nvSpPr>
        <p:spPr>
          <a:xfrm>
            <a:off x="7918334" y="5682588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000" dirty="0"/>
          </a:p>
        </p:txBody>
      </p:sp>
      <p:sp>
        <p:nvSpPr>
          <p:cNvPr id="33" name="矩形 32"/>
          <p:cNvSpPr/>
          <p:nvPr/>
        </p:nvSpPr>
        <p:spPr>
          <a:xfrm>
            <a:off x="7913533" y="5320958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sz="2000" dirty="0"/>
          </a:p>
        </p:txBody>
      </p:sp>
      <p:sp>
        <p:nvSpPr>
          <p:cNvPr id="34" name="矩形 33"/>
          <p:cNvSpPr/>
          <p:nvPr/>
        </p:nvSpPr>
        <p:spPr>
          <a:xfrm>
            <a:off x="7917948" y="4933750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sz="2000" dirty="0"/>
          </a:p>
        </p:txBody>
      </p:sp>
      <p:sp>
        <p:nvSpPr>
          <p:cNvPr id="35" name="矩形 34"/>
          <p:cNvSpPr/>
          <p:nvPr/>
        </p:nvSpPr>
        <p:spPr>
          <a:xfrm>
            <a:off x="7925446" y="4568625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sz="2000" dirty="0"/>
          </a:p>
        </p:txBody>
      </p:sp>
      <p:sp>
        <p:nvSpPr>
          <p:cNvPr id="36" name="矩形 35"/>
          <p:cNvSpPr/>
          <p:nvPr/>
        </p:nvSpPr>
        <p:spPr>
          <a:xfrm>
            <a:off x="7849413" y="4203500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TW" altLang="en-US" sz="2000" dirty="0"/>
          </a:p>
        </p:txBody>
      </p:sp>
      <p:sp>
        <p:nvSpPr>
          <p:cNvPr id="37" name="矩形 36"/>
          <p:cNvSpPr/>
          <p:nvPr/>
        </p:nvSpPr>
        <p:spPr>
          <a:xfrm>
            <a:off x="7860658" y="3827334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zh-TW" altLang="en-US" sz="2000" dirty="0"/>
          </a:p>
        </p:txBody>
      </p:sp>
      <p:sp>
        <p:nvSpPr>
          <p:cNvPr id="38" name="矩形 37"/>
          <p:cNvSpPr/>
          <p:nvPr/>
        </p:nvSpPr>
        <p:spPr>
          <a:xfrm>
            <a:off x="7860658" y="3474040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zh-TW" altLang="en-US" sz="2000" dirty="0"/>
          </a:p>
        </p:txBody>
      </p:sp>
      <p:sp>
        <p:nvSpPr>
          <p:cNvPr id="39" name="矩形 38"/>
          <p:cNvSpPr/>
          <p:nvPr/>
        </p:nvSpPr>
        <p:spPr>
          <a:xfrm>
            <a:off x="7842211" y="3085902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zh-TW" altLang="en-US" sz="2000" dirty="0"/>
          </a:p>
        </p:txBody>
      </p:sp>
      <p:sp>
        <p:nvSpPr>
          <p:cNvPr id="40" name="矩形 39"/>
          <p:cNvSpPr/>
          <p:nvPr/>
        </p:nvSpPr>
        <p:spPr>
          <a:xfrm>
            <a:off x="7849413" y="2726427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zh-TW" altLang="en-US" sz="2000" dirty="0"/>
          </a:p>
        </p:txBody>
      </p:sp>
      <p:sp>
        <p:nvSpPr>
          <p:cNvPr id="41" name="矩形 40"/>
          <p:cNvSpPr/>
          <p:nvPr/>
        </p:nvSpPr>
        <p:spPr>
          <a:xfrm>
            <a:off x="7849413" y="2349260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zh-TW" altLang="en-US" sz="2000" dirty="0"/>
          </a:p>
        </p:txBody>
      </p:sp>
      <p:sp>
        <p:nvSpPr>
          <p:cNvPr id="52" name="矩形 51"/>
          <p:cNvSpPr/>
          <p:nvPr/>
        </p:nvSpPr>
        <p:spPr>
          <a:xfrm>
            <a:off x="7419060" y="5676775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6912029" y="5676775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6404678" y="5676775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5920581" y="5676775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5401528" y="5676775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4843286" y="5676775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4322795" y="5676775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3848169" y="5676775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7419060" y="5297731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6912029" y="5297731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6404678" y="5297731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5920581" y="5297731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5401528" y="5297731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4911244" y="5297731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4322795" y="5297731"/>
            <a:ext cx="42697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3848169" y="529773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7421369" y="4932686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6914338" y="4932686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6406987" y="4932686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5922890" y="4932686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5403837" y="4932686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4913553" y="4932686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4380706" y="4932686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3850478" y="4932686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7419060" y="4570359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6912029" y="4570359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6404678" y="4570359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5920581" y="4570359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5401528" y="4570359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4911244" y="4570359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4378397" y="4570359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3909949" y="4570359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7419060" y="4212640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6912029" y="4212640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6404678" y="4212640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5920581" y="4212640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5401528" y="4212640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4911244" y="4212640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90" name="矩形 89"/>
          <p:cNvSpPr/>
          <p:nvPr/>
        </p:nvSpPr>
        <p:spPr>
          <a:xfrm>
            <a:off x="4378397" y="4212640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3909949" y="4212640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7351099" y="3823063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6912029" y="3823063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6404678" y="3823063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5920581" y="3823063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5401528" y="3823063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97" name="矩形 96"/>
          <p:cNvSpPr/>
          <p:nvPr/>
        </p:nvSpPr>
        <p:spPr>
          <a:xfrm>
            <a:off x="4911244" y="3823063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98" name="矩形 97"/>
          <p:cNvSpPr/>
          <p:nvPr/>
        </p:nvSpPr>
        <p:spPr>
          <a:xfrm>
            <a:off x="4378397" y="3823063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99" name="矩形 98"/>
          <p:cNvSpPr/>
          <p:nvPr/>
        </p:nvSpPr>
        <p:spPr>
          <a:xfrm>
            <a:off x="3909949" y="3823063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100" name="矩形 99"/>
          <p:cNvSpPr/>
          <p:nvPr/>
        </p:nvSpPr>
        <p:spPr>
          <a:xfrm>
            <a:off x="7351099" y="3451205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101" name="矩形 100"/>
          <p:cNvSpPr/>
          <p:nvPr/>
        </p:nvSpPr>
        <p:spPr>
          <a:xfrm>
            <a:off x="6850249" y="3451205"/>
            <a:ext cx="42697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102" name="矩形 101"/>
          <p:cNvSpPr/>
          <p:nvPr/>
        </p:nvSpPr>
        <p:spPr>
          <a:xfrm>
            <a:off x="6404678" y="3451205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103" name="矩形 102"/>
          <p:cNvSpPr/>
          <p:nvPr/>
        </p:nvSpPr>
        <p:spPr>
          <a:xfrm>
            <a:off x="5920581" y="3451205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104" name="矩形 103"/>
          <p:cNvSpPr/>
          <p:nvPr/>
        </p:nvSpPr>
        <p:spPr>
          <a:xfrm>
            <a:off x="5401528" y="3451205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105" name="矩形 104"/>
          <p:cNvSpPr/>
          <p:nvPr/>
        </p:nvSpPr>
        <p:spPr>
          <a:xfrm>
            <a:off x="4911244" y="3451205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106" name="矩形 105"/>
          <p:cNvSpPr/>
          <p:nvPr/>
        </p:nvSpPr>
        <p:spPr>
          <a:xfrm>
            <a:off x="4378397" y="3451205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107" name="矩形 106"/>
          <p:cNvSpPr/>
          <p:nvPr/>
        </p:nvSpPr>
        <p:spPr>
          <a:xfrm>
            <a:off x="3909949" y="3451205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108" name="矩形 107"/>
          <p:cNvSpPr/>
          <p:nvPr/>
        </p:nvSpPr>
        <p:spPr>
          <a:xfrm>
            <a:off x="7349026" y="3085352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109" name="矩形 108"/>
          <p:cNvSpPr/>
          <p:nvPr/>
        </p:nvSpPr>
        <p:spPr>
          <a:xfrm>
            <a:off x="6848176" y="3085352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110" name="矩形 109"/>
          <p:cNvSpPr/>
          <p:nvPr/>
        </p:nvSpPr>
        <p:spPr>
          <a:xfrm>
            <a:off x="6353180" y="3085352"/>
            <a:ext cx="42697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111" name="矩形 110"/>
          <p:cNvSpPr/>
          <p:nvPr/>
        </p:nvSpPr>
        <p:spPr>
          <a:xfrm>
            <a:off x="5918508" y="3085352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112" name="矩形 111"/>
          <p:cNvSpPr/>
          <p:nvPr/>
        </p:nvSpPr>
        <p:spPr>
          <a:xfrm>
            <a:off x="5399455" y="3085352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113" name="矩形 112"/>
          <p:cNvSpPr/>
          <p:nvPr/>
        </p:nvSpPr>
        <p:spPr>
          <a:xfrm>
            <a:off x="4909171" y="3085352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114" name="矩形 113"/>
          <p:cNvSpPr/>
          <p:nvPr/>
        </p:nvSpPr>
        <p:spPr>
          <a:xfrm>
            <a:off x="4376324" y="3085352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115" name="矩形 114"/>
          <p:cNvSpPr/>
          <p:nvPr/>
        </p:nvSpPr>
        <p:spPr>
          <a:xfrm>
            <a:off x="3907876" y="3085352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116" name="矩形 115"/>
          <p:cNvSpPr/>
          <p:nvPr/>
        </p:nvSpPr>
        <p:spPr>
          <a:xfrm>
            <a:off x="7349026" y="2716874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117" name="矩形 116"/>
          <p:cNvSpPr/>
          <p:nvPr/>
        </p:nvSpPr>
        <p:spPr>
          <a:xfrm>
            <a:off x="6848176" y="2716874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118" name="矩形 117"/>
          <p:cNvSpPr/>
          <p:nvPr/>
        </p:nvSpPr>
        <p:spPr>
          <a:xfrm>
            <a:off x="6353180" y="2716874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119" name="矩形 118"/>
          <p:cNvSpPr/>
          <p:nvPr/>
        </p:nvSpPr>
        <p:spPr>
          <a:xfrm>
            <a:off x="5856728" y="2716874"/>
            <a:ext cx="42697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120" name="矩形 119"/>
          <p:cNvSpPr/>
          <p:nvPr/>
        </p:nvSpPr>
        <p:spPr>
          <a:xfrm>
            <a:off x="5337675" y="2716874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121" name="矩形 120"/>
          <p:cNvSpPr/>
          <p:nvPr/>
        </p:nvSpPr>
        <p:spPr>
          <a:xfrm>
            <a:off x="4909171" y="2716874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122" name="矩形 121"/>
          <p:cNvSpPr/>
          <p:nvPr/>
        </p:nvSpPr>
        <p:spPr>
          <a:xfrm>
            <a:off x="4376324" y="2716874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123" name="矩形 122"/>
          <p:cNvSpPr/>
          <p:nvPr/>
        </p:nvSpPr>
        <p:spPr>
          <a:xfrm>
            <a:off x="3907876" y="2716874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124" name="矩形 123"/>
          <p:cNvSpPr/>
          <p:nvPr/>
        </p:nvSpPr>
        <p:spPr>
          <a:xfrm>
            <a:off x="7349026" y="2343220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125" name="矩形 124"/>
          <p:cNvSpPr/>
          <p:nvPr/>
        </p:nvSpPr>
        <p:spPr>
          <a:xfrm>
            <a:off x="6848176" y="2343220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126" name="矩形 125"/>
          <p:cNvSpPr/>
          <p:nvPr/>
        </p:nvSpPr>
        <p:spPr>
          <a:xfrm>
            <a:off x="6353180" y="2343220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127" name="矩形 126"/>
          <p:cNvSpPr/>
          <p:nvPr/>
        </p:nvSpPr>
        <p:spPr>
          <a:xfrm>
            <a:off x="5856728" y="2343220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128" name="矩形 127"/>
          <p:cNvSpPr/>
          <p:nvPr/>
        </p:nvSpPr>
        <p:spPr>
          <a:xfrm>
            <a:off x="5337675" y="2343220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129" name="矩形 128"/>
          <p:cNvSpPr/>
          <p:nvPr/>
        </p:nvSpPr>
        <p:spPr>
          <a:xfrm>
            <a:off x="4841213" y="2343220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130" name="矩形 129"/>
          <p:cNvSpPr/>
          <p:nvPr/>
        </p:nvSpPr>
        <p:spPr>
          <a:xfrm>
            <a:off x="4376324" y="2343220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  <p:sp>
        <p:nvSpPr>
          <p:cNvPr id="131" name="矩形 130"/>
          <p:cNvSpPr/>
          <p:nvPr/>
        </p:nvSpPr>
        <p:spPr>
          <a:xfrm>
            <a:off x="3907876" y="2343220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TW" altLang="en-US" sz="2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5315848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序列對齊 </a:t>
            </a:r>
            <a:r>
              <a:rPr lang="en-US" altLang="zh-TW" dirty="0"/>
              <a:t>(12/12)</a:t>
            </a:r>
            <a:endParaRPr lang="zh-TW" altLang="en-US" dirty="0"/>
          </a:p>
        </p:txBody>
      </p:sp>
      <p:graphicFrame>
        <p:nvGraphicFramePr>
          <p:cNvPr id="10" name="內容版面配置區 9"/>
          <p:cNvGraphicFramePr>
            <a:graphicFrameLocks noGrp="1"/>
          </p:cNvGraphicFramePr>
          <p:nvPr>
            <p:ph idx="1"/>
          </p:nvPr>
        </p:nvGraphicFramePr>
        <p:xfrm>
          <a:off x="2926184" y="1751590"/>
          <a:ext cx="5386864" cy="46888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41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7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85420">
                <a:tc rowSpan="2" gridSpan="2">
                  <a:txBody>
                    <a:bodyPr/>
                    <a:lstStyle/>
                    <a:p>
                      <a:pPr algn="l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</a:t>
                      </a:r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</a:p>
                    <a:p>
                      <a:pPr algn="l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altLang="zh-TW" sz="2000" b="1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</a:t>
                      </a:r>
                    </a:p>
                  </a:txBody>
                  <a:tcPr marT="0" marB="0"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 rowSpan="2"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5420">
                <a:tc gridSpan="2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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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2026/09/23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98</a:t>
            </a:fld>
            <a:endParaRPr 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183938" y="1218217"/>
            <a:ext cx="82157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min(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+ 1,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+ 1) +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penalty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+ 1) + 2),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+ 1,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+ 2)</a:t>
            </a:r>
            <a:endParaRPr lang="zh-TW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183938" y="1620668"/>
            <a:ext cx="24833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2(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183938" y="2020778"/>
            <a:ext cx="24833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2(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altLang="zh-TW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直線接點 13"/>
          <p:cNvCxnSpPr/>
          <p:nvPr/>
        </p:nvCxnSpPr>
        <p:spPr>
          <a:xfrm flipV="1">
            <a:off x="3818238" y="6268626"/>
            <a:ext cx="4494810" cy="1"/>
          </a:xfrm>
          <a:prstGeom prst="line">
            <a:avLst/>
          </a:prstGeom>
          <a:ln w="762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>
            <a:off x="8062784" y="2360141"/>
            <a:ext cx="19115" cy="4078186"/>
          </a:xfrm>
          <a:prstGeom prst="line">
            <a:avLst/>
          </a:prstGeom>
          <a:ln w="762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7925446" y="6068571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2000" dirty="0"/>
          </a:p>
        </p:txBody>
      </p:sp>
      <p:sp>
        <p:nvSpPr>
          <p:cNvPr id="22" name="矩形 21"/>
          <p:cNvSpPr/>
          <p:nvPr/>
        </p:nvSpPr>
        <p:spPr>
          <a:xfrm>
            <a:off x="7422610" y="6068571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000" dirty="0"/>
          </a:p>
        </p:txBody>
      </p:sp>
      <p:sp>
        <p:nvSpPr>
          <p:cNvPr id="23" name="矩形 22"/>
          <p:cNvSpPr/>
          <p:nvPr/>
        </p:nvSpPr>
        <p:spPr>
          <a:xfrm>
            <a:off x="6915579" y="6068571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sz="2000" dirty="0"/>
          </a:p>
        </p:txBody>
      </p:sp>
      <p:sp>
        <p:nvSpPr>
          <p:cNvPr id="26" name="矩形 25"/>
          <p:cNvSpPr/>
          <p:nvPr/>
        </p:nvSpPr>
        <p:spPr>
          <a:xfrm>
            <a:off x="6408228" y="6068571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sz="2000" dirty="0"/>
          </a:p>
        </p:txBody>
      </p:sp>
      <p:sp>
        <p:nvSpPr>
          <p:cNvPr id="27" name="矩形 26"/>
          <p:cNvSpPr/>
          <p:nvPr/>
        </p:nvSpPr>
        <p:spPr>
          <a:xfrm>
            <a:off x="5924131" y="6068571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sz="2000" dirty="0"/>
          </a:p>
        </p:txBody>
      </p:sp>
      <p:sp>
        <p:nvSpPr>
          <p:cNvPr id="28" name="矩形 27"/>
          <p:cNvSpPr/>
          <p:nvPr/>
        </p:nvSpPr>
        <p:spPr>
          <a:xfrm>
            <a:off x="5343297" y="606857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TW" altLang="en-US" sz="2000" dirty="0"/>
          </a:p>
        </p:txBody>
      </p:sp>
      <p:sp>
        <p:nvSpPr>
          <p:cNvPr id="29" name="矩形 28"/>
          <p:cNvSpPr/>
          <p:nvPr/>
        </p:nvSpPr>
        <p:spPr>
          <a:xfrm>
            <a:off x="4846836" y="606857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zh-TW" altLang="en-US" sz="2000" dirty="0"/>
          </a:p>
        </p:txBody>
      </p:sp>
      <p:sp>
        <p:nvSpPr>
          <p:cNvPr id="30" name="矩形 29"/>
          <p:cNvSpPr/>
          <p:nvPr/>
        </p:nvSpPr>
        <p:spPr>
          <a:xfrm>
            <a:off x="4326345" y="606857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zh-TW" altLang="en-US" sz="2000" dirty="0"/>
          </a:p>
        </p:txBody>
      </p:sp>
      <p:sp>
        <p:nvSpPr>
          <p:cNvPr id="31" name="矩形 30"/>
          <p:cNvSpPr/>
          <p:nvPr/>
        </p:nvSpPr>
        <p:spPr>
          <a:xfrm>
            <a:off x="3851719" y="606857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zh-TW" altLang="en-US" sz="2000" dirty="0"/>
          </a:p>
        </p:txBody>
      </p:sp>
      <p:sp>
        <p:nvSpPr>
          <p:cNvPr id="32" name="矩形 31"/>
          <p:cNvSpPr/>
          <p:nvPr/>
        </p:nvSpPr>
        <p:spPr>
          <a:xfrm>
            <a:off x="7918334" y="5682588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000" dirty="0"/>
          </a:p>
        </p:txBody>
      </p:sp>
      <p:sp>
        <p:nvSpPr>
          <p:cNvPr id="33" name="矩形 32"/>
          <p:cNvSpPr/>
          <p:nvPr/>
        </p:nvSpPr>
        <p:spPr>
          <a:xfrm>
            <a:off x="7913533" y="5320958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sz="2000" dirty="0"/>
          </a:p>
        </p:txBody>
      </p:sp>
      <p:sp>
        <p:nvSpPr>
          <p:cNvPr id="34" name="矩形 33"/>
          <p:cNvSpPr/>
          <p:nvPr/>
        </p:nvSpPr>
        <p:spPr>
          <a:xfrm>
            <a:off x="7917948" y="4933750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sz="2000" dirty="0"/>
          </a:p>
        </p:txBody>
      </p:sp>
      <p:sp>
        <p:nvSpPr>
          <p:cNvPr id="35" name="矩形 34"/>
          <p:cNvSpPr/>
          <p:nvPr/>
        </p:nvSpPr>
        <p:spPr>
          <a:xfrm>
            <a:off x="7925446" y="4568625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sz="2000" dirty="0"/>
          </a:p>
        </p:txBody>
      </p:sp>
      <p:sp>
        <p:nvSpPr>
          <p:cNvPr id="36" name="矩形 35"/>
          <p:cNvSpPr/>
          <p:nvPr/>
        </p:nvSpPr>
        <p:spPr>
          <a:xfrm>
            <a:off x="7849413" y="4203500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TW" altLang="en-US" sz="2000" dirty="0"/>
          </a:p>
        </p:txBody>
      </p:sp>
      <p:sp>
        <p:nvSpPr>
          <p:cNvPr id="37" name="矩形 36"/>
          <p:cNvSpPr/>
          <p:nvPr/>
        </p:nvSpPr>
        <p:spPr>
          <a:xfrm>
            <a:off x="7860658" y="3827334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zh-TW" altLang="en-US" sz="2000" dirty="0"/>
          </a:p>
        </p:txBody>
      </p:sp>
      <p:sp>
        <p:nvSpPr>
          <p:cNvPr id="38" name="矩形 37"/>
          <p:cNvSpPr/>
          <p:nvPr/>
        </p:nvSpPr>
        <p:spPr>
          <a:xfrm>
            <a:off x="7860658" y="3474040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zh-TW" altLang="en-US" sz="2000" dirty="0"/>
          </a:p>
        </p:txBody>
      </p:sp>
      <p:sp>
        <p:nvSpPr>
          <p:cNvPr id="39" name="矩形 38"/>
          <p:cNvSpPr/>
          <p:nvPr/>
        </p:nvSpPr>
        <p:spPr>
          <a:xfrm>
            <a:off x="7842211" y="3085902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zh-TW" altLang="en-US" sz="2000" dirty="0"/>
          </a:p>
        </p:txBody>
      </p:sp>
      <p:sp>
        <p:nvSpPr>
          <p:cNvPr id="40" name="矩形 39"/>
          <p:cNvSpPr/>
          <p:nvPr/>
        </p:nvSpPr>
        <p:spPr>
          <a:xfrm>
            <a:off x="7849413" y="2726427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zh-TW" altLang="en-US" sz="2000" dirty="0"/>
          </a:p>
        </p:txBody>
      </p:sp>
      <p:sp>
        <p:nvSpPr>
          <p:cNvPr id="41" name="矩形 40"/>
          <p:cNvSpPr/>
          <p:nvPr/>
        </p:nvSpPr>
        <p:spPr>
          <a:xfrm>
            <a:off x="7849413" y="2349260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zh-TW" altLang="en-US" sz="2000" dirty="0"/>
          </a:p>
        </p:txBody>
      </p:sp>
      <p:sp>
        <p:nvSpPr>
          <p:cNvPr id="52" name="矩形 51"/>
          <p:cNvSpPr/>
          <p:nvPr/>
        </p:nvSpPr>
        <p:spPr>
          <a:xfrm>
            <a:off x="7419060" y="5676775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000" dirty="0"/>
          </a:p>
        </p:txBody>
      </p:sp>
      <p:sp>
        <p:nvSpPr>
          <p:cNvPr id="53" name="矩形 52"/>
          <p:cNvSpPr/>
          <p:nvPr/>
        </p:nvSpPr>
        <p:spPr>
          <a:xfrm>
            <a:off x="6912029" y="5676775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000" dirty="0"/>
          </a:p>
        </p:txBody>
      </p:sp>
      <p:sp>
        <p:nvSpPr>
          <p:cNvPr id="54" name="矩形 53"/>
          <p:cNvSpPr/>
          <p:nvPr/>
        </p:nvSpPr>
        <p:spPr>
          <a:xfrm>
            <a:off x="6404678" y="5676775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sz="2000" dirty="0"/>
          </a:p>
        </p:txBody>
      </p:sp>
      <p:sp>
        <p:nvSpPr>
          <p:cNvPr id="55" name="矩形 54"/>
          <p:cNvSpPr/>
          <p:nvPr/>
        </p:nvSpPr>
        <p:spPr>
          <a:xfrm>
            <a:off x="5920581" y="5676775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sz="2000" dirty="0"/>
          </a:p>
        </p:txBody>
      </p:sp>
      <p:sp>
        <p:nvSpPr>
          <p:cNvPr id="56" name="矩形 55"/>
          <p:cNvSpPr/>
          <p:nvPr/>
        </p:nvSpPr>
        <p:spPr>
          <a:xfrm>
            <a:off x="5401528" y="5676775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sz="2000" dirty="0"/>
          </a:p>
        </p:txBody>
      </p:sp>
      <p:sp>
        <p:nvSpPr>
          <p:cNvPr id="57" name="矩形 56"/>
          <p:cNvSpPr/>
          <p:nvPr/>
        </p:nvSpPr>
        <p:spPr>
          <a:xfrm>
            <a:off x="4843286" y="5676775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TW" altLang="en-US" sz="2000" dirty="0"/>
          </a:p>
        </p:txBody>
      </p:sp>
      <p:sp>
        <p:nvSpPr>
          <p:cNvPr id="58" name="矩形 57"/>
          <p:cNvSpPr/>
          <p:nvPr/>
        </p:nvSpPr>
        <p:spPr>
          <a:xfrm>
            <a:off x="4322795" y="5676775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zh-TW" altLang="en-US" sz="2000" dirty="0"/>
          </a:p>
        </p:txBody>
      </p:sp>
      <p:sp>
        <p:nvSpPr>
          <p:cNvPr id="59" name="矩形 58"/>
          <p:cNvSpPr/>
          <p:nvPr/>
        </p:nvSpPr>
        <p:spPr>
          <a:xfrm>
            <a:off x="3848169" y="5676775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zh-TW" altLang="en-US" sz="2000" dirty="0"/>
          </a:p>
        </p:txBody>
      </p:sp>
      <p:sp>
        <p:nvSpPr>
          <p:cNvPr id="60" name="矩形 59"/>
          <p:cNvSpPr/>
          <p:nvPr/>
        </p:nvSpPr>
        <p:spPr>
          <a:xfrm>
            <a:off x="7419060" y="5297731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2000" dirty="0"/>
          </a:p>
        </p:txBody>
      </p:sp>
      <p:sp>
        <p:nvSpPr>
          <p:cNvPr id="61" name="矩形 60"/>
          <p:cNvSpPr/>
          <p:nvPr/>
        </p:nvSpPr>
        <p:spPr>
          <a:xfrm>
            <a:off x="6912029" y="5297731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000" dirty="0"/>
          </a:p>
        </p:txBody>
      </p:sp>
      <p:sp>
        <p:nvSpPr>
          <p:cNvPr id="62" name="矩形 61"/>
          <p:cNvSpPr/>
          <p:nvPr/>
        </p:nvSpPr>
        <p:spPr>
          <a:xfrm>
            <a:off x="6404678" y="5297731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2000" dirty="0"/>
          </a:p>
        </p:txBody>
      </p:sp>
      <p:sp>
        <p:nvSpPr>
          <p:cNvPr id="63" name="矩形 62"/>
          <p:cNvSpPr/>
          <p:nvPr/>
        </p:nvSpPr>
        <p:spPr>
          <a:xfrm>
            <a:off x="5920581" y="5297731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sz="2000" dirty="0"/>
          </a:p>
        </p:txBody>
      </p:sp>
      <p:sp>
        <p:nvSpPr>
          <p:cNvPr id="64" name="矩形 63"/>
          <p:cNvSpPr/>
          <p:nvPr/>
        </p:nvSpPr>
        <p:spPr>
          <a:xfrm>
            <a:off x="5401528" y="5297731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TW" altLang="en-US" sz="2000" dirty="0"/>
          </a:p>
        </p:txBody>
      </p:sp>
      <p:sp>
        <p:nvSpPr>
          <p:cNvPr id="65" name="矩形 64"/>
          <p:cNvSpPr/>
          <p:nvPr/>
        </p:nvSpPr>
        <p:spPr>
          <a:xfrm>
            <a:off x="4911244" y="5297731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sz="2000" dirty="0"/>
          </a:p>
        </p:txBody>
      </p:sp>
      <p:sp>
        <p:nvSpPr>
          <p:cNvPr id="66" name="矩形 65"/>
          <p:cNvSpPr/>
          <p:nvPr/>
        </p:nvSpPr>
        <p:spPr>
          <a:xfrm>
            <a:off x="4322795" y="5297731"/>
            <a:ext cx="42697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zh-TW" altLang="en-US" sz="2000" dirty="0"/>
          </a:p>
        </p:txBody>
      </p:sp>
      <p:sp>
        <p:nvSpPr>
          <p:cNvPr id="67" name="矩形 66"/>
          <p:cNvSpPr/>
          <p:nvPr/>
        </p:nvSpPr>
        <p:spPr>
          <a:xfrm>
            <a:off x="3848169" y="529773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zh-TW" altLang="en-US" sz="2000" dirty="0"/>
          </a:p>
        </p:txBody>
      </p:sp>
      <p:sp>
        <p:nvSpPr>
          <p:cNvPr id="68" name="矩形 67"/>
          <p:cNvSpPr/>
          <p:nvPr/>
        </p:nvSpPr>
        <p:spPr>
          <a:xfrm>
            <a:off x="7421369" y="4932686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sz="2000" dirty="0"/>
          </a:p>
        </p:txBody>
      </p:sp>
      <p:sp>
        <p:nvSpPr>
          <p:cNvPr id="69" name="矩形 68"/>
          <p:cNvSpPr/>
          <p:nvPr/>
        </p:nvSpPr>
        <p:spPr>
          <a:xfrm>
            <a:off x="6914338" y="4932686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2000" dirty="0"/>
          </a:p>
        </p:txBody>
      </p:sp>
      <p:sp>
        <p:nvSpPr>
          <p:cNvPr id="70" name="矩形 69"/>
          <p:cNvSpPr/>
          <p:nvPr/>
        </p:nvSpPr>
        <p:spPr>
          <a:xfrm>
            <a:off x="6406987" y="4932686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000" dirty="0"/>
          </a:p>
        </p:txBody>
      </p:sp>
      <p:sp>
        <p:nvSpPr>
          <p:cNvPr id="71" name="矩形 70"/>
          <p:cNvSpPr/>
          <p:nvPr/>
        </p:nvSpPr>
        <p:spPr>
          <a:xfrm>
            <a:off x="5922890" y="4932686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sz="2000" dirty="0"/>
          </a:p>
        </p:txBody>
      </p:sp>
      <p:sp>
        <p:nvSpPr>
          <p:cNvPr id="72" name="矩形 71"/>
          <p:cNvSpPr/>
          <p:nvPr/>
        </p:nvSpPr>
        <p:spPr>
          <a:xfrm>
            <a:off x="5403837" y="4932686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sz="2000" dirty="0"/>
          </a:p>
        </p:txBody>
      </p:sp>
      <p:sp>
        <p:nvSpPr>
          <p:cNvPr id="73" name="矩形 72"/>
          <p:cNvSpPr/>
          <p:nvPr/>
        </p:nvSpPr>
        <p:spPr>
          <a:xfrm>
            <a:off x="4913553" y="4932686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TW" altLang="en-US" sz="2000" dirty="0"/>
          </a:p>
        </p:txBody>
      </p:sp>
      <p:sp>
        <p:nvSpPr>
          <p:cNvPr id="74" name="矩形 73"/>
          <p:cNvSpPr/>
          <p:nvPr/>
        </p:nvSpPr>
        <p:spPr>
          <a:xfrm>
            <a:off x="4380706" y="4932686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sz="2000" dirty="0"/>
          </a:p>
        </p:txBody>
      </p:sp>
      <p:sp>
        <p:nvSpPr>
          <p:cNvPr id="75" name="矩形 74"/>
          <p:cNvSpPr/>
          <p:nvPr/>
        </p:nvSpPr>
        <p:spPr>
          <a:xfrm>
            <a:off x="3850478" y="4932686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zh-TW" altLang="en-US" sz="2000" dirty="0"/>
          </a:p>
        </p:txBody>
      </p:sp>
      <p:sp>
        <p:nvSpPr>
          <p:cNvPr id="76" name="矩形 75"/>
          <p:cNvSpPr/>
          <p:nvPr/>
        </p:nvSpPr>
        <p:spPr>
          <a:xfrm>
            <a:off x="7419060" y="4570359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sz="2000" dirty="0"/>
          </a:p>
        </p:txBody>
      </p:sp>
      <p:sp>
        <p:nvSpPr>
          <p:cNvPr id="77" name="矩形 76"/>
          <p:cNvSpPr/>
          <p:nvPr/>
        </p:nvSpPr>
        <p:spPr>
          <a:xfrm>
            <a:off x="6912029" y="4570359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sz="2000" dirty="0"/>
          </a:p>
        </p:txBody>
      </p:sp>
      <p:sp>
        <p:nvSpPr>
          <p:cNvPr id="78" name="矩形 77"/>
          <p:cNvSpPr/>
          <p:nvPr/>
        </p:nvSpPr>
        <p:spPr>
          <a:xfrm>
            <a:off x="6404678" y="4570359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2000" dirty="0"/>
          </a:p>
        </p:txBody>
      </p:sp>
      <p:sp>
        <p:nvSpPr>
          <p:cNvPr id="79" name="矩形 78"/>
          <p:cNvSpPr/>
          <p:nvPr/>
        </p:nvSpPr>
        <p:spPr>
          <a:xfrm>
            <a:off x="5920581" y="4570359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2000" dirty="0"/>
          </a:p>
        </p:txBody>
      </p:sp>
      <p:sp>
        <p:nvSpPr>
          <p:cNvPr id="80" name="矩形 79"/>
          <p:cNvSpPr/>
          <p:nvPr/>
        </p:nvSpPr>
        <p:spPr>
          <a:xfrm>
            <a:off x="5401528" y="4570359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sz="2000" dirty="0"/>
          </a:p>
        </p:txBody>
      </p:sp>
      <p:sp>
        <p:nvSpPr>
          <p:cNvPr id="81" name="矩形 80"/>
          <p:cNvSpPr/>
          <p:nvPr/>
        </p:nvSpPr>
        <p:spPr>
          <a:xfrm>
            <a:off x="4911244" y="4570359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TW" altLang="en-US" sz="2000" dirty="0"/>
          </a:p>
        </p:txBody>
      </p:sp>
      <p:sp>
        <p:nvSpPr>
          <p:cNvPr id="82" name="矩形 81"/>
          <p:cNvSpPr/>
          <p:nvPr/>
        </p:nvSpPr>
        <p:spPr>
          <a:xfrm>
            <a:off x="4378397" y="4570359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sz="2000" dirty="0"/>
          </a:p>
        </p:txBody>
      </p:sp>
      <p:sp>
        <p:nvSpPr>
          <p:cNvPr id="83" name="矩形 82"/>
          <p:cNvSpPr/>
          <p:nvPr/>
        </p:nvSpPr>
        <p:spPr>
          <a:xfrm>
            <a:off x="3909949" y="4570359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sz="2000" dirty="0"/>
          </a:p>
        </p:txBody>
      </p:sp>
      <p:sp>
        <p:nvSpPr>
          <p:cNvPr id="84" name="矩形 83"/>
          <p:cNvSpPr/>
          <p:nvPr/>
        </p:nvSpPr>
        <p:spPr>
          <a:xfrm>
            <a:off x="7419060" y="4212640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sz="2000" dirty="0"/>
          </a:p>
        </p:txBody>
      </p:sp>
      <p:sp>
        <p:nvSpPr>
          <p:cNvPr id="85" name="矩形 84"/>
          <p:cNvSpPr/>
          <p:nvPr/>
        </p:nvSpPr>
        <p:spPr>
          <a:xfrm>
            <a:off x="6912029" y="4212640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TW" altLang="en-US" sz="2000" dirty="0"/>
          </a:p>
        </p:txBody>
      </p:sp>
      <p:sp>
        <p:nvSpPr>
          <p:cNvPr id="86" name="矩形 85"/>
          <p:cNvSpPr/>
          <p:nvPr/>
        </p:nvSpPr>
        <p:spPr>
          <a:xfrm>
            <a:off x="6404678" y="4212640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sz="2000" dirty="0"/>
          </a:p>
        </p:txBody>
      </p:sp>
      <p:sp>
        <p:nvSpPr>
          <p:cNvPr id="87" name="矩形 86"/>
          <p:cNvSpPr/>
          <p:nvPr/>
        </p:nvSpPr>
        <p:spPr>
          <a:xfrm>
            <a:off x="5920581" y="4212640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sz="2000" dirty="0"/>
          </a:p>
        </p:txBody>
      </p:sp>
      <p:sp>
        <p:nvSpPr>
          <p:cNvPr id="88" name="矩形 87"/>
          <p:cNvSpPr/>
          <p:nvPr/>
        </p:nvSpPr>
        <p:spPr>
          <a:xfrm>
            <a:off x="5401528" y="4212640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sz="2000" dirty="0"/>
          </a:p>
        </p:txBody>
      </p:sp>
      <p:sp>
        <p:nvSpPr>
          <p:cNvPr id="89" name="矩形 88"/>
          <p:cNvSpPr/>
          <p:nvPr/>
        </p:nvSpPr>
        <p:spPr>
          <a:xfrm>
            <a:off x="4911244" y="4212640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sz="2000" dirty="0"/>
          </a:p>
        </p:txBody>
      </p:sp>
      <p:sp>
        <p:nvSpPr>
          <p:cNvPr id="90" name="矩形 89"/>
          <p:cNvSpPr/>
          <p:nvPr/>
        </p:nvSpPr>
        <p:spPr>
          <a:xfrm>
            <a:off x="4378397" y="4212640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sz="2000" dirty="0"/>
          </a:p>
        </p:txBody>
      </p:sp>
      <p:sp>
        <p:nvSpPr>
          <p:cNvPr id="91" name="矩形 90"/>
          <p:cNvSpPr/>
          <p:nvPr/>
        </p:nvSpPr>
        <p:spPr>
          <a:xfrm>
            <a:off x="3909949" y="4212640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sz="2000" dirty="0"/>
          </a:p>
        </p:txBody>
      </p:sp>
      <p:sp>
        <p:nvSpPr>
          <p:cNvPr id="92" name="矩形 91"/>
          <p:cNvSpPr/>
          <p:nvPr/>
        </p:nvSpPr>
        <p:spPr>
          <a:xfrm>
            <a:off x="7351099" y="3823063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TW" altLang="en-US" sz="2000" dirty="0"/>
          </a:p>
        </p:txBody>
      </p:sp>
      <p:sp>
        <p:nvSpPr>
          <p:cNvPr id="93" name="矩形 92"/>
          <p:cNvSpPr/>
          <p:nvPr/>
        </p:nvSpPr>
        <p:spPr>
          <a:xfrm>
            <a:off x="6912029" y="3823063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sz="2000" dirty="0"/>
          </a:p>
        </p:txBody>
      </p:sp>
      <p:sp>
        <p:nvSpPr>
          <p:cNvPr id="94" name="矩形 93"/>
          <p:cNvSpPr/>
          <p:nvPr/>
        </p:nvSpPr>
        <p:spPr>
          <a:xfrm>
            <a:off x="6404678" y="3823063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TW" altLang="en-US" sz="2000" dirty="0"/>
          </a:p>
        </p:txBody>
      </p:sp>
      <p:sp>
        <p:nvSpPr>
          <p:cNvPr id="95" name="矩形 94"/>
          <p:cNvSpPr/>
          <p:nvPr/>
        </p:nvSpPr>
        <p:spPr>
          <a:xfrm>
            <a:off x="5920581" y="3823063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sz="2000" dirty="0"/>
          </a:p>
        </p:txBody>
      </p:sp>
      <p:sp>
        <p:nvSpPr>
          <p:cNvPr id="96" name="矩形 95"/>
          <p:cNvSpPr/>
          <p:nvPr/>
        </p:nvSpPr>
        <p:spPr>
          <a:xfrm>
            <a:off x="5401528" y="3823063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sz="2000" dirty="0"/>
          </a:p>
        </p:txBody>
      </p:sp>
      <p:sp>
        <p:nvSpPr>
          <p:cNvPr id="97" name="矩形 96"/>
          <p:cNvSpPr/>
          <p:nvPr/>
        </p:nvSpPr>
        <p:spPr>
          <a:xfrm>
            <a:off x="4911244" y="3823063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sz="2000" dirty="0"/>
          </a:p>
        </p:txBody>
      </p:sp>
      <p:sp>
        <p:nvSpPr>
          <p:cNvPr id="98" name="矩形 97"/>
          <p:cNvSpPr/>
          <p:nvPr/>
        </p:nvSpPr>
        <p:spPr>
          <a:xfrm>
            <a:off x="4378397" y="3823063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TW" altLang="en-US" sz="2000" dirty="0"/>
          </a:p>
        </p:txBody>
      </p:sp>
      <p:sp>
        <p:nvSpPr>
          <p:cNvPr id="99" name="矩形 98"/>
          <p:cNvSpPr/>
          <p:nvPr/>
        </p:nvSpPr>
        <p:spPr>
          <a:xfrm>
            <a:off x="3909949" y="3823063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sz="2000" dirty="0"/>
          </a:p>
        </p:txBody>
      </p:sp>
      <p:sp>
        <p:nvSpPr>
          <p:cNvPr id="100" name="矩形 99"/>
          <p:cNvSpPr/>
          <p:nvPr/>
        </p:nvSpPr>
        <p:spPr>
          <a:xfrm>
            <a:off x="7351099" y="3451205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zh-TW" altLang="en-US" sz="2000" dirty="0"/>
          </a:p>
        </p:txBody>
      </p:sp>
      <p:sp>
        <p:nvSpPr>
          <p:cNvPr id="101" name="矩形 100"/>
          <p:cNvSpPr/>
          <p:nvPr/>
        </p:nvSpPr>
        <p:spPr>
          <a:xfrm>
            <a:off x="6850249" y="3451205"/>
            <a:ext cx="42697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zh-TW" altLang="en-US" sz="2000" dirty="0"/>
          </a:p>
        </p:txBody>
      </p:sp>
      <p:sp>
        <p:nvSpPr>
          <p:cNvPr id="102" name="矩形 101"/>
          <p:cNvSpPr/>
          <p:nvPr/>
        </p:nvSpPr>
        <p:spPr>
          <a:xfrm>
            <a:off x="6404678" y="3451205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sz="2000" dirty="0"/>
          </a:p>
        </p:txBody>
      </p:sp>
      <p:sp>
        <p:nvSpPr>
          <p:cNvPr id="103" name="矩形 102"/>
          <p:cNvSpPr/>
          <p:nvPr/>
        </p:nvSpPr>
        <p:spPr>
          <a:xfrm>
            <a:off x="5920581" y="3451205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TW" altLang="en-US" sz="2000" dirty="0"/>
          </a:p>
        </p:txBody>
      </p:sp>
      <p:sp>
        <p:nvSpPr>
          <p:cNvPr id="104" name="矩形 103"/>
          <p:cNvSpPr/>
          <p:nvPr/>
        </p:nvSpPr>
        <p:spPr>
          <a:xfrm>
            <a:off x="5401528" y="3451205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sz="2000" dirty="0"/>
          </a:p>
        </p:txBody>
      </p:sp>
      <p:sp>
        <p:nvSpPr>
          <p:cNvPr id="105" name="矩形 104"/>
          <p:cNvSpPr/>
          <p:nvPr/>
        </p:nvSpPr>
        <p:spPr>
          <a:xfrm>
            <a:off x="4911244" y="3451205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sz="2000" dirty="0"/>
          </a:p>
        </p:txBody>
      </p:sp>
      <p:sp>
        <p:nvSpPr>
          <p:cNvPr id="106" name="矩形 105"/>
          <p:cNvSpPr/>
          <p:nvPr/>
        </p:nvSpPr>
        <p:spPr>
          <a:xfrm>
            <a:off x="4378397" y="3451205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sz="2000" dirty="0"/>
          </a:p>
        </p:txBody>
      </p:sp>
      <p:sp>
        <p:nvSpPr>
          <p:cNvPr id="107" name="矩形 106"/>
          <p:cNvSpPr/>
          <p:nvPr/>
        </p:nvSpPr>
        <p:spPr>
          <a:xfrm>
            <a:off x="3909949" y="3451205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TW" altLang="en-US" sz="2000" dirty="0"/>
          </a:p>
        </p:txBody>
      </p:sp>
      <p:sp>
        <p:nvSpPr>
          <p:cNvPr id="108" name="矩形 107"/>
          <p:cNvSpPr/>
          <p:nvPr/>
        </p:nvSpPr>
        <p:spPr>
          <a:xfrm>
            <a:off x="7349026" y="3085352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zh-TW" altLang="en-US" sz="2000" dirty="0"/>
          </a:p>
        </p:txBody>
      </p:sp>
      <p:sp>
        <p:nvSpPr>
          <p:cNvPr id="109" name="矩形 108"/>
          <p:cNvSpPr/>
          <p:nvPr/>
        </p:nvSpPr>
        <p:spPr>
          <a:xfrm>
            <a:off x="6848176" y="3085352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zh-TW" altLang="en-US" sz="2000" dirty="0"/>
          </a:p>
        </p:txBody>
      </p:sp>
      <p:sp>
        <p:nvSpPr>
          <p:cNvPr id="110" name="矩形 109"/>
          <p:cNvSpPr/>
          <p:nvPr/>
        </p:nvSpPr>
        <p:spPr>
          <a:xfrm>
            <a:off x="6353180" y="3085352"/>
            <a:ext cx="42697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zh-TW" altLang="en-US" sz="2000" dirty="0"/>
          </a:p>
        </p:txBody>
      </p:sp>
      <p:sp>
        <p:nvSpPr>
          <p:cNvPr id="111" name="矩形 110"/>
          <p:cNvSpPr/>
          <p:nvPr/>
        </p:nvSpPr>
        <p:spPr>
          <a:xfrm>
            <a:off x="5918508" y="3085352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sz="2000" dirty="0"/>
          </a:p>
        </p:txBody>
      </p:sp>
      <p:sp>
        <p:nvSpPr>
          <p:cNvPr id="112" name="矩形 111"/>
          <p:cNvSpPr/>
          <p:nvPr/>
        </p:nvSpPr>
        <p:spPr>
          <a:xfrm>
            <a:off x="5399455" y="3085352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sz="2000" dirty="0"/>
          </a:p>
        </p:txBody>
      </p:sp>
      <p:sp>
        <p:nvSpPr>
          <p:cNvPr id="113" name="矩形 112"/>
          <p:cNvSpPr/>
          <p:nvPr/>
        </p:nvSpPr>
        <p:spPr>
          <a:xfrm>
            <a:off x="4909171" y="3085352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sz="2000" dirty="0"/>
          </a:p>
        </p:txBody>
      </p:sp>
      <p:sp>
        <p:nvSpPr>
          <p:cNvPr id="114" name="矩形 113"/>
          <p:cNvSpPr/>
          <p:nvPr/>
        </p:nvSpPr>
        <p:spPr>
          <a:xfrm>
            <a:off x="4376324" y="3085352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sz="2000" dirty="0"/>
          </a:p>
        </p:txBody>
      </p:sp>
      <p:sp>
        <p:nvSpPr>
          <p:cNvPr id="115" name="矩形 114"/>
          <p:cNvSpPr/>
          <p:nvPr/>
        </p:nvSpPr>
        <p:spPr>
          <a:xfrm>
            <a:off x="3907876" y="3085352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sz="2000" dirty="0"/>
          </a:p>
        </p:txBody>
      </p:sp>
      <p:sp>
        <p:nvSpPr>
          <p:cNvPr id="116" name="矩形 115"/>
          <p:cNvSpPr/>
          <p:nvPr/>
        </p:nvSpPr>
        <p:spPr>
          <a:xfrm>
            <a:off x="7349026" y="2716874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zh-TW" altLang="en-US" sz="2000" dirty="0"/>
          </a:p>
        </p:txBody>
      </p:sp>
      <p:sp>
        <p:nvSpPr>
          <p:cNvPr id="117" name="矩形 116"/>
          <p:cNvSpPr/>
          <p:nvPr/>
        </p:nvSpPr>
        <p:spPr>
          <a:xfrm>
            <a:off x="6848176" y="2716874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zh-TW" altLang="en-US" sz="2000" dirty="0"/>
          </a:p>
        </p:txBody>
      </p:sp>
      <p:sp>
        <p:nvSpPr>
          <p:cNvPr id="118" name="矩形 117"/>
          <p:cNvSpPr/>
          <p:nvPr/>
        </p:nvSpPr>
        <p:spPr>
          <a:xfrm>
            <a:off x="6353180" y="2716874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zh-TW" altLang="en-US" sz="2000" dirty="0"/>
          </a:p>
        </p:txBody>
      </p:sp>
      <p:sp>
        <p:nvSpPr>
          <p:cNvPr id="119" name="矩形 118"/>
          <p:cNvSpPr/>
          <p:nvPr/>
        </p:nvSpPr>
        <p:spPr>
          <a:xfrm>
            <a:off x="5856728" y="2716874"/>
            <a:ext cx="42697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zh-TW" altLang="en-US" sz="2000" dirty="0"/>
          </a:p>
        </p:txBody>
      </p:sp>
      <p:sp>
        <p:nvSpPr>
          <p:cNvPr id="120" name="矩形 119"/>
          <p:cNvSpPr/>
          <p:nvPr/>
        </p:nvSpPr>
        <p:spPr>
          <a:xfrm>
            <a:off x="5337675" y="2716874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TW" altLang="en-US" sz="2000" dirty="0"/>
          </a:p>
        </p:txBody>
      </p:sp>
      <p:sp>
        <p:nvSpPr>
          <p:cNvPr id="121" name="矩形 120"/>
          <p:cNvSpPr/>
          <p:nvPr/>
        </p:nvSpPr>
        <p:spPr>
          <a:xfrm>
            <a:off x="4909171" y="2716874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sz="2000" dirty="0"/>
          </a:p>
        </p:txBody>
      </p:sp>
      <p:sp>
        <p:nvSpPr>
          <p:cNvPr id="122" name="矩形 121"/>
          <p:cNvSpPr/>
          <p:nvPr/>
        </p:nvSpPr>
        <p:spPr>
          <a:xfrm>
            <a:off x="4376324" y="2716874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sz="2000" dirty="0"/>
          </a:p>
        </p:txBody>
      </p:sp>
      <p:sp>
        <p:nvSpPr>
          <p:cNvPr id="123" name="矩形 122"/>
          <p:cNvSpPr/>
          <p:nvPr/>
        </p:nvSpPr>
        <p:spPr>
          <a:xfrm>
            <a:off x="3907876" y="2716874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sz="2000" dirty="0"/>
          </a:p>
        </p:txBody>
      </p:sp>
      <p:sp>
        <p:nvSpPr>
          <p:cNvPr id="124" name="矩形 123"/>
          <p:cNvSpPr/>
          <p:nvPr/>
        </p:nvSpPr>
        <p:spPr>
          <a:xfrm>
            <a:off x="7349026" y="2343220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zh-TW" altLang="en-US" sz="2000" dirty="0"/>
          </a:p>
        </p:txBody>
      </p:sp>
      <p:sp>
        <p:nvSpPr>
          <p:cNvPr id="125" name="矩形 124"/>
          <p:cNvSpPr/>
          <p:nvPr/>
        </p:nvSpPr>
        <p:spPr>
          <a:xfrm>
            <a:off x="6848176" y="2343220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zh-TW" altLang="en-US" sz="2000" dirty="0"/>
          </a:p>
        </p:txBody>
      </p:sp>
      <p:sp>
        <p:nvSpPr>
          <p:cNvPr id="126" name="矩形 125"/>
          <p:cNvSpPr/>
          <p:nvPr/>
        </p:nvSpPr>
        <p:spPr>
          <a:xfrm>
            <a:off x="6353180" y="2343220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zh-TW" altLang="en-US" sz="2000" dirty="0"/>
          </a:p>
        </p:txBody>
      </p:sp>
      <p:sp>
        <p:nvSpPr>
          <p:cNvPr id="127" name="矩形 126"/>
          <p:cNvSpPr/>
          <p:nvPr/>
        </p:nvSpPr>
        <p:spPr>
          <a:xfrm>
            <a:off x="5856728" y="2343220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zh-TW" altLang="en-US" sz="2000" dirty="0"/>
          </a:p>
        </p:txBody>
      </p:sp>
      <p:sp>
        <p:nvSpPr>
          <p:cNvPr id="128" name="矩形 127"/>
          <p:cNvSpPr/>
          <p:nvPr/>
        </p:nvSpPr>
        <p:spPr>
          <a:xfrm>
            <a:off x="5337675" y="2343220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zh-TW" altLang="en-US" sz="2000" dirty="0"/>
          </a:p>
        </p:txBody>
      </p:sp>
      <p:sp>
        <p:nvSpPr>
          <p:cNvPr id="129" name="矩形 128"/>
          <p:cNvSpPr/>
          <p:nvPr/>
        </p:nvSpPr>
        <p:spPr>
          <a:xfrm>
            <a:off x="4841213" y="2343220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TW" altLang="en-US" sz="2000" dirty="0"/>
          </a:p>
        </p:txBody>
      </p:sp>
      <p:sp>
        <p:nvSpPr>
          <p:cNvPr id="130" name="矩形 129"/>
          <p:cNvSpPr/>
          <p:nvPr/>
        </p:nvSpPr>
        <p:spPr>
          <a:xfrm>
            <a:off x="4376324" y="2343220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sz="2000" dirty="0"/>
          </a:p>
        </p:txBody>
      </p:sp>
      <p:sp>
        <p:nvSpPr>
          <p:cNvPr id="131" name="矩形 130"/>
          <p:cNvSpPr/>
          <p:nvPr/>
        </p:nvSpPr>
        <p:spPr>
          <a:xfrm>
            <a:off x="3907876" y="2343220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TW" altLang="en-US" sz="2000" dirty="0"/>
          </a:p>
        </p:txBody>
      </p:sp>
      <p:sp>
        <p:nvSpPr>
          <p:cNvPr id="132" name="圓角矩形 131"/>
          <p:cNvSpPr/>
          <p:nvPr/>
        </p:nvSpPr>
        <p:spPr>
          <a:xfrm>
            <a:off x="3863137" y="2370137"/>
            <a:ext cx="411210" cy="364524"/>
          </a:xfrm>
          <a:prstGeom prst="roundRect">
            <a:avLst>
              <a:gd name="adj" fmla="val 50000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3" name="圓角矩形 132"/>
          <p:cNvSpPr/>
          <p:nvPr/>
        </p:nvSpPr>
        <p:spPr>
          <a:xfrm>
            <a:off x="4354744" y="2745420"/>
            <a:ext cx="411210" cy="364524"/>
          </a:xfrm>
          <a:prstGeom prst="roundRect">
            <a:avLst>
              <a:gd name="adj" fmla="val 50000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4" name="圓角矩形 133"/>
          <p:cNvSpPr/>
          <p:nvPr/>
        </p:nvSpPr>
        <p:spPr>
          <a:xfrm>
            <a:off x="4858254" y="3104570"/>
            <a:ext cx="411210" cy="364524"/>
          </a:xfrm>
          <a:prstGeom prst="roundRect">
            <a:avLst>
              <a:gd name="adj" fmla="val 50000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5" name="圓角矩形 134"/>
          <p:cNvSpPr/>
          <p:nvPr/>
        </p:nvSpPr>
        <p:spPr>
          <a:xfrm>
            <a:off x="4862081" y="3474039"/>
            <a:ext cx="411210" cy="364524"/>
          </a:xfrm>
          <a:prstGeom prst="roundRect">
            <a:avLst>
              <a:gd name="adj" fmla="val 50000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6" name="圓角矩形 135"/>
          <p:cNvSpPr/>
          <p:nvPr/>
        </p:nvSpPr>
        <p:spPr>
          <a:xfrm>
            <a:off x="5347165" y="3848116"/>
            <a:ext cx="411210" cy="364524"/>
          </a:xfrm>
          <a:prstGeom prst="roundRect">
            <a:avLst>
              <a:gd name="adj" fmla="val 50000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7" name="圓角矩形 136"/>
          <p:cNvSpPr/>
          <p:nvPr/>
        </p:nvSpPr>
        <p:spPr>
          <a:xfrm>
            <a:off x="5860803" y="4219771"/>
            <a:ext cx="411210" cy="364524"/>
          </a:xfrm>
          <a:prstGeom prst="roundRect">
            <a:avLst>
              <a:gd name="adj" fmla="val 50000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8" name="圓角矩形 137"/>
          <p:cNvSpPr/>
          <p:nvPr/>
        </p:nvSpPr>
        <p:spPr>
          <a:xfrm>
            <a:off x="6355526" y="4583564"/>
            <a:ext cx="411210" cy="364524"/>
          </a:xfrm>
          <a:prstGeom prst="roundRect">
            <a:avLst>
              <a:gd name="adj" fmla="val 50000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9" name="圓角矩形 138"/>
          <p:cNvSpPr/>
          <p:nvPr/>
        </p:nvSpPr>
        <p:spPr>
          <a:xfrm>
            <a:off x="6860406" y="4970469"/>
            <a:ext cx="411210" cy="364524"/>
          </a:xfrm>
          <a:prstGeom prst="roundRect">
            <a:avLst>
              <a:gd name="adj" fmla="val 50000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0" name="圓角矩形 139"/>
          <p:cNvSpPr/>
          <p:nvPr/>
        </p:nvSpPr>
        <p:spPr>
          <a:xfrm>
            <a:off x="6852475" y="5345357"/>
            <a:ext cx="411210" cy="364524"/>
          </a:xfrm>
          <a:prstGeom prst="roundRect">
            <a:avLst>
              <a:gd name="adj" fmla="val 50000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1" name="圓角矩形 140"/>
          <p:cNvSpPr/>
          <p:nvPr/>
        </p:nvSpPr>
        <p:spPr>
          <a:xfrm>
            <a:off x="7363388" y="5695085"/>
            <a:ext cx="411210" cy="364524"/>
          </a:xfrm>
          <a:prstGeom prst="roundRect">
            <a:avLst>
              <a:gd name="adj" fmla="val 50000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2" name="圓角矩形 141"/>
          <p:cNvSpPr/>
          <p:nvPr/>
        </p:nvSpPr>
        <p:spPr>
          <a:xfrm>
            <a:off x="7857179" y="6081785"/>
            <a:ext cx="411210" cy="364524"/>
          </a:xfrm>
          <a:prstGeom prst="roundRect">
            <a:avLst>
              <a:gd name="adj" fmla="val 50000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45" name="表格 144"/>
          <p:cNvGraphicFramePr>
            <a:graphicFrameLocks noGrp="1"/>
          </p:cNvGraphicFramePr>
          <p:nvPr/>
        </p:nvGraphicFramePr>
        <p:xfrm>
          <a:off x="152408" y="3584929"/>
          <a:ext cx="2624820" cy="7924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62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4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4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4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24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24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24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6248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6248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6248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zh-TW" altLang="en-US" sz="20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  <a:endParaRPr lang="zh-TW" altLang="en-US" sz="20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48" name="表格 147"/>
          <p:cNvGraphicFramePr>
            <a:graphicFrameLocks noGrp="1"/>
          </p:cNvGraphicFramePr>
          <p:nvPr/>
        </p:nvGraphicFramePr>
        <p:xfrm>
          <a:off x="2516819" y="3584929"/>
          <a:ext cx="262482" cy="7924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62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2248977" y="3587260"/>
          <a:ext cx="262482" cy="7924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62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1985071" y="3587260"/>
          <a:ext cx="262482" cy="7924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62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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1719239" y="3584929"/>
          <a:ext cx="262482" cy="7924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62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/>
        </p:nvGraphicFramePr>
        <p:xfrm>
          <a:off x="1464373" y="3587260"/>
          <a:ext cx="262482" cy="7924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62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7" name="表格 16"/>
          <p:cNvGraphicFramePr>
            <a:graphicFrameLocks noGrp="1"/>
          </p:cNvGraphicFramePr>
          <p:nvPr/>
        </p:nvGraphicFramePr>
        <p:xfrm>
          <a:off x="1201972" y="3584929"/>
          <a:ext cx="262482" cy="7924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62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8" name="表格 17"/>
          <p:cNvGraphicFramePr>
            <a:graphicFrameLocks noGrp="1"/>
          </p:cNvGraphicFramePr>
          <p:nvPr/>
        </p:nvGraphicFramePr>
        <p:xfrm>
          <a:off x="937012" y="3584929"/>
          <a:ext cx="262482" cy="7924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62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" name="表格 20"/>
          <p:cNvGraphicFramePr>
            <a:graphicFrameLocks noGrp="1"/>
          </p:cNvGraphicFramePr>
          <p:nvPr/>
        </p:nvGraphicFramePr>
        <p:xfrm>
          <a:off x="673106" y="3584929"/>
          <a:ext cx="262482" cy="7924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62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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4" name="表格 23"/>
          <p:cNvGraphicFramePr>
            <a:graphicFrameLocks noGrp="1"/>
          </p:cNvGraphicFramePr>
          <p:nvPr/>
        </p:nvGraphicFramePr>
        <p:xfrm>
          <a:off x="413616" y="3584929"/>
          <a:ext cx="262482" cy="7924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62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7833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0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55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0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9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78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87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96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05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14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500"/>
                            </p:stCondLst>
                            <p:childTnLst>
                              <p:par>
                                <p:cTn id="1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23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32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500"/>
                            </p:stCondLst>
                            <p:childTnLst>
                              <p:par>
                                <p:cTn id="1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" grpId="0" animBg="1"/>
      <p:bldP spid="133" grpId="0" animBg="1"/>
      <p:bldP spid="133" grpId="1" animBg="1"/>
      <p:bldP spid="134" grpId="0" animBg="1"/>
      <p:bldP spid="134" grpId="1" animBg="1"/>
      <p:bldP spid="135" grpId="0" animBg="1"/>
      <p:bldP spid="135" grpId="1" animBg="1"/>
      <p:bldP spid="136" grpId="0" animBg="1"/>
      <p:bldP spid="136" grpId="1" animBg="1"/>
      <p:bldP spid="137" grpId="0" animBg="1"/>
      <p:bldP spid="137" grpId="1" animBg="1"/>
      <p:bldP spid="138" grpId="0" animBg="1"/>
      <p:bldP spid="138" grpId="1" animBg="1"/>
      <p:bldP spid="139" grpId="0" animBg="1"/>
      <p:bldP spid="139" grpId="1" animBg="1"/>
      <p:bldP spid="140" grpId="0" animBg="1"/>
      <p:bldP spid="140" grpId="1" animBg="1"/>
      <p:bldP spid="141" grpId="0" animBg="1"/>
      <p:bldP spid="141" grpId="1" animBg="1"/>
      <p:bldP spid="142" grpId="0" animBg="1"/>
      <p:bldP spid="142" grpId="1" animBg="1"/>
    </p:bldLst>
  </p:timing>
</p:sld>
</file>

<file path=ppt/theme/theme1.xml><?xml version="1.0" encoding="utf-8"?>
<a:theme xmlns:a="http://schemas.openxmlformats.org/drawingml/2006/main" name="NCKU3">
  <a:themeElements>
    <a:clrScheme name="NCKU3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NCKU3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NCKU3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簡報1" id="{1D2088C2-DF28-403B-A142-ABEFFB73DCD1}" vid="{F9685623-F412-4155-8B4F-1E431000369C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NTTU</Template>
  <TotalTime>8745</TotalTime>
  <Words>12249</Words>
  <Application>Microsoft Office PowerPoint</Application>
  <PresentationFormat>如螢幕大小 (4:3)</PresentationFormat>
  <Paragraphs>4492</Paragraphs>
  <Slides>98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98</vt:i4>
      </vt:variant>
    </vt:vector>
  </HeadingPairs>
  <TitlesOfParts>
    <vt:vector size="107" baseType="lpstr">
      <vt:lpstr>標楷體</vt:lpstr>
      <vt:lpstr>Arial</vt:lpstr>
      <vt:lpstr>Calibri</vt:lpstr>
      <vt:lpstr>Cambria Math</vt:lpstr>
      <vt:lpstr>Monotype Corsiva</vt:lpstr>
      <vt:lpstr>Symbol</vt:lpstr>
      <vt:lpstr>Times New Roman</vt:lpstr>
      <vt:lpstr>Wingdings 2</vt:lpstr>
      <vt:lpstr>NCKU3</vt:lpstr>
      <vt:lpstr>ALGORITHMS 演算法</vt:lpstr>
      <vt:lpstr>動態規劃 DP (1/3)</vt:lpstr>
      <vt:lpstr>動態規劃 DP (2/3)</vt:lpstr>
      <vt:lpstr>動態規劃 DP (3/3)</vt:lpstr>
      <vt:lpstr>二項式係數 (1/8)</vt:lpstr>
      <vt:lpstr>二項式係數 (2/8)</vt:lpstr>
      <vt:lpstr>二項式係數 (3/8)</vt:lpstr>
      <vt:lpstr>二項式係數 (4/8)</vt:lpstr>
      <vt:lpstr>二項式係數 (5/8)</vt:lpstr>
      <vt:lpstr>二項式係數 (6/8)</vt:lpstr>
      <vt:lpstr>二項式係數 (7/8)</vt:lpstr>
      <vt:lpstr>二項式係數 (8/8)</vt:lpstr>
      <vt:lpstr>PowerPoint 簡報</vt:lpstr>
      <vt:lpstr>最短路徑演算法</vt:lpstr>
      <vt:lpstr>圖形理論 (1/4)</vt:lpstr>
      <vt:lpstr>圖形理論 (2/4)</vt:lpstr>
      <vt:lpstr>圖形理論 (3/4)</vt:lpstr>
      <vt:lpstr>圖形理論 (4/4)</vt:lpstr>
      <vt:lpstr>最短路徑</vt:lpstr>
      <vt:lpstr>最短路徑</vt:lpstr>
      <vt:lpstr>Dijkstra 演算法 (1/9)</vt:lpstr>
      <vt:lpstr>Dijkstra 演算法 (2/9)</vt:lpstr>
      <vt:lpstr>Dijkstra 演算法 (3/9)</vt:lpstr>
      <vt:lpstr>Dijkstra 演算法 (4/9)</vt:lpstr>
      <vt:lpstr>Dijkstra 演算法 (5/9)</vt:lpstr>
      <vt:lpstr>Dijkstra 演算法 (6/9)</vt:lpstr>
      <vt:lpstr>Dijkstra 演算法 (7/9)</vt:lpstr>
      <vt:lpstr>Dijkstra 演算法 (8/9)</vt:lpstr>
      <vt:lpstr>Dijkstra 演算法 (9/9)</vt:lpstr>
      <vt:lpstr>Floyd 演算法 (1/10)</vt:lpstr>
      <vt:lpstr>Floyd 演算法 (2/10)</vt:lpstr>
      <vt:lpstr>Floyd 演算法 (3/10)</vt:lpstr>
      <vt:lpstr>Floyd 演算法 (4/10)</vt:lpstr>
      <vt:lpstr>Floyd 演算法 (5/10)</vt:lpstr>
      <vt:lpstr>Floyd 演算法 (6/10)</vt:lpstr>
      <vt:lpstr>Floyd 演算法 (7/10)</vt:lpstr>
      <vt:lpstr>Floyd 演算法 (8/10)</vt:lpstr>
      <vt:lpstr>Floyd 演算法 (9/10)</vt:lpstr>
      <vt:lpstr>Floyd 演算法 (10/10)</vt:lpstr>
      <vt:lpstr>動態規劃和最佳化問題</vt:lpstr>
      <vt:lpstr>連續矩陣相乘 (1/14)</vt:lpstr>
      <vt:lpstr>連續矩陣相乘 (2/14)</vt:lpstr>
      <vt:lpstr>連續矩陣相乘 (3/14)</vt:lpstr>
      <vt:lpstr>連續矩陣相乘 (4/14)</vt:lpstr>
      <vt:lpstr>連續矩陣相乘 (5/14)</vt:lpstr>
      <vt:lpstr>連續矩陣相乘 (6/14)</vt:lpstr>
      <vt:lpstr>連續矩陣相乘 (7/14)</vt:lpstr>
      <vt:lpstr>連續矩陣相乘 (8/14)</vt:lpstr>
      <vt:lpstr>連續矩陣相乘 (9/14)</vt:lpstr>
      <vt:lpstr>連續矩陣相乘 (10/14)</vt:lpstr>
      <vt:lpstr>連續矩陣相乘 (11/14)</vt:lpstr>
      <vt:lpstr>連續矩陣相乘 (12/14)</vt:lpstr>
      <vt:lpstr>連續矩陣相乘 (13/14)</vt:lpstr>
      <vt:lpstr>連續矩陣相乘 (14/14)</vt:lpstr>
      <vt:lpstr>樹 Tree</vt:lpstr>
      <vt:lpstr>有根樹 rooted tree</vt:lpstr>
      <vt:lpstr>樹的相關名詞定義 (1/2)</vt:lpstr>
      <vt:lpstr>樹的相關名詞定義 (2/2)</vt:lpstr>
      <vt:lpstr>二元樹 binary tree</vt:lpstr>
      <vt:lpstr>二元搜尋樹 Binary Search Tree</vt:lpstr>
      <vt:lpstr>樹的深度 depth</vt:lpstr>
      <vt:lpstr>最佳二元搜尋樹 (1/13)</vt:lpstr>
      <vt:lpstr>最佳二元搜尋樹 (2/13)</vt:lpstr>
      <vt:lpstr>最佳二元搜尋樹 (3/13)</vt:lpstr>
      <vt:lpstr>最佳二元搜尋樹 (4/13)</vt:lpstr>
      <vt:lpstr>最佳二元搜尋樹 (5/13)</vt:lpstr>
      <vt:lpstr>最佳二元搜尋樹 (6/13)</vt:lpstr>
      <vt:lpstr>最佳二元搜尋樹 (7/13)</vt:lpstr>
      <vt:lpstr>最佳二元搜尋樹 (8/13)</vt:lpstr>
      <vt:lpstr>最佳二元搜尋樹 (9/13)</vt:lpstr>
      <vt:lpstr>最佳二元搜尋樹 (10/13)</vt:lpstr>
      <vt:lpstr>最佳二元搜尋樹 (11/13)</vt:lpstr>
      <vt:lpstr>最佳二元搜尋樹 (12/13)</vt:lpstr>
      <vt:lpstr>最佳二元搜尋樹 (13/13)</vt:lpstr>
      <vt:lpstr>售貨員旅行問題 (1/12)</vt:lpstr>
      <vt:lpstr>售貨員旅行問題 (2/12)</vt:lpstr>
      <vt:lpstr>售貨員旅行問題 (3/12)</vt:lpstr>
      <vt:lpstr>售貨員旅行問題 (4/12)</vt:lpstr>
      <vt:lpstr>售貨員旅行問題 (5/12)</vt:lpstr>
      <vt:lpstr>售貨員旅行問題 (6/12)</vt:lpstr>
      <vt:lpstr>售貨員旅行問題 (7/12)</vt:lpstr>
      <vt:lpstr>售貨員旅行問題 (8/12)</vt:lpstr>
      <vt:lpstr>售貨員旅行問題 (9/12)</vt:lpstr>
      <vt:lpstr>售貨員旅行問題 (10/12)</vt:lpstr>
      <vt:lpstr>售貨員旅行問題 (11/12)</vt:lpstr>
      <vt:lpstr>售貨員旅行問題 (12/12)</vt:lpstr>
      <vt:lpstr>序列對齊 (1/12)</vt:lpstr>
      <vt:lpstr>序列對齊 (2/12)</vt:lpstr>
      <vt:lpstr>序列對齊 (3/12)</vt:lpstr>
      <vt:lpstr>序列對齊 (4/12)</vt:lpstr>
      <vt:lpstr>序列對齊 (5/12)</vt:lpstr>
      <vt:lpstr>序列對齊 (6/12)</vt:lpstr>
      <vt:lpstr>序列對齊 (7/12)</vt:lpstr>
      <vt:lpstr>序列對齊 (8/12)</vt:lpstr>
      <vt:lpstr>序列對齊 (9/12)</vt:lpstr>
      <vt:lpstr>序列對齊 (10/12)</vt:lpstr>
      <vt:lpstr>序列對齊 (11/12)</vt:lpstr>
      <vt:lpstr>序列對齊 (12/12)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資料結構 Data Structure</dc:title>
  <dc:creator>C.-W. Lee</dc:creator>
  <cp:lastModifiedBy>李佳衛</cp:lastModifiedBy>
  <cp:revision>68</cp:revision>
  <cp:lastPrinted>2025-09-15T02:35:40Z</cp:lastPrinted>
  <dcterms:created xsi:type="dcterms:W3CDTF">2018-01-10T03:26:15Z</dcterms:created>
  <dcterms:modified xsi:type="dcterms:W3CDTF">2026-09-16T13:08:47Z</dcterms:modified>
</cp:coreProperties>
</file>